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1" r:id="rId3"/>
    <p:sldId id="292" r:id="rId4"/>
    <p:sldId id="29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5" r:id="rId30"/>
    <p:sldId id="436" r:id="rId31"/>
    <p:sldId id="437" r:id="rId32"/>
    <p:sldId id="438" r:id="rId33"/>
    <p:sldId id="439" r:id="rId34"/>
    <p:sldId id="440" r:id="rId35"/>
    <p:sldId id="441" r:id="rId36"/>
    <p:sldId id="442" r:id="rId37"/>
    <p:sldId id="443" r:id="rId38"/>
    <p:sldId id="444" r:id="rId39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488" userDrawn="1">
          <p15:clr>
            <a:srgbClr val="A4A3A4"/>
          </p15:clr>
        </p15:guide>
        <p15:guide id="5" orient="horz" pos="432" userDrawn="1">
          <p15:clr>
            <a:srgbClr val="A4A3A4"/>
          </p15:clr>
        </p15:guide>
        <p15:guide id="6" orient="horz" pos="472" userDrawn="1">
          <p15:clr>
            <a:srgbClr val="A4A3A4"/>
          </p15:clr>
        </p15:guide>
        <p15:guide id="7" orient="horz" pos="4104" userDrawn="1">
          <p15:clr>
            <a:srgbClr val="A4A3A4"/>
          </p15:clr>
        </p15:guide>
        <p15:guide id="8" orient="horz" pos="40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6" autoAdjust="0"/>
    <p:restoredTop sz="94541" autoAdjust="0"/>
  </p:normalViewPr>
  <p:slideViewPr>
    <p:cSldViewPr snapToGrid="0" showGuides="1">
      <p:cViewPr varScale="1">
        <p:scale>
          <a:sx n="114" d="100"/>
          <a:sy n="114" d="100"/>
        </p:scale>
        <p:origin x="82" y="120"/>
      </p:cViewPr>
      <p:guideLst>
        <p:guide orient="horz" pos="2264"/>
        <p:guide pos="3840"/>
        <p:guide pos="192"/>
        <p:guide pos="7488"/>
        <p:guide orient="horz" pos="432"/>
        <p:guide orient="horz" pos="472"/>
        <p:guide orient="horz" pos="4104"/>
        <p:guide orient="horz" pos="405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gs" Target="tags/tag1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3500"/>
            <a:ext cx="12207240" cy="622300"/>
          </a:xfrm>
          <a:prstGeom prst="rect">
            <a:avLst/>
          </a:prstGeom>
          <a:solidFill>
            <a:srgbClr val="1B7ADA"/>
          </a:solidFill>
          <a:ln>
            <a:solidFill>
              <a:srgbClr val="1B7AD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/>
              <a:t>动手做计算机网络仿真实验</a:t>
            </a:r>
            <a:r>
              <a:rPr lang="zh-CN" altLang="en-US" sz="2400" b="1" dirty="0"/>
              <a:t>（微课视频版）</a:t>
            </a:r>
            <a:endParaRPr lang="zh-CN" altLang="en-US" sz="2400" b="1" dirty="0"/>
          </a:p>
        </p:txBody>
      </p:sp>
      <p:sp>
        <p:nvSpPr>
          <p:cNvPr id="10" name="矩形 9"/>
          <p:cNvSpPr/>
          <p:nvPr userDrawn="1"/>
        </p:nvSpPr>
        <p:spPr>
          <a:xfrm>
            <a:off x="132079" y="-1"/>
            <a:ext cx="732557" cy="732557"/>
          </a:xfrm>
          <a:prstGeom prst="rect">
            <a:avLst/>
          </a:prstGeom>
          <a:solidFill>
            <a:srgbClr val="8ACF57"/>
          </a:solidFill>
          <a:ln>
            <a:solidFill>
              <a:srgbClr val="8ACF57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9850806" y="147319"/>
            <a:ext cx="114853" cy="449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965107" y="62115"/>
            <a:ext cx="2226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第</a:t>
            </a:r>
            <a:r>
              <a:rPr lang="en-US" altLang="zh-CN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4</a:t>
            </a: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章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网络层相关实验</a:t>
            </a:r>
            <a:endParaRPr lang="zh-CN" altLang="en-US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4" name="20 13" descr="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08" y="6414723"/>
            <a:ext cx="1882140" cy="441960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10365377" y="6486579"/>
            <a:ext cx="182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课件制作：高军</a:t>
            </a:r>
            <a:endParaRPr lang="zh-CN" alt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29056" y="1186773"/>
            <a:ext cx="10693939" cy="2116029"/>
            <a:chOff x="629056" y="1186773"/>
            <a:chExt cx="10693939" cy="2116029"/>
          </a:xfrm>
        </p:grpSpPr>
        <p:sp>
          <p:nvSpPr>
            <p:cNvPr id="3" name="文本框 2"/>
            <p:cNvSpPr txBox="1"/>
            <p:nvPr/>
          </p:nvSpPr>
          <p:spPr>
            <a:xfrm>
              <a:off x="629057" y="1186773"/>
              <a:ext cx="24059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spc="600" dirty="0">
                  <a:solidFill>
                    <a:schemeClr val="accent3">
                      <a:lumMod val="75000"/>
                    </a:schemeClr>
                  </a:solidFill>
                </a:rPr>
                <a:t>实验目的</a:t>
              </a:r>
              <a:endParaRPr lang="zh-CN" altLang="en-US" sz="2800" b="1" spc="60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29056" y="1880681"/>
              <a:ext cx="10693939" cy="1422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/>
                <a:t>熟悉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IPv4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地址的无分类编址</a:t>
              </a:r>
              <a:r>
                <a:rPr lang="zh-CN" altLang="en-US" sz="2000" b="1" dirty="0"/>
                <a:t>方法。</a:t>
              </a:r>
              <a:endParaRPr lang="zh-CN" altLang="en-US" sz="2000" b="1" dirty="0"/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/>
                <a:t>掌握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路由聚合</a:t>
              </a:r>
              <a:r>
                <a:rPr lang="zh-CN" altLang="en-US" sz="2000" b="1" dirty="0"/>
                <a:t>的方法。</a:t>
              </a:r>
              <a:endParaRPr lang="zh-CN" altLang="en-US" sz="2000" b="1" dirty="0"/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/>
                <a:t>掌握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静态路由配置</a:t>
              </a:r>
              <a:r>
                <a:rPr lang="zh-CN" altLang="en-US" sz="2000" b="1" dirty="0"/>
                <a:t>方法。</a:t>
              </a:r>
              <a:endParaRPr lang="zh-CN" altLang="en-US" sz="20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9057" y="1186773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4545" y="1747043"/>
            <a:ext cx="304799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1.  </a:t>
            </a:r>
            <a:r>
              <a:rPr lang="zh-CN" altLang="en-US" sz="2000" b="1" dirty="0"/>
              <a:t>构建网络拓扑</a:t>
            </a:r>
            <a:endParaRPr lang="en-US" altLang="zh-CN" sz="2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44545" y="2260371"/>
            <a:ext cx="545648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2.  </a:t>
            </a:r>
            <a:r>
              <a:rPr lang="zh-CN" altLang="en-US" sz="2000" b="1" dirty="0"/>
              <a:t>查看并标注路由器相关接口名称（接口号）</a:t>
            </a:r>
            <a:endParaRPr lang="en-US" altLang="zh-CN" sz="20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644545" y="2773699"/>
            <a:ext cx="545648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3.  </a:t>
            </a:r>
            <a:r>
              <a:rPr lang="zh-CN" altLang="en-US" sz="2000" b="1" dirty="0"/>
              <a:t>标注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地址、子网掩码以及默认网关的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</a:t>
            </a:r>
            <a:endParaRPr lang="en-US" altLang="zh-CN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644545" y="3287027"/>
            <a:ext cx="545648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4.  </a:t>
            </a:r>
            <a:r>
              <a:rPr lang="zh-CN" altLang="en-US" sz="2000" b="1" dirty="0"/>
              <a:t>配置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地址、子网掩码以及默认网关的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</a:t>
            </a:r>
            <a:endParaRPr lang="en-US" altLang="zh-CN" sz="2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644545" y="4313683"/>
            <a:ext cx="545648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6.  </a:t>
            </a:r>
            <a:r>
              <a:rPr lang="zh-CN" altLang="en-US" sz="2000" b="1" dirty="0"/>
              <a:t>选择要监视的网络协议</a:t>
            </a:r>
            <a:endParaRPr lang="en-US" altLang="zh-CN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644545" y="4827011"/>
            <a:ext cx="545648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7.  </a:t>
            </a:r>
            <a:r>
              <a:rPr lang="zh-CN" altLang="en-US" sz="2000" b="1" dirty="0"/>
              <a:t>网络连通性测试</a:t>
            </a:r>
            <a:endParaRPr lang="en-US" altLang="zh-CN" sz="20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644545" y="5340339"/>
            <a:ext cx="7090736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8.  </a:t>
            </a:r>
            <a:r>
              <a:rPr lang="zh-CN" altLang="en-US" sz="2000" b="1" dirty="0"/>
              <a:t>更换本实验的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地址划分方案后重新进行本实验</a:t>
            </a:r>
            <a:endParaRPr lang="en-US" altLang="zh-CN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4545" y="3800355"/>
            <a:ext cx="545648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5.  </a:t>
            </a:r>
            <a:r>
              <a:rPr lang="zh-CN" altLang="en-US" sz="2000" b="1" dirty="0"/>
              <a:t>给路由器添加静态路由条目</a:t>
            </a:r>
            <a:endParaRPr lang="en-US" altLang="zh-C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2" grpId="0"/>
      <p:bldP spid="5" grpId="0"/>
      <p:bldP spid="6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grpSp>
        <p:nvGrpSpPr>
          <p:cNvPr id="154" name="组合 153"/>
          <p:cNvGrpSpPr/>
          <p:nvPr/>
        </p:nvGrpSpPr>
        <p:grpSpPr>
          <a:xfrm>
            <a:off x="560182" y="1941431"/>
            <a:ext cx="11082972" cy="3868503"/>
            <a:chOff x="560182" y="1941431"/>
            <a:chExt cx="11082972" cy="3868503"/>
          </a:xfrm>
        </p:grpSpPr>
        <p:sp>
          <p:nvSpPr>
            <p:cNvPr id="27" name="文本框 26"/>
            <p:cNvSpPr txBox="1"/>
            <p:nvPr/>
          </p:nvSpPr>
          <p:spPr>
            <a:xfrm>
              <a:off x="560182" y="2286545"/>
              <a:ext cx="7069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PC-PT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PC0</a:t>
              </a:r>
              <a:endParaRPr lang="zh-CN" altLang="en-US" sz="1400" b="1" dirty="0"/>
            </a:p>
          </p:txBody>
        </p:sp>
        <p:pic>
          <p:nvPicPr>
            <p:cNvPr id="28" name="20 27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259" y="1941431"/>
              <a:ext cx="428747" cy="364205"/>
            </a:xfrm>
            <a:prstGeom prst="rect">
              <a:avLst/>
            </a:prstGeom>
          </p:spPr>
        </p:pic>
        <p:pic>
          <p:nvPicPr>
            <p:cNvPr id="5" name="20 4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5493" y="3679455"/>
              <a:ext cx="530013" cy="381609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2080482" y="3616349"/>
              <a:ext cx="10051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2911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Router0</a:t>
              </a:r>
              <a:endParaRPr lang="zh-CN" altLang="en-US" sz="1400" b="1" dirty="0"/>
            </a:p>
          </p:txBody>
        </p:sp>
        <p:pic>
          <p:nvPicPr>
            <p:cNvPr id="10" name="20 9" descr="图标&#10;&#10;描述已自动生成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836" y="2488059"/>
              <a:ext cx="514485" cy="264455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3174268" y="2604389"/>
              <a:ext cx="11538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2960-24TT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Switch0</a:t>
              </a:r>
              <a:endParaRPr lang="zh-CN" altLang="en-US" sz="1400" b="1" dirty="0"/>
            </a:p>
          </p:txBody>
        </p:sp>
        <p:pic>
          <p:nvPicPr>
            <p:cNvPr id="6" name="20 5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0152" y="1941431"/>
              <a:ext cx="428747" cy="364205"/>
            </a:xfrm>
            <a:prstGeom prst="rect">
              <a:avLst/>
            </a:prstGeom>
          </p:spPr>
        </p:pic>
        <p:pic>
          <p:nvPicPr>
            <p:cNvPr id="39" name="20 38" descr="图标&#10;&#10;描述已自动生成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836" y="4987764"/>
              <a:ext cx="514485" cy="264455"/>
            </a:xfrm>
            <a:prstGeom prst="rect">
              <a:avLst/>
            </a:prstGeom>
          </p:spPr>
        </p:pic>
        <p:pic>
          <p:nvPicPr>
            <p:cNvPr id="40" name="20 39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259" y="5445729"/>
              <a:ext cx="428747" cy="364205"/>
            </a:xfrm>
            <a:prstGeom prst="rect">
              <a:avLst/>
            </a:prstGeom>
          </p:spPr>
        </p:pic>
        <p:pic>
          <p:nvPicPr>
            <p:cNvPr id="45" name="20 44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0152" y="5445729"/>
              <a:ext cx="428747" cy="364205"/>
            </a:xfrm>
            <a:prstGeom prst="rect">
              <a:avLst/>
            </a:prstGeom>
          </p:spPr>
        </p:pic>
        <p:sp>
          <p:nvSpPr>
            <p:cNvPr id="53" name="文本框 52"/>
            <p:cNvSpPr txBox="1"/>
            <p:nvPr/>
          </p:nvSpPr>
          <p:spPr>
            <a:xfrm>
              <a:off x="3174268" y="4609855"/>
              <a:ext cx="11538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2960-24TT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Switch1</a:t>
              </a:r>
              <a:endParaRPr lang="zh-CN" altLang="en-US" sz="1400" b="1" dirty="0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5033888" y="2286545"/>
              <a:ext cx="7069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PC-PT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PC1</a:t>
              </a:r>
              <a:endParaRPr lang="zh-CN" altLang="en-US" sz="1400" b="1" dirty="0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21112" y="4938173"/>
              <a:ext cx="7069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PC-PT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PC2</a:t>
              </a:r>
              <a:endParaRPr lang="zh-CN" altLang="en-US" sz="1400" b="1" dirty="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5033888" y="4938173"/>
              <a:ext cx="7069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PC-PT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PC3</a:t>
              </a:r>
              <a:endParaRPr lang="zh-CN" altLang="en-US" sz="1400" b="1" dirty="0"/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6462519" y="2286545"/>
              <a:ext cx="7069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PC-PT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PC4</a:t>
              </a:r>
              <a:endParaRPr lang="zh-CN" altLang="en-US" sz="1400" b="1" dirty="0"/>
            </a:p>
          </p:txBody>
        </p:sp>
        <p:pic>
          <p:nvPicPr>
            <p:cNvPr id="89" name="20 88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3596" y="1941431"/>
              <a:ext cx="428747" cy="364205"/>
            </a:xfrm>
            <a:prstGeom prst="rect">
              <a:avLst/>
            </a:prstGeom>
          </p:spPr>
        </p:pic>
        <p:pic>
          <p:nvPicPr>
            <p:cNvPr id="90" name="20 89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7830" y="3679455"/>
              <a:ext cx="530013" cy="381609"/>
            </a:xfrm>
            <a:prstGeom prst="rect">
              <a:avLst/>
            </a:prstGeom>
          </p:spPr>
        </p:pic>
        <p:sp>
          <p:nvSpPr>
            <p:cNvPr id="91" name="文本框 90"/>
            <p:cNvSpPr txBox="1"/>
            <p:nvPr/>
          </p:nvSpPr>
          <p:spPr>
            <a:xfrm>
              <a:off x="9173508" y="3616349"/>
              <a:ext cx="10051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2911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Router1</a:t>
              </a:r>
              <a:endParaRPr lang="zh-CN" altLang="en-US" sz="1400" b="1" dirty="0"/>
            </a:p>
          </p:txBody>
        </p:sp>
        <p:pic>
          <p:nvPicPr>
            <p:cNvPr id="92" name="20 91" descr="图标&#10;&#10;描述已自动生成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0173" y="2488059"/>
              <a:ext cx="514485" cy="264455"/>
            </a:xfrm>
            <a:prstGeom prst="rect">
              <a:avLst/>
            </a:prstGeom>
          </p:spPr>
        </p:pic>
        <p:sp>
          <p:nvSpPr>
            <p:cNvPr id="93" name="文本框 92"/>
            <p:cNvSpPr txBox="1"/>
            <p:nvPr/>
          </p:nvSpPr>
          <p:spPr>
            <a:xfrm>
              <a:off x="7859599" y="2604389"/>
              <a:ext cx="11538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2960-24TT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Switch2</a:t>
              </a:r>
              <a:endParaRPr lang="zh-CN" altLang="en-US" sz="1400" b="1" dirty="0"/>
            </a:p>
          </p:txBody>
        </p:sp>
        <p:pic>
          <p:nvPicPr>
            <p:cNvPr id="94" name="20 93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72489" y="1941431"/>
              <a:ext cx="428747" cy="364205"/>
            </a:xfrm>
            <a:prstGeom prst="rect">
              <a:avLst/>
            </a:prstGeom>
          </p:spPr>
        </p:pic>
        <p:pic>
          <p:nvPicPr>
            <p:cNvPr id="99" name="20 98" descr="图标&#10;&#10;描述已自动生成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0173" y="4987764"/>
              <a:ext cx="514485" cy="264455"/>
            </a:xfrm>
            <a:prstGeom prst="rect">
              <a:avLst/>
            </a:prstGeom>
          </p:spPr>
        </p:pic>
        <p:pic>
          <p:nvPicPr>
            <p:cNvPr id="100" name="20 99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3596" y="5445729"/>
              <a:ext cx="428747" cy="364205"/>
            </a:xfrm>
            <a:prstGeom prst="rect">
              <a:avLst/>
            </a:prstGeom>
          </p:spPr>
        </p:pic>
        <p:pic>
          <p:nvPicPr>
            <p:cNvPr id="103" name="20 102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72489" y="5445729"/>
              <a:ext cx="428747" cy="364205"/>
            </a:xfrm>
            <a:prstGeom prst="rect">
              <a:avLst/>
            </a:prstGeom>
          </p:spPr>
        </p:pic>
        <p:sp>
          <p:nvSpPr>
            <p:cNvPr id="106" name="文本框 105"/>
            <p:cNvSpPr txBox="1"/>
            <p:nvPr/>
          </p:nvSpPr>
          <p:spPr>
            <a:xfrm>
              <a:off x="7859599" y="4609855"/>
              <a:ext cx="11538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2960-24TT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Switch3</a:t>
              </a:r>
              <a:endParaRPr lang="zh-CN" altLang="en-US" sz="1400" b="1" dirty="0"/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10936225" y="2286545"/>
              <a:ext cx="7069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PC-PT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PC5</a:t>
              </a:r>
              <a:endParaRPr lang="zh-CN" altLang="en-US" sz="1400" b="1" dirty="0"/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6523449" y="4938173"/>
              <a:ext cx="7069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PC-PT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PC6</a:t>
              </a:r>
              <a:endParaRPr lang="zh-CN" altLang="en-US" sz="1400" b="1" dirty="0"/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10936225" y="4938173"/>
              <a:ext cx="7069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PC-PT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PC7</a:t>
              </a:r>
              <a:endParaRPr lang="zh-CN" altLang="en-US" sz="1400" b="1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022" y="2868922"/>
            <a:ext cx="8763759" cy="1646063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2084732" y="3691953"/>
            <a:ext cx="1925436" cy="1452593"/>
            <a:chOff x="2253106" y="5615868"/>
            <a:chExt cx="1925436" cy="1452593"/>
          </a:xfrm>
        </p:grpSpPr>
        <p:sp>
          <p:nvSpPr>
            <p:cNvPr id="8" name="文本框 7"/>
            <p:cNvSpPr txBox="1"/>
            <p:nvPr/>
          </p:nvSpPr>
          <p:spPr>
            <a:xfrm>
              <a:off x="2253106" y="6668351"/>
              <a:ext cx="19254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❶  选择“连接”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 flipV="1">
              <a:off x="3122926" y="5615868"/>
              <a:ext cx="0" cy="1052483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2514979" y="2112993"/>
            <a:ext cx="3351328" cy="1164349"/>
            <a:chOff x="938046" y="4283818"/>
            <a:chExt cx="3351328" cy="1164349"/>
          </a:xfrm>
        </p:grpSpPr>
        <p:sp>
          <p:nvSpPr>
            <p:cNvPr id="14" name="文本框 13"/>
            <p:cNvSpPr txBox="1"/>
            <p:nvPr/>
          </p:nvSpPr>
          <p:spPr>
            <a:xfrm>
              <a:off x="938046" y="4283818"/>
              <a:ext cx="33513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❷  选择“自动选择连接类型”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>
              <a:off x="2613710" y="4738927"/>
              <a:ext cx="0" cy="70924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/>
          <p:cNvGrpSpPr/>
          <p:nvPr/>
        </p:nvGrpSpPr>
        <p:grpSpPr>
          <a:xfrm>
            <a:off x="3358290" y="3822983"/>
            <a:ext cx="5461883" cy="96406"/>
            <a:chOff x="3358290" y="3822983"/>
            <a:chExt cx="5461883" cy="96406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3358290" y="3875212"/>
              <a:ext cx="54618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/>
            <p:cNvSpPr/>
            <p:nvPr/>
          </p:nvSpPr>
          <p:spPr>
            <a:xfrm rot="10800000">
              <a:off x="3712925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10800000">
              <a:off x="8413699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05375" y="4028174"/>
            <a:ext cx="111831" cy="1097139"/>
            <a:chOff x="3094197" y="4028174"/>
            <a:chExt cx="111831" cy="109713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005375" y="2616910"/>
            <a:ext cx="115302" cy="1097139"/>
            <a:chOff x="3094197" y="2616910"/>
            <a:chExt cx="115302" cy="1097139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等腰三角形 43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2701204" y="5142935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3628413" y="5116623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3634545" y="2451630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2705097" y="2469454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94197" y="4028174"/>
            <a:ext cx="111831" cy="1097139"/>
            <a:chOff x="3094197" y="4028174"/>
            <a:chExt cx="111831" cy="1097139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094197" y="2616910"/>
            <a:ext cx="115302" cy="1097139"/>
            <a:chOff x="3094197" y="2616910"/>
            <a:chExt cx="115302" cy="1097139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2701204" y="5142935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3628413" y="5116623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3634545" y="2451630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2705097" y="2469454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/>
          <p:cNvGrpSpPr/>
          <p:nvPr/>
        </p:nvGrpSpPr>
        <p:grpSpPr>
          <a:xfrm>
            <a:off x="3358290" y="3822983"/>
            <a:ext cx="5461883" cy="96406"/>
            <a:chOff x="3358290" y="3822983"/>
            <a:chExt cx="5461883" cy="96406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3358290" y="3875212"/>
              <a:ext cx="54618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/>
            <p:cNvSpPr/>
            <p:nvPr/>
          </p:nvSpPr>
          <p:spPr>
            <a:xfrm rot="10800000">
              <a:off x="3712925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10800000">
              <a:off x="8413699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05375" y="4028174"/>
            <a:ext cx="111831" cy="1097139"/>
            <a:chOff x="3094197" y="4028174"/>
            <a:chExt cx="111831" cy="109713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005375" y="2616910"/>
            <a:ext cx="115302" cy="1097139"/>
            <a:chOff x="3094197" y="2616910"/>
            <a:chExt cx="115302" cy="1097139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等腰三角形 43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2701204" y="5142935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3628413" y="5116623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3634545" y="2451630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2705097" y="2469454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94197" y="4028174"/>
            <a:ext cx="111831" cy="1097139"/>
            <a:chOff x="3094197" y="4028174"/>
            <a:chExt cx="111831" cy="1097139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094197" y="2616910"/>
            <a:ext cx="115302" cy="1097139"/>
            <a:chOff x="3094197" y="2616910"/>
            <a:chExt cx="115302" cy="1097139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2701204" y="5142935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3628413" y="5116623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3634545" y="2451630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2705097" y="2469454"/>
              <a:ext cx="96407" cy="964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6" name="矩形 65"/>
          <p:cNvSpPr/>
          <p:nvPr/>
        </p:nvSpPr>
        <p:spPr>
          <a:xfrm>
            <a:off x="3819137" y="1372263"/>
            <a:ext cx="4691901" cy="1578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         连接完成后，交换机的相关接口处于阻塞状态，一段时间后才能处于打开状态。我们可以人为加速该过程。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sp>
        <p:nvSpPr>
          <p:cNvPr id="67" name="矩形 66"/>
          <p:cNvSpPr/>
          <p:nvPr/>
        </p:nvSpPr>
        <p:spPr>
          <a:xfrm>
            <a:off x="304800" y="1428922"/>
            <a:ext cx="11582399" cy="1165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         连接完成后，交换机的相关接口处于阻塞状态，一段时间后才能处于打开状态。我们可以人为加速该过程。</a:t>
            </a:r>
            <a:endParaRPr lang="zh-CN" altLang="en-US" sz="2400" b="1" dirty="0"/>
          </a:p>
        </p:txBody>
      </p:sp>
      <p:pic>
        <p:nvPicPr>
          <p:cNvPr id="69" name="20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34" y="3945313"/>
            <a:ext cx="3309761" cy="1387325"/>
          </a:xfrm>
          <a:prstGeom prst="rect">
            <a:avLst/>
          </a:prstGeom>
        </p:spPr>
      </p:pic>
      <p:grpSp>
        <p:nvGrpSpPr>
          <p:cNvPr id="73" name="组合 72"/>
          <p:cNvGrpSpPr/>
          <p:nvPr/>
        </p:nvGrpSpPr>
        <p:grpSpPr>
          <a:xfrm>
            <a:off x="1225232" y="3131053"/>
            <a:ext cx="3580233" cy="814260"/>
            <a:chOff x="7960857" y="3236326"/>
            <a:chExt cx="3580233" cy="575906"/>
          </a:xfrm>
        </p:grpSpPr>
        <p:cxnSp>
          <p:nvCxnSpPr>
            <p:cNvPr id="74" name="直接箭头连接符 73"/>
            <p:cNvCxnSpPr/>
            <p:nvPr/>
          </p:nvCxnSpPr>
          <p:spPr>
            <a:xfrm>
              <a:off x="9718317" y="3532440"/>
              <a:ext cx="0" cy="279792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/>
            <p:cNvSpPr txBox="1"/>
            <p:nvPr/>
          </p:nvSpPr>
          <p:spPr>
            <a:xfrm>
              <a:off x="7960857" y="3236326"/>
              <a:ext cx="35802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❶  切换到“实时”工作模式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pic>
        <p:nvPicPr>
          <p:cNvPr id="76" name="20 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784" y="3945313"/>
            <a:ext cx="2362405" cy="1493649"/>
          </a:xfrm>
          <a:prstGeom prst="rect">
            <a:avLst/>
          </a:prstGeom>
        </p:spPr>
      </p:pic>
      <p:grpSp>
        <p:nvGrpSpPr>
          <p:cNvPr id="77" name="组合 76"/>
          <p:cNvGrpSpPr/>
          <p:nvPr/>
        </p:nvGrpSpPr>
        <p:grpSpPr>
          <a:xfrm>
            <a:off x="8425682" y="3131053"/>
            <a:ext cx="3195196" cy="814260"/>
            <a:chOff x="4889333" y="1367020"/>
            <a:chExt cx="3195196" cy="814260"/>
          </a:xfrm>
        </p:grpSpPr>
        <p:cxnSp>
          <p:nvCxnSpPr>
            <p:cNvPr id="78" name="直接箭头连接符 77"/>
            <p:cNvCxnSpPr>
              <a:stCxn id="79" idx="2"/>
            </p:cNvCxnSpPr>
            <p:nvPr/>
          </p:nvCxnSpPr>
          <p:spPr>
            <a:xfrm>
              <a:off x="6486931" y="1767130"/>
              <a:ext cx="0" cy="41415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/>
            <p:cNvSpPr txBox="1"/>
            <p:nvPr/>
          </p:nvSpPr>
          <p:spPr>
            <a:xfrm>
              <a:off x="4889333" y="1367020"/>
              <a:ext cx="31951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❷  单击该按钮，快进时间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/>
          <p:cNvGrpSpPr/>
          <p:nvPr/>
        </p:nvGrpSpPr>
        <p:grpSpPr>
          <a:xfrm>
            <a:off x="3358290" y="3822983"/>
            <a:ext cx="5461883" cy="96406"/>
            <a:chOff x="3358290" y="3822983"/>
            <a:chExt cx="5461883" cy="96406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3358290" y="3875212"/>
              <a:ext cx="54618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/>
            <p:cNvSpPr/>
            <p:nvPr/>
          </p:nvSpPr>
          <p:spPr>
            <a:xfrm rot="10800000">
              <a:off x="3712925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10800000">
              <a:off x="8413699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05375" y="4028174"/>
            <a:ext cx="111831" cy="1097139"/>
            <a:chOff x="3094197" y="4028174"/>
            <a:chExt cx="111831" cy="109713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005375" y="2616910"/>
            <a:ext cx="115302" cy="1097139"/>
            <a:chOff x="3094197" y="2616910"/>
            <a:chExt cx="115302" cy="1097139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等腰三角形 43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94197" y="4028174"/>
            <a:ext cx="111831" cy="1097139"/>
            <a:chOff x="3094197" y="4028174"/>
            <a:chExt cx="111831" cy="1097139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094197" y="2616910"/>
            <a:ext cx="115302" cy="1097139"/>
            <a:chOff x="3094197" y="2616910"/>
            <a:chExt cx="115302" cy="1097139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9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63697" y="685800"/>
            <a:ext cx="6267025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grpSp>
        <p:nvGrpSpPr>
          <p:cNvPr id="72" name="组合 71"/>
          <p:cNvGrpSpPr/>
          <p:nvPr/>
        </p:nvGrpSpPr>
        <p:grpSpPr>
          <a:xfrm>
            <a:off x="3358290" y="3822983"/>
            <a:ext cx="5461883" cy="96406"/>
            <a:chOff x="3358290" y="3822983"/>
            <a:chExt cx="5461883" cy="96406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3358290" y="3875212"/>
              <a:ext cx="54618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/>
            <p:cNvSpPr/>
            <p:nvPr/>
          </p:nvSpPr>
          <p:spPr>
            <a:xfrm rot="10800000">
              <a:off x="3712925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10800000">
              <a:off x="8413699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05375" y="4028174"/>
            <a:ext cx="111831" cy="1097139"/>
            <a:chOff x="3094197" y="4028174"/>
            <a:chExt cx="111831" cy="109713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005375" y="2616910"/>
            <a:ext cx="115302" cy="1097139"/>
            <a:chOff x="3094197" y="2616910"/>
            <a:chExt cx="115302" cy="1097139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等腰三角形 43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94197" y="4028174"/>
            <a:ext cx="111831" cy="1097139"/>
            <a:chOff x="3094197" y="4028174"/>
            <a:chExt cx="111831" cy="1097139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094197" y="2616910"/>
            <a:ext cx="115302" cy="1097139"/>
            <a:chOff x="3094197" y="2616910"/>
            <a:chExt cx="115302" cy="1097139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63697" y="685800"/>
            <a:ext cx="6267025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3" name="20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3" y="1729715"/>
            <a:ext cx="4275190" cy="1265030"/>
          </a:xfrm>
          <a:prstGeom prst="rect">
            <a:avLst/>
          </a:prstGeom>
        </p:spPr>
      </p:pic>
      <p:pic>
        <p:nvPicPr>
          <p:cNvPr id="14" name="20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381" y="1827181"/>
            <a:ext cx="4778816" cy="4558029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1731900" y="2153052"/>
            <a:ext cx="2204189" cy="1948430"/>
            <a:chOff x="1731900" y="2153052"/>
            <a:chExt cx="2204189" cy="1948430"/>
          </a:xfrm>
        </p:grpSpPr>
        <p:sp>
          <p:nvSpPr>
            <p:cNvPr id="22" name="文本框 21"/>
            <p:cNvSpPr txBox="1"/>
            <p:nvPr/>
          </p:nvSpPr>
          <p:spPr>
            <a:xfrm>
              <a:off x="1731900" y="3701372"/>
              <a:ext cx="22041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❶  选择该菜单项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49" name="直接箭头连接符 48"/>
            <p:cNvCxnSpPr/>
            <p:nvPr/>
          </p:nvCxnSpPr>
          <p:spPr>
            <a:xfrm flipV="1">
              <a:off x="2833995" y="2153052"/>
              <a:ext cx="0" cy="1472120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组合 53"/>
          <p:cNvGrpSpPr/>
          <p:nvPr/>
        </p:nvGrpSpPr>
        <p:grpSpPr>
          <a:xfrm>
            <a:off x="6373131" y="1297718"/>
            <a:ext cx="2204189" cy="790486"/>
            <a:chOff x="6373131" y="1297718"/>
            <a:chExt cx="2204189" cy="790486"/>
          </a:xfrm>
        </p:grpSpPr>
        <p:sp>
          <p:nvSpPr>
            <p:cNvPr id="58" name="文本框 57"/>
            <p:cNvSpPr txBox="1"/>
            <p:nvPr/>
          </p:nvSpPr>
          <p:spPr>
            <a:xfrm>
              <a:off x="6373131" y="1297718"/>
              <a:ext cx="22041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❷  选择该选项卡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65" name="直接箭头连接符 64"/>
            <p:cNvCxnSpPr/>
            <p:nvPr/>
          </p:nvCxnSpPr>
          <p:spPr>
            <a:xfrm>
              <a:off x="7475226" y="1680280"/>
              <a:ext cx="0" cy="407924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组合 65"/>
          <p:cNvGrpSpPr/>
          <p:nvPr/>
        </p:nvGrpSpPr>
        <p:grpSpPr>
          <a:xfrm>
            <a:off x="5007313" y="2966200"/>
            <a:ext cx="2230066" cy="400110"/>
            <a:chOff x="5007313" y="2966200"/>
            <a:chExt cx="2230066" cy="400110"/>
          </a:xfrm>
        </p:grpSpPr>
        <p:sp>
          <p:nvSpPr>
            <p:cNvPr id="79" name="文本框 78"/>
            <p:cNvSpPr txBox="1"/>
            <p:nvPr/>
          </p:nvSpPr>
          <p:spPr>
            <a:xfrm>
              <a:off x="5007313" y="2966200"/>
              <a:ext cx="18421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❸ 选中该选项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80" name="直接箭头连接符 79"/>
            <p:cNvCxnSpPr/>
            <p:nvPr/>
          </p:nvCxnSpPr>
          <p:spPr>
            <a:xfrm>
              <a:off x="6849414" y="3166255"/>
              <a:ext cx="387965" cy="0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63697" y="685800"/>
            <a:ext cx="6267025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grpSp>
        <p:nvGrpSpPr>
          <p:cNvPr id="72" name="组合 71"/>
          <p:cNvGrpSpPr/>
          <p:nvPr/>
        </p:nvGrpSpPr>
        <p:grpSpPr>
          <a:xfrm>
            <a:off x="3358290" y="3822983"/>
            <a:ext cx="5461883" cy="96406"/>
            <a:chOff x="3358290" y="3822983"/>
            <a:chExt cx="5461883" cy="96406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3358290" y="3875212"/>
              <a:ext cx="54618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/>
            <p:cNvSpPr/>
            <p:nvPr/>
          </p:nvSpPr>
          <p:spPr>
            <a:xfrm rot="10800000">
              <a:off x="3712925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10800000">
              <a:off x="8413699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05375" y="4028174"/>
            <a:ext cx="111831" cy="1097139"/>
            <a:chOff x="3094197" y="4028174"/>
            <a:chExt cx="111831" cy="109713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005375" y="2616910"/>
            <a:ext cx="115302" cy="1097139"/>
            <a:chOff x="3094197" y="2616910"/>
            <a:chExt cx="115302" cy="1097139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等腰三角形 43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94197" y="4028174"/>
            <a:ext cx="111831" cy="1097139"/>
            <a:chOff x="3094197" y="4028174"/>
            <a:chExt cx="111831" cy="1097139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094197" y="2616910"/>
            <a:ext cx="115302" cy="1097139"/>
            <a:chOff x="3094197" y="2616910"/>
            <a:chExt cx="115302" cy="1097139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455094" y="3177196"/>
            <a:ext cx="7509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2455094" y="4231454"/>
            <a:ext cx="7509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9013443" y="3208531"/>
            <a:ext cx="7509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9047303" y="4178644"/>
            <a:ext cx="7509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3287379" y="3576052"/>
            <a:ext cx="7509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54" name="文本框 53"/>
          <p:cNvSpPr txBox="1"/>
          <p:nvPr/>
        </p:nvSpPr>
        <p:spPr>
          <a:xfrm>
            <a:off x="8181069" y="3565924"/>
            <a:ext cx="7509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58" name="文本框 57"/>
          <p:cNvSpPr txBox="1"/>
          <p:nvPr/>
        </p:nvSpPr>
        <p:spPr>
          <a:xfrm>
            <a:off x="1180006" y="1938107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65" name="文本框 64"/>
          <p:cNvSpPr txBox="1"/>
          <p:nvPr/>
        </p:nvSpPr>
        <p:spPr>
          <a:xfrm>
            <a:off x="1176308" y="5260039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4722657" y="5222754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675751" y="1867445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7160855" y="1938004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10576319" y="1927190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7093512" y="5227614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10598289" y="5267574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2414105" y="2240493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Fa0/1</a:t>
            </a:r>
            <a:endParaRPr lang="en-US" altLang="zh-CN" sz="1400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3501825" y="2248278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Fa0/2</a:t>
            </a:r>
            <a:endParaRPr lang="en-US" altLang="zh-CN" sz="1400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2555227" y="2853859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Fa0/3</a:t>
            </a:r>
            <a:endParaRPr lang="en-US" altLang="zh-CN" sz="1400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2280358" y="4923102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Fa0/1</a:t>
            </a:r>
            <a:endParaRPr lang="en-US" altLang="zh-CN" sz="1400" b="1" dirty="0"/>
          </a:p>
        </p:txBody>
      </p:sp>
      <p:sp>
        <p:nvSpPr>
          <p:cNvPr id="95" name="文本框 94"/>
          <p:cNvSpPr txBox="1"/>
          <p:nvPr/>
        </p:nvSpPr>
        <p:spPr>
          <a:xfrm>
            <a:off x="2733798" y="4551090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Fa0/3</a:t>
            </a:r>
            <a:endParaRPr lang="en-US" altLang="zh-CN" sz="1400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3375151" y="5133709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Fa0/2</a:t>
            </a:r>
            <a:endParaRPr lang="en-US" altLang="zh-CN" sz="1400" b="1" dirty="0"/>
          </a:p>
        </p:txBody>
      </p:sp>
      <p:sp>
        <p:nvSpPr>
          <p:cNvPr id="97" name="文本框 96"/>
          <p:cNvSpPr txBox="1"/>
          <p:nvPr/>
        </p:nvSpPr>
        <p:spPr>
          <a:xfrm>
            <a:off x="8234295" y="2272931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Fa0/1</a:t>
            </a:r>
            <a:endParaRPr lang="en-US" altLang="zh-CN" sz="1400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9322015" y="2280716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Fa0/2</a:t>
            </a:r>
            <a:endParaRPr lang="en-US" altLang="zh-CN" sz="1400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8537610" y="2867268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Fa0/3</a:t>
            </a:r>
            <a:endParaRPr lang="en-US" altLang="zh-CN" sz="1400" b="1" dirty="0"/>
          </a:p>
        </p:txBody>
      </p:sp>
      <p:sp>
        <p:nvSpPr>
          <p:cNvPr id="102" name="文本框 101"/>
          <p:cNvSpPr txBox="1"/>
          <p:nvPr/>
        </p:nvSpPr>
        <p:spPr>
          <a:xfrm>
            <a:off x="8093306" y="5096118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Fa0/1</a:t>
            </a:r>
            <a:endParaRPr lang="en-US" altLang="zh-CN" sz="14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9272304" y="5052131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Fa0/2</a:t>
            </a:r>
            <a:endParaRPr lang="en-US" altLang="zh-CN" sz="14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9044257" y="4510737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Fa0/3</a:t>
            </a:r>
            <a:endParaRPr lang="en-US" altLang="zh-CN" sz="1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1" grpId="0" animBg="1"/>
      <p:bldP spid="22" grpId="0" animBg="1"/>
      <p:bldP spid="49" grpId="0" animBg="1"/>
      <p:bldP spid="54" grpId="0" animBg="1"/>
      <p:bldP spid="58" grpId="0" animBg="1"/>
      <p:bldP spid="65" grpId="0" animBg="1"/>
      <p:bldP spid="66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95" grpId="0" animBg="1"/>
      <p:bldP spid="96" grpId="0" animBg="1"/>
      <p:bldP spid="97" grpId="0" animBg="1"/>
      <p:bldP spid="98" grpId="0" animBg="1"/>
      <p:bldP spid="101" grpId="0" animBg="1"/>
      <p:bldP spid="102" grpId="0" animBg="1"/>
      <p:bldP spid="104" grpId="0" animBg="1"/>
      <p:bldP spid="10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63697" y="685800"/>
            <a:ext cx="6267025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grpSp>
        <p:nvGrpSpPr>
          <p:cNvPr id="72" name="组合 71"/>
          <p:cNvGrpSpPr/>
          <p:nvPr/>
        </p:nvGrpSpPr>
        <p:grpSpPr>
          <a:xfrm>
            <a:off x="3358290" y="3822983"/>
            <a:ext cx="5461883" cy="96406"/>
            <a:chOff x="3358290" y="3822983"/>
            <a:chExt cx="5461883" cy="96406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3358290" y="3875212"/>
              <a:ext cx="54618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/>
            <p:cNvSpPr/>
            <p:nvPr/>
          </p:nvSpPr>
          <p:spPr>
            <a:xfrm rot="10800000">
              <a:off x="3712925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10800000">
              <a:off x="8413699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05375" y="4028174"/>
            <a:ext cx="111831" cy="1097139"/>
            <a:chOff x="3094197" y="4028174"/>
            <a:chExt cx="111831" cy="109713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005375" y="2616910"/>
            <a:ext cx="115302" cy="1097139"/>
            <a:chOff x="3094197" y="2616910"/>
            <a:chExt cx="115302" cy="1097139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等腰三角形 43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94197" y="4028174"/>
            <a:ext cx="111831" cy="1097139"/>
            <a:chOff x="3094197" y="4028174"/>
            <a:chExt cx="111831" cy="1097139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094197" y="2616910"/>
            <a:ext cx="115302" cy="1097139"/>
            <a:chOff x="3094197" y="2616910"/>
            <a:chExt cx="115302" cy="1097139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455094" y="3177196"/>
            <a:ext cx="7509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2455094" y="4231454"/>
            <a:ext cx="7509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9013443" y="3208531"/>
            <a:ext cx="7509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9047303" y="4178644"/>
            <a:ext cx="7509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3287379" y="3576052"/>
            <a:ext cx="7509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54" name="文本框 53"/>
          <p:cNvSpPr txBox="1"/>
          <p:nvPr/>
        </p:nvSpPr>
        <p:spPr>
          <a:xfrm>
            <a:off x="8181069" y="3565924"/>
            <a:ext cx="7509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58" name="文本框 57"/>
          <p:cNvSpPr txBox="1"/>
          <p:nvPr/>
        </p:nvSpPr>
        <p:spPr>
          <a:xfrm>
            <a:off x="1180006" y="1938107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65" name="文本框 64"/>
          <p:cNvSpPr txBox="1"/>
          <p:nvPr/>
        </p:nvSpPr>
        <p:spPr>
          <a:xfrm>
            <a:off x="1176308" y="5260039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4722657" y="5222754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675751" y="1867445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7160855" y="1938004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10576319" y="1927190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7093512" y="5227614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10598289" y="5267574"/>
            <a:ext cx="474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</a:t>
            </a:r>
            <a:endParaRPr lang="en-US" altLang="zh-CN" sz="1400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2414105" y="2240493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Fa0/1</a:t>
            </a:r>
            <a:endParaRPr lang="en-US" altLang="zh-CN" sz="1400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3501825" y="2248278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Fa0/2</a:t>
            </a:r>
            <a:endParaRPr lang="en-US" altLang="zh-CN" sz="1400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2555227" y="2853859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Fa0/3</a:t>
            </a:r>
            <a:endParaRPr lang="en-US" altLang="zh-CN" sz="1400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2280358" y="4923102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Fa0/1</a:t>
            </a:r>
            <a:endParaRPr lang="en-US" altLang="zh-CN" sz="1400" b="1" dirty="0"/>
          </a:p>
        </p:txBody>
      </p:sp>
      <p:sp>
        <p:nvSpPr>
          <p:cNvPr id="95" name="文本框 94"/>
          <p:cNvSpPr txBox="1"/>
          <p:nvPr/>
        </p:nvSpPr>
        <p:spPr>
          <a:xfrm>
            <a:off x="2733798" y="4551090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Fa0/3</a:t>
            </a:r>
            <a:endParaRPr lang="en-US" altLang="zh-CN" sz="1400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3375151" y="5133709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Fa0/2</a:t>
            </a:r>
            <a:endParaRPr lang="en-US" altLang="zh-CN" sz="1400" b="1" dirty="0"/>
          </a:p>
        </p:txBody>
      </p:sp>
      <p:sp>
        <p:nvSpPr>
          <p:cNvPr id="97" name="文本框 96"/>
          <p:cNvSpPr txBox="1"/>
          <p:nvPr/>
        </p:nvSpPr>
        <p:spPr>
          <a:xfrm>
            <a:off x="8234295" y="2272931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Fa0/1</a:t>
            </a:r>
            <a:endParaRPr lang="en-US" altLang="zh-CN" sz="1400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9322015" y="2280716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Fa0/2</a:t>
            </a:r>
            <a:endParaRPr lang="en-US" altLang="zh-CN" sz="1400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8537610" y="2867268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Fa0/3</a:t>
            </a:r>
            <a:endParaRPr lang="en-US" altLang="zh-CN" sz="1400" b="1" dirty="0"/>
          </a:p>
        </p:txBody>
      </p:sp>
      <p:sp>
        <p:nvSpPr>
          <p:cNvPr id="102" name="文本框 101"/>
          <p:cNvSpPr txBox="1"/>
          <p:nvPr/>
        </p:nvSpPr>
        <p:spPr>
          <a:xfrm>
            <a:off x="8093306" y="5096118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Fa0/1</a:t>
            </a:r>
            <a:endParaRPr lang="en-US" altLang="zh-CN" sz="14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9272304" y="5052131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Fa0/2</a:t>
            </a:r>
            <a:endParaRPr lang="en-US" altLang="zh-CN" sz="14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9044257" y="4510737"/>
            <a:ext cx="6169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Fa0/3</a:t>
            </a:r>
            <a:endParaRPr lang="en-US" altLang="zh-CN" sz="1400" b="1" dirty="0"/>
          </a:p>
        </p:txBody>
      </p:sp>
      <p:sp>
        <p:nvSpPr>
          <p:cNvPr id="110" name="矩形 109"/>
          <p:cNvSpPr/>
          <p:nvPr/>
        </p:nvSpPr>
        <p:spPr>
          <a:xfrm>
            <a:off x="301265" y="1300210"/>
            <a:ext cx="11585935" cy="19441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/>
              <a:t>         Packet Tracer</a:t>
            </a:r>
            <a:r>
              <a:rPr lang="zh-CN" altLang="en-US" sz="2000" b="1" dirty="0"/>
              <a:t>软件显示接口名称、网络设备型号和名称的功能并不完美，有时会遮挡传输媒体、状态指示灯、甚至是网络设备自身，并且会显示网络中所有网络设备相关接口的接口名称，这使得网络拓扑中的信息看起来比较凌乱。</a:t>
            </a:r>
            <a:endParaRPr lang="en-US" altLang="zh-CN" sz="2000" b="1" dirty="0"/>
          </a:p>
          <a:p>
            <a:r>
              <a:rPr lang="zh-CN" altLang="en-US" sz="2000" b="1" dirty="0"/>
              <a:t>         建议同学们首先让</a:t>
            </a:r>
            <a:r>
              <a:rPr lang="en-US" altLang="zh-CN" sz="2000" b="1" dirty="0"/>
              <a:t>Packet Tracer</a:t>
            </a:r>
            <a:r>
              <a:rPr lang="zh-CN" altLang="en-US" sz="2000" b="1" dirty="0"/>
              <a:t>软件显示各网络设备的相关接口名称，然后将需要显示的接口名称记录下来，并作为注释信息标注在相关接口旁边，最后让</a:t>
            </a:r>
            <a:r>
              <a:rPr lang="en-US" altLang="zh-CN" sz="2000" b="1" dirty="0"/>
              <a:t>Packet Tracer</a:t>
            </a:r>
            <a:r>
              <a:rPr lang="zh-CN" altLang="en-US" sz="2000" b="1" dirty="0"/>
              <a:t>软件不显示各网络设备的相关接口名称即可。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9" presetClass="exit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0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6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1" grpId="0" animBg="1"/>
      <p:bldP spid="22" grpId="0" animBg="1"/>
      <p:bldP spid="49" grpId="0" animBg="1"/>
      <p:bldP spid="54" grpId="0" animBg="1"/>
      <p:bldP spid="65" grpId="0" animBg="1"/>
      <p:bldP spid="66" grpId="0" animBg="1"/>
      <p:bldP spid="82" grpId="0" animBg="1"/>
      <p:bldP spid="83" grpId="0" animBg="1"/>
      <p:bldP spid="87" grpId="0" animBg="1"/>
      <p:bldP spid="95" grpId="0" animBg="1"/>
      <p:bldP spid="96" grpId="0" animBg="1"/>
      <p:bldP spid="102" grpId="0" animBg="1"/>
      <p:bldP spid="104" grpId="0" animBg="1"/>
      <p:bldP spid="105" grpId="0" animBg="1"/>
      <p:bldP spid="1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63697" y="685800"/>
            <a:ext cx="6267025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grpSp>
        <p:nvGrpSpPr>
          <p:cNvPr id="72" name="组合 71"/>
          <p:cNvGrpSpPr/>
          <p:nvPr/>
        </p:nvGrpSpPr>
        <p:grpSpPr>
          <a:xfrm>
            <a:off x="3358290" y="3822983"/>
            <a:ext cx="5461883" cy="96406"/>
            <a:chOff x="3358290" y="3822983"/>
            <a:chExt cx="5461883" cy="96406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3358290" y="3875212"/>
              <a:ext cx="54618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/>
            <p:cNvSpPr/>
            <p:nvPr/>
          </p:nvSpPr>
          <p:spPr>
            <a:xfrm rot="10800000">
              <a:off x="3712925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10800000">
              <a:off x="8413699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05375" y="4028174"/>
            <a:ext cx="111831" cy="1097139"/>
            <a:chOff x="3094197" y="4028174"/>
            <a:chExt cx="111831" cy="109713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005375" y="2616910"/>
            <a:ext cx="115302" cy="1097139"/>
            <a:chOff x="3094197" y="2616910"/>
            <a:chExt cx="115302" cy="1097139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等腰三角形 43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94197" y="4028174"/>
            <a:ext cx="111831" cy="1097139"/>
            <a:chOff x="3094197" y="4028174"/>
            <a:chExt cx="111831" cy="1097139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094197" y="2616910"/>
            <a:ext cx="115302" cy="1097139"/>
            <a:chOff x="3094197" y="2616910"/>
            <a:chExt cx="115302" cy="1097139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2455094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2" name="文本框 111"/>
          <p:cNvSpPr txBox="1"/>
          <p:nvPr/>
        </p:nvSpPr>
        <p:spPr>
          <a:xfrm>
            <a:off x="2455094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9105668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9105668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3399503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54327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pic>
        <p:nvPicPr>
          <p:cNvPr id="117" name="20 1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478" y="3068073"/>
            <a:ext cx="3912977" cy="828961"/>
          </a:xfrm>
          <a:prstGeom prst="rect">
            <a:avLst/>
          </a:prstGeom>
        </p:spPr>
      </p:pic>
      <p:grpSp>
        <p:nvGrpSpPr>
          <p:cNvPr id="118" name="组合 117"/>
          <p:cNvGrpSpPr/>
          <p:nvPr/>
        </p:nvGrpSpPr>
        <p:grpSpPr>
          <a:xfrm>
            <a:off x="4220517" y="3870259"/>
            <a:ext cx="6187763" cy="981754"/>
            <a:chOff x="2655449" y="2267382"/>
            <a:chExt cx="6187763" cy="981754"/>
          </a:xfrm>
        </p:grpSpPr>
        <p:sp>
          <p:nvSpPr>
            <p:cNvPr id="119" name="文本框 7"/>
            <p:cNvSpPr txBox="1"/>
            <p:nvPr/>
          </p:nvSpPr>
          <p:spPr>
            <a:xfrm>
              <a:off x="2655449" y="2375499"/>
              <a:ext cx="6187763" cy="873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使用“放置注释”工具，在路由器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相关接口旁标注接口名称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>
            <a:xfrm flipV="1">
              <a:off x="4095446" y="2267382"/>
              <a:ext cx="0" cy="282796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2" grpId="0"/>
      <p:bldP spid="113" grpId="0"/>
      <p:bldP spid="114" grpId="0"/>
      <p:bldP spid="115" grpId="0"/>
      <p:bldP spid="1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21027" y="685800"/>
            <a:ext cx="655288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标注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grpSp>
        <p:nvGrpSpPr>
          <p:cNvPr id="72" name="组合 71"/>
          <p:cNvGrpSpPr/>
          <p:nvPr/>
        </p:nvGrpSpPr>
        <p:grpSpPr>
          <a:xfrm>
            <a:off x="3358290" y="3822983"/>
            <a:ext cx="5461883" cy="96406"/>
            <a:chOff x="3358290" y="3822983"/>
            <a:chExt cx="5461883" cy="96406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3358290" y="3875212"/>
              <a:ext cx="54618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/>
            <p:cNvSpPr/>
            <p:nvPr/>
          </p:nvSpPr>
          <p:spPr>
            <a:xfrm rot="10800000">
              <a:off x="3712925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10800000">
              <a:off x="8413699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05375" y="4028174"/>
            <a:ext cx="111831" cy="1097139"/>
            <a:chOff x="3094197" y="4028174"/>
            <a:chExt cx="111831" cy="109713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005375" y="2616910"/>
            <a:ext cx="115302" cy="1097139"/>
            <a:chOff x="3094197" y="2616910"/>
            <a:chExt cx="115302" cy="1097139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等腰三角形 43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94197" y="4028174"/>
            <a:ext cx="111831" cy="1097139"/>
            <a:chOff x="3094197" y="4028174"/>
            <a:chExt cx="111831" cy="1097139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094197" y="2616910"/>
            <a:ext cx="115302" cy="1097139"/>
            <a:chOff x="3094197" y="2616910"/>
            <a:chExt cx="115302" cy="1097139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2455094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2" name="文本框 111"/>
          <p:cNvSpPr txBox="1"/>
          <p:nvPr/>
        </p:nvSpPr>
        <p:spPr>
          <a:xfrm>
            <a:off x="2455094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9105668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9105668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3399503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54327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304800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04799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207137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207136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430077" y="3576613"/>
            <a:ext cx="5354462" cy="60463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182844" y="2786705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4"/>
                </a:solidFill>
              </a:rPr>
              <a:t>网络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199516" y="2786705"/>
            <a:ext cx="74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网络</a:t>
            </a:r>
            <a:r>
              <a:rPr lang="en-US" altLang="zh-CN" b="1" dirty="0">
                <a:solidFill>
                  <a:schemeClr val="accent3"/>
                </a:solidFill>
              </a:rPr>
              <a:t>4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182844" y="4511862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5"/>
                </a:solidFill>
              </a:rPr>
              <a:t>网络</a:t>
            </a:r>
            <a:r>
              <a:rPr lang="en-US" altLang="zh-CN" b="1" dirty="0">
                <a:solidFill>
                  <a:schemeClr val="accent5"/>
                </a:solidFill>
              </a:rPr>
              <a:t>2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99516" y="4512950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网络</a:t>
            </a:r>
            <a:r>
              <a:rPr lang="en-US" altLang="zh-CN" b="1" dirty="0">
                <a:solidFill>
                  <a:schemeClr val="accent6"/>
                </a:solidFill>
              </a:rPr>
              <a:t>3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686713" y="3844823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1"/>
                </a:solidFill>
              </a:rPr>
              <a:t>网络</a:t>
            </a:r>
            <a:r>
              <a:rPr lang="en-US" altLang="zh-CN" b="1" dirty="0">
                <a:solidFill>
                  <a:schemeClr val="accent1"/>
                </a:solidFill>
              </a:rPr>
              <a:t>5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  <p:bldP spid="14" grpId="0" animBg="1"/>
      <p:bldP spid="21" grpId="0" animBg="1"/>
      <p:bldP spid="22" grpId="0" animBg="1"/>
      <p:bldP spid="54" grpId="0" animBg="1"/>
      <p:bldP spid="58" grpId="0"/>
      <p:bldP spid="65" grpId="0"/>
      <p:bldP spid="66" grpId="0"/>
      <p:bldP spid="79" grpId="0"/>
      <p:bldP spid="8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21027" y="685800"/>
            <a:ext cx="655288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标注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grpSp>
        <p:nvGrpSpPr>
          <p:cNvPr id="72" name="组合 71"/>
          <p:cNvGrpSpPr/>
          <p:nvPr/>
        </p:nvGrpSpPr>
        <p:grpSpPr>
          <a:xfrm>
            <a:off x="3358290" y="3822983"/>
            <a:ext cx="5461883" cy="96406"/>
            <a:chOff x="3358290" y="3822983"/>
            <a:chExt cx="5461883" cy="96406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3358290" y="3875212"/>
              <a:ext cx="54618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/>
            <p:cNvSpPr/>
            <p:nvPr/>
          </p:nvSpPr>
          <p:spPr>
            <a:xfrm rot="10800000">
              <a:off x="3712925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10800000">
              <a:off x="8413699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05375" y="4028174"/>
            <a:ext cx="111831" cy="1097139"/>
            <a:chOff x="3094197" y="4028174"/>
            <a:chExt cx="111831" cy="109713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005375" y="2616910"/>
            <a:ext cx="115302" cy="1097139"/>
            <a:chOff x="3094197" y="2616910"/>
            <a:chExt cx="115302" cy="1097139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等腰三角形 43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94197" y="4028174"/>
            <a:ext cx="111831" cy="1097139"/>
            <a:chOff x="3094197" y="4028174"/>
            <a:chExt cx="111831" cy="1097139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094197" y="2616910"/>
            <a:ext cx="115302" cy="1097139"/>
            <a:chOff x="3094197" y="2616910"/>
            <a:chExt cx="115302" cy="1097139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2455094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2" name="文本框 111"/>
          <p:cNvSpPr txBox="1"/>
          <p:nvPr/>
        </p:nvSpPr>
        <p:spPr>
          <a:xfrm>
            <a:off x="2455094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9105668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9105668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3399503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54327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304800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04799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207137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207136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430077" y="3576613"/>
            <a:ext cx="5354462" cy="60463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182844" y="2786705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4"/>
                </a:solidFill>
              </a:rPr>
              <a:t>网络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199516" y="2786705"/>
            <a:ext cx="74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网络</a:t>
            </a:r>
            <a:r>
              <a:rPr lang="en-US" altLang="zh-CN" b="1" dirty="0">
                <a:solidFill>
                  <a:schemeClr val="accent3"/>
                </a:solidFill>
              </a:rPr>
              <a:t>4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182844" y="4511862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5"/>
                </a:solidFill>
              </a:rPr>
              <a:t>网络</a:t>
            </a:r>
            <a:r>
              <a:rPr lang="en-US" altLang="zh-CN" b="1" dirty="0">
                <a:solidFill>
                  <a:schemeClr val="accent5"/>
                </a:solidFill>
              </a:rPr>
              <a:t>2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99516" y="4512950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网络</a:t>
            </a:r>
            <a:r>
              <a:rPr lang="en-US" altLang="zh-CN" b="1" dirty="0">
                <a:solidFill>
                  <a:schemeClr val="accent6"/>
                </a:solidFill>
              </a:rPr>
              <a:t>3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686713" y="3844823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1"/>
                </a:solidFill>
              </a:rPr>
              <a:t>网络</a:t>
            </a:r>
            <a:r>
              <a:rPr lang="en-US" altLang="zh-CN" b="1" dirty="0">
                <a:solidFill>
                  <a:schemeClr val="accent1"/>
                </a:solidFill>
              </a:rPr>
              <a:t>5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954543" y="1281007"/>
            <a:ext cx="6269375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申请到的</a:t>
            </a:r>
            <a:r>
              <a:rPr lang="en-US" altLang="zh-CN" sz="2000" b="1" dirty="0">
                <a:solidFill>
                  <a:schemeClr val="bg1"/>
                </a:solidFill>
              </a:rPr>
              <a:t>CIDR</a:t>
            </a:r>
            <a:r>
              <a:rPr lang="zh-CN" altLang="en-US" sz="2000" b="1" dirty="0">
                <a:solidFill>
                  <a:schemeClr val="bg1"/>
                </a:solidFill>
              </a:rPr>
              <a:t>地址块为：</a:t>
            </a:r>
            <a:r>
              <a:rPr lang="en-US" altLang="zh-CN" sz="2000" b="1" dirty="0">
                <a:solidFill>
                  <a:schemeClr val="bg1"/>
                </a:solidFill>
              </a:rPr>
              <a:t>218.75.230.0/24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70375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2276481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25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8172712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8144629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3238453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4"/>
                </a:solidFill>
              </a:rPr>
              <a:t>CIDR</a:t>
            </a:r>
            <a:r>
              <a:rPr lang="zh-CN" altLang="en-US" sz="1600" b="1" dirty="0">
                <a:solidFill>
                  <a:schemeClr val="accent4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4"/>
                </a:solidFill>
              </a:rPr>
              <a:t>218.75.230.32/28</a:t>
            </a:r>
            <a:endParaRPr lang="en-US" altLang="zh-CN" sz="1600" b="1" dirty="0">
              <a:solidFill>
                <a:schemeClr val="accent4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199516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</a:rPr>
              <a:t>CIDR</a:t>
            </a:r>
            <a:r>
              <a:rPr lang="zh-CN" altLang="en-US" sz="1600" b="1" dirty="0">
                <a:solidFill>
                  <a:schemeClr val="accent3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3"/>
                </a:solidFill>
              </a:rPr>
              <a:t>218.75.230.64/28</a:t>
            </a:r>
            <a:endParaRPr lang="en-US" altLang="zh-CN" sz="1600" b="1" dirty="0">
              <a:solidFill>
                <a:schemeClr val="accent3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238453" y="4245048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5"/>
                </a:solidFill>
              </a:rPr>
              <a:t>CIDR</a:t>
            </a:r>
            <a:r>
              <a:rPr lang="zh-CN" altLang="en-US" sz="1600" b="1" dirty="0">
                <a:solidFill>
                  <a:schemeClr val="accent5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5"/>
                </a:solidFill>
              </a:rPr>
              <a:t>218.75.230.0/27</a:t>
            </a:r>
            <a:endParaRPr lang="en-US" altLang="zh-CN" sz="1600" b="1" dirty="0">
              <a:solidFill>
                <a:schemeClr val="accent5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199516" y="4246136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</a:rPr>
              <a:t>CIDR</a:t>
            </a:r>
            <a:r>
              <a:rPr lang="zh-CN" altLang="en-US" sz="1600" b="1" dirty="0">
                <a:solidFill>
                  <a:schemeClr val="accent6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6"/>
                </a:solidFill>
              </a:rPr>
              <a:t>218.75.230.48/28</a:t>
            </a:r>
            <a:endParaRPr lang="en-US" altLang="zh-CN" sz="1600" b="1" dirty="0">
              <a:solidFill>
                <a:schemeClr val="accent6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781653" y="3563919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</a:rPr>
              <a:t>CIDR</a:t>
            </a:r>
            <a:r>
              <a:rPr lang="zh-CN" altLang="en-US" sz="1600" b="1" dirty="0">
                <a:solidFill>
                  <a:schemeClr val="accent1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1"/>
                </a:solidFill>
              </a:rPr>
              <a:t>218.75.230.80/30</a:t>
            </a:r>
            <a:endParaRPr lang="en-US" altLang="zh-CN" sz="16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81" grpId="0"/>
      <p:bldP spid="82" grpId="0"/>
      <p:bldP spid="83" grpId="0"/>
      <p:bldP spid="84" grpId="0"/>
      <p:bldP spid="85" grpId="0"/>
      <p:bldP spid="86" grpId="0"/>
      <p:bldP spid="87" grpId="0"/>
      <p:bldP spid="95" grpId="0"/>
      <p:bldP spid="9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21027" y="685800"/>
            <a:ext cx="655288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标注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grpSp>
        <p:nvGrpSpPr>
          <p:cNvPr id="72" name="组合 71"/>
          <p:cNvGrpSpPr/>
          <p:nvPr/>
        </p:nvGrpSpPr>
        <p:grpSpPr>
          <a:xfrm>
            <a:off x="3358290" y="3822983"/>
            <a:ext cx="5461883" cy="96406"/>
            <a:chOff x="3358290" y="3822983"/>
            <a:chExt cx="5461883" cy="96406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3358290" y="3875212"/>
              <a:ext cx="54618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/>
            <p:cNvSpPr/>
            <p:nvPr/>
          </p:nvSpPr>
          <p:spPr>
            <a:xfrm rot="10800000">
              <a:off x="3712925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10800000">
              <a:off x="8413699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05375" y="4028174"/>
            <a:ext cx="111831" cy="1097139"/>
            <a:chOff x="3094197" y="4028174"/>
            <a:chExt cx="111831" cy="109713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005375" y="2616910"/>
            <a:ext cx="115302" cy="1097139"/>
            <a:chOff x="3094197" y="2616910"/>
            <a:chExt cx="115302" cy="1097139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等腰三角形 43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94197" y="4028174"/>
            <a:ext cx="111831" cy="1097139"/>
            <a:chOff x="3094197" y="4028174"/>
            <a:chExt cx="111831" cy="1097139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094197" y="2616910"/>
            <a:ext cx="115302" cy="1097139"/>
            <a:chOff x="3094197" y="2616910"/>
            <a:chExt cx="115302" cy="1097139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2455094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2" name="文本框 111"/>
          <p:cNvSpPr txBox="1"/>
          <p:nvPr/>
        </p:nvSpPr>
        <p:spPr>
          <a:xfrm>
            <a:off x="2455094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9105668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9105668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3399503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54327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304800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04799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207137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207136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430077" y="3576613"/>
            <a:ext cx="5354462" cy="60463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182844" y="2786705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4"/>
                </a:solidFill>
              </a:rPr>
              <a:t>网络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199516" y="2786705"/>
            <a:ext cx="74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网络</a:t>
            </a:r>
            <a:r>
              <a:rPr lang="en-US" altLang="zh-CN" b="1" dirty="0">
                <a:solidFill>
                  <a:schemeClr val="accent3"/>
                </a:solidFill>
              </a:rPr>
              <a:t>4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182844" y="4511862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5"/>
                </a:solidFill>
              </a:rPr>
              <a:t>网络</a:t>
            </a:r>
            <a:r>
              <a:rPr lang="en-US" altLang="zh-CN" b="1" dirty="0">
                <a:solidFill>
                  <a:schemeClr val="accent5"/>
                </a:solidFill>
              </a:rPr>
              <a:t>2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99516" y="4512950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网络</a:t>
            </a:r>
            <a:r>
              <a:rPr lang="en-US" altLang="zh-CN" b="1" dirty="0">
                <a:solidFill>
                  <a:schemeClr val="accent6"/>
                </a:solidFill>
              </a:rPr>
              <a:t>3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686713" y="3844823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1"/>
                </a:solidFill>
              </a:rPr>
              <a:t>网络</a:t>
            </a:r>
            <a:r>
              <a:rPr lang="en-US" altLang="zh-CN" b="1" dirty="0">
                <a:solidFill>
                  <a:schemeClr val="accent1"/>
                </a:solidFill>
              </a:rPr>
              <a:t>5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70375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2276481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25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8172712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8144629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3238453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4"/>
                </a:solidFill>
              </a:rPr>
              <a:t>CIDR</a:t>
            </a:r>
            <a:r>
              <a:rPr lang="zh-CN" altLang="en-US" sz="1600" b="1" dirty="0">
                <a:solidFill>
                  <a:schemeClr val="accent4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4"/>
                </a:solidFill>
              </a:rPr>
              <a:t>218.75.230.32/28</a:t>
            </a:r>
            <a:endParaRPr lang="en-US" altLang="zh-CN" sz="1600" b="1" dirty="0">
              <a:solidFill>
                <a:schemeClr val="accent4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199516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</a:rPr>
              <a:t>CIDR</a:t>
            </a:r>
            <a:r>
              <a:rPr lang="zh-CN" altLang="en-US" sz="1600" b="1" dirty="0">
                <a:solidFill>
                  <a:schemeClr val="accent3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3"/>
                </a:solidFill>
              </a:rPr>
              <a:t>218.75.230.64/28</a:t>
            </a:r>
            <a:endParaRPr lang="en-US" altLang="zh-CN" sz="1600" b="1" dirty="0">
              <a:solidFill>
                <a:schemeClr val="accent3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238453" y="4245048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5"/>
                </a:solidFill>
              </a:rPr>
              <a:t>CIDR</a:t>
            </a:r>
            <a:r>
              <a:rPr lang="zh-CN" altLang="en-US" sz="1600" b="1" dirty="0">
                <a:solidFill>
                  <a:schemeClr val="accent5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5"/>
                </a:solidFill>
              </a:rPr>
              <a:t>218.75.230.0/27</a:t>
            </a:r>
            <a:endParaRPr lang="en-US" altLang="zh-CN" sz="1600" b="1" dirty="0">
              <a:solidFill>
                <a:schemeClr val="accent5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199516" y="4246136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</a:rPr>
              <a:t>CIDR</a:t>
            </a:r>
            <a:r>
              <a:rPr lang="zh-CN" altLang="en-US" sz="1600" b="1" dirty="0">
                <a:solidFill>
                  <a:schemeClr val="accent6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6"/>
                </a:solidFill>
              </a:rPr>
              <a:t>218.75.230.48/28</a:t>
            </a:r>
            <a:endParaRPr lang="en-US" altLang="zh-CN" sz="1600" b="1" dirty="0">
              <a:solidFill>
                <a:schemeClr val="accent6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781653" y="3563919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</a:rPr>
              <a:t>CIDR</a:t>
            </a:r>
            <a:r>
              <a:rPr lang="zh-CN" altLang="en-US" sz="1600" b="1" dirty="0">
                <a:solidFill>
                  <a:schemeClr val="accent1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1"/>
                </a:solidFill>
              </a:rPr>
              <a:t>218.75.230.80/30</a:t>
            </a:r>
            <a:endParaRPr lang="en-US" altLang="zh-CN" sz="1600" b="1" dirty="0">
              <a:solidFill>
                <a:schemeClr val="accent1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309841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218.75.230.33/28</a:t>
            </a:r>
            <a:endParaRPr lang="en-US" altLang="zh-CN" sz="1400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3821967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218.75.230.34/28</a:t>
            </a:r>
            <a:endParaRPr lang="en-US" altLang="zh-CN" sz="1400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304800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218.75.230.1/27</a:t>
            </a:r>
            <a:endParaRPr lang="en-US" altLang="zh-CN" sz="1400" b="1" dirty="0"/>
          </a:p>
        </p:txBody>
      </p:sp>
      <p:sp>
        <p:nvSpPr>
          <p:cNvPr id="102" name="文本框 101"/>
          <p:cNvSpPr txBox="1"/>
          <p:nvPr/>
        </p:nvSpPr>
        <p:spPr>
          <a:xfrm>
            <a:off x="3821967" y="5861618"/>
            <a:ext cx="2164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218.75.230.2/27</a:t>
            </a:r>
            <a:endParaRPr lang="en-US" altLang="zh-CN" sz="14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6212178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218.75.230.65/28</a:t>
            </a:r>
            <a:endParaRPr lang="en-US" altLang="zh-CN" sz="14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9724304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218.75.230.66/28</a:t>
            </a:r>
            <a:endParaRPr lang="en-US" altLang="zh-CN" sz="1400" b="1" dirty="0"/>
          </a:p>
        </p:txBody>
      </p:sp>
      <p:sp>
        <p:nvSpPr>
          <p:cNvPr id="110" name="文本框 109"/>
          <p:cNvSpPr txBox="1"/>
          <p:nvPr/>
        </p:nvSpPr>
        <p:spPr>
          <a:xfrm>
            <a:off x="6207137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218.75.230.49/28</a:t>
            </a:r>
            <a:endParaRPr lang="en-US" altLang="zh-CN" sz="1400" b="1" dirty="0"/>
          </a:p>
        </p:txBody>
      </p:sp>
      <p:sp>
        <p:nvSpPr>
          <p:cNvPr id="117" name="文本框 116"/>
          <p:cNvSpPr txBox="1"/>
          <p:nvPr/>
        </p:nvSpPr>
        <p:spPr>
          <a:xfrm>
            <a:off x="9724304" y="5861618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218.75.230.50/28</a:t>
            </a:r>
            <a:endParaRPr lang="en-US" altLang="zh-CN" sz="1400" b="1" dirty="0"/>
          </a:p>
        </p:txBody>
      </p:sp>
      <p:sp>
        <p:nvSpPr>
          <p:cNvPr id="118" name="文本框 117"/>
          <p:cNvSpPr txBox="1"/>
          <p:nvPr/>
        </p:nvSpPr>
        <p:spPr>
          <a:xfrm>
            <a:off x="884361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218.75.230.46/28</a:t>
            </a:r>
            <a:endParaRPr lang="en-US" altLang="zh-CN" sz="1400" b="1" dirty="0"/>
          </a:p>
        </p:txBody>
      </p:sp>
      <p:sp>
        <p:nvSpPr>
          <p:cNvPr id="119" name="文本框 118"/>
          <p:cNvSpPr txBox="1"/>
          <p:nvPr/>
        </p:nvSpPr>
        <p:spPr>
          <a:xfrm>
            <a:off x="884361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218.75.230.30/27</a:t>
            </a:r>
            <a:endParaRPr lang="en-US" altLang="zh-CN" sz="1400" b="1" dirty="0"/>
          </a:p>
        </p:txBody>
      </p:sp>
      <p:sp>
        <p:nvSpPr>
          <p:cNvPr id="120" name="文本框 119"/>
          <p:cNvSpPr txBox="1"/>
          <p:nvPr/>
        </p:nvSpPr>
        <p:spPr>
          <a:xfrm>
            <a:off x="9096186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218.75.230.78/28</a:t>
            </a:r>
            <a:endParaRPr lang="en-US" altLang="zh-CN" sz="1400" b="1" dirty="0"/>
          </a:p>
        </p:txBody>
      </p:sp>
      <p:sp>
        <p:nvSpPr>
          <p:cNvPr id="121" name="文本框 120"/>
          <p:cNvSpPr txBox="1"/>
          <p:nvPr/>
        </p:nvSpPr>
        <p:spPr>
          <a:xfrm>
            <a:off x="9105668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218.75.230.62/28</a:t>
            </a:r>
            <a:endParaRPr lang="en-US" altLang="zh-CN" sz="1400" b="1" dirty="0"/>
          </a:p>
        </p:txBody>
      </p:sp>
      <p:sp>
        <p:nvSpPr>
          <p:cNvPr id="122" name="文本框 121"/>
          <p:cNvSpPr txBox="1"/>
          <p:nvPr/>
        </p:nvSpPr>
        <p:spPr>
          <a:xfrm>
            <a:off x="3399503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218.75.230.81/30</a:t>
            </a:r>
            <a:endParaRPr lang="en-US" altLang="zh-CN" sz="1400" b="1" dirty="0"/>
          </a:p>
        </p:txBody>
      </p:sp>
      <p:sp>
        <p:nvSpPr>
          <p:cNvPr id="123" name="文本框 122"/>
          <p:cNvSpPr txBox="1"/>
          <p:nvPr/>
        </p:nvSpPr>
        <p:spPr>
          <a:xfrm>
            <a:off x="6570882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218.75.230.82/30</a:t>
            </a:r>
            <a:endParaRPr lang="en-US" altLang="zh-CN" sz="1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8" grpId="0"/>
      <p:bldP spid="101" grpId="0"/>
      <p:bldP spid="102" grpId="0"/>
      <p:bldP spid="104" grpId="0"/>
      <p:bldP spid="105" grpId="0"/>
      <p:bldP spid="110" grpId="0"/>
      <p:bldP spid="117" grpId="0"/>
      <p:bldP spid="118" grpId="0"/>
      <p:bldP spid="119" grpId="0"/>
      <p:bldP spid="120" grpId="0"/>
      <p:bldP spid="121" grpId="0"/>
      <p:bldP spid="122" grpId="0"/>
      <p:bldP spid="1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21027" y="685800"/>
            <a:ext cx="655288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标注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grpSp>
        <p:nvGrpSpPr>
          <p:cNvPr id="72" name="组合 71"/>
          <p:cNvGrpSpPr/>
          <p:nvPr/>
        </p:nvGrpSpPr>
        <p:grpSpPr>
          <a:xfrm>
            <a:off x="3358290" y="3822983"/>
            <a:ext cx="5461883" cy="96406"/>
            <a:chOff x="3358290" y="3822983"/>
            <a:chExt cx="5461883" cy="96406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3358290" y="3875212"/>
              <a:ext cx="54618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/>
            <p:cNvSpPr/>
            <p:nvPr/>
          </p:nvSpPr>
          <p:spPr>
            <a:xfrm rot="10800000">
              <a:off x="3712925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10800000">
              <a:off x="8413699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05375" y="4028174"/>
            <a:ext cx="111831" cy="1097139"/>
            <a:chOff x="3094197" y="4028174"/>
            <a:chExt cx="111831" cy="109713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005375" y="2616910"/>
            <a:ext cx="115302" cy="1097139"/>
            <a:chOff x="3094197" y="2616910"/>
            <a:chExt cx="115302" cy="1097139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等腰三角形 43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94197" y="4028174"/>
            <a:ext cx="111831" cy="1097139"/>
            <a:chOff x="3094197" y="4028174"/>
            <a:chExt cx="111831" cy="1097139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094197" y="2616910"/>
            <a:ext cx="115302" cy="1097139"/>
            <a:chOff x="3094197" y="2616910"/>
            <a:chExt cx="115302" cy="1097139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2455094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2" name="文本框 111"/>
          <p:cNvSpPr txBox="1"/>
          <p:nvPr/>
        </p:nvSpPr>
        <p:spPr>
          <a:xfrm>
            <a:off x="2455094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9105668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9105668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3399503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54327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304800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04799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207137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207136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430077" y="3576613"/>
            <a:ext cx="5354462" cy="60463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182844" y="2786705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4"/>
                </a:solidFill>
              </a:rPr>
              <a:t>网络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199516" y="2786705"/>
            <a:ext cx="74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网络</a:t>
            </a:r>
            <a:r>
              <a:rPr lang="en-US" altLang="zh-CN" b="1" dirty="0">
                <a:solidFill>
                  <a:schemeClr val="accent3"/>
                </a:solidFill>
              </a:rPr>
              <a:t>4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182844" y="4511862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5"/>
                </a:solidFill>
              </a:rPr>
              <a:t>网络</a:t>
            </a:r>
            <a:r>
              <a:rPr lang="en-US" altLang="zh-CN" b="1" dirty="0">
                <a:solidFill>
                  <a:schemeClr val="accent5"/>
                </a:solidFill>
              </a:rPr>
              <a:t>2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99516" y="4512950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网络</a:t>
            </a:r>
            <a:r>
              <a:rPr lang="en-US" altLang="zh-CN" b="1" dirty="0">
                <a:solidFill>
                  <a:schemeClr val="accent6"/>
                </a:solidFill>
              </a:rPr>
              <a:t>3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686713" y="3844823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1"/>
                </a:solidFill>
              </a:rPr>
              <a:t>网络</a:t>
            </a:r>
            <a:r>
              <a:rPr lang="en-US" altLang="zh-CN" b="1" dirty="0">
                <a:solidFill>
                  <a:schemeClr val="accent1"/>
                </a:solidFill>
              </a:rPr>
              <a:t>5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70375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2276481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25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8172712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8144629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3238453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4"/>
                </a:solidFill>
              </a:rPr>
              <a:t>CIDR</a:t>
            </a:r>
            <a:r>
              <a:rPr lang="zh-CN" altLang="en-US" sz="1600" b="1" dirty="0">
                <a:solidFill>
                  <a:schemeClr val="accent4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4"/>
                </a:solidFill>
              </a:rPr>
              <a:t>218.75.230.32/28</a:t>
            </a:r>
            <a:endParaRPr lang="en-US" altLang="zh-CN" sz="1600" b="1" dirty="0">
              <a:solidFill>
                <a:schemeClr val="accent4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199516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</a:rPr>
              <a:t>CIDR</a:t>
            </a:r>
            <a:r>
              <a:rPr lang="zh-CN" altLang="en-US" sz="1600" b="1" dirty="0">
                <a:solidFill>
                  <a:schemeClr val="accent3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3"/>
                </a:solidFill>
              </a:rPr>
              <a:t>218.75.230.64/28</a:t>
            </a:r>
            <a:endParaRPr lang="en-US" altLang="zh-CN" sz="1600" b="1" dirty="0">
              <a:solidFill>
                <a:schemeClr val="accent3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238453" y="4245048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5"/>
                </a:solidFill>
              </a:rPr>
              <a:t>CIDR</a:t>
            </a:r>
            <a:r>
              <a:rPr lang="zh-CN" altLang="en-US" sz="1600" b="1" dirty="0">
                <a:solidFill>
                  <a:schemeClr val="accent5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5"/>
                </a:solidFill>
              </a:rPr>
              <a:t>218.75.230.0/27</a:t>
            </a:r>
            <a:endParaRPr lang="en-US" altLang="zh-CN" sz="1600" b="1" dirty="0">
              <a:solidFill>
                <a:schemeClr val="accent5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199516" y="4246136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</a:rPr>
              <a:t>CIDR</a:t>
            </a:r>
            <a:r>
              <a:rPr lang="zh-CN" altLang="en-US" sz="1600" b="1" dirty="0">
                <a:solidFill>
                  <a:schemeClr val="accent6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6"/>
                </a:solidFill>
              </a:rPr>
              <a:t>218.75.230.48/28</a:t>
            </a:r>
            <a:endParaRPr lang="en-US" altLang="zh-CN" sz="1600" b="1" dirty="0">
              <a:solidFill>
                <a:schemeClr val="accent6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781653" y="3563919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</a:rPr>
              <a:t>CIDR</a:t>
            </a:r>
            <a:r>
              <a:rPr lang="zh-CN" altLang="en-US" sz="1600" b="1" dirty="0">
                <a:solidFill>
                  <a:schemeClr val="accent1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1"/>
                </a:solidFill>
              </a:rPr>
              <a:t>218.75.230.80/30</a:t>
            </a:r>
            <a:endParaRPr lang="en-US" altLang="zh-CN" sz="1600" b="1" dirty="0">
              <a:solidFill>
                <a:schemeClr val="accent1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309841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218.75.230.33/28</a:t>
            </a:r>
            <a:endParaRPr lang="en-US" altLang="zh-CN" sz="1400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3821967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218.75.230.34/28</a:t>
            </a:r>
            <a:endParaRPr lang="en-US" altLang="zh-CN" sz="1400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304800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218.75.230.1/27</a:t>
            </a:r>
            <a:endParaRPr lang="en-US" altLang="zh-CN" sz="1400" b="1" dirty="0"/>
          </a:p>
        </p:txBody>
      </p:sp>
      <p:sp>
        <p:nvSpPr>
          <p:cNvPr id="102" name="文本框 101"/>
          <p:cNvSpPr txBox="1"/>
          <p:nvPr/>
        </p:nvSpPr>
        <p:spPr>
          <a:xfrm>
            <a:off x="3821967" y="5861618"/>
            <a:ext cx="2164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218.75.230.2/27</a:t>
            </a:r>
            <a:endParaRPr lang="en-US" altLang="zh-CN" sz="14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6212178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218.75.230.65/28</a:t>
            </a:r>
            <a:endParaRPr lang="en-US" altLang="zh-CN" sz="14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9724304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218.75.230.66/28</a:t>
            </a:r>
            <a:endParaRPr lang="en-US" altLang="zh-CN" sz="1400" b="1" dirty="0"/>
          </a:p>
        </p:txBody>
      </p:sp>
      <p:sp>
        <p:nvSpPr>
          <p:cNvPr id="110" name="文本框 109"/>
          <p:cNvSpPr txBox="1"/>
          <p:nvPr/>
        </p:nvSpPr>
        <p:spPr>
          <a:xfrm>
            <a:off x="6207137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218.75.230.49/28</a:t>
            </a:r>
            <a:endParaRPr lang="en-US" altLang="zh-CN" sz="1400" b="1" dirty="0"/>
          </a:p>
        </p:txBody>
      </p:sp>
      <p:sp>
        <p:nvSpPr>
          <p:cNvPr id="117" name="文本框 116"/>
          <p:cNvSpPr txBox="1"/>
          <p:nvPr/>
        </p:nvSpPr>
        <p:spPr>
          <a:xfrm>
            <a:off x="9724304" y="5861618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218.75.230.50/28</a:t>
            </a:r>
            <a:endParaRPr lang="en-US" altLang="zh-CN" sz="1400" b="1" dirty="0"/>
          </a:p>
        </p:txBody>
      </p:sp>
      <p:sp>
        <p:nvSpPr>
          <p:cNvPr id="118" name="文本框 117"/>
          <p:cNvSpPr txBox="1"/>
          <p:nvPr/>
        </p:nvSpPr>
        <p:spPr>
          <a:xfrm>
            <a:off x="884361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218.75.230.46/28</a:t>
            </a:r>
            <a:endParaRPr lang="en-US" altLang="zh-CN" sz="1400" b="1" dirty="0"/>
          </a:p>
        </p:txBody>
      </p:sp>
      <p:sp>
        <p:nvSpPr>
          <p:cNvPr id="119" name="文本框 118"/>
          <p:cNvSpPr txBox="1"/>
          <p:nvPr/>
        </p:nvSpPr>
        <p:spPr>
          <a:xfrm>
            <a:off x="884361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218.75.230.30/27</a:t>
            </a:r>
            <a:endParaRPr lang="en-US" altLang="zh-CN" sz="1400" b="1" dirty="0"/>
          </a:p>
        </p:txBody>
      </p:sp>
      <p:sp>
        <p:nvSpPr>
          <p:cNvPr id="120" name="文本框 119"/>
          <p:cNvSpPr txBox="1"/>
          <p:nvPr/>
        </p:nvSpPr>
        <p:spPr>
          <a:xfrm>
            <a:off x="9096186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218.75.230.78/28</a:t>
            </a:r>
            <a:endParaRPr lang="en-US" altLang="zh-CN" sz="1400" b="1" dirty="0"/>
          </a:p>
        </p:txBody>
      </p:sp>
      <p:sp>
        <p:nvSpPr>
          <p:cNvPr id="121" name="文本框 120"/>
          <p:cNvSpPr txBox="1"/>
          <p:nvPr/>
        </p:nvSpPr>
        <p:spPr>
          <a:xfrm>
            <a:off x="9105668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218.75.230.62/28</a:t>
            </a:r>
            <a:endParaRPr lang="en-US" altLang="zh-CN" sz="1400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309841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2" name="文本框 121"/>
          <p:cNvSpPr txBox="1"/>
          <p:nvPr/>
        </p:nvSpPr>
        <p:spPr>
          <a:xfrm>
            <a:off x="3821967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3" name="文本框 122"/>
          <p:cNvSpPr txBox="1"/>
          <p:nvPr/>
        </p:nvSpPr>
        <p:spPr>
          <a:xfrm>
            <a:off x="304800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4" name="文本框 123"/>
          <p:cNvSpPr txBox="1"/>
          <p:nvPr/>
        </p:nvSpPr>
        <p:spPr>
          <a:xfrm>
            <a:off x="3821967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5" name="文本框 124"/>
          <p:cNvSpPr txBox="1"/>
          <p:nvPr/>
        </p:nvSpPr>
        <p:spPr>
          <a:xfrm>
            <a:off x="6212178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6" name="文本框 125"/>
          <p:cNvSpPr txBox="1"/>
          <p:nvPr/>
        </p:nvSpPr>
        <p:spPr>
          <a:xfrm>
            <a:off x="9724304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7" name="文本框 126"/>
          <p:cNvSpPr txBox="1"/>
          <p:nvPr/>
        </p:nvSpPr>
        <p:spPr>
          <a:xfrm>
            <a:off x="6207137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28" name="文本框 127"/>
          <p:cNvSpPr txBox="1"/>
          <p:nvPr/>
        </p:nvSpPr>
        <p:spPr>
          <a:xfrm>
            <a:off x="9724304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29" name="文本框 128"/>
          <p:cNvSpPr txBox="1"/>
          <p:nvPr/>
        </p:nvSpPr>
        <p:spPr>
          <a:xfrm>
            <a:off x="3399503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218.75.230.81/30</a:t>
            </a:r>
            <a:endParaRPr lang="en-US" altLang="zh-CN" sz="1400" b="1" dirty="0"/>
          </a:p>
        </p:txBody>
      </p:sp>
      <p:sp>
        <p:nvSpPr>
          <p:cNvPr id="130" name="文本框 129"/>
          <p:cNvSpPr txBox="1"/>
          <p:nvPr/>
        </p:nvSpPr>
        <p:spPr>
          <a:xfrm>
            <a:off x="6570882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218.75.230.82/30</a:t>
            </a:r>
            <a:endParaRPr lang="en-US" altLang="zh-CN" sz="1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5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19" grpId="0"/>
      <p:bldP spid="120" grpId="0"/>
      <p:bldP spid="121" grpId="0"/>
      <p:bldP spid="49" grpId="0"/>
      <p:bldP spid="122" grpId="0"/>
      <p:bldP spid="123" grpId="0"/>
      <p:bldP spid="124" grpId="0"/>
      <p:bldP spid="125" grpId="0"/>
      <p:bldP spid="126" grpId="0"/>
      <p:bldP spid="127" grpId="0"/>
      <p:bldP spid="1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21027" y="685800"/>
            <a:ext cx="655288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grpSp>
        <p:nvGrpSpPr>
          <p:cNvPr id="72" name="组合 71"/>
          <p:cNvGrpSpPr/>
          <p:nvPr/>
        </p:nvGrpSpPr>
        <p:grpSpPr>
          <a:xfrm>
            <a:off x="3358290" y="3822983"/>
            <a:ext cx="5461883" cy="96406"/>
            <a:chOff x="3358290" y="3822983"/>
            <a:chExt cx="5461883" cy="96406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3358290" y="3875212"/>
              <a:ext cx="54618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/>
            <p:cNvSpPr/>
            <p:nvPr/>
          </p:nvSpPr>
          <p:spPr>
            <a:xfrm rot="10800000">
              <a:off x="3712925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10800000">
              <a:off x="8413699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05375" y="4028174"/>
            <a:ext cx="111831" cy="1097139"/>
            <a:chOff x="3094197" y="4028174"/>
            <a:chExt cx="111831" cy="109713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005375" y="2616910"/>
            <a:ext cx="115302" cy="1097139"/>
            <a:chOff x="3094197" y="2616910"/>
            <a:chExt cx="115302" cy="1097139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等腰三角形 43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94197" y="4028174"/>
            <a:ext cx="111831" cy="1097139"/>
            <a:chOff x="3094197" y="4028174"/>
            <a:chExt cx="111831" cy="1097139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094197" y="2616910"/>
            <a:ext cx="115302" cy="1097139"/>
            <a:chOff x="3094197" y="2616910"/>
            <a:chExt cx="115302" cy="1097139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2455094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2" name="文本框 111"/>
          <p:cNvSpPr txBox="1"/>
          <p:nvPr/>
        </p:nvSpPr>
        <p:spPr>
          <a:xfrm>
            <a:off x="2455094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9105668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9105668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3399503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54327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304800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04799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207137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207136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430077" y="3576613"/>
            <a:ext cx="5354462" cy="60463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182844" y="2786705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4"/>
                </a:solidFill>
              </a:rPr>
              <a:t>网络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199516" y="2786705"/>
            <a:ext cx="74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网络</a:t>
            </a:r>
            <a:r>
              <a:rPr lang="en-US" altLang="zh-CN" b="1" dirty="0">
                <a:solidFill>
                  <a:schemeClr val="accent3"/>
                </a:solidFill>
              </a:rPr>
              <a:t>4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182844" y="4511862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5"/>
                </a:solidFill>
              </a:rPr>
              <a:t>网络</a:t>
            </a:r>
            <a:r>
              <a:rPr lang="en-US" altLang="zh-CN" b="1" dirty="0">
                <a:solidFill>
                  <a:schemeClr val="accent5"/>
                </a:solidFill>
              </a:rPr>
              <a:t>2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99516" y="4512950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网络</a:t>
            </a:r>
            <a:r>
              <a:rPr lang="en-US" altLang="zh-CN" b="1" dirty="0">
                <a:solidFill>
                  <a:schemeClr val="accent6"/>
                </a:solidFill>
              </a:rPr>
              <a:t>3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686713" y="3844823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1"/>
                </a:solidFill>
              </a:rPr>
              <a:t>网络</a:t>
            </a:r>
            <a:r>
              <a:rPr lang="en-US" altLang="zh-CN" b="1" dirty="0">
                <a:solidFill>
                  <a:schemeClr val="accent1"/>
                </a:solidFill>
              </a:rPr>
              <a:t>5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70375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2276481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25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8172712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8144629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3238453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4"/>
                </a:solidFill>
              </a:rPr>
              <a:t>CIDR</a:t>
            </a:r>
            <a:r>
              <a:rPr lang="zh-CN" altLang="en-US" sz="1600" b="1" dirty="0">
                <a:solidFill>
                  <a:schemeClr val="accent4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4"/>
                </a:solidFill>
              </a:rPr>
              <a:t>218.75.230.32/28</a:t>
            </a:r>
            <a:endParaRPr lang="en-US" altLang="zh-CN" sz="1600" b="1" dirty="0">
              <a:solidFill>
                <a:schemeClr val="accent4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199516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</a:rPr>
              <a:t>CIDR</a:t>
            </a:r>
            <a:r>
              <a:rPr lang="zh-CN" altLang="en-US" sz="1600" b="1" dirty="0">
                <a:solidFill>
                  <a:schemeClr val="accent3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3"/>
                </a:solidFill>
              </a:rPr>
              <a:t>218.75.230.64/28</a:t>
            </a:r>
            <a:endParaRPr lang="en-US" altLang="zh-CN" sz="1600" b="1" dirty="0">
              <a:solidFill>
                <a:schemeClr val="accent3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238453" y="4245048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5"/>
                </a:solidFill>
              </a:rPr>
              <a:t>CIDR</a:t>
            </a:r>
            <a:r>
              <a:rPr lang="zh-CN" altLang="en-US" sz="1600" b="1" dirty="0">
                <a:solidFill>
                  <a:schemeClr val="accent5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5"/>
                </a:solidFill>
              </a:rPr>
              <a:t>218.75.230.0/27</a:t>
            </a:r>
            <a:endParaRPr lang="en-US" altLang="zh-CN" sz="1600" b="1" dirty="0">
              <a:solidFill>
                <a:schemeClr val="accent5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199516" y="4246136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</a:rPr>
              <a:t>CIDR</a:t>
            </a:r>
            <a:r>
              <a:rPr lang="zh-CN" altLang="en-US" sz="1600" b="1" dirty="0">
                <a:solidFill>
                  <a:schemeClr val="accent6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6"/>
                </a:solidFill>
              </a:rPr>
              <a:t>218.75.230.48/28</a:t>
            </a:r>
            <a:endParaRPr lang="en-US" altLang="zh-CN" sz="1600" b="1" dirty="0">
              <a:solidFill>
                <a:schemeClr val="accent6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781653" y="3563919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</a:rPr>
              <a:t>CIDR</a:t>
            </a:r>
            <a:r>
              <a:rPr lang="zh-CN" altLang="en-US" sz="1600" b="1" dirty="0">
                <a:solidFill>
                  <a:schemeClr val="accent1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1"/>
                </a:solidFill>
              </a:rPr>
              <a:t>218.75.230.80/30</a:t>
            </a:r>
            <a:endParaRPr lang="en-US" altLang="zh-CN" sz="1600" b="1" dirty="0">
              <a:solidFill>
                <a:schemeClr val="accent1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309841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218.75.230.33/28</a:t>
            </a:r>
            <a:endParaRPr lang="en-US" altLang="zh-CN" sz="1400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3821967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218.75.230.34/28</a:t>
            </a:r>
            <a:endParaRPr lang="en-US" altLang="zh-CN" sz="1400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304800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218.75.230.1/27</a:t>
            </a:r>
            <a:endParaRPr lang="en-US" altLang="zh-CN" sz="1400" b="1" dirty="0"/>
          </a:p>
        </p:txBody>
      </p:sp>
      <p:sp>
        <p:nvSpPr>
          <p:cNvPr id="102" name="文本框 101"/>
          <p:cNvSpPr txBox="1"/>
          <p:nvPr/>
        </p:nvSpPr>
        <p:spPr>
          <a:xfrm>
            <a:off x="3821967" y="5861618"/>
            <a:ext cx="2164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218.75.230.2/27</a:t>
            </a:r>
            <a:endParaRPr lang="en-US" altLang="zh-CN" sz="14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6212178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218.75.230.65/28</a:t>
            </a:r>
            <a:endParaRPr lang="en-US" altLang="zh-CN" sz="14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9724304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218.75.230.66/28</a:t>
            </a:r>
            <a:endParaRPr lang="en-US" altLang="zh-CN" sz="1400" b="1" dirty="0"/>
          </a:p>
        </p:txBody>
      </p:sp>
      <p:sp>
        <p:nvSpPr>
          <p:cNvPr id="110" name="文本框 109"/>
          <p:cNvSpPr txBox="1"/>
          <p:nvPr/>
        </p:nvSpPr>
        <p:spPr>
          <a:xfrm>
            <a:off x="6207137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218.75.230.49/28</a:t>
            </a:r>
            <a:endParaRPr lang="en-US" altLang="zh-CN" sz="1400" b="1" dirty="0"/>
          </a:p>
        </p:txBody>
      </p:sp>
      <p:sp>
        <p:nvSpPr>
          <p:cNvPr id="117" name="文本框 116"/>
          <p:cNvSpPr txBox="1"/>
          <p:nvPr/>
        </p:nvSpPr>
        <p:spPr>
          <a:xfrm>
            <a:off x="9724304" y="5861618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218.75.230.50/28</a:t>
            </a:r>
            <a:endParaRPr lang="en-US" altLang="zh-CN" sz="1400" b="1" dirty="0"/>
          </a:p>
        </p:txBody>
      </p:sp>
      <p:sp>
        <p:nvSpPr>
          <p:cNvPr id="118" name="文本框 117"/>
          <p:cNvSpPr txBox="1"/>
          <p:nvPr/>
        </p:nvSpPr>
        <p:spPr>
          <a:xfrm>
            <a:off x="884361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218.75.230.46/28</a:t>
            </a:r>
            <a:endParaRPr lang="en-US" altLang="zh-CN" sz="1400" b="1" dirty="0"/>
          </a:p>
        </p:txBody>
      </p:sp>
      <p:sp>
        <p:nvSpPr>
          <p:cNvPr id="119" name="文本框 118"/>
          <p:cNvSpPr txBox="1"/>
          <p:nvPr/>
        </p:nvSpPr>
        <p:spPr>
          <a:xfrm>
            <a:off x="884361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218.75.230.30/27</a:t>
            </a:r>
            <a:endParaRPr lang="en-US" altLang="zh-CN" sz="1400" b="1" dirty="0"/>
          </a:p>
        </p:txBody>
      </p:sp>
      <p:sp>
        <p:nvSpPr>
          <p:cNvPr id="120" name="文本框 119"/>
          <p:cNvSpPr txBox="1"/>
          <p:nvPr/>
        </p:nvSpPr>
        <p:spPr>
          <a:xfrm>
            <a:off x="9096186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218.75.230.78/28</a:t>
            </a:r>
            <a:endParaRPr lang="en-US" altLang="zh-CN" sz="1400" b="1" dirty="0"/>
          </a:p>
        </p:txBody>
      </p:sp>
      <p:sp>
        <p:nvSpPr>
          <p:cNvPr id="121" name="文本框 120"/>
          <p:cNvSpPr txBox="1"/>
          <p:nvPr/>
        </p:nvSpPr>
        <p:spPr>
          <a:xfrm>
            <a:off x="9105668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218.75.230.62/28</a:t>
            </a:r>
            <a:endParaRPr lang="en-US" altLang="zh-CN" sz="1400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309841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2" name="文本框 121"/>
          <p:cNvSpPr txBox="1"/>
          <p:nvPr/>
        </p:nvSpPr>
        <p:spPr>
          <a:xfrm>
            <a:off x="3821967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3" name="文本框 122"/>
          <p:cNvSpPr txBox="1"/>
          <p:nvPr/>
        </p:nvSpPr>
        <p:spPr>
          <a:xfrm>
            <a:off x="304800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4" name="文本框 123"/>
          <p:cNvSpPr txBox="1"/>
          <p:nvPr/>
        </p:nvSpPr>
        <p:spPr>
          <a:xfrm>
            <a:off x="3821967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5" name="文本框 124"/>
          <p:cNvSpPr txBox="1"/>
          <p:nvPr/>
        </p:nvSpPr>
        <p:spPr>
          <a:xfrm>
            <a:off x="6212178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6" name="文本框 125"/>
          <p:cNvSpPr txBox="1"/>
          <p:nvPr/>
        </p:nvSpPr>
        <p:spPr>
          <a:xfrm>
            <a:off x="9724304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7" name="文本框 126"/>
          <p:cNvSpPr txBox="1"/>
          <p:nvPr/>
        </p:nvSpPr>
        <p:spPr>
          <a:xfrm>
            <a:off x="6207137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28" name="文本框 127"/>
          <p:cNvSpPr txBox="1"/>
          <p:nvPr/>
        </p:nvSpPr>
        <p:spPr>
          <a:xfrm>
            <a:off x="9724304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29" name="文本框 128"/>
          <p:cNvSpPr txBox="1"/>
          <p:nvPr/>
        </p:nvSpPr>
        <p:spPr>
          <a:xfrm>
            <a:off x="3399503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218.75.230.81/30</a:t>
            </a:r>
            <a:endParaRPr lang="en-US" altLang="zh-CN" sz="1400" b="1" dirty="0"/>
          </a:p>
        </p:txBody>
      </p:sp>
      <p:sp>
        <p:nvSpPr>
          <p:cNvPr id="130" name="文本框 129"/>
          <p:cNvSpPr txBox="1"/>
          <p:nvPr/>
        </p:nvSpPr>
        <p:spPr>
          <a:xfrm>
            <a:off x="6570882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218.75.230.82/30</a:t>
            </a:r>
            <a:endParaRPr lang="en-US" altLang="zh-CN" sz="1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21027" y="685800"/>
            <a:ext cx="655288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grpSp>
        <p:nvGrpSpPr>
          <p:cNvPr id="72" name="组合 71"/>
          <p:cNvGrpSpPr/>
          <p:nvPr/>
        </p:nvGrpSpPr>
        <p:grpSpPr>
          <a:xfrm>
            <a:off x="3358290" y="3822983"/>
            <a:ext cx="5461883" cy="96406"/>
            <a:chOff x="3358290" y="3822983"/>
            <a:chExt cx="5461883" cy="96406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3358290" y="3875212"/>
              <a:ext cx="5461883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/>
            <p:cNvSpPr/>
            <p:nvPr/>
          </p:nvSpPr>
          <p:spPr>
            <a:xfrm rot="10800000">
              <a:off x="3712925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10800000">
              <a:off x="8413699" y="382298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05375" y="4028174"/>
            <a:ext cx="111831" cy="1097139"/>
            <a:chOff x="3094197" y="4028174"/>
            <a:chExt cx="111831" cy="109713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等腰三角形 36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005375" y="2616910"/>
            <a:ext cx="115302" cy="1097139"/>
            <a:chOff x="3094197" y="2616910"/>
            <a:chExt cx="115302" cy="1097139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等腰三角形 43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94197" y="4028174"/>
            <a:ext cx="111831" cy="1097139"/>
            <a:chOff x="3094197" y="4028174"/>
            <a:chExt cx="111831" cy="1097139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3150499" y="4028174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等腰三角形 30"/>
            <p:cNvSpPr/>
            <p:nvPr/>
          </p:nvSpPr>
          <p:spPr>
            <a:xfrm rot="10800000">
              <a:off x="3094197" y="429227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0800000">
              <a:off x="3094197" y="471277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094197" y="2616910"/>
            <a:ext cx="115302" cy="1097139"/>
            <a:chOff x="3094197" y="2616910"/>
            <a:chExt cx="115302" cy="1097139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3150499" y="2616910"/>
              <a:ext cx="0" cy="10971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3097668" y="29371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3094197" y="330511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2455094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2" name="文本框 111"/>
          <p:cNvSpPr txBox="1"/>
          <p:nvPr/>
        </p:nvSpPr>
        <p:spPr>
          <a:xfrm>
            <a:off x="2455094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9105668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9105668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3399503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54327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304800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04799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207137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207136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430077" y="3576613"/>
            <a:ext cx="5354462" cy="60463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182844" y="2786705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4"/>
                </a:solidFill>
              </a:rPr>
              <a:t>网络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199516" y="2786705"/>
            <a:ext cx="74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网络</a:t>
            </a:r>
            <a:r>
              <a:rPr lang="en-US" altLang="zh-CN" b="1" dirty="0">
                <a:solidFill>
                  <a:schemeClr val="accent3"/>
                </a:solidFill>
              </a:rPr>
              <a:t>4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182844" y="4511862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5"/>
                </a:solidFill>
              </a:rPr>
              <a:t>网络</a:t>
            </a:r>
            <a:r>
              <a:rPr lang="en-US" altLang="zh-CN" b="1" dirty="0">
                <a:solidFill>
                  <a:schemeClr val="accent5"/>
                </a:solidFill>
              </a:rPr>
              <a:t>2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99516" y="4512950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网络</a:t>
            </a:r>
            <a:r>
              <a:rPr lang="en-US" altLang="zh-CN" b="1" dirty="0">
                <a:solidFill>
                  <a:schemeClr val="accent6"/>
                </a:solidFill>
              </a:rPr>
              <a:t>3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686713" y="3844823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1"/>
                </a:solidFill>
              </a:rPr>
              <a:t>网络</a:t>
            </a:r>
            <a:r>
              <a:rPr lang="en-US" altLang="zh-CN" b="1" dirty="0">
                <a:solidFill>
                  <a:schemeClr val="accent1"/>
                </a:solidFill>
              </a:rPr>
              <a:t>5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70375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2276481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25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8172712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8144629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3238453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4"/>
                </a:solidFill>
              </a:rPr>
              <a:t>CIDR</a:t>
            </a:r>
            <a:r>
              <a:rPr lang="zh-CN" altLang="en-US" sz="1600" b="1" dirty="0">
                <a:solidFill>
                  <a:schemeClr val="accent4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4"/>
                </a:solidFill>
              </a:rPr>
              <a:t>218.75.230.32/28</a:t>
            </a:r>
            <a:endParaRPr lang="en-US" altLang="zh-CN" sz="1600" b="1" dirty="0">
              <a:solidFill>
                <a:schemeClr val="accent4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199516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</a:rPr>
              <a:t>CIDR</a:t>
            </a:r>
            <a:r>
              <a:rPr lang="zh-CN" altLang="en-US" sz="1600" b="1" dirty="0">
                <a:solidFill>
                  <a:schemeClr val="accent3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3"/>
                </a:solidFill>
              </a:rPr>
              <a:t>218.75.230.64/28</a:t>
            </a:r>
            <a:endParaRPr lang="en-US" altLang="zh-CN" sz="1600" b="1" dirty="0">
              <a:solidFill>
                <a:schemeClr val="accent3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238453" y="4245048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5"/>
                </a:solidFill>
              </a:rPr>
              <a:t>CIDR</a:t>
            </a:r>
            <a:r>
              <a:rPr lang="zh-CN" altLang="en-US" sz="1600" b="1" dirty="0">
                <a:solidFill>
                  <a:schemeClr val="accent5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5"/>
                </a:solidFill>
              </a:rPr>
              <a:t>218.75.230.0/27</a:t>
            </a:r>
            <a:endParaRPr lang="en-US" altLang="zh-CN" sz="1600" b="1" dirty="0">
              <a:solidFill>
                <a:schemeClr val="accent5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199516" y="4246136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</a:rPr>
              <a:t>CIDR</a:t>
            </a:r>
            <a:r>
              <a:rPr lang="zh-CN" altLang="en-US" sz="1600" b="1" dirty="0">
                <a:solidFill>
                  <a:schemeClr val="accent6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6"/>
                </a:solidFill>
              </a:rPr>
              <a:t>218.75.230.48/28</a:t>
            </a:r>
            <a:endParaRPr lang="en-US" altLang="zh-CN" sz="1600" b="1" dirty="0">
              <a:solidFill>
                <a:schemeClr val="accent6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781653" y="3563919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</a:rPr>
              <a:t>CIDR</a:t>
            </a:r>
            <a:r>
              <a:rPr lang="zh-CN" altLang="en-US" sz="1600" b="1" dirty="0">
                <a:solidFill>
                  <a:schemeClr val="accent1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1"/>
                </a:solidFill>
              </a:rPr>
              <a:t>218.75.230.80/30</a:t>
            </a:r>
            <a:endParaRPr lang="en-US" altLang="zh-CN" sz="1600" b="1" dirty="0">
              <a:solidFill>
                <a:schemeClr val="accent1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309841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218.75.230.33/28</a:t>
            </a:r>
            <a:endParaRPr lang="en-US" altLang="zh-CN" sz="1400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3821967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218.75.230.34/28</a:t>
            </a:r>
            <a:endParaRPr lang="en-US" altLang="zh-CN" sz="1400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304800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218.75.230.1/27</a:t>
            </a:r>
            <a:endParaRPr lang="en-US" altLang="zh-CN" sz="1400" b="1" dirty="0"/>
          </a:p>
        </p:txBody>
      </p:sp>
      <p:sp>
        <p:nvSpPr>
          <p:cNvPr id="102" name="文本框 101"/>
          <p:cNvSpPr txBox="1"/>
          <p:nvPr/>
        </p:nvSpPr>
        <p:spPr>
          <a:xfrm>
            <a:off x="3821967" y="5861618"/>
            <a:ext cx="2164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218.75.230.2/27</a:t>
            </a:r>
            <a:endParaRPr lang="en-US" altLang="zh-CN" sz="14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6212178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218.75.230.65/28</a:t>
            </a:r>
            <a:endParaRPr lang="en-US" altLang="zh-CN" sz="14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9724304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218.75.230.66/28</a:t>
            </a:r>
            <a:endParaRPr lang="en-US" altLang="zh-CN" sz="1400" b="1" dirty="0"/>
          </a:p>
        </p:txBody>
      </p:sp>
      <p:sp>
        <p:nvSpPr>
          <p:cNvPr id="110" name="文本框 109"/>
          <p:cNvSpPr txBox="1"/>
          <p:nvPr/>
        </p:nvSpPr>
        <p:spPr>
          <a:xfrm>
            <a:off x="6207137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218.75.230.49/28</a:t>
            </a:r>
            <a:endParaRPr lang="en-US" altLang="zh-CN" sz="1400" b="1" dirty="0"/>
          </a:p>
        </p:txBody>
      </p:sp>
      <p:sp>
        <p:nvSpPr>
          <p:cNvPr id="117" name="文本框 116"/>
          <p:cNvSpPr txBox="1"/>
          <p:nvPr/>
        </p:nvSpPr>
        <p:spPr>
          <a:xfrm>
            <a:off x="9724304" y="5861618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218.75.230.50/28</a:t>
            </a:r>
            <a:endParaRPr lang="en-US" altLang="zh-CN" sz="1400" b="1" dirty="0"/>
          </a:p>
        </p:txBody>
      </p:sp>
      <p:sp>
        <p:nvSpPr>
          <p:cNvPr id="118" name="文本框 117"/>
          <p:cNvSpPr txBox="1"/>
          <p:nvPr/>
        </p:nvSpPr>
        <p:spPr>
          <a:xfrm>
            <a:off x="884361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218.75.230.46/28</a:t>
            </a:r>
            <a:endParaRPr lang="en-US" altLang="zh-CN" sz="1400" b="1" dirty="0"/>
          </a:p>
        </p:txBody>
      </p:sp>
      <p:sp>
        <p:nvSpPr>
          <p:cNvPr id="119" name="文本框 118"/>
          <p:cNvSpPr txBox="1"/>
          <p:nvPr/>
        </p:nvSpPr>
        <p:spPr>
          <a:xfrm>
            <a:off x="884361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218.75.230.30/27</a:t>
            </a:r>
            <a:endParaRPr lang="en-US" altLang="zh-CN" sz="1400" b="1" dirty="0"/>
          </a:p>
        </p:txBody>
      </p:sp>
      <p:sp>
        <p:nvSpPr>
          <p:cNvPr id="120" name="文本框 119"/>
          <p:cNvSpPr txBox="1"/>
          <p:nvPr/>
        </p:nvSpPr>
        <p:spPr>
          <a:xfrm>
            <a:off x="9096186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218.75.230.78/28</a:t>
            </a:r>
            <a:endParaRPr lang="en-US" altLang="zh-CN" sz="1400" b="1" dirty="0"/>
          </a:p>
        </p:txBody>
      </p:sp>
      <p:sp>
        <p:nvSpPr>
          <p:cNvPr id="121" name="文本框 120"/>
          <p:cNvSpPr txBox="1"/>
          <p:nvPr/>
        </p:nvSpPr>
        <p:spPr>
          <a:xfrm>
            <a:off x="9105668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218.75.230.62/28</a:t>
            </a:r>
            <a:endParaRPr lang="en-US" altLang="zh-CN" sz="1400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309841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2" name="文本框 121"/>
          <p:cNvSpPr txBox="1"/>
          <p:nvPr/>
        </p:nvSpPr>
        <p:spPr>
          <a:xfrm>
            <a:off x="3821967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3" name="文本框 122"/>
          <p:cNvSpPr txBox="1"/>
          <p:nvPr/>
        </p:nvSpPr>
        <p:spPr>
          <a:xfrm>
            <a:off x="304800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4" name="文本框 123"/>
          <p:cNvSpPr txBox="1"/>
          <p:nvPr/>
        </p:nvSpPr>
        <p:spPr>
          <a:xfrm>
            <a:off x="3821967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5" name="文本框 124"/>
          <p:cNvSpPr txBox="1"/>
          <p:nvPr/>
        </p:nvSpPr>
        <p:spPr>
          <a:xfrm>
            <a:off x="6212178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6" name="文本框 125"/>
          <p:cNvSpPr txBox="1"/>
          <p:nvPr/>
        </p:nvSpPr>
        <p:spPr>
          <a:xfrm>
            <a:off x="9724304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7" name="文本框 126"/>
          <p:cNvSpPr txBox="1"/>
          <p:nvPr/>
        </p:nvSpPr>
        <p:spPr>
          <a:xfrm>
            <a:off x="6207137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28" name="文本框 127"/>
          <p:cNvSpPr txBox="1"/>
          <p:nvPr/>
        </p:nvSpPr>
        <p:spPr>
          <a:xfrm>
            <a:off x="9724304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29" name="文本框 128"/>
          <p:cNvSpPr txBox="1"/>
          <p:nvPr/>
        </p:nvSpPr>
        <p:spPr>
          <a:xfrm>
            <a:off x="3399503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218.75.230.81/30</a:t>
            </a:r>
            <a:endParaRPr lang="en-US" altLang="zh-CN" sz="1400" b="1" dirty="0"/>
          </a:p>
        </p:txBody>
      </p:sp>
      <p:sp>
        <p:nvSpPr>
          <p:cNvPr id="130" name="文本框 129"/>
          <p:cNvSpPr txBox="1"/>
          <p:nvPr/>
        </p:nvSpPr>
        <p:spPr>
          <a:xfrm>
            <a:off x="6570882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218.75.230.82/30</a:t>
            </a:r>
            <a:endParaRPr lang="en-US" altLang="zh-CN" sz="1400" b="1" dirty="0"/>
          </a:p>
        </p:txBody>
      </p:sp>
      <p:grpSp>
        <p:nvGrpSpPr>
          <p:cNvPr id="137" name="组合 136"/>
          <p:cNvGrpSpPr/>
          <p:nvPr/>
        </p:nvGrpSpPr>
        <p:grpSpPr>
          <a:xfrm>
            <a:off x="354956" y="1346183"/>
            <a:ext cx="4914216" cy="4823212"/>
            <a:chOff x="354956" y="1346183"/>
            <a:chExt cx="4914216" cy="4823212"/>
          </a:xfrm>
        </p:grpSpPr>
        <p:pic>
          <p:nvPicPr>
            <p:cNvPr id="134" name="20 133" descr="图形用户界面, 文本, 应用程序, 电子邮件&#10;&#10;描述已自动生成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956" y="1346183"/>
              <a:ext cx="4914216" cy="4823212"/>
            </a:xfrm>
            <a:prstGeom prst="rect">
              <a:avLst/>
            </a:prstGeom>
          </p:spPr>
        </p:pic>
        <p:sp>
          <p:nvSpPr>
            <p:cNvPr id="135" name="矩形 134"/>
            <p:cNvSpPr/>
            <p:nvPr/>
          </p:nvSpPr>
          <p:spPr>
            <a:xfrm>
              <a:off x="1994777" y="2850278"/>
              <a:ext cx="1243466" cy="772844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2587785" y="2236698"/>
              <a:ext cx="25329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输入</a:t>
              </a:r>
              <a:r>
                <a:rPr lang="en-US" altLang="zh-CN" b="1" dirty="0">
                  <a:solidFill>
                    <a:srgbClr val="FF0000"/>
                  </a:solidFill>
                </a:rPr>
                <a:t>IP</a:t>
              </a:r>
              <a:r>
                <a:rPr lang="zh-CN" altLang="en-US" b="1" dirty="0">
                  <a:solidFill>
                    <a:srgbClr val="FF0000"/>
                  </a:solidFill>
                </a:rPr>
                <a:t>地址、子网掩码</a:t>
              </a:r>
              <a:endParaRPr lang="en-US" altLang="zh-CN" b="1" dirty="0">
                <a:solidFill>
                  <a:srgbClr val="FF0000"/>
                </a:solidFill>
              </a:endParaRPr>
            </a:p>
            <a:p>
              <a:r>
                <a:rPr lang="zh-CN" altLang="en-US" b="1" dirty="0">
                  <a:solidFill>
                    <a:srgbClr val="FF0000"/>
                  </a:solidFill>
                </a:rPr>
                <a:t>以及默认网关的</a:t>
              </a:r>
              <a:r>
                <a:rPr lang="en-US" altLang="zh-CN" b="1" dirty="0">
                  <a:solidFill>
                    <a:srgbClr val="FF0000"/>
                  </a:solidFill>
                </a:rPr>
                <a:t>IP</a:t>
              </a:r>
              <a:r>
                <a:rPr lang="zh-CN" altLang="en-US" b="1" dirty="0">
                  <a:solidFill>
                    <a:srgbClr val="FF0000"/>
                  </a:solidFill>
                </a:rPr>
                <a:t>地址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38" name="矩形 137"/>
          <p:cNvSpPr/>
          <p:nvPr/>
        </p:nvSpPr>
        <p:spPr>
          <a:xfrm>
            <a:off x="6485905" y="3136660"/>
            <a:ext cx="5024080" cy="14141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         不要忘记给其他各计算机配置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地址、子网掩码以及默认网关的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地址。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21027" y="685800"/>
            <a:ext cx="655288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39" name="20 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619875"/>
          </a:xfrm>
          <a:prstGeom prst="rect">
            <a:avLst/>
          </a:prstGeom>
        </p:spPr>
      </p:pic>
      <p:sp>
        <p:nvSpPr>
          <p:cNvPr id="146" name="文本框 145"/>
          <p:cNvSpPr txBox="1"/>
          <p:nvPr/>
        </p:nvSpPr>
        <p:spPr>
          <a:xfrm>
            <a:off x="5575754" y="935613"/>
            <a:ext cx="385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从用户执行模式进入特权执行模式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575754" y="1219397"/>
            <a:ext cx="385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从特权执行模式进入全局配置模式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5575754" y="1471884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从全局配置模式进入接口</a:t>
            </a:r>
            <a:r>
              <a:rPr lang="en-US" altLang="zh-CN" b="1" dirty="0">
                <a:solidFill>
                  <a:srgbClr val="FF0000"/>
                </a:solidFill>
              </a:rPr>
              <a:t>Gig0/0</a:t>
            </a:r>
            <a:r>
              <a:rPr lang="zh-CN" altLang="en-US" b="1" dirty="0">
                <a:solidFill>
                  <a:srgbClr val="FF0000"/>
                </a:solidFill>
              </a:rPr>
              <a:t>的配置模式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5575754" y="1736602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5575754" y="2001320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5575754" y="3069799"/>
            <a:ext cx="5262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</a:t>
            </a:r>
            <a:r>
              <a:rPr lang="en-US" altLang="zh-CN" b="1" dirty="0">
                <a:solidFill>
                  <a:srgbClr val="FF0000"/>
                </a:solidFill>
              </a:rPr>
              <a:t>Gig0/1</a:t>
            </a:r>
            <a:r>
              <a:rPr lang="zh-CN" altLang="en-US" b="1" dirty="0">
                <a:solidFill>
                  <a:srgbClr val="FF0000"/>
                </a:solidFill>
              </a:rPr>
              <a:t>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地址和子网掩码，并开启接口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64853" y="3179053"/>
            <a:ext cx="4786008" cy="580032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文本框 152"/>
          <p:cNvSpPr txBox="1"/>
          <p:nvPr/>
        </p:nvSpPr>
        <p:spPr>
          <a:xfrm>
            <a:off x="5575754" y="4374744"/>
            <a:ext cx="5262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</a:t>
            </a:r>
            <a:r>
              <a:rPr lang="en-US" altLang="zh-CN" b="1" dirty="0">
                <a:solidFill>
                  <a:srgbClr val="FF0000"/>
                </a:solidFill>
              </a:rPr>
              <a:t>Gig0/2</a:t>
            </a:r>
            <a:r>
              <a:rPr lang="zh-CN" altLang="en-US" b="1" dirty="0">
                <a:solidFill>
                  <a:srgbClr val="FF0000"/>
                </a:solidFill>
              </a:rPr>
              <a:t>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地址和子网掩码，并开启接口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64853" y="4483998"/>
            <a:ext cx="4786008" cy="580032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文本框 154"/>
          <p:cNvSpPr txBox="1"/>
          <p:nvPr/>
        </p:nvSpPr>
        <p:spPr>
          <a:xfrm>
            <a:off x="5575753" y="5638603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退出到全局配置模式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  <p:bldP spid="147" grpId="0"/>
      <p:bldP spid="148" grpId="0"/>
      <p:bldP spid="149" grpId="0"/>
      <p:bldP spid="150" grpId="0"/>
      <p:bldP spid="151" grpId="0"/>
      <p:bldP spid="152" grpId="0" animBg="1"/>
      <p:bldP spid="153" grpId="0"/>
      <p:bldP spid="154" grpId="0" animBg="1"/>
      <p:bldP spid="15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21027" y="685800"/>
            <a:ext cx="655288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39" name="20 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619875"/>
          </a:xfrm>
          <a:prstGeom prst="rect">
            <a:avLst/>
          </a:prstGeom>
        </p:spPr>
      </p:pic>
      <p:sp>
        <p:nvSpPr>
          <p:cNvPr id="146" name="文本框 145"/>
          <p:cNvSpPr txBox="1"/>
          <p:nvPr/>
        </p:nvSpPr>
        <p:spPr>
          <a:xfrm>
            <a:off x="5575754" y="935613"/>
            <a:ext cx="385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从用户执行模式进入特权执行模式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575754" y="1219397"/>
            <a:ext cx="385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从特权执行模式进入全局配置模式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5575754" y="1471884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从全局配置模式进入接口</a:t>
            </a:r>
            <a:r>
              <a:rPr lang="en-US" altLang="zh-CN" b="1" dirty="0">
                <a:solidFill>
                  <a:srgbClr val="FF0000"/>
                </a:solidFill>
              </a:rPr>
              <a:t>Gig0/0</a:t>
            </a:r>
            <a:r>
              <a:rPr lang="zh-CN" altLang="en-US" b="1" dirty="0">
                <a:solidFill>
                  <a:srgbClr val="FF0000"/>
                </a:solidFill>
              </a:rPr>
              <a:t>的配置模式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5575754" y="1736602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5575754" y="2001320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5575754" y="3069799"/>
            <a:ext cx="5262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</a:t>
            </a:r>
            <a:r>
              <a:rPr lang="en-US" altLang="zh-CN" b="1" dirty="0">
                <a:solidFill>
                  <a:srgbClr val="FF0000"/>
                </a:solidFill>
              </a:rPr>
              <a:t>Gig0/1</a:t>
            </a:r>
            <a:r>
              <a:rPr lang="zh-CN" altLang="en-US" b="1" dirty="0">
                <a:solidFill>
                  <a:srgbClr val="FF0000"/>
                </a:solidFill>
              </a:rPr>
              <a:t>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地址和子网掩码，并开启接口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64853" y="3179053"/>
            <a:ext cx="4786008" cy="580032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文本框 152"/>
          <p:cNvSpPr txBox="1"/>
          <p:nvPr/>
        </p:nvSpPr>
        <p:spPr>
          <a:xfrm>
            <a:off x="5575754" y="4374744"/>
            <a:ext cx="5262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</a:t>
            </a:r>
            <a:r>
              <a:rPr lang="en-US" altLang="zh-CN" b="1" dirty="0">
                <a:solidFill>
                  <a:srgbClr val="FF0000"/>
                </a:solidFill>
              </a:rPr>
              <a:t>Gig0/2</a:t>
            </a:r>
            <a:r>
              <a:rPr lang="zh-CN" altLang="en-US" b="1" dirty="0">
                <a:solidFill>
                  <a:srgbClr val="FF0000"/>
                </a:solidFill>
              </a:rPr>
              <a:t>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地址和子网掩码，并开启接口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64853" y="4483998"/>
            <a:ext cx="4786008" cy="580032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文本框 154"/>
          <p:cNvSpPr txBox="1"/>
          <p:nvPr/>
        </p:nvSpPr>
        <p:spPr>
          <a:xfrm>
            <a:off x="5575753" y="5638603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退出到全局配置模式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44324" y="4717995"/>
            <a:ext cx="5940310" cy="768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/>
              <a:t>         请参照此方法给</a:t>
            </a:r>
            <a:r>
              <a:rPr lang="en-US" altLang="zh-CN" sz="2000" b="1" dirty="0"/>
              <a:t>Router1</a:t>
            </a:r>
            <a:r>
              <a:rPr lang="zh-CN" altLang="en-US" sz="2000" b="1" dirty="0"/>
              <a:t>的相关接口配置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地址和子网掩码，并开启接口。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21027" y="685800"/>
            <a:ext cx="655288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cxnSp>
        <p:nvCxnSpPr>
          <p:cNvPr id="68" name="直接连接符 67"/>
          <p:cNvCxnSpPr/>
          <p:nvPr/>
        </p:nvCxnSpPr>
        <p:spPr>
          <a:xfrm>
            <a:off x="3358290" y="3875212"/>
            <a:ext cx="546188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9061677" y="4028174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9061677" y="2616910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3150499" y="4028174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3150499" y="2616910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2455094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2" name="文本框 111"/>
          <p:cNvSpPr txBox="1"/>
          <p:nvPr/>
        </p:nvSpPr>
        <p:spPr>
          <a:xfrm>
            <a:off x="2455094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9105668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9105668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3399503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54327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304800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04799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207137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207136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430077" y="3576613"/>
            <a:ext cx="5354462" cy="60463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182844" y="2786705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4"/>
                </a:solidFill>
              </a:rPr>
              <a:t>网络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199516" y="2786705"/>
            <a:ext cx="74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网络</a:t>
            </a:r>
            <a:r>
              <a:rPr lang="en-US" altLang="zh-CN" b="1" dirty="0">
                <a:solidFill>
                  <a:schemeClr val="accent3"/>
                </a:solidFill>
              </a:rPr>
              <a:t>4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182844" y="4511862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5"/>
                </a:solidFill>
              </a:rPr>
              <a:t>网络</a:t>
            </a:r>
            <a:r>
              <a:rPr lang="en-US" altLang="zh-CN" b="1" dirty="0">
                <a:solidFill>
                  <a:schemeClr val="accent5"/>
                </a:solidFill>
              </a:rPr>
              <a:t>2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99516" y="4512950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网络</a:t>
            </a:r>
            <a:r>
              <a:rPr lang="en-US" altLang="zh-CN" b="1" dirty="0">
                <a:solidFill>
                  <a:schemeClr val="accent6"/>
                </a:solidFill>
              </a:rPr>
              <a:t>3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686713" y="3844823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1"/>
                </a:solidFill>
              </a:rPr>
              <a:t>网络</a:t>
            </a:r>
            <a:r>
              <a:rPr lang="en-US" altLang="zh-CN" b="1" dirty="0">
                <a:solidFill>
                  <a:schemeClr val="accent1"/>
                </a:solidFill>
              </a:rPr>
              <a:t>5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70375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2276481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25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8172712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8144629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3238453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4"/>
                </a:solidFill>
              </a:rPr>
              <a:t>CIDR</a:t>
            </a:r>
            <a:r>
              <a:rPr lang="zh-CN" altLang="en-US" sz="1600" b="1" dirty="0">
                <a:solidFill>
                  <a:schemeClr val="accent4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4"/>
                </a:solidFill>
              </a:rPr>
              <a:t>218.75.230.32/28</a:t>
            </a:r>
            <a:endParaRPr lang="en-US" altLang="zh-CN" sz="1600" b="1" dirty="0">
              <a:solidFill>
                <a:schemeClr val="accent4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199516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</a:rPr>
              <a:t>CIDR</a:t>
            </a:r>
            <a:r>
              <a:rPr lang="zh-CN" altLang="en-US" sz="1600" b="1" dirty="0">
                <a:solidFill>
                  <a:schemeClr val="accent3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3"/>
                </a:solidFill>
              </a:rPr>
              <a:t>218.75.230.64/28</a:t>
            </a:r>
            <a:endParaRPr lang="en-US" altLang="zh-CN" sz="1600" b="1" dirty="0">
              <a:solidFill>
                <a:schemeClr val="accent3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238453" y="4245048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5"/>
                </a:solidFill>
              </a:rPr>
              <a:t>CIDR</a:t>
            </a:r>
            <a:r>
              <a:rPr lang="zh-CN" altLang="en-US" sz="1600" b="1" dirty="0">
                <a:solidFill>
                  <a:schemeClr val="accent5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5"/>
                </a:solidFill>
              </a:rPr>
              <a:t>218.75.230.0/27</a:t>
            </a:r>
            <a:endParaRPr lang="en-US" altLang="zh-CN" sz="1600" b="1" dirty="0">
              <a:solidFill>
                <a:schemeClr val="accent5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199516" y="4246136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</a:rPr>
              <a:t>CIDR</a:t>
            </a:r>
            <a:r>
              <a:rPr lang="zh-CN" altLang="en-US" sz="1600" b="1" dirty="0">
                <a:solidFill>
                  <a:schemeClr val="accent6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6"/>
                </a:solidFill>
              </a:rPr>
              <a:t>218.75.230.48/28</a:t>
            </a:r>
            <a:endParaRPr lang="en-US" altLang="zh-CN" sz="1600" b="1" dirty="0">
              <a:solidFill>
                <a:schemeClr val="accent6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309841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218.75.230.33/28</a:t>
            </a:r>
            <a:endParaRPr lang="en-US" altLang="zh-CN" sz="1400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3821967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218.75.230.34/28</a:t>
            </a:r>
            <a:endParaRPr lang="en-US" altLang="zh-CN" sz="1400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304800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218.75.230.1/27</a:t>
            </a:r>
            <a:endParaRPr lang="en-US" altLang="zh-CN" sz="1400" b="1" dirty="0"/>
          </a:p>
        </p:txBody>
      </p:sp>
      <p:sp>
        <p:nvSpPr>
          <p:cNvPr id="102" name="文本框 101"/>
          <p:cNvSpPr txBox="1"/>
          <p:nvPr/>
        </p:nvSpPr>
        <p:spPr>
          <a:xfrm>
            <a:off x="3821967" y="5861618"/>
            <a:ext cx="2164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218.75.230.2/27</a:t>
            </a:r>
            <a:endParaRPr lang="en-US" altLang="zh-CN" sz="14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6212178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218.75.230.65/28</a:t>
            </a:r>
            <a:endParaRPr lang="en-US" altLang="zh-CN" sz="14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9724304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218.75.230.66/28</a:t>
            </a:r>
            <a:endParaRPr lang="en-US" altLang="zh-CN" sz="1400" b="1" dirty="0"/>
          </a:p>
        </p:txBody>
      </p:sp>
      <p:sp>
        <p:nvSpPr>
          <p:cNvPr id="110" name="文本框 109"/>
          <p:cNvSpPr txBox="1"/>
          <p:nvPr/>
        </p:nvSpPr>
        <p:spPr>
          <a:xfrm>
            <a:off x="6207137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218.75.230.49/28</a:t>
            </a:r>
            <a:endParaRPr lang="en-US" altLang="zh-CN" sz="1400" b="1" dirty="0"/>
          </a:p>
        </p:txBody>
      </p:sp>
      <p:sp>
        <p:nvSpPr>
          <p:cNvPr id="117" name="文本框 116"/>
          <p:cNvSpPr txBox="1"/>
          <p:nvPr/>
        </p:nvSpPr>
        <p:spPr>
          <a:xfrm>
            <a:off x="9724304" y="5861618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218.75.230.50/28</a:t>
            </a:r>
            <a:endParaRPr lang="en-US" altLang="zh-CN" sz="1400" b="1" dirty="0"/>
          </a:p>
        </p:txBody>
      </p:sp>
      <p:sp>
        <p:nvSpPr>
          <p:cNvPr id="118" name="文本框 117"/>
          <p:cNvSpPr txBox="1"/>
          <p:nvPr/>
        </p:nvSpPr>
        <p:spPr>
          <a:xfrm>
            <a:off x="884361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218.75.230.46/28</a:t>
            </a:r>
            <a:endParaRPr lang="en-US" altLang="zh-CN" sz="1400" b="1" dirty="0"/>
          </a:p>
        </p:txBody>
      </p:sp>
      <p:sp>
        <p:nvSpPr>
          <p:cNvPr id="119" name="文本框 118"/>
          <p:cNvSpPr txBox="1"/>
          <p:nvPr/>
        </p:nvSpPr>
        <p:spPr>
          <a:xfrm>
            <a:off x="884361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218.75.230.30/27</a:t>
            </a:r>
            <a:endParaRPr lang="en-US" altLang="zh-CN" sz="1400" b="1" dirty="0"/>
          </a:p>
        </p:txBody>
      </p:sp>
      <p:sp>
        <p:nvSpPr>
          <p:cNvPr id="120" name="文本框 119"/>
          <p:cNvSpPr txBox="1"/>
          <p:nvPr/>
        </p:nvSpPr>
        <p:spPr>
          <a:xfrm>
            <a:off x="9096186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218.75.230.78/28</a:t>
            </a:r>
            <a:endParaRPr lang="en-US" altLang="zh-CN" sz="1400" b="1" dirty="0"/>
          </a:p>
        </p:txBody>
      </p:sp>
      <p:sp>
        <p:nvSpPr>
          <p:cNvPr id="121" name="文本框 120"/>
          <p:cNvSpPr txBox="1"/>
          <p:nvPr/>
        </p:nvSpPr>
        <p:spPr>
          <a:xfrm>
            <a:off x="9105668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218.75.230.62/28</a:t>
            </a:r>
            <a:endParaRPr lang="en-US" altLang="zh-CN" sz="1400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309841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2" name="文本框 121"/>
          <p:cNvSpPr txBox="1"/>
          <p:nvPr/>
        </p:nvSpPr>
        <p:spPr>
          <a:xfrm>
            <a:off x="3821967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3" name="文本框 122"/>
          <p:cNvSpPr txBox="1"/>
          <p:nvPr/>
        </p:nvSpPr>
        <p:spPr>
          <a:xfrm>
            <a:off x="304800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4" name="文本框 123"/>
          <p:cNvSpPr txBox="1"/>
          <p:nvPr/>
        </p:nvSpPr>
        <p:spPr>
          <a:xfrm>
            <a:off x="3821967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5" name="文本框 124"/>
          <p:cNvSpPr txBox="1"/>
          <p:nvPr/>
        </p:nvSpPr>
        <p:spPr>
          <a:xfrm>
            <a:off x="6212178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6" name="文本框 125"/>
          <p:cNvSpPr txBox="1"/>
          <p:nvPr/>
        </p:nvSpPr>
        <p:spPr>
          <a:xfrm>
            <a:off x="9724304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7" name="文本框 126"/>
          <p:cNvSpPr txBox="1"/>
          <p:nvPr/>
        </p:nvSpPr>
        <p:spPr>
          <a:xfrm>
            <a:off x="6207137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28" name="文本框 127"/>
          <p:cNvSpPr txBox="1"/>
          <p:nvPr/>
        </p:nvSpPr>
        <p:spPr>
          <a:xfrm>
            <a:off x="9724304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30" name="文本框 129"/>
          <p:cNvSpPr txBox="1"/>
          <p:nvPr/>
        </p:nvSpPr>
        <p:spPr>
          <a:xfrm>
            <a:off x="6570882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218.75.230.82/30</a:t>
            </a:r>
            <a:endParaRPr lang="en-US" altLang="zh-CN" sz="1400" b="1" dirty="0"/>
          </a:p>
        </p:txBody>
      </p:sp>
      <p:sp>
        <p:nvSpPr>
          <p:cNvPr id="131" name="等腰三角形 130"/>
          <p:cNvSpPr/>
          <p:nvPr/>
        </p:nvSpPr>
        <p:spPr>
          <a:xfrm>
            <a:off x="3089151" y="285737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等腰三角形 131"/>
          <p:cNvSpPr/>
          <p:nvPr/>
        </p:nvSpPr>
        <p:spPr>
          <a:xfrm>
            <a:off x="3090695" y="32687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等腰三角形 132"/>
          <p:cNvSpPr/>
          <p:nvPr/>
        </p:nvSpPr>
        <p:spPr>
          <a:xfrm>
            <a:off x="8999310" y="2834154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等腰三角形 133"/>
          <p:cNvSpPr/>
          <p:nvPr/>
        </p:nvSpPr>
        <p:spPr>
          <a:xfrm>
            <a:off x="9000854" y="324554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等腰三角形 134"/>
          <p:cNvSpPr/>
          <p:nvPr/>
        </p:nvSpPr>
        <p:spPr>
          <a:xfrm>
            <a:off x="3093499" y="431675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等腰三角形 135"/>
          <p:cNvSpPr/>
          <p:nvPr/>
        </p:nvSpPr>
        <p:spPr>
          <a:xfrm>
            <a:off x="3095043" y="472814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等腰三角形 136"/>
          <p:cNvSpPr/>
          <p:nvPr/>
        </p:nvSpPr>
        <p:spPr>
          <a:xfrm>
            <a:off x="9001675" y="4321284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等腰三角形 137"/>
          <p:cNvSpPr/>
          <p:nvPr/>
        </p:nvSpPr>
        <p:spPr>
          <a:xfrm>
            <a:off x="9003219" y="473267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等腰三角形 138"/>
          <p:cNvSpPr/>
          <p:nvPr/>
        </p:nvSpPr>
        <p:spPr>
          <a:xfrm>
            <a:off x="3682531" y="381727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等腰三角形 139"/>
          <p:cNvSpPr/>
          <p:nvPr/>
        </p:nvSpPr>
        <p:spPr>
          <a:xfrm>
            <a:off x="8412718" y="381416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/>
          <p:cNvSpPr txBox="1"/>
          <p:nvPr/>
        </p:nvSpPr>
        <p:spPr>
          <a:xfrm>
            <a:off x="4781653" y="3563919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</a:rPr>
              <a:t>CIDR</a:t>
            </a:r>
            <a:r>
              <a:rPr lang="zh-CN" altLang="en-US" sz="1600" b="1" dirty="0">
                <a:solidFill>
                  <a:schemeClr val="accent1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1"/>
                </a:solidFill>
              </a:rPr>
              <a:t>218.75.230.80/30</a:t>
            </a:r>
            <a:endParaRPr lang="en-US" altLang="zh-CN" sz="1600" b="1" dirty="0">
              <a:solidFill>
                <a:schemeClr val="accent1"/>
              </a:solidFill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3399503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218.75.230.81/30</a:t>
            </a:r>
            <a:endParaRPr lang="en-US" altLang="zh-CN" sz="1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17010" y="685800"/>
            <a:ext cx="4348421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给路由器添加静态路由条目</a:t>
            </a:r>
            <a:endParaRPr lang="en-US" altLang="zh-CN" sz="2400" b="1" dirty="0"/>
          </a:p>
        </p:txBody>
      </p:sp>
      <p:cxnSp>
        <p:nvCxnSpPr>
          <p:cNvPr id="68" name="直接连接符 67"/>
          <p:cNvCxnSpPr/>
          <p:nvPr/>
        </p:nvCxnSpPr>
        <p:spPr>
          <a:xfrm>
            <a:off x="3358290" y="3875212"/>
            <a:ext cx="546188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9061677" y="4028174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9061677" y="2616910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3150499" y="4028174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3150499" y="2616910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2455094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2" name="文本框 111"/>
          <p:cNvSpPr txBox="1"/>
          <p:nvPr/>
        </p:nvSpPr>
        <p:spPr>
          <a:xfrm>
            <a:off x="2455094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9105668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9105668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3399503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54327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304800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04799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207137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207136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430077" y="3576613"/>
            <a:ext cx="5354462" cy="60463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182844" y="2786705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4"/>
                </a:solidFill>
              </a:rPr>
              <a:t>网络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199516" y="2786705"/>
            <a:ext cx="74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网络</a:t>
            </a:r>
            <a:r>
              <a:rPr lang="en-US" altLang="zh-CN" b="1" dirty="0">
                <a:solidFill>
                  <a:schemeClr val="accent3"/>
                </a:solidFill>
              </a:rPr>
              <a:t>4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182844" y="4511862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5"/>
                </a:solidFill>
              </a:rPr>
              <a:t>网络</a:t>
            </a:r>
            <a:r>
              <a:rPr lang="en-US" altLang="zh-CN" b="1" dirty="0">
                <a:solidFill>
                  <a:schemeClr val="accent5"/>
                </a:solidFill>
              </a:rPr>
              <a:t>2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99516" y="4512950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网络</a:t>
            </a:r>
            <a:r>
              <a:rPr lang="en-US" altLang="zh-CN" b="1" dirty="0">
                <a:solidFill>
                  <a:schemeClr val="accent6"/>
                </a:solidFill>
              </a:rPr>
              <a:t>3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686713" y="3844823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1"/>
                </a:solidFill>
              </a:rPr>
              <a:t>网络</a:t>
            </a:r>
            <a:r>
              <a:rPr lang="en-US" altLang="zh-CN" b="1" dirty="0">
                <a:solidFill>
                  <a:schemeClr val="accent1"/>
                </a:solidFill>
              </a:rPr>
              <a:t>5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70375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2276481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25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8172712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8144629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3238453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4"/>
                </a:solidFill>
              </a:rPr>
              <a:t>CIDR</a:t>
            </a:r>
            <a:r>
              <a:rPr lang="zh-CN" altLang="en-US" sz="1600" b="1" dirty="0">
                <a:solidFill>
                  <a:schemeClr val="accent4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4"/>
                </a:solidFill>
              </a:rPr>
              <a:t>218.75.230.32/28</a:t>
            </a:r>
            <a:endParaRPr lang="en-US" altLang="zh-CN" sz="1600" b="1" dirty="0">
              <a:solidFill>
                <a:schemeClr val="accent4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199516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</a:rPr>
              <a:t>CIDR</a:t>
            </a:r>
            <a:r>
              <a:rPr lang="zh-CN" altLang="en-US" sz="1600" b="1" dirty="0">
                <a:solidFill>
                  <a:schemeClr val="accent3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3"/>
                </a:solidFill>
              </a:rPr>
              <a:t>218.75.230.64/28</a:t>
            </a:r>
            <a:endParaRPr lang="en-US" altLang="zh-CN" sz="1600" b="1" dirty="0">
              <a:solidFill>
                <a:schemeClr val="accent3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238453" y="4245048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5"/>
                </a:solidFill>
              </a:rPr>
              <a:t>CIDR</a:t>
            </a:r>
            <a:r>
              <a:rPr lang="zh-CN" altLang="en-US" sz="1600" b="1" dirty="0">
                <a:solidFill>
                  <a:schemeClr val="accent5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5"/>
                </a:solidFill>
              </a:rPr>
              <a:t>218.75.230.0/27</a:t>
            </a:r>
            <a:endParaRPr lang="en-US" altLang="zh-CN" sz="1600" b="1" dirty="0">
              <a:solidFill>
                <a:schemeClr val="accent5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199516" y="4246136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</a:rPr>
              <a:t>CIDR</a:t>
            </a:r>
            <a:r>
              <a:rPr lang="zh-CN" altLang="en-US" sz="1600" b="1" dirty="0">
                <a:solidFill>
                  <a:schemeClr val="accent6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6"/>
                </a:solidFill>
              </a:rPr>
              <a:t>218.75.230.48/28</a:t>
            </a:r>
            <a:endParaRPr lang="en-US" altLang="zh-CN" sz="1600" b="1" dirty="0">
              <a:solidFill>
                <a:schemeClr val="accent6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309841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218.75.230.33/28</a:t>
            </a:r>
            <a:endParaRPr lang="en-US" altLang="zh-CN" sz="1400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3821967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218.75.230.34/28</a:t>
            </a:r>
            <a:endParaRPr lang="en-US" altLang="zh-CN" sz="1400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304800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218.75.230.1/27</a:t>
            </a:r>
            <a:endParaRPr lang="en-US" altLang="zh-CN" sz="1400" b="1" dirty="0"/>
          </a:p>
        </p:txBody>
      </p:sp>
      <p:sp>
        <p:nvSpPr>
          <p:cNvPr id="102" name="文本框 101"/>
          <p:cNvSpPr txBox="1"/>
          <p:nvPr/>
        </p:nvSpPr>
        <p:spPr>
          <a:xfrm>
            <a:off x="3821967" y="5861618"/>
            <a:ext cx="2164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218.75.230.2/27</a:t>
            </a:r>
            <a:endParaRPr lang="en-US" altLang="zh-CN" sz="14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6212178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218.75.230.65/28</a:t>
            </a:r>
            <a:endParaRPr lang="en-US" altLang="zh-CN" sz="14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9724304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218.75.230.66/28</a:t>
            </a:r>
            <a:endParaRPr lang="en-US" altLang="zh-CN" sz="1400" b="1" dirty="0"/>
          </a:p>
        </p:txBody>
      </p:sp>
      <p:sp>
        <p:nvSpPr>
          <p:cNvPr id="110" name="文本框 109"/>
          <p:cNvSpPr txBox="1"/>
          <p:nvPr/>
        </p:nvSpPr>
        <p:spPr>
          <a:xfrm>
            <a:off x="6207137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218.75.230.49/28</a:t>
            </a:r>
            <a:endParaRPr lang="en-US" altLang="zh-CN" sz="1400" b="1" dirty="0"/>
          </a:p>
        </p:txBody>
      </p:sp>
      <p:sp>
        <p:nvSpPr>
          <p:cNvPr id="117" name="文本框 116"/>
          <p:cNvSpPr txBox="1"/>
          <p:nvPr/>
        </p:nvSpPr>
        <p:spPr>
          <a:xfrm>
            <a:off x="9724304" y="5861618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218.75.230.50/28</a:t>
            </a:r>
            <a:endParaRPr lang="en-US" altLang="zh-CN" sz="1400" b="1" dirty="0"/>
          </a:p>
        </p:txBody>
      </p:sp>
      <p:sp>
        <p:nvSpPr>
          <p:cNvPr id="118" name="文本框 117"/>
          <p:cNvSpPr txBox="1"/>
          <p:nvPr/>
        </p:nvSpPr>
        <p:spPr>
          <a:xfrm>
            <a:off x="884361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218.75.230.46/28</a:t>
            </a:r>
            <a:endParaRPr lang="en-US" altLang="zh-CN" sz="1400" b="1" dirty="0"/>
          </a:p>
        </p:txBody>
      </p:sp>
      <p:sp>
        <p:nvSpPr>
          <p:cNvPr id="119" name="文本框 118"/>
          <p:cNvSpPr txBox="1"/>
          <p:nvPr/>
        </p:nvSpPr>
        <p:spPr>
          <a:xfrm>
            <a:off x="884361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218.75.230.30/27</a:t>
            </a:r>
            <a:endParaRPr lang="en-US" altLang="zh-CN" sz="1400" b="1" dirty="0"/>
          </a:p>
        </p:txBody>
      </p:sp>
      <p:sp>
        <p:nvSpPr>
          <p:cNvPr id="120" name="文本框 119"/>
          <p:cNvSpPr txBox="1"/>
          <p:nvPr/>
        </p:nvSpPr>
        <p:spPr>
          <a:xfrm>
            <a:off x="9096186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218.75.230.78/28</a:t>
            </a:r>
            <a:endParaRPr lang="en-US" altLang="zh-CN" sz="1400" b="1" dirty="0"/>
          </a:p>
        </p:txBody>
      </p:sp>
      <p:sp>
        <p:nvSpPr>
          <p:cNvPr id="121" name="文本框 120"/>
          <p:cNvSpPr txBox="1"/>
          <p:nvPr/>
        </p:nvSpPr>
        <p:spPr>
          <a:xfrm>
            <a:off x="9105668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218.75.230.62/28</a:t>
            </a:r>
            <a:endParaRPr lang="en-US" altLang="zh-CN" sz="1400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309841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2" name="文本框 121"/>
          <p:cNvSpPr txBox="1"/>
          <p:nvPr/>
        </p:nvSpPr>
        <p:spPr>
          <a:xfrm>
            <a:off x="3821967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3" name="文本框 122"/>
          <p:cNvSpPr txBox="1"/>
          <p:nvPr/>
        </p:nvSpPr>
        <p:spPr>
          <a:xfrm>
            <a:off x="304800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4" name="文本框 123"/>
          <p:cNvSpPr txBox="1"/>
          <p:nvPr/>
        </p:nvSpPr>
        <p:spPr>
          <a:xfrm>
            <a:off x="3821967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5" name="文本框 124"/>
          <p:cNvSpPr txBox="1"/>
          <p:nvPr/>
        </p:nvSpPr>
        <p:spPr>
          <a:xfrm>
            <a:off x="6212178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6" name="文本框 125"/>
          <p:cNvSpPr txBox="1"/>
          <p:nvPr/>
        </p:nvSpPr>
        <p:spPr>
          <a:xfrm>
            <a:off x="9724304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7" name="文本框 126"/>
          <p:cNvSpPr txBox="1"/>
          <p:nvPr/>
        </p:nvSpPr>
        <p:spPr>
          <a:xfrm>
            <a:off x="6207137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28" name="文本框 127"/>
          <p:cNvSpPr txBox="1"/>
          <p:nvPr/>
        </p:nvSpPr>
        <p:spPr>
          <a:xfrm>
            <a:off x="9724304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30" name="文本框 129"/>
          <p:cNvSpPr txBox="1"/>
          <p:nvPr/>
        </p:nvSpPr>
        <p:spPr>
          <a:xfrm>
            <a:off x="6570882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218.75.230.82/30</a:t>
            </a:r>
            <a:endParaRPr lang="en-US" altLang="zh-CN" sz="1400" b="1" dirty="0"/>
          </a:p>
        </p:txBody>
      </p:sp>
      <p:sp>
        <p:nvSpPr>
          <p:cNvPr id="131" name="等腰三角形 130"/>
          <p:cNvSpPr/>
          <p:nvPr/>
        </p:nvSpPr>
        <p:spPr>
          <a:xfrm>
            <a:off x="3089151" y="285737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等腰三角形 131"/>
          <p:cNvSpPr/>
          <p:nvPr/>
        </p:nvSpPr>
        <p:spPr>
          <a:xfrm>
            <a:off x="3090695" y="32687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等腰三角形 132"/>
          <p:cNvSpPr/>
          <p:nvPr/>
        </p:nvSpPr>
        <p:spPr>
          <a:xfrm>
            <a:off x="8999310" y="2834154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等腰三角形 133"/>
          <p:cNvSpPr/>
          <p:nvPr/>
        </p:nvSpPr>
        <p:spPr>
          <a:xfrm>
            <a:off x="9000854" y="324554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等腰三角形 134"/>
          <p:cNvSpPr/>
          <p:nvPr/>
        </p:nvSpPr>
        <p:spPr>
          <a:xfrm>
            <a:off x="3093499" y="431675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等腰三角形 135"/>
          <p:cNvSpPr/>
          <p:nvPr/>
        </p:nvSpPr>
        <p:spPr>
          <a:xfrm>
            <a:off x="3095043" y="472814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等腰三角形 136"/>
          <p:cNvSpPr/>
          <p:nvPr/>
        </p:nvSpPr>
        <p:spPr>
          <a:xfrm>
            <a:off x="9001675" y="4321284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等腰三角形 137"/>
          <p:cNvSpPr/>
          <p:nvPr/>
        </p:nvSpPr>
        <p:spPr>
          <a:xfrm>
            <a:off x="9003219" y="473267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等腰三角形 138"/>
          <p:cNvSpPr/>
          <p:nvPr/>
        </p:nvSpPr>
        <p:spPr>
          <a:xfrm>
            <a:off x="3682531" y="381727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等腰三角形 139"/>
          <p:cNvSpPr/>
          <p:nvPr/>
        </p:nvSpPr>
        <p:spPr>
          <a:xfrm>
            <a:off x="8412718" y="381416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文本框 141"/>
          <p:cNvSpPr txBox="1"/>
          <p:nvPr/>
        </p:nvSpPr>
        <p:spPr>
          <a:xfrm>
            <a:off x="3399503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218.75.230.81/30</a:t>
            </a:r>
            <a:endParaRPr lang="en-US" altLang="zh-CN" sz="1400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4781653" y="3563919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</a:rPr>
              <a:t>CIDR</a:t>
            </a:r>
            <a:r>
              <a:rPr lang="zh-CN" altLang="en-US" sz="1600" b="1" dirty="0">
                <a:solidFill>
                  <a:schemeClr val="accent1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1"/>
                </a:solidFill>
              </a:rPr>
              <a:t>218.75.230.80/30</a:t>
            </a:r>
            <a:endParaRPr lang="en-US" altLang="zh-CN" sz="16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17010" y="685800"/>
            <a:ext cx="4348421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给路由器添加静态路由条目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26" name="组合 225"/>
          <p:cNvGrpSpPr/>
          <p:nvPr/>
        </p:nvGrpSpPr>
        <p:grpSpPr>
          <a:xfrm>
            <a:off x="304800" y="1354775"/>
            <a:ext cx="11582400" cy="2740685"/>
            <a:chOff x="304800" y="1354775"/>
            <a:chExt cx="11582400" cy="2740685"/>
          </a:xfrm>
        </p:grpSpPr>
        <p:cxnSp>
          <p:nvCxnSpPr>
            <p:cNvPr id="176" name="直接连接符 175"/>
            <p:cNvCxnSpPr/>
            <p:nvPr/>
          </p:nvCxnSpPr>
          <p:spPr>
            <a:xfrm flipV="1">
              <a:off x="8306479" y="1532784"/>
              <a:ext cx="0" cy="159173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 flipV="1">
              <a:off x="3548212" y="1532784"/>
              <a:ext cx="0" cy="159173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1822027" y="3240676"/>
              <a:ext cx="81686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20 28" descr="卡通人物&#10;&#10;中度可信度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3208" y="3049872"/>
              <a:ext cx="530013" cy="381609"/>
            </a:xfrm>
            <a:prstGeom prst="rect">
              <a:avLst/>
            </a:prstGeom>
          </p:spPr>
        </p:pic>
        <p:sp>
          <p:nvSpPr>
            <p:cNvPr id="30" name="文本框 29"/>
            <p:cNvSpPr txBox="1"/>
            <p:nvPr/>
          </p:nvSpPr>
          <p:spPr>
            <a:xfrm>
              <a:off x="3422777" y="2579908"/>
              <a:ext cx="10051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2911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Router0</a:t>
              </a:r>
              <a:endParaRPr lang="zh-CN" altLang="en-US" sz="1400" b="1" dirty="0"/>
            </a:p>
          </p:txBody>
        </p:sp>
        <p:pic>
          <p:nvPicPr>
            <p:cNvPr id="31" name="20 30" descr="卡通人物&#10;&#10;中度可信度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41474" y="3049872"/>
              <a:ext cx="530013" cy="381609"/>
            </a:xfrm>
            <a:prstGeom prst="rect">
              <a:avLst/>
            </a:prstGeom>
          </p:spPr>
        </p:pic>
        <p:sp>
          <p:nvSpPr>
            <p:cNvPr id="32" name="文本框 31"/>
            <p:cNvSpPr txBox="1"/>
            <p:nvPr/>
          </p:nvSpPr>
          <p:spPr>
            <a:xfrm>
              <a:off x="8224307" y="2579908"/>
              <a:ext cx="10051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2911</a:t>
              </a:r>
              <a:endParaRPr lang="en-US" altLang="zh-CN" sz="1400" b="1" dirty="0"/>
            </a:p>
            <a:p>
              <a:pPr algn="ctr"/>
              <a:r>
                <a:rPr lang="en-US" altLang="zh-CN" sz="1400" b="1" dirty="0"/>
                <a:t>Router1</a:t>
              </a:r>
              <a:endParaRPr lang="zh-CN" altLang="en-US" sz="1400" b="1" dirty="0"/>
            </a:p>
          </p:txBody>
        </p:sp>
        <p:sp>
          <p:nvSpPr>
            <p:cNvPr id="155" name="云形 154"/>
            <p:cNvSpPr/>
            <p:nvPr/>
          </p:nvSpPr>
          <p:spPr>
            <a:xfrm>
              <a:off x="9821333" y="2869241"/>
              <a:ext cx="2065867" cy="718201"/>
            </a:xfrm>
            <a:prstGeom prst="cloud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218.75.230.48/28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grpSp>
          <p:nvGrpSpPr>
            <p:cNvPr id="159" name="组合 158"/>
            <p:cNvGrpSpPr/>
            <p:nvPr/>
          </p:nvGrpSpPr>
          <p:grpSpPr>
            <a:xfrm>
              <a:off x="2683931" y="1355487"/>
              <a:ext cx="1728563" cy="718201"/>
              <a:chOff x="6765197" y="1688025"/>
              <a:chExt cx="1728563" cy="718201"/>
            </a:xfrm>
          </p:grpSpPr>
          <p:sp>
            <p:nvSpPr>
              <p:cNvPr id="156" name="云形 155"/>
              <p:cNvSpPr/>
              <p:nvPr/>
            </p:nvSpPr>
            <p:spPr>
              <a:xfrm>
                <a:off x="6765197" y="1688025"/>
                <a:ext cx="1728563" cy="718201"/>
              </a:xfrm>
              <a:prstGeom prst="cloud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8" name="文本框 157"/>
              <p:cNvSpPr txBox="1"/>
              <p:nvPr/>
            </p:nvSpPr>
            <p:spPr>
              <a:xfrm>
                <a:off x="6830389" y="1862459"/>
                <a:ext cx="16633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 b="1" dirty="0">
                    <a:solidFill>
                      <a:schemeClr val="bg1"/>
                    </a:solidFill>
                  </a:rPr>
                  <a:t>218.75.230.32/28</a:t>
                </a:r>
                <a:endParaRPr lang="zh-CN" alt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304800" y="2869241"/>
              <a:ext cx="1728563" cy="718201"/>
              <a:chOff x="6765197" y="1688025"/>
              <a:chExt cx="1728563" cy="718201"/>
            </a:xfrm>
          </p:grpSpPr>
          <p:sp>
            <p:nvSpPr>
              <p:cNvPr id="161" name="云形 160"/>
              <p:cNvSpPr/>
              <p:nvPr/>
            </p:nvSpPr>
            <p:spPr>
              <a:xfrm>
                <a:off x="6765197" y="1688025"/>
                <a:ext cx="1728563" cy="718201"/>
              </a:xfrm>
              <a:prstGeom prst="cloud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2" name="文本框 161"/>
              <p:cNvSpPr txBox="1"/>
              <p:nvPr/>
            </p:nvSpPr>
            <p:spPr>
              <a:xfrm>
                <a:off x="6830389" y="1862459"/>
                <a:ext cx="16633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 b="1" dirty="0">
                    <a:solidFill>
                      <a:schemeClr val="bg1"/>
                    </a:solidFill>
                  </a:rPr>
                  <a:t>218.75.230.0/27</a:t>
                </a:r>
                <a:endParaRPr lang="zh-CN" alt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5063066" y="2869241"/>
              <a:ext cx="1728563" cy="718201"/>
              <a:chOff x="6765197" y="1688025"/>
              <a:chExt cx="1728563" cy="718201"/>
            </a:xfrm>
          </p:grpSpPr>
          <p:sp>
            <p:nvSpPr>
              <p:cNvPr id="164" name="云形 163"/>
              <p:cNvSpPr/>
              <p:nvPr/>
            </p:nvSpPr>
            <p:spPr>
              <a:xfrm>
                <a:off x="6765197" y="1688025"/>
                <a:ext cx="1728563" cy="718201"/>
              </a:xfrm>
              <a:prstGeom prst="clou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5" name="文本框 164"/>
              <p:cNvSpPr txBox="1"/>
              <p:nvPr/>
            </p:nvSpPr>
            <p:spPr>
              <a:xfrm>
                <a:off x="6830389" y="1862459"/>
                <a:ext cx="16633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 b="1" dirty="0">
                    <a:solidFill>
                      <a:schemeClr val="bg1"/>
                    </a:solidFill>
                  </a:rPr>
                  <a:t>218.75.230.80/30</a:t>
                </a:r>
                <a:endParaRPr lang="zh-CN" altLang="en-US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7442198" y="1354775"/>
              <a:ext cx="1728563" cy="718201"/>
              <a:chOff x="6765197" y="1688025"/>
              <a:chExt cx="1728563" cy="718201"/>
            </a:xfrm>
          </p:grpSpPr>
          <p:sp>
            <p:nvSpPr>
              <p:cNvPr id="167" name="云形 166"/>
              <p:cNvSpPr/>
              <p:nvPr/>
            </p:nvSpPr>
            <p:spPr>
              <a:xfrm>
                <a:off x="6765197" y="1688025"/>
                <a:ext cx="1728563" cy="718201"/>
              </a:xfrm>
              <a:prstGeom prst="cloud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文本框 167"/>
              <p:cNvSpPr txBox="1"/>
              <p:nvPr/>
            </p:nvSpPr>
            <p:spPr>
              <a:xfrm>
                <a:off x="6830389" y="1862459"/>
                <a:ext cx="16633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 b="1" dirty="0">
                    <a:solidFill>
                      <a:schemeClr val="bg1"/>
                    </a:solidFill>
                  </a:rPr>
                  <a:t>218.75.230.64/28</a:t>
                </a:r>
                <a:endParaRPr lang="zh-CN" altLang="en-US" sz="1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77" name="文本框 176"/>
            <p:cNvSpPr txBox="1"/>
            <p:nvPr/>
          </p:nvSpPr>
          <p:spPr>
            <a:xfrm>
              <a:off x="2897644" y="2739210"/>
              <a:ext cx="7509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Gig0/0</a:t>
              </a:r>
              <a:endParaRPr lang="en-US" altLang="zh-CN" sz="1400" b="1" dirty="0"/>
            </a:p>
          </p:txBody>
        </p:sp>
        <p:sp>
          <p:nvSpPr>
            <p:cNvPr id="178" name="文本框 177"/>
            <p:cNvSpPr txBox="1"/>
            <p:nvPr/>
          </p:nvSpPr>
          <p:spPr>
            <a:xfrm>
              <a:off x="2637555" y="3239864"/>
              <a:ext cx="7509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 b="1" dirty="0"/>
                <a:t>Gig0/1</a:t>
              </a:r>
              <a:endParaRPr lang="en-US" altLang="zh-CN" sz="1400" b="1" dirty="0"/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3740534" y="3239864"/>
              <a:ext cx="7509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Gig0/2</a:t>
              </a:r>
              <a:endParaRPr lang="en-US" altLang="zh-CN" sz="1400" b="1" dirty="0"/>
            </a:p>
          </p:txBody>
        </p:sp>
        <p:sp>
          <p:nvSpPr>
            <p:cNvPr id="180" name="文本框 179"/>
            <p:cNvSpPr txBox="1"/>
            <p:nvPr/>
          </p:nvSpPr>
          <p:spPr>
            <a:xfrm>
              <a:off x="1934818" y="2206933"/>
              <a:ext cx="17504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4"/>
                  </a:solidFill>
                </a:rPr>
                <a:t>218.75.230.46</a:t>
              </a:r>
              <a:endParaRPr lang="en-US" altLang="zh-CN" b="1" dirty="0">
                <a:solidFill>
                  <a:schemeClr val="accent4"/>
                </a:solidFill>
              </a:endParaRPr>
            </a:p>
            <a:p>
              <a:r>
                <a:rPr lang="en-US" altLang="zh-CN" b="1" dirty="0">
                  <a:solidFill>
                    <a:schemeClr val="accent4"/>
                  </a:solidFill>
                </a:rPr>
                <a:t>255.255.255.240</a:t>
              </a:r>
              <a:endParaRPr lang="en-US" altLang="zh-CN" b="1" dirty="0">
                <a:solidFill>
                  <a:schemeClr val="accent4"/>
                </a:solidFill>
              </a:endParaRP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1934818" y="3449129"/>
              <a:ext cx="17504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5"/>
                  </a:solidFill>
                </a:rPr>
                <a:t>218.75.230.30</a:t>
              </a:r>
              <a:endParaRPr lang="en-US" altLang="zh-CN" b="1" dirty="0">
                <a:solidFill>
                  <a:schemeClr val="accent5"/>
                </a:solidFill>
              </a:endParaRPr>
            </a:p>
            <a:p>
              <a:r>
                <a:rPr lang="en-US" altLang="zh-CN" b="1" dirty="0">
                  <a:solidFill>
                    <a:schemeClr val="accent5"/>
                  </a:solidFill>
                </a:rPr>
                <a:t>255.255.255.224</a:t>
              </a:r>
              <a:endParaRPr lang="en-US" altLang="zh-CN" b="1" dirty="0">
                <a:solidFill>
                  <a:schemeClr val="accent5"/>
                </a:solidFill>
              </a:endParaRPr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3744343" y="3449129"/>
              <a:ext cx="17504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/>
                  </a:solidFill>
                </a:rPr>
                <a:t>218.75.230.81</a:t>
              </a:r>
              <a:endParaRPr lang="en-US" altLang="zh-CN" b="1" dirty="0">
                <a:solidFill>
                  <a:schemeClr val="accent1"/>
                </a:solidFill>
              </a:endParaRPr>
            </a:p>
            <a:p>
              <a:r>
                <a:rPr lang="en-US" altLang="zh-CN" b="1" dirty="0">
                  <a:solidFill>
                    <a:schemeClr val="accent1"/>
                  </a:solidFill>
                </a:rPr>
                <a:t>255.255.255.252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7674017" y="2691674"/>
              <a:ext cx="7509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Gig0/0</a:t>
              </a:r>
              <a:endParaRPr lang="en-US" altLang="zh-CN" sz="1400" b="1" dirty="0"/>
            </a:p>
          </p:txBody>
        </p:sp>
        <p:sp>
          <p:nvSpPr>
            <p:cNvPr id="184" name="文本框 183"/>
            <p:cNvSpPr txBox="1"/>
            <p:nvPr/>
          </p:nvSpPr>
          <p:spPr>
            <a:xfrm>
              <a:off x="7413928" y="3239864"/>
              <a:ext cx="7509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400" b="1" dirty="0"/>
                <a:t>Gig0/2</a:t>
              </a:r>
              <a:endParaRPr lang="en-US" altLang="zh-CN" sz="1400" b="1" dirty="0"/>
            </a:p>
          </p:txBody>
        </p:sp>
        <p:sp>
          <p:nvSpPr>
            <p:cNvPr id="185" name="文本框 184"/>
            <p:cNvSpPr txBox="1"/>
            <p:nvPr/>
          </p:nvSpPr>
          <p:spPr>
            <a:xfrm>
              <a:off x="8516907" y="3239864"/>
              <a:ext cx="7509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Gig0/1</a:t>
              </a:r>
              <a:endParaRPr lang="en-US" altLang="zh-CN" sz="1400" b="1" dirty="0"/>
            </a:p>
          </p:txBody>
        </p:sp>
        <p:sp>
          <p:nvSpPr>
            <p:cNvPr id="186" name="文本框 185"/>
            <p:cNvSpPr txBox="1"/>
            <p:nvPr/>
          </p:nvSpPr>
          <p:spPr>
            <a:xfrm>
              <a:off x="6711326" y="2206933"/>
              <a:ext cx="17504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3"/>
                  </a:solidFill>
                </a:rPr>
                <a:t>218.75.230.78</a:t>
              </a:r>
              <a:endParaRPr lang="en-US" altLang="zh-CN" b="1" dirty="0">
                <a:solidFill>
                  <a:schemeClr val="accent3"/>
                </a:solidFill>
              </a:endParaRPr>
            </a:p>
            <a:p>
              <a:r>
                <a:rPr lang="en-US" altLang="zh-CN" b="1" dirty="0">
                  <a:solidFill>
                    <a:schemeClr val="accent3"/>
                  </a:solidFill>
                </a:rPr>
                <a:t>255.255.255.240</a:t>
              </a:r>
              <a:endParaRPr lang="en-US" altLang="zh-CN" b="1" dirty="0">
                <a:solidFill>
                  <a:schemeClr val="accent3"/>
                </a:solidFill>
              </a:endParaRPr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6711326" y="3449129"/>
              <a:ext cx="17504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/>
                  </a:solidFill>
                </a:rPr>
                <a:t>218.75.230.82</a:t>
              </a:r>
              <a:endParaRPr lang="en-US" altLang="zh-CN" b="1" dirty="0">
                <a:solidFill>
                  <a:schemeClr val="accent1"/>
                </a:solidFill>
              </a:endParaRPr>
            </a:p>
            <a:p>
              <a:r>
                <a:rPr lang="en-US" altLang="zh-CN" b="1" dirty="0">
                  <a:solidFill>
                    <a:schemeClr val="accent1"/>
                  </a:solidFill>
                </a:rPr>
                <a:t>255.255.255.252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188" name="文本框 187"/>
            <p:cNvSpPr txBox="1"/>
            <p:nvPr/>
          </p:nvSpPr>
          <p:spPr>
            <a:xfrm>
              <a:off x="8514233" y="3449129"/>
              <a:ext cx="17504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6"/>
                  </a:solidFill>
                </a:rPr>
                <a:t>218.75.230.62</a:t>
              </a:r>
              <a:endParaRPr lang="en-US" altLang="zh-CN" b="1" dirty="0">
                <a:solidFill>
                  <a:schemeClr val="accent6"/>
                </a:solidFill>
              </a:endParaRPr>
            </a:p>
            <a:p>
              <a:r>
                <a:rPr lang="en-US" altLang="zh-CN" b="1" dirty="0">
                  <a:solidFill>
                    <a:schemeClr val="accent6"/>
                  </a:solidFill>
                </a:rPr>
                <a:t>255.255.255.240</a:t>
              </a:r>
              <a:endParaRPr lang="en-US" altLang="zh-CN" b="1" dirty="0">
                <a:solidFill>
                  <a:schemeClr val="accent6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17010" y="685800"/>
            <a:ext cx="4348421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给路由器添加静态路由条目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176" name="直接连接符 175"/>
          <p:cNvCxnSpPr/>
          <p:nvPr/>
        </p:nvCxnSpPr>
        <p:spPr>
          <a:xfrm flipV="1">
            <a:off x="8306479" y="1532784"/>
            <a:ext cx="0" cy="15917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 flipV="1">
            <a:off x="3548212" y="1532784"/>
            <a:ext cx="0" cy="15917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>
            <a:off x="1822027" y="3240676"/>
            <a:ext cx="816864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20 28" descr="卡通人物&#10;&#10;中度可信度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208" y="3049872"/>
            <a:ext cx="530013" cy="381609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3422777" y="2579908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31" name="20 30" descr="卡通人物&#10;&#10;中度可信度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474" y="3049872"/>
            <a:ext cx="530013" cy="381609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8224307" y="2579908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sp>
        <p:nvSpPr>
          <p:cNvPr id="155" name="云形 154"/>
          <p:cNvSpPr/>
          <p:nvPr/>
        </p:nvSpPr>
        <p:spPr>
          <a:xfrm>
            <a:off x="9821333" y="2869241"/>
            <a:ext cx="2065867" cy="718201"/>
          </a:xfrm>
          <a:prstGeom prst="cloud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218.75.230.48/28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grpSp>
        <p:nvGrpSpPr>
          <p:cNvPr id="159" name="组合 158"/>
          <p:cNvGrpSpPr/>
          <p:nvPr/>
        </p:nvGrpSpPr>
        <p:grpSpPr>
          <a:xfrm>
            <a:off x="2683931" y="1355487"/>
            <a:ext cx="1728563" cy="718201"/>
            <a:chOff x="6765197" y="1688025"/>
            <a:chExt cx="1728563" cy="718201"/>
          </a:xfrm>
        </p:grpSpPr>
        <p:sp>
          <p:nvSpPr>
            <p:cNvPr id="156" name="云形 155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58" name="文本框 157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218.75.230.32/28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304800" y="2869241"/>
            <a:ext cx="1728563" cy="718201"/>
            <a:chOff x="6765197" y="1688025"/>
            <a:chExt cx="1728563" cy="718201"/>
          </a:xfrm>
        </p:grpSpPr>
        <p:sp>
          <p:nvSpPr>
            <p:cNvPr id="161" name="云形 160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62" name="文本框 161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218.75.230.0/27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3" name="组合 162"/>
          <p:cNvGrpSpPr/>
          <p:nvPr/>
        </p:nvGrpSpPr>
        <p:grpSpPr>
          <a:xfrm>
            <a:off x="5063066" y="2869241"/>
            <a:ext cx="1728563" cy="718201"/>
            <a:chOff x="6765197" y="1688025"/>
            <a:chExt cx="1728563" cy="718201"/>
          </a:xfrm>
        </p:grpSpPr>
        <p:sp>
          <p:nvSpPr>
            <p:cNvPr id="164" name="云形 163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65" name="文本框 164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218.75.230.80/30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7442198" y="1354775"/>
            <a:ext cx="1728563" cy="718201"/>
            <a:chOff x="6765197" y="1688025"/>
            <a:chExt cx="1728563" cy="718201"/>
          </a:xfrm>
        </p:grpSpPr>
        <p:sp>
          <p:nvSpPr>
            <p:cNvPr id="167" name="云形 166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218.75.230.64/28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7" name="文本框 176"/>
          <p:cNvSpPr txBox="1"/>
          <p:nvPr/>
        </p:nvSpPr>
        <p:spPr>
          <a:xfrm>
            <a:off x="2897644" y="2739210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78" name="文本框 177"/>
          <p:cNvSpPr txBox="1"/>
          <p:nvPr/>
        </p:nvSpPr>
        <p:spPr>
          <a:xfrm>
            <a:off x="2637555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79" name="文本框 178"/>
          <p:cNvSpPr txBox="1"/>
          <p:nvPr/>
        </p:nvSpPr>
        <p:spPr>
          <a:xfrm>
            <a:off x="3740534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80" name="文本框 179"/>
          <p:cNvSpPr txBox="1"/>
          <p:nvPr/>
        </p:nvSpPr>
        <p:spPr>
          <a:xfrm>
            <a:off x="1934818" y="2206933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218.75.230.46</a:t>
            </a:r>
            <a:endParaRPr lang="en-US" altLang="zh-CN" b="1" dirty="0">
              <a:solidFill>
                <a:schemeClr val="accent4"/>
              </a:solidFill>
            </a:endParaRPr>
          </a:p>
          <a:p>
            <a:r>
              <a:rPr lang="en-US" altLang="zh-CN" b="1" dirty="0">
                <a:solidFill>
                  <a:schemeClr val="accent4"/>
                </a:solidFill>
              </a:rPr>
              <a:t>255.255.255.240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934818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5"/>
                </a:solidFill>
              </a:rPr>
              <a:t>218.75.230.30</a:t>
            </a:r>
            <a:endParaRPr lang="en-US" altLang="zh-CN" b="1" dirty="0">
              <a:solidFill>
                <a:schemeClr val="accent5"/>
              </a:solidFill>
            </a:endParaRPr>
          </a:p>
          <a:p>
            <a:r>
              <a:rPr lang="en-US" altLang="zh-CN" b="1" dirty="0">
                <a:solidFill>
                  <a:schemeClr val="accent5"/>
                </a:solidFill>
              </a:rPr>
              <a:t>255.255.255.224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3744343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218.75.230.81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en-US" altLang="zh-CN" b="1" dirty="0">
                <a:solidFill>
                  <a:schemeClr val="accent1"/>
                </a:solidFill>
              </a:rPr>
              <a:t>255.255.255.252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7674017" y="269167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84" name="文本框 183"/>
          <p:cNvSpPr txBox="1"/>
          <p:nvPr/>
        </p:nvSpPr>
        <p:spPr>
          <a:xfrm>
            <a:off x="7413928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85" name="文本框 184"/>
          <p:cNvSpPr txBox="1"/>
          <p:nvPr/>
        </p:nvSpPr>
        <p:spPr>
          <a:xfrm>
            <a:off x="8516907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86" name="文本框 185"/>
          <p:cNvSpPr txBox="1"/>
          <p:nvPr/>
        </p:nvSpPr>
        <p:spPr>
          <a:xfrm>
            <a:off x="6711326" y="2206933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218.75.230.78</a:t>
            </a:r>
            <a:endParaRPr lang="en-US" altLang="zh-CN" b="1" dirty="0">
              <a:solidFill>
                <a:schemeClr val="accent3"/>
              </a:solidFill>
            </a:endParaRPr>
          </a:p>
          <a:p>
            <a:r>
              <a:rPr lang="en-US" altLang="zh-CN" b="1" dirty="0">
                <a:solidFill>
                  <a:schemeClr val="accent3"/>
                </a:solidFill>
              </a:rPr>
              <a:t>255.255.255.240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6711326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218.75.230.82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en-US" altLang="zh-CN" b="1" dirty="0">
                <a:solidFill>
                  <a:schemeClr val="accent1"/>
                </a:solidFill>
              </a:rPr>
              <a:t>255.255.255.252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8514233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218.75.230.62</a:t>
            </a:r>
            <a:endParaRPr lang="en-US" altLang="zh-CN" b="1" dirty="0">
              <a:solidFill>
                <a:schemeClr val="accent6"/>
              </a:solidFill>
            </a:endParaRPr>
          </a:p>
          <a:p>
            <a:r>
              <a:rPr lang="en-US" altLang="zh-CN" b="1" dirty="0">
                <a:solidFill>
                  <a:schemeClr val="accent6"/>
                </a:solidFill>
              </a:rPr>
              <a:t>255.255.255.240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grpSp>
        <p:nvGrpSpPr>
          <p:cNvPr id="202" name="组合 201"/>
          <p:cNvGrpSpPr/>
          <p:nvPr/>
        </p:nvGrpSpPr>
        <p:grpSpPr>
          <a:xfrm>
            <a:off x="1241380" y="4024282"/>
            <a:ext cx="4698977" cy="2415426"/>
            <a:chOff x="1241380" y="4024282"/>
            <a:chExt cx="4698977" cy="2415426"/>
          </a:xfrm>
        </p:grpSpPr>
        <p:sp>
          <p:nvSpPr>
            <p:cNvPr id="203" name="文本框 202"/>
            <p:cNvSpPr txBox="1"/>
            <p:nvPr/>
          </p:nvSpPr>
          <p:spPr>
            <a:xfrm>
              <a:off x="1241380" y="4024282"/>
              <a:ext cx="4695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Arial Narrow" panose="020B0606020202030204" charset="0"/>
                </a:rPr>
                <a:t>Router0</a:t>
              </a:r>
              <a:r>
                <a:rPr lang="zh-CN" altLang="en-US" b="1" dirty="0">
                  <a:latin typeface="Arial Narrow" panose="020B0606020202030204" charset="0"/>
                </a:rPr>
                <a:t>的路由表</a:t>
              </a:r>
              <a:endParaRPr lang="zh-CN" altLang="en-US" b="1" dirty="0">
                <a:latin typeface="Arial Narrow" panose="020B0606020202030204" charset="0"/>
              </a:endParaRPr>
            </a:p>
          </p:txBody>
        </p:sp>
        <p:sp>
          <p:nvSpPr>
            <p:cNvPr id="204" name="矩形 203"/>
            <p:cNvSpPr/>
            <p:nvPr/>
          </p:nvSpPr>
          <p:spPr>
            <a:xfrm>
              <a:off x="1245140" y="4407978"/>
              <a:ext cx="4695217" cy="20317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5" name="文本框 204"/>
            <p:cNvSpPr txBox="1"/>
            <p:nvPr/>
          </p:nvSpPr>
          <p:spPr>
            <a:xfrm>
              <a:off x="1247622" y="4408009"/>
              <a:ext cx="1291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Arial Narrow" panose="020B0606020202030204" charset="0"/>
                </a:rPr>
                <a:t>目的网络</a:t>
              </a:r>
              <a:endParaRPr lang="zh-CN" altLang="en-US" b="1" dirty="0">
                <a:latin typeface="Arial Narrow" panose="020B0606020202030204" charset="0"/>
              </a:endParaRPr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2946358" y="4408009"/>
              <a:ext cx="1291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Arial Narrow" panose="020B0606020202030204" charset="0"/>
                </a:rPr>
                <a:t>子网掩码</a:t>
              </a:r>
              <a:endParaRPr lang="zh-CN" altLang="en-US" b="1" dirty="0">
                <a:latin typeface="Arial Narrow" panose="020B0606020202030204" charset="0"/>
              </a:endParaRPr>
            </a:p>
          </p:txBody>
        </p:sp>
        <p:sp>
          <p:nvSpPr>
            <p:cNvPr id="207" name="文本框 206"/>
            <p:cNvSpPr txBox="1"/>
            <p:nvPr/>
          </p:nvSpPr>
          <p:spPr>
            <a:xfrm>
              <a:off x="4645095" y="4408009"/>
              <a:ext cx="1291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Arial Narrow" panose="020B0606020202030204" charset="0"/>
                </a:rPr>
                <a:t>下一跳</a:t>
              </a:r>
              <a:endParaRPr lang="zh-CN" altLang="en-US" b="1" dirty="0">
                <a:latin typeface="Arial Narrow" panose="020B0606020202030204" charset="0"/>
              </a:endParaRPr>
            </a:p>
          </p:txBody>
        </p:sp>
      </p:grpSp>
      <p:grpSp>
        <p:nvGrpSpPr>
          <p:cNvPr id="208" name="组合 207"/>
          <p:cNvGrpSpPr/>
          <p:nvPr/>
        </p:nvGrpSpPr>
        <p:grpSpPr>
          <a:xfrm>
            <a:off x="1241380" y="5086054"/>
            <a:ext cx="4433974" cy="369332"/>
            <a:chOff x="1241380" y="4930045"/>
            <a:chExt cx="4433974" cy="369332"/>
          </a:xfrm>
        </p:grpSpPr>
        <p:sp>
          <p:nvSpPr>
            <p:cNvPr id="209" name="文本框 208"/>
            <p:cNvSpPr txBox="1"/>
            <p:nvPr/>
          </p:nvSpPr>
          <p:spPr>
            <a:xfrm>
              <a:off x="1241380" y="4930045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5"/>
                  </a:solidFill>
                </a:rPr>
                <a:t>218.75.230.0</a:t>
              </a:r>
              <a:endParaRPr lang="en-US" altLang="zh-CN" b="1" dirty="0">
                <a:solidFill>
                  <a:schemeClr val="accent5"/>
                </a:solidFill>
              </a:endParaRPr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2785822" y="4930045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5"/>
                  </a:solidFill>
                </a:rPr>
                <a:t>255.255.255.224</a:t>
              </a:r>
              <a:endParaRPr lang="en-US" altLang="zh-CN" b="1" dirty="0">
                <a:solidFill>
                  <a:schemeClr val="accent5"/>
                </a:solidFill>
              </a:endParaRPr>
            </a:p>
          </p:txBody>
        </p:sp>
        <p:sp>
          <p:nvSpPr>
            <p:cNvPr id="211" name="文本框 210"/>
            <p:cNvSpPr txBox="1"/>
            <p:nvPr/>
          </p:nvSpPr>
          <p:spPr>
            <a:xfrm>
              <a:off x="4914713" y="4930045"/>
              <a:ext cx="7606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/>
                <a:t>Gig0/1</a:t>
              </a:r>
              <a:endParaRPr lang="en-US" altLang="zh-CN" b="1" dirty="0"/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1241380" y="4761933"/>
            <a:ext cx="4433974" cy="369332"/>
            <a:chOff x="1241380" y="4651688"/>
            <a:chExt cx="4433974" cy="369332"/>
          </a:xfrm>
        </p:grpSpPr>
        <p:sp>
          <p:nvSpPr>
            <p:cNvPr id="213" name="文本框 212"/>
            <p:cNvSpPr txBox="1"/>
            <p:nvPr/>
          </p:nvSpPr>
          <p:spPr>
            <a:xfrm>
              <a:off x="1241380" y="4651688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4"/>
                  </a:solidFill>
                </a:rPr>
                <a:t>218.75.230.32</a:t>
              </a:r>
              <a:endParaRPr lang="en-US" altLang="zh-CN" b="1" dirty="0">
                <a:solidFill>
                  <a:schemeClr val="accent4"/>
                </a:solidFill>
              </a:endParaRPr>
            </a:p>
          </p:txBody>
        </p:sp>
        <p:sp>
          <p:nvSpPr>
            <p:cNvPr id="214" name="文本框 213"/>
            <p:cNvSpPr txBox="1"/>
            <p:nvPr/>
          </p:nvSpPr>
          <p:spPr>
            <a:xfrm>
              <a:off x="2785822" y="4651688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4"/>
                  </a:solidFill>
                </a:rPr>
                <a:t>255.255.255.240</a:t>
              </a:r>
              <a:endParaRPr lang="en-US" altLang="zh-CN" b="1" dirty="0">
                <a:solidFill>
                  <a:schemeClr val="accent4"/>
                </a:solidFill>
              </a:endParaRPr>
            </a:p>
          </p:txBody>
        </p:sp>
        <p:sp>
          <p:nvSpPr>
            <p:cNvPr id="215" name="文本框 214"/>
            <p:cNvSpPr txBox="1"/>
            <p:nvPr/>
          </p:nvSpPr>
          <p:spPr>
            <a:xfrm>
              <a:off x="4914713" y="4651688"/>
              <a:ext cx="7606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/>
                <a:t>Gig0/0</a:t>
              </a:r>
              <a:endParaRPr lang="en-US" altLang="zh-CN" b="1" dirty="0"/>
            </a:p>
          </p:txBody>
        </p:sp>
      </p:grpSp>
      <p:grpSp>
        <p:nvGrpSpPr>
          <p:cNvPr id="216" name="组合 215"/>
          <p:cNvGrpSpPr/>
          <p:nvPr/>
        </p:nvGrpSpPr>
        <p:grpSpPr>
          <a:xfrm>
            <a:off x="1241380" y="5410175"/>
            <a:ext cx="4433974" cy="369332"/>
            <a:chOff x="1241380" y="5264699"/>
            <a:chExt cx="4433974" cy="369332"/>
          </a:xfrm>
        </p:grpSpPr>
        <p:sp>
          <p:nvSpPr>
            <p:cNvPr id="217" name="文本框 216"/>
            <p:cNvSpPr txBox="1"/>
            <p:nvPr/>
          </p:nvSpPr>
          <p:spPr>
            <a:xfrm>
              <a:off x="1241380" y="5264699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/>
                  </a:solidFill>
                </a:rPr>
                <a:t>218.75.230.80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218" name="文本框 217"/>
            <p:cNvSpPr txBox="1"/>
            <p:nvPr/>
          </p:nvSpPr>
          <p:spPr>
            <a:xfrm>
              <a:off x="2785822" y="5264699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/>
                  </a:solidFill>
                </a:rPr>
                <a:t>255.255.255.252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219" name="文本框 218"/>
            <p:cNvSpPr txBox="1"/>
            <p:nvPr/>
          </p:nvSpPr>
          <p:spPr>
            <a:xfrm>
              <a:off x="4914713" y="5264699"/>
              <a:ext cx="7606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/>
                <a:t>Gig0/2</a:t>
              </a:r>
              <a:endParaRPr lang="en-US" altLang="zh-CN" b="1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/>
      <p:bldP spid="181" grpId="0"/>
      <p:bldP spid="18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17010" y="685800"/>
            <a:ext cx="4348421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给路由器添加静态路由条目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176" name="直接连接符 175"/>
          <p:cNvCxnSpPr/>
          <p:nvPr/>
        </p:nvCxnSpPr>
        <p:spPr>
          <a:xfrm flipV="1">
            <a:off x="8306479" y="1532784"/>
            <a:ext cx="0" cy="15917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 flipV="1">
            <a:off x="3548212" y="1532784"/>
            <a:ext cx="0" cy="15917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>
            <a:off x="1822027" y="3240676"/>
            <a:ext cx="816864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20 28" descr="卡通人物&#10;&#10;中度可信度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208" y="3049872"/>
            <a:ext cx="530013" cy="381609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3422777" y="2579908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31" name="20 30" descr="卡通人物&#10;&#10;中度可信度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474" y="3049872"/>
            <a:ext cx="530013" cy="381609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8224307" y="2579908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sp>
        <p:nvSpPr>
          <p:cNvPr id="155" name="云形 154"/>
          <p:cNvSpPr/>
          <p:nvPr/>
        </p:nvSpPr>
        <p:spPr>
          <a:xfrm>
            <a:off x="9821333" y="2869241"/>
            <a:ext cx="2065867" cy="718201"/>
          </a:xfrm>
          <a:prstGeom prst="cloud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218.75.230.48/28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grpSp>
        <p:nvGrpSpPr>
          <p:cNvPr id="159" name="组合 158"/>
          <p:cNvGrpSpPr/>
          <p:nvPr/>
        </p:nvGrpSpPr>
        <p:grpSpPr>
          <a:xfrm>
            <a:off x="2683931" y="1355487"/>
            <a:ext cx="1728563" cy="718201"/>
            <a:chOff x="6765197" y="1688025"/>
            <a:chExt cx="1728563" cy="718201"/>
          </a:xfrm>
        </p:grpSpPr>
        <p:sp>
          <p:nvSpPr>
            <p:cNvPr id="156" name="云形 155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58" name="文本框 157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218.75.230.32/28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304800" y="2869241"/>
            <a:ext cx="1728563" cy="718201"/>
            <a:chOff x="6765197" y="1688025"/>
            <a:chExt cx="1728563" cy="718201"/>
          </a:xfrm>
        </p:grpSpPr>
        <p:sp>
          <p:nvSpPr>
            <p:cNvPr id="161" name="云形 160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62" name="文本框 161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218.75.230.0/27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3" name="组合 162"/>
          <p:cNvGrpSpPr/>
          <p:nvPr/>
        </p:nvGrpSpPr>
        <p:grpSpPr>
          <a:xfrm>
            <a:off x="5063066" y="2869241"/>
            <a:ext cx="1728563" cy="718201"/>
            <a:chOff x="6765197" y="1688025"/>
            <a:chExt cx="1728563" cy="718201"/>
          </a:xfrm>
        </p:grpSpPr>
        <p:sp>
          <p:nvSpPr>
            <p:cNvPr id="164" name="云形 163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65" name="文本框 164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218.75.230.80/30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7442198" y="1354775"/>
            <a:ext cx="1728563" cy="718201"/>
            <a:chOff x="6765197" y="1688025"/>
            <a:chExt cx="1728563" cy="718201"/>
          </a:xfrm>
        </p:grpSpPr>
        <p:sp>
          <p:nvSpPr>
            <p:cNvPr id="167" name="云形 166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218.75.230.64/28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7" name="文本框 176"/>
          <p:cNvSpPr txBox="1"/>
          <p:nvPr/>
        </p:nvSpPr>
        <p:spPr>
          <a:xfrm>
            <a:off x="2897644" y="2739210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78" name="文本框 177"/>
          <p:cNvSpPr txBox="1"/>
          <p:nvPr/>
        </p:nvSpPr>
        <p:spPr>
          <a:xfrm>
            <a:off x="2637555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79" name="文本框 178"/>
          <p:cNvSpPr txBox="1"/>
          <p:nvPr/>
        </p:nvSpPr>
        <p:spPr>
          <a:xfrm>
            <a:off x="3740534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80" name="文本框 179"/>
          <p:cNvSpPr txBox="1"/>
          <p:nvPr/>
        </p:nvSpPr>
        <p:spPr>
          <a:xfrm>
            <a:off x="1934818" y="2206933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218.75.230.46</a:t>
            </a:r>
            <a:endParaRPr lang="en-US" altLang="zh-CN" b="1" dirty="0">
              <a:solidFill>
                <a:schemeClr val="accent4"/>
              </a:solidFill>
            </a:endParaRPr>
          </a:p>
          <a:p>
            <a:r>
              <a:rPr lang="en-US" altLang="zh-CN" b="1" dirty="0">
                <a:solidFill>
                  <a:schemeClr val="accent4"/>
                </a:solidFill>
              </a:rPr>
              <a:t>255.255.255.240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934818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5"/>
                </a:solidFill>
              </a:rPr>
              <a:t>218.75.230.30</a:t>
            </a:r>
            <a:endParaRPr lang="en-US" altLang="zh-CN" b="1" dirty="0">
              <a:solidFill>
                <a:schemeClr val="accent5"/>
              </a:solidFill>
            </a:endParaRPr>
          </a:p>
          <a:p>
            <a:r>
              <a:rPr lang="en-US" altLang="zh-CN" b="1" dirty="0">
                <a:solidFill>
                  <a:schemeClr val="accent5"/>
                </a:solidFill>
              </a:rPr>
              <a:t>255.255.255.224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3744343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218.75.230.81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en-US" altLang="zh-CN" b="1" dirty="0">
                <a:solidFill>
                  <a:schemeClr val="accent1"/>
                </a:solidFill>
              </a:rPr>
              <a:t>255.255.255.252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7674017" y="269167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84" name="文本框 183"/>
          <p:cNvSpPr txBox="1"/>
          <p:nvPr/>
        </p:nvSpPr>
        <p:spPr>
          <a:xfrm>
            <a:off x="7413928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85" name="文本框 184"/>
          <p:cNvSpPr txBox="1"/>
          <p:nvPr/>
        </p:nvSpPr>
        <p:spPr>
          <a:xfrm>
            <a:off x="8516907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86" name="文本框 185"/>
          <p:cNvSpPr txBox="1"/>
          <p:nvPr/>
        </p:nvSpPr>
        <p:spPr>
          <a:xfrm>
            <a:off x="6711326" y="2206933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218.75.230.78</a:t>
            </a:r>
            <a:endParaRPr lang="en-US" altLang="zh-CN" b="1" dirty="0">
              <a:solidFill>
                <a:schemeClr val="accent3"/>
              </a:solidFill>
            </a:endParaRPr>
          </a:p>
          <a:p>
            <a:r>
              <a:rPr lang="en-US" altLang="zh-CN" b="1" dirty="0">
                <a:solidFill>
                  <a:schemeClr val="accent3"/>
                </a:solidFill>
              </a:rPr>
              <a:t>255.255.255.240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6711326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218.75.230.82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en-US" altLang="zh-CN" b="1" dirty="0">
                <a:solidFill>
                  <a:schemeClr val="accent1"/>
                </a:solidFill>
              </a:rPr>
              <a:t>255.255.255.252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8514233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218.75.230.62</a:t>
            </a:r>
            <a:endParaRPr lang="en-US" altLang="zh-CN" b="1" dirty="0">
              <a:solidFill>
                <a:schemeClr val="accent6"/>
              </a:solidFill>
            </a:endParaRPr>
          </a:p>
          <a:p>
            <a:r>
              <a:rPr lang="en-US" altLang="zh-CN" b="1" dirty="0">
                <a:solidFill>
                  <a:schemeClr val="accent6"/>
                </a:solidFill>
              </a:rPr>
              <a:t>255.255.255.240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grpSp>
        <p:nvGrpSpPr>
          <p:cNvPr id="202" name="组合 201"/>
          <p:cNvGrpSpPr/>
          <p:nvPr/>
        </p:nvGrpSpPr>
        <p:grpSpPr>
          <a:xfrm>
            <a:off x="1241380" y="4024282"/>
            <a:ext cx="4698977" cy="2415426"/>
            <a:chOff x="1241380" y="4024282"/>
            <a:chExt cx="4698977" cy="2415426"/>
          </a:xfrm>
        </p:grpSpPr>
        <p:sp>
          <p:nvSpPr>
            <p:cNvPr id="203" name="文本框 202"/>
            <p:cNvSpPr txBox="1"/>
            <p:nvPr/>
          </p:nvSpPr>
          <p:spPr>
            <a:xfrm>
              <a:off x="1241380" y="4024282"/>
              <a:ext cx="4695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Arial Narrow" panose="020B0606020202030204" charset="0"/>
                </a:rPr>
                <a:t>Router0</a:t>
              </a:r>
              <a:r>
                <a:rPr lang="zh-CN" altLang="en-US" b="1" dirty="0">
                  <a:latin typeface="Arial Narrow" panose="020B0606020202030204" charset="0"/>
                </a:rPr>
                <a:t>的路由表</a:t>
              </a:r>
              <a:endParaRPr lang="zh-CN" altLang="en-US" b="1" dirty="0">
                <a:latin typeface="Arial Narrow" panose="020B0606020202030204" charset="0"/>
              </a:endParaRPr>
            </a:p>
          </p:txBody>
        </p:sp>
        <p:sp>
          <p:nvSpPr>
            <p:cNvPr id="204" name="矩形 203"/>
            <p:cNvSpPr/>
            <p:nvPr/>
          </p:nvSpPr>
          <p:spPr>
            <a:xfrm>
              <a:off x="1245140" y="4407978"/>
              <a:ext cx="4695217" cy="20317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5" name="文本框 204"/>
            <p:cNvSpPr txBox="1"/>
            <p:nvPr/>
          </p:nvSpPr>
          <p:spPr>
            <a:xfrm>
              <a:off x="1247622" y="4408009"/>
              <a:ext cx="1291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Arial Narrow" panose="020B0606020202030204" charset="0"/>
                </a:rPr>
                <a:t>目的网络</a:t>
              </a:r>
              <a:endParaRPr lang="zh-CN" altLang="en-US" b="1" dirty="0">
                <a:latin typeface="Arial Narrow" panose="020B0606020202030204" charset="0"/>
              </a:endParaRPr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2946358" y="4408009"/>
              <a:ext cx="1291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Arial Narrow" panose="020B0606020202030204" charset="0"/>
                </a:rPr>
                <a:t>子网掩码</a:t>
              </a:r>
              <a:endParaRPr lang="zh-CN" altLang="en-US" b="1" dirty="0">
                <a:latin typeface="Arial Narrow" panose="020B0606020202030204" charset="0"/>
              </a:endParaRPr>
            </a:p>
          </p:txBody>
        </p:sp>
        <p:sp>
          <p:nvSpPr>
            <p:cNvPr id="207" name="文本框 206"/>
            <p:cNvSpPr txBox="1"/>
            <p:nvPr/>
          </p:nvSpPr>
          <p:spPr>
            <a:xfrm>
              <a:off x="4645095" y="4408009"/>
              <a:ext cx="1291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Arial Narrow" panose="020B0606020202030204" charset="0"/>
                </a:rPr>
                <a:t>下一跳</a:t>
              </a:r>
              <a:endParaRPr lang="zh-CN" altLang="en-US" b="1" dirty="0">
                <a:latin typeface="Arial Narrow" panose="020B0606020202030204" charset="0"/>
              </a:endParaRPr>
            </a:p>
          </p:txBody>
        </p:sp>
      </p:grpSp>
      <p:grpSp>
        <p:nvGrpSpPr>
          <p:cNvPr id="208" name="组合 207"/>
          <p:cNvGrpSpPr/>
          <p:nvPr/>
        </p:nvGrpSpPr>
        <p:grpSpPr>
          <a:xfrm>
            <a:off x="1241380" y="5086054"/>
            <a:ext cx="4433974" cy="369332"/>
            <a:chOff x="1241380" y="4930045"/>
            <a:chExt cx="4433974" cy="369332"/>
          </a:xfrm>
        </p:grpSpPr>
        <p:sp>
          <p:nvSpPr>
            <p:cNvPr id="209" name="文本框 208"/>
            <p:cNvSpPr txBox="1"/>
            <p:nvPr/>
          </p:nvSpPr>
          <p:spPr>
            <a:xfrm>
              <a:off x="1241380" y="4930045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5"/>
                  </a:solidFill>
                </a:rPr>
                <a:t>218.75.230.0</a:t>
              </a:r>
              <a:endParaRPr lang="en-US" altLang="zh-CN" b="1" dirty="0">
                <a:solidFill>
                  <a:schemeClr val="accent5"/>
                </a:solidFill>
              </a:endParaRPr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2785822" y="4930045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5"/>
                  </a:solidFill>
                </a:rPr>
                <a:t>255.255.255.224</a:t>
              </a:r>
              <a:endParaRPr lang="en-US" altLang="zh-CN" b="1" dirty="0">
                <a:solidFill>
                  <a:schemeClr val="accent5"/>
                </a:solidFill>
              </a:endParaRPr>
            </a:p>
          </p:txBody>
        </p:sp>
        <p:sp>
          <p:nvSpPr>
            <p:cNvPr id="211" name="文本框 210"/>
            <p:cNvSpPr txBox="1"/>
            <p:nvPr/>
          </p:nvSpPr>
          <p:spPr>
            <a:xfrm>
              <a:off x="4914713" y="4930045"/>
              <a:ext cx="7606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/>
                <a:t>Gig0/1</a:t>
              </a:r>
              <a:endParaRPr lang="en-US" altLang="zh-CN" b="1" dirty="0"/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1241380" y="4761933"/>
            <a:ext cx="4433974" cy="369332"/>
            <a:chOff x="1241380" y="4651688"/>
            <a:chExt cx="4433974" cy="369332"/>
          </a:xfrm>
        </p:grpSpPr>
        <p:sp>
          <p:nvSpPr>
            <p:cNvPr id="213" name="文本框 212"/>
            <p:cNvSpPr txBox="1"/>
            <p:nvPr/>
          </p:nvSpPr>
          <p:spPr>
            <a:xfrm>
              <a:off x="1241380" y="4651688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4"/>
                  </a:solidFill>
                </a:rPr>
                <a:t>218.75.230.32</a:t>
              </a:r>
              <a:endParaRPr lang="en-US" altLang="zh-CN" b="1" dirty="0">
                <a:solidFill>
                  <a:schemeClr val="accent4"/>
                </a:solidFill>
              </a:endParaRPr>
            </a:p>
          </p:txBody>
        </p:sp>
        <p:sp>
          <p:nvSpPr>
            <p:cNvPr id="214" name="文本框 213"/>
            <p:cNvSpPr txBox="1"/>
            <p:nvPr/>
          </p:nvSpPr>
          <p:spPr>
            <a:xfrm>
              <a:off x="2785822" y="4651688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4"/>
                  </a:solidFill>
                </a:rPr>
                <a:t>255.255.255.240</a:t>
              </a:r>
              <a:endParaRPr lang="en-US" altLang="zh-CN" b="1" dirty="0">
                <a:solidFill>
                  <a:schemeClr val="accent4"/>
                </a:solidFill>
              </a:endParaRPr>
            </a:p>
          </p:txBody>
        </p:sp>
        <p:sp>
          <p:nvSpPr>
            <p:cNvPr id="215" name="文本框 214"/>
            <p:cNvSpPr txBox="1"/>
            <p:nvPr/>
          </p:nvSpPr>
          <p:spPr>
            <a:xfrm>
              <a:off x="4914713" y="4651688"/>
              <a:ext cx="7606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/>
                <a:t>Gig0/0</a:t>
              </a:r>
              <a:endParaRPr lang="en-US" altLang="zh-CN" b="1" dirty="0"/>
            </a:p>
          </p:txBody>
        </p:sp>
      </p:grpSp>
      <p:grpSp>
        <p:nvGrpSpPr>
          <p:cNvPr id="216" name="组合 215"/>
          <p:cNvGrpSpPr/>
          <p:nvPr/>
        </p:nvGrpSpPr>
        <p:grpSpPr>
          <a:xfrm>
            <a:off x="1241380" y="5410175"/>
            <a:ext cx="4433974" cy="369332"/>
            <a:chOff x="1241380" y="5264699"/>
            <a:chExt cx="4433974" cy="369332"/>
          </a:xfrm>
        </p:grpSpPr>
        <p:sp>
          <p:nvSpPr>
            <p:cNvPr id="217" name="文本框 216"/>
            <p:cNvSpPr txBox="1"/>
            <p:nvPr/>
          </p:nvSpPr>
          <p:spPr>
            <a:xfrm>
              <a:off x="1241380" y="5264699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/>
                  </a:solidFill>
                </a:rPr>
                <a:t>218.75.230.80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218" name="文本框 217"/>
            <p:cNvSpPr txBox="1"/>
            <p:nvPr/>
          </p:nvSpPr>
          <p:spPr>
            <a:xfrm>
              <a:off x="2785822" y="5264699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/>
                  </a:solidFill>
                </a:rPr>
                <a:t>255.255.255.252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219" name="文本框 218"/>
            <p:cNvSpPr txBox="1"/>
            <p:nvPr/>
          </p:nvSpPr>
          <p:spPr>
            <a:xfrm>
              <a:off x="4914713" y="5264699"/>
              <a:ext cx="7606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/>
                <a:t>Gig0/2</a:t>
              </a:r>
              <a:endParaRPr lang="en-US" altLang="zh-CN" b="1" dirty="0"/>
            </a:p>
          </p:txBody>
        </p:sp>
      </p:grpSp>
      <p:sp>
        <p:nvSpPr>
          <p:cNvPr id="220" name="文本框 219"/>
          <p:cNvSpPr txBox="1"/>
          <p:nvPr/>
        </p:nvSpPr>
        <p:spPr>
          <a:xfrm>
            <a:off x="1241380" y="5734296"/>
            <a:ext cx="147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218.75.230.64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221" name="文本框 220"/>
          <p:cNvSpPr txBox="1"/>
          <p:nvPr/>
        </p:nvSpPr>
        <p:spPr>
          <a:xfrm>
            <a:off x="2785822" y="5734296"/>
            <a:ext cx="1682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255.255.255.240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222" name="文本框 221"/>
          <p:cNvSpPr txBox="1"/>
          <p:nvPr/>
        </p:nvSpPr>
        <p:spPr>
          <a:xfrm>
            <a:off x="4503746" y="5734296"/>
            <a:ext cx="1437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>
                <a:solidFill>
                  <a:schemeClr val="accent1"/>
                </a:solidFill>
              </a:rPr>
              <a:t>218.75.230.82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3843944" y="1959853"/>
            <a:ext cx="3516300" cy="1225975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曲线 7"/>
          <p:cNvCxnSpPr>
            <a:stCxn id="29" idx="2"/>
            <a:endCxn id="31" idx="2"/>
          </p:cNvCxnSpPr>
          <p:nvPr/>
        </p:nvCxnSpPr>
        <p:spPr>
          <a:xfrm rot="16200000" flipH="1">
            <a:off x="5927348" y="1052348"/>
            <a:ext cx="12700" cy="4758266"/>
          </a:xfrm>
          <a:prstGeom prst="curvedConnector3">
            <a:avLst>
              <a:gd name="adj1" fmla="val 5629787"/>
            </a:avLst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711326" y="3452218"/>
            <a:ext cx="1494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218.75.230.82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0"/>
      <p:bldP spid="221" grpId="0"/>
      <p:bldP spid="222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17010" y="685800"/>
            <a:ext cx="4348421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给路由器添加静态路由条目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176" name="直接连接符 175"/>
          <p:cNvCxnSpPr/>
          <p:nvPr/>
        </p:nvCxnSpPr>
        <p:spPr>
          <a:xfrm flipV="1">
            <a:off x="8306479" y="1532784"/>
            <a:ext cx="0" cy="15917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 flipV="1">
            <a:off x="3548212" y="1532784"/>
            <a:ext cx="0" cy="15917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>
            <a:off x="1822027" y="3240676"/>
            <a:ext cx="816864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20 28" descr="卡通人物&#10;&#10;中度可信度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208" y="3049872"/>
            <a:ext cx="530013" cy="381609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3422777" y="2579908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31" name="20 30" descr="卡通人物&#10;&#10;中度可信度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474" y="3049872"/>
            <a:ext cx="530013" cy="381609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8224307" y="2579908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sp>
        <p:nvSpPr>
          <p:cNvPr id="155" name="云形 154"/>
          <p:cNvSpPr/>
          <p:nvPr/>
        </p:nvSpPr>
        <p:spPr>
          <a:xfrm>
            <a:off x="9821333" y="2869241"/>
            <a:ext cx="2065867" cy="718201"/>
          </a:xfrm>
          <a:prstGeom prst="cloud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218.75.230.48/28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grpSp>
        <p:nvGrpSpPr>
          <p:cNvPr id="159" name="组合 158"/>
          <p:cNvGrpSpPr/>
          <p:nvPr/>
        </p:nvGrpSpPr>
        <p:grpSpPr>
          <a:xfrm>
            <a:off x="2683931" y="1355487"/>
            <a:ext cx="1728563" cy="718201"/>
            <a:chOff x="6765197" y="1688025"/>
            <a:chExt cx="1728563" cy="718201"/>
          </a:xfrm>
        </p:grpSpPr>
        <p:sp>
          <p:nvSpPr>
            <p:cNvPr id="156" name="云形 155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58" name="文本框 157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218.75.230.32/28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304800" y="2869241"/>
            <a:ext cx="1728563" cy="718201"/>
            <a:chOff x="6765197" y="1688025"/>
            <a:chExt cx="1728563" cy="718201"/>
          </a:xfrm>
        </p:grpSpPr>
        <p:sp>
          <p:nvSpPr>
            <p:cNvPr id="161" name="云形 160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62" name="文本框 161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218.75.230.0/27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3" name="组合 162"/>
          <p:cNvGrpSpPr/>
          <p:nvPr/>
        </p:nvGrpSpPr>
        <p:grpSpPr>
          <a:xfrm>
            <a:off x="5063066" y="2869241"/>
            <a:ext cx="1728563" cy="718201"/>
            <a:chOff x="6765197" y="1688025"/>
            <a:chExt cx="1728563" cy="718201"/>
          </a:xfrm>
        </p:grpSpPr>
        <p:sp>
          <p:nvSpPr>
            <p:cNvPr id="164" name="云形 163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65" name="文本框 164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218.75.230.80/30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7442198" y="1354775"/>
            <a:ext cx="1728563" cy="718201"/>
            <a:chOff x="6765197" y="1688025"/>
            <a:chExt cx="1728563" cy="718201"/>
          </a:xfrm>
        </p:grpSpPr>
        <p:sp>
          <p:nvSpPr>
            <p:cNvPr id="167" name="云形 166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218.75.230.64/28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7" name="文本框 176"/>
          <p:cNvSpPr txBox="1"/>
          <p:nvPr/>
        </p:nvSpPr>
        <p:spPr>
          <a:xfrm>
            <a:off x="2897644" y="2739210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78" name="文本框 177"/>
          <p:cNvSpPr txBox="1"/>
          <p:nvPr/>
        </p:nvSpPr>
        <p:spPr>
          <a:xfrm>
            <a:off x="2637555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79" name="文本框 178"/>
          <p:cNvSpPr txBox="1"/>
          <p:nvPr/>
        </p:nvSpPr>
        <p:spPr>
          <a:xfrm>
            <a:off x="3740534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80" name="文本框 179"/>
          <p:cNvSpPr txBox="1"/>
          <p:nvPr/>
        </p:nvSpPr>
        <p:spPr>
          <a:xfrm>
            <a:off x="1934818" y="2206933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218.75.230.46</a:t>
            </a:r>
            <a:endParaRPr lang="en-US" altLang="zh-CN" b="1" dirty="0">
              <a:solidFill>
                <a:schemeClr val="accent4"/>
              </a:solidFill>
            </a:endParaRPr>
          </a:p>
          <a:p>
            <a:r>
              <a:rPr lang="en-US" altLang="zh-CN" b="1" dirty="0">
                <a:solidFill>
                  <a:schemeClr val="accent4"/>
                </a:solidFill>
              </a:rPr>
              <a:t>255.255.255.240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934818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5"/>
                </a:solidFill>
              </a:rPr>
              <a:t>218.75.230.30</a:t>
            </a:r>
            <a:endParaRPr lang="en-US" altLang="zh-CN" b="1" dirty="0">
              <a:solidFill>
                <a:schemeClr val="accent5"/>
              </a:solidFill>
            </a:endParaRPr>
          </a:p>
          <a:p>
            <a:r>
              <a:rPr lang="en-US" altLang="zh-CN" b="1" dirty="0">
                <a:solidFill>
                  <a:schemeClr val="accent5"/>
                </a:solidFill>
              </a:rPr>
              <a:t>255.255.255.224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3744343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218.75.230.81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en-US" altLang="zh-CN" b="1" dirty="0">
                <a:solidFill>
                  <a:schemeClr val="accent1"/>
                </a:solidFill>
              </a:rPr>
              <a:t>255.255.255.252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7674017" y="269167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84" name="文本框 183"/>
          <p:cNvSpPr txBox="1"/>
          <p:nvPr/>
        </p:nvSpPr>
        <p:spPr>
          <a:xfrm>
            <a:off x="7413928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85" name="文本框 184"/>
          <p:cNvSpPr txBox="1"/>
          <p:nvPr/>
        </p:nvSpPr>
        <p:spPr>
          <a:xfrm>
            <a:off x="8516907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86" name="文本框 185"/>
          <p:cNvSpPr txBox="1"/>
          <p:nvPr/>
        </p:nvSpPr>
        <p:spPr>
          <a:xfrm>
            <a:off x="6711326" y="2206933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218.75.230.78</a:t>
            </a:r>
            <a:endParaRPr lang="en-US" altLang="zh-CN" b="1" dirty="0">
              <a:solidFill>
                <a:schemeClr val="accent3"/>
              </a:solidFill>
            </a:endParaRPr>
          </a:p>
          <a:p>
            <a:r>
              <a:rPr lang="en-US" altLang="zh-CN" b="1" dirty="0">
                <a:solidFill>
                  <a:schemeClr val="accent3"/>
                </a:solidFill>
              </a:rPr>
              <a:t>255.255.255.240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6711326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218.75.230.82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en-US" altLang="zh-CN" b="1" dirty="0">
                <a:solidFill>
                  <a:schemeClr val="accent1"/>
                </a:solidFill>
              </a:rPr>
              <a:t>255.255.255.252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8514233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218.75.230.62</a:t>
            </a:r>
            <a:endParaRPr lang="en-US" altLang="zh-CN" b="1" dirty="0">
              <a:solidFill>
                <a:schemeClr val="accent6"/>
              </a:solidFill>
            </a:endParaRPr>
          </a:p>
          <a:p>
            <a:r>
              <a:rPr lang="en-US" altLang="zh-CN" b="1" dirty="0">
                <a:solidFill>
                  <a:schemeClr val="accent6"/>
                </a:solidFill>
              </a:rPr>
              <a:t>255.255.255.240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grpSp>
        <p:nvGrpSpPr>
          <p:cNvPr id="202" name="组合 201"/>
          <p:cNvGrpSpPr/>
          <p:nvPr/>
        </p:nvGrpSpPr>
        <p:grpSpPr>
          <a:xfrm>
            <a:off x="1241380" y="4024282"/>
            <a:ext cx="4698977" cy="2415426"/>
            <a:chOff x="1241380" y="4024282"/>
            <a:chExt cx="4698977" cy="2415426"/>
          </a:xfrm>
        </p:grpSpPr>
        <p:sp>
          <p:nvSpPr>
            <p:cNvPr id="203" name="文本框 202"/>
            <p:cNvSpPr txBox="1"/>
            <p:nvPr/>
          </p:nvSpPr>
          <p:spPr>
            <a:xfrm>
              <a:off x="1241380" y="4024282"/>
              <a:ext cx="4695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Arial Narrow" panose="020B0606020202030204" charset="0"/>
                </a:rPr>
                <a:t>Router0</a:t>
              </a:r>
              <a:r>
                <a:rPr lang="zh-CN" altLang="en-US" b="1" dirty="0">
                  <a:latin typeface="Arial Narrow" panose="020B0606020202030204" charset="0"/>
                </a:rPr>
                <a:t>的路由表</a:t>
              </a:r>
              <a:endParaRPr lang="zh-CN" altLang="en-US" b="1" dirty="0">
                <a:latin typeface="Arial Narrow" panose="020B0606020202030204" charset="0"/>
              </a:endParaRPr>
            </a:p>
          </p:txBody>
        </p:sp>
        <p:sp>
          <p:nvSpPr>
            <p:cNvPr id="204" name="矩形 203"/>
            <p:cNvSpPr/>
            <p:nvPr/>
          </p:nvSpPr>
          <p:spPr>
            <a:xfrm>
              <a:off x="1245140" y="4407978"/>
              <a:ext cx="4695217" cy="20317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5" name="文本框 204"/>
            <p:cNvSpPr txBox="1"/>
            <p:nvPr/>
          </p:nvSpPr>
          <p:spPr>
            <a:xfrm>
              <a:off x="1247622" y="4408009"/>
              <a:ext cx="1291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Arial Narrow" panose="020B0606020202030204" charset="0"/>
                </a:rPr>
                <a:t>目的网络</a:t>
              </a:r>
              <a:endParaRPr lang="zh-CN" altLang="en-US" b="1" dirty="0">
                <a:latin typeface="Arial Narrow" panose="020B0606020202030204" charset="0"/>
              </a:endParaRPr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2946358" y="4408009"/>
              <a:ext cx="1291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Arial Narrow" panose="020B0606020202030204" charset="0"/>
                </a:rPr>
                <a:t>子网掩码</a:t>
              </a:r>
              <a:endParaRPr lang="zh-CN" altLang="en-US" b="1" dirty="0">
                <a:latin typeface="Arial Narrow" panose="020B0606020202030204" charset="0"/>
              </a:endParaRPr>
            </a:p>
          </p:txBody>
        </p:sp>
        <p:sp>
          <p:nvSpPr>
            <p:cNvPr id="207" name="文本框 206"/>
            <p:cNvSpPr txBox="1"/>
            <p:nvPr/>
          </p:nvSpPr>
          <p:spPr>
            <a:xfrm>
              <a:off x="4645095" y="4408009"/>
              <a:ext cx="1291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Arial Narrow" panose="020B0606020202030204" charset="0"/>
                </a:rPr>
                <a:t>下一跳</a:t>
              </a:r>
              <a:endParaRPr lang="zh-CN" altLang="en-US" b="1" dirty="0">
                <a:latin typeface="Arial Narrow" panose="020B0606020202030204" charset="0"/>
              </a:endParaRPr>
            </a:p>
          </p:txBody>
        </p:sp>
      </p:grpSp>
      <p:grpSp>
        <p:nvGrpSpPr>
          <p:cNvPr id="208" name="组合 207"/>
          <p:cNvGrpSpPr/>
          <p:nvPr/>
        </p:nvGrpSpPr>
        <p:grpSpPr>
          <a:xfrm>
            <a:off x="1241380" y="5086054"/>
            <a:ext cx="4433974" cy="369332"/>
            <a:chOff x="1241380" y="4930045"/>
            <a:chExt cx="4433974" cy="369332"/>
          </a:xfrm>
        </p:grpSpPr>
        <p:sp>
          <p:nvSpPr>
            <p:cNvPr id="209" name="文本框 208"/>
            <p:cNvSpPr txBox="1"/>
            <p:nvPr/>
          </p:nvSpPr>
          <p:spPr>
            <a:xfrm>
              <a:off x="1241380" y="4930045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5"/>
                  </a:solidFill>
                </a:rPr>
                <a:t>218.75.230.0</a:t>
              </a:r>
              <a:endParaRPr lang="en-US" altLang="zh-CN" b="1" dirty="0">
                <a:solidFill>
                  <a:schemeClr val="accent5"/>
                </a:solidFill>
              </a:endParaRPr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2785822" y="4930045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5"/>
                  </a:solidFill>
                </a:rPr>
                <a:t>255.255.255.224</a:t>
              </a:r>
              <a:endParaRPr lang="en-US" altLang="zh-CN" b="1" dirty="0">
                <a:solidFill>
                  <a:schemeClr val="accent5"/>
                </a:solidFill>
              </a:endParaRPr>
            </a:p>
          </p:txBody>
        </p:sp>
        <p:sp>
          <p:nvSpPr>
            <p:cNvPr id="211" name="文本框 210"/>
            <p:cNvSpPr txBox="1"/>
            <p:nvPr/>
          </p:nvSpPr>
          <p:spPr>
            <a:xfrm>
              <a:off x="4914713" y="4930045"/>
              <a:ext cx="7606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/>
                <a:t>Gig0/1</a:t>
              </a:r>
              <a:endParaRPr lang="en-US" altLang="zh-CN" b="1" dirty="0"/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1241380" y="4761933"/>
            <a:ext cx="4433974" cy="369332"/>
            <a:chOff x="1241380" y="4651688"/>
            <a:chExt cx="4433974" cy="369332"/>
          </a:xfrm>
        </p:grpSpPr>
        <p:sp>
          <p:nvSpPr>
            <p:cNvPr id="213" name="文本框 212"/>
            <p:cNvSpPr txBox="1"/>
            <p:nvPr/>
          </p:nvSpPr>
          <p:spPr>
            <a:xfrm>
              <a:off x="1241380" y="4651688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4"/>
                  </a:solidFill>
                </a:rPr>
                <a:t>218.75.230.32</a:t>
              </a:r>
              <a:endParaRPr lang="en-US" altLang="zh-CN" b="1" dirty="0">
                <a:solidFill>
                  <a:schemeClr val="accent4"/>
                </a:solidFill>
              </a:endParaRPr>
            </a:p>
          </p:txBody>
        </p:sp>
        <p:sp>
          <p:nvSpPr>
            <p:cNvPr id="214" name="文本框 213"/>
            <p:cNvSpPr txBox="1"/>
            <p:nvPr/>
          </p:nvSpPr>
          <p:spPr>
            <a:xfrm>
              <a:off x="2785822" y="4651688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4"/>
                  </a:solidFill>
                </a:rPr>
                <a:t>255.255.255.240</a:t>
              </a:r>
              <a:endParaRPr lang="en-US" altLang="zh-CN" b="1" dirty="0">
                <a:solidFill>
                  <a:schemeClr val="accent4"/>
                </a:solidFill>
              </a:endParaRPr>
            </a:p>
          </p:txBody>
        </p:sp>
        <p:sp>
          <p:nvSpPr>
            <p:cNvPr id="215" name="文本框 214"/>
            <p:cNvSpPr txBox="1"/>
            <p:nvPr/>
          </p:nvSpPr>
          <p:spPr>
            <a:xfrm>
              <a:off x="4914713" y="4651688"/>
              <a:ext cx="7606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/>
                <a:t>Gig0/0</a:t>
              </a:r>
              <a:endParaRPr lang="en-US" altLang="zh-CN" b="1" dirty="0"/>
            </a:p>
          </p:txBody>
        </p:sp>
      </p:grpSp>
      <p:grpSp>
        <p:nvGrpSpPr>
          <p:cNvPr id="216" name="组合 215"/>
          <p:cNvGrpSpPr/>
          <p:nvPr/>
        </p:nvGrpSpPr>
        <p:grpSpPr>
          <a:xfrm>
            <a:off x="1241380" y="5410175"/>
            <a:ext cx="4433974" cy="369332"/>
            <a:chOff x="1241380" y="5264699"/>
            <a:chExt cx="4433974" cy="369332"/>
          </a:xfrm>
        </p:grpSpPr>
        <p:sp>
          <p:nvSpPr>
            <p:cNvPr id="217" name="文本框 216"/>
            <p:cNvSpPr txBox="1"/>
            <p:nvPr/>
          </p:nvSpPr>
          <p:spPr>
            <a:xfrm>
              <a:off x="1241380" y="5264699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/>
                  </a:solidFill>
                </a:rPr>
                <a:t>218.75.230.80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218" name="文本框 217"/>
            <p:cNvSpPr txBox="1"/>
            <p:nvPr/>
          </p:nvSpPr>
          <p:spPr>
            <a:xfrm>
              <a:off x="2785822" y="5264699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1"/>
                  </a:solidFill>
                </a:rPr>
                <a:t>255.255.255.252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219" name="文本框 218"/>
            <p:cNvSpPr txBox="1"/>
            <p:nvPr/>
          </p:nvSpPr>
          <p:spPr>
            <a:xfrm>
              <a:off x="4914713" y="5264699"/>
              <a:ext cx="7606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/>
                <a:t>Gig0/2</a:t>
              </a:r>
              <a:endParaRPr lang="en-US" altLang="zh-CN" b="1" dirty="0"/>
            </a:p>
          </p:txBody>
        </p:sp>
      </p:grpSp>
      <p:sp>
        <p:nvSpPr>
          <p:cNvPr id="220" name="文本框 219"/>
          <p:cNvSpPr txBox="1"/>
          <p:nvPr/>
        </p:nvSpPr>
        <p:spPr>
          <a:xfrm>
            <a:off x="1241380" y="5734296"/>
            <a:ext cx="147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218.75.230.64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221" name="文本框 220"/>
          <p:cNvSpPr txBox="1"/>
          <p:nvPr/>
        </p:nvSpPr>
        <p:spPr>
          <a:xfrm>
            <a:off x="2785822" y="5734296"/>
            <a:ext cx="1682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255.255.255.240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222" name="文本框 221"/>
          <p:cNvSpPr txBox="1"/>
          <p:nvPr/>
        </p:nvSpPr>
        <p:spPr>
          <a:xfrm>
            <a:off x="4503746" y="5734296"/>
            <a:ext cx="1437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>
                <a:solidFill>
                  <a:schemeClr val="accent1"/>
                </a:solidFill>
              </a:rPr>
              <a:t>218.75.230.82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223" name="文本框 222"/>
          <p:cNvSpPr txBox="1"/>
          <p:nvPr/>
        </p:nvSpPr>
        <p:spPr>
          <a:xfrm>
            <a:off x="1241380" y="6058418"/>
            <a:ext cx="147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218.75.230.48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sp>
        <p:nvSpPr>
          <p:cNvPr id="224" name="文本框 223"/>
          <p:cNvSpPr txBox="1"/>
          <p:nvPr/>
        </p:nvSpPr>
        <p:spPr>
          <a:xfrm>
            <a:off x="2785822" y="6058418"/>
            <a:ext cx="1682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255.255.255.240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4503746" y="6058418"/>
            <a:ext cx="1437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>
                <a:solidFill>
                  <a:schemeClr val="accent1"/>
                </a:solidFill>
              </a:rPr>
              <a:t>218.75.230.82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cxnSp>
        <p:nvCxnSpPr>
          <p:cNvPr id="8" name="连接符: 曲线 7"/>
          <p:cNvCxnSpPr>
            <a:stCxn id="29" idx="2"/>
            <a:endCxn id="31" idx="2"/>
          </p:cNvCxnSpPr>
          <p:nvPr/>
        </p:nvCxnSpPr>
        <p:spPr>
          <a:xfrm rot="16200000" flipH="1">
            <a:off x="5927348" y="1052348"/>
            <a:ext cx="12700" cy="4758266"/>
          </a:xfrm>
          <a:prstGeom prst="curvedConnector3">
            <a:avLst>
              <a:gd name="adj1" fmla="val 5629787"/>
            </a:avLst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711326" y="3452218"/>
            <a:ext cx="1494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218.75.230.82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cxnSp>
        <p:nvCxnSpPr>
          <p:cNvPr id="2" name="连接符: 曲线 1"/>
          <p:cNvCxnSpPr>
            <a:stCxn id="29" idx="0"/>
            <a:endCxn id="155" idx="3"/>
          </p:cNvCxnSpPr>
          <p:nvPr/>
        </p:nvCxnSpPr>
        <p:spPr>
          <a:xfrm rot="5400000" flipH="1" flipV="1">
            <a:off x="7131458" y="-672937"/>
            <a:ext cx="139567" cy="7306052"/>
          </a:xfrm>
          <a:prstGeom prst="curvedConnector3">
            <a:avLst>
              <a:gd name="adj1" fmla="val 637062"/>
            </a:avLst>
          </a:prstGeom>
          <a:ln w="38100">
            <a:solidFill>
              <a:schemeClr val="tx1"/>
            </a:solidFill>
            <a:prstDash val="sys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/>
      <p:bldP spid="224" grpId="0"/>
      <p:bldP spid="225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17010" y="685800"/>
            <a:ext cx="4348421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给路由器添加静态路由条目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176" name="直接连接符 175"/>
          <p:cNvCxnSpPr/>
          <p:nvPr/>
        </p:nvCxnSpPr>
        <p:spPr>
          <a:xfrm flipV="1">
            <a:off x="8306479" y="1532784"/>
            <a:ext cx="0" cy="15917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 flipV="1">
            <a:off x="3548212" y="1532784"/>
            <a:ext cx="0" cy="15917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>
            <a:off x="1822027" y="3240676"/>
            <a:ext cx="816864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20 28" descr="卡通人物&#10;&#10;中度可信度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208" y="3049872"/>
            <a:ext cx="530013" cy="381609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3422777" y="2579908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31" name="20 30" descr="卡通人物&#10;&#10;中度可信度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474" y="3049872"/>
            <a:ext cx="530013" cy="381609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8224307" y="2579908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sp>
        <p:nvSpPr>
          <p:cNvPr id="155" name="云形 154"/>
          <p:cNvSpPr/>
          <p:nvPr/>
        </p:nvSpPr>
        <p:spPr>
          <a:xfrm>
            <a:off x="9821333" y="2869241"/>
            <a:ext cx="2065867" cy="718201"/>
          </a:xfrm>
          <a:prstGeom prst="cloud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218.75.230.48/28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grpSp>
        <p:nvGrpSpPr>
          <p:cNvPr id="159" name="组合 158"/>
          <p:cNvGrpSpPr/>
          <p:nvPr/>
        </p:nvGrpSpPr>
        <p:grpSpPr>
          <a:xfrm>
            <a:off x="2683931" y="1355487"/>
            <a:ext cx="1728563" cy="718201"/>
            <a:chOff x="6765197" y="1688025"/>
            <a:chExt cx="1728563" cy="718201"/>
          </a:xfrm>
        </p:grpSpPr>
        <p:sp>
          <p:nvSpPr>
            <p:cNvPr id="156" name="云形 155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58" name="文本框 157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218.75.230.32/28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304800" y="2869241"/>
            <a:ext cx="1728563" cy="718201"/>
            <a:chOff x="6765197" y="1688025"/>
            <a:chExt cx="1728563" cy="718201"/>
          </a:xfrm>
        </p:grpSpPr>
        <p:sp>
          <p:nvSpPr>
            <p:cNvPr id="161" name="云形 160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62" name="文本框 161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218.75.230.0/27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3" name="组合 162"/>
          <p:cNvGrpSpPr/>
          <p:nvPr/>
        </p:nvGrpSpPr>
        <p:grpSpPr>
          <a:xfrm>
            <a:off x="5063066" y="2869241"/>
            <a:ext cx="1728563" cy="718201"/>
            <a:chOff x="6765197" y="1688025"/>
            <a:chExt cx="1728563" cy="718201"/>
          </a:xfrm>
        </p:grpSpPr>
        <p:sp>
          <p:nvSpPr>
            <p:cNvPr id="164" name="云形 163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65" name="文本框 164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218.75.230.80/30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7442198" y="1354775"/>
            <a:ext cx="1728563" cy="718201"/>
            <a:chOff x="6765197" y="1688025"/>
            <a:chExt cx="1728563" cy="718201"/>
          </a:xfrm>
        </p:grpSpPr>
        <p:sp>
          <p:nvSpPr>
            <p:cNvPr id="167" name="云形 166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218.75.230.64/28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7" name="文本框 176"/>
          <p:cNvSpPr txBox="1"/>
          <p:nvPr/>
        </p:nvSpPr>
        <p:spPr>
          <a:xfrm>
            <a:off x="2897644" y="2739210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78" name="文本框 177"/>
          <p:cNvSpPr txBox="1"/>
          <p:nvPr/>
        </p:nvSpPr>
        <p:spPr>
          <a:xfrm>
            <a:off x="2637555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79" name="文本框 178"/>
          <p:cNvSpPr txBox="1"/>
          <p:nvPr/>
        </p:nvSpPr>
        <p:spPr>
          <a:xfrm>
            <a:off x="3740534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80" name="文本框 179"/>
          <p:cNvSpPr txBox="1"/>
          <p:nvPr/>
        </p:nvSpPr>
        <p:spPr>
          <a:xfrm>
            <a:off x="1934818" y="2206933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218.75.230.46</a:t>
            </a:r>
            <a:endParaRPr lang="en-US" altLang="zh-CN" b="1" dirty="0">
              <a:solidFill>
                <a:schemeClr val="accent4"/>
              </a:solidFill>
            </a:endParaRPr>
          </a:p>
          <a:p>
            <a:r>
              <a:rPr lang="en-US" altLang="zh-CN" b="1" dirty="0">
                <a:solidFill>
                  <a:schemeClr val="accent4"/>
                </a:solidFill>
              </a:rPr>
              <a:t>255.255.255.240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934818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5"/>
                </a:solidFill>
              </a:rPr>
              <a:t>218.75.230.30</a:t>
            </a:r>
            <a:endParaRPr lang="en-US" altLang="zh-CN" b="1" dirty="0">
              <a:solidFill>
                <a:schemeClr val="accent5"/>
              </a:solidFill>
            </a:endParaRPr>
          </a:p>
          <a:p>
            <a:r>
              <a:rPr lang="en-US" altLang="zh-CN" b="1" dirty="0">
                <a:solidFill>
                  <a:schemeClr val="accent5"/>
                </a:solidFill>
              </a:rPr>
              <a:t>255.255.255.224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3744343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218.75.230.81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en-US" altLang="zh-CN" b="1" dirty="0">
                <a:solidFill>
                  <a:schemeClr val="accent1"/>
                </a:solidFill>
              </a:rPr>
              <a:t>255.255.255.252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7674017" y="269167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84" name="文本框 183"/>
          <p:cNvSpPr txBox="1"/>
          <p:nvPr/>
        </p:nvSpPr>
        <p:spPr>
          <a:xfrm>
            <a:off x="7413928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85" name="文本框 184"/>
          <p:cNvSpPr txBox="1"/>
          <p:nvPr/>
        </p:nvSpPr>
        <p:spPr>
          <a:xfrm>
            <a:off x="8516907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86" name="文本框 185"/>
          <p:cNvSpPr txBox="1"/>
          <p:nvPr/>
        </p:nvSpPr>
        <p:spPr>
          <a:xfrm>
            <a:off x="6711326" y="2206933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218.75.230.78</a:t>
            </a:r>
            <a:endParaRPr lang="en-US" altLang="zh-CN" b="1" dirty="0">
              <a:solidFill>
                <a:schemeClr val="accent3"/>
              </a:solidFill>
            </a:endParaRPr>
          </a:p>
          <a:p>
            <a:r>
              <a:rPr lang="en-US" altLang="zh-CN" b="1" dirty="0">
                <a:solidFill>
                  <a:schemeClr val="accent3"/>
                </a:solidFill>
              </a:rPr>
              <a:t>255.255.255.240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6711326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218.75.230.82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en-US" altLang="zh-CN" b="1" dirty="0">
                <a:solidFill>
                  <a:schemeClr val="accent1"/>
                </a:solidFill>
              </a:rPr>
              <a:t>255.255.255.252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8514233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218.75.230.62</a:t>
            </a:r>
            <a:endParaRPr lang="en-US" altLang="zh-CN" b="1" dirty="0">
              <a:solidFill>
                <a:schemeClr val="accent6"/>
              </a:solidFill>
            </a:endParaRPr>
          </a:p>
          <a:p>
            <a:r>
              <a:rPr lang="en-US" altLang="zh-CN" b="1" dirty="0">
                <a:solidFill>
                  <a:schemeClr val="accent6"/>
                </a:solidFill>
              </a:rPr>
              <a:t>255.255.255.240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41380" y="4024282"/>
            <a:ext cx="4699861" cy="2415426"/>
            <a:chOff x="1241380" y="4024282"/>
            <a:chExt cx="4699861" cy="2415426"/>
          </a:xfrm>
        </p:grpSpPr>
        <p:grpSp>
          <p:nvGrpSpPr>
            <p:cNvPr id="202" name="组合 201"/>
            <p:cNvGrpSpPr/>
            <p:nvPr/>
          </p:nvGrpSpPr>
          <p:grpSpPr>
            <a:xfrm>
              <a:off x="1241380" y="4024282"/>
              <a:ext cx="4698977" cy="2415426"/>
              <a:chOff x="1241380" y="4024282"/>
              <a:chExt cx="4698977" cy="2415426"/>
            </a:xfrm>
          </p:grpSpPr>
          <p:sp>
            <p:nvSpPr>
              <p:cNvPr id="203" name="文本框 202"/>
              <p:cNvSpPr txBox="1"/>
              <p:nvPr/>
            </p:nvSpPr>
            <p:spPr>
              <a:xfrm>
                <a:off x="1241380" y="4024282"/>
                <a:ext cx="4695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latin typeface="Arial Narrow" panose="020B0606020202030204" charset="0"/>
                  </a:rPr>
                  <a:t>Router0</a:t>
                </a:r>
                <a:r>
                  <a:rPr lang="zh-CN" altLang="en-US" b="1" dirty="0">
                    <a:latin typeface="Arial Narrow" panose="020B0606020202030204" charset="0"/>
                  </a:rPr>
                  <a:t>的路由表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1245140" y="4407978"/>
                <a:ext cx="4695217" cy="203173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5" name="文本框 204"/>
              <p:cNvSpPr txBox="1"/>
              <p:nvPr/>
            </p:nvSpPr>
            <p:spPr>
              <a:xfrm>
                <a:off x="1247622" y="4408009"/>
                <a:ext cx="12915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Arial Narrow" panose="020B0606020202030204" charset="0"/>
                  </a:rPr>
                  <a:t>目的网络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  <p:sp>
            <p:nvSpPr>
              <p:cNvPr id="206" name="文本框 205"/>
              <p:cNvSpPr txBox="1"/>
              <p:nvPr/>
            </p:nvSpPr>
            <p:spPr>
              <a:xfrm>
                <a:off x="2946358" y="4408009"/>
                <a:ext cx="12915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Arial Narrow" panose="020B0606020202030204" charset="0"/>
                  </a:rPr>
                  <a:t>子网掩码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  <p:sp>
            <p:nvSpPr>
              <p:cNvPr id="207" name="文本框 206"/>
              <p:cNvSpPr txBox="1"/>
              <p:nvPr/>
            </p:nvSpPr>
            <p:spPr>
              <a:xfrm>
                <a:off x="4645095" y="4408009"/>
                <a:ext cx="12915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Arial Narrow" panose="020B0606020202030204" charset="0"/>
                  </a:rPr>
                  <a:t>下一跳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</p:grpSp>
        <p:grpSp>
          <p:nvGrpSpPr>
            <p:cNvPr id="208" name="组合 207"/>
            <p:cNvGrpSpPr/>
            <p:nvPr/>
          </p:nvGrpSpPr>
          <p:grpSpPr>
            <a:xfrm>
              <a:off x="1241380" y="5086054"/>
              <a:ext cx="4433974" cy="369332"/>
              <a:chOff x="1241380" y="4930045"/>
              <a:chExt cx="4433974" cy="369332"/>
            </a:xfrm>
          </p:grpSpPr>
          <p:sp>
            <p:nvSpPr>
              <p:cNvPr id="209" name="文本框 208"/>
              <p:cNvSpPr txBox="1"/>
              <p:nvPr/>
            </p:nvSpPr>
            <p:spPr>
              <a:xfrm>
                <a:off x="1241380" y="4930045"/>
                <a:ext cx="1471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5"/>
                    </a:solidFill>
                  </a:rPr>
                  <a:t>218.75.230.0</a:t>
                </a:r>
                <a:endParaRPr lang="en-US" altLang="zh-CN" b="1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210" name="文本框 209"/>
              <p:cNvSpPr txBox="1"/>
              <p:nvPr/>
            </p:nvSpPr>
            <p:spPr>
              <a:xfrm>
                <a:off x="2785822" y="4930045"/>
                <a:ext cx="1682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5"/>
                    </a:solidFill>
                  </a:rPr>
                  <a:t>255.255.255.224</a:t>
                </a:r>
                <a:endParaRPr lang="en-US" altLang="zh-CN" b="1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211" name="文本框 210"/>
              <p:cNvSpPr txBox="1"/>
              <p:nvPr/>
            </p:nvSpPr>
            <p:spPr>
              <a:xfrm>
                <a:off x="4914713" y="4930045"/>
                <a:ext cx="760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b="1" dirty="0"/>
                  <a:t>Gig0/1</a:t>
                </a:r>
                <a:endParaRPr lang="en-US" altLang="zh-CN" b="1" dirty="0"/>
              </a:p>
            </p:txBody>
          </p:sp>
        </p:grpSp>
        <p:grpSp>
          <p:nvGrpSpPr>
            <p:cNvPr id="212" name="组合 211"/>
            <p:cNvGrpSpPr/>
            <p:nvPr/>
          </p:nvGrpSpPr>
          <p:grpSpPr>
            <a:xfrm>
              <a:off x="1241380" y="4761933"/>
              <a:ext cx="4433974" cy="369332"/>
              <a:chOff x="1241380" y="4651688"/>
              <a:chExt cx="4433974" cy="369332"/>
            </a:xfrm>
          </p:grpSpPr>
          <p:sp>
            <p:nvSpPr>
              <p:cNvPr id="213" name="文本框 212"/>
              <p:cNvSpPr txBox="1"/>
              <p:nvPr/>
            </p:nvSpPr>
            <p:spPr>
              <a:xfrm>
                <a:off x="1241380" y="4651688"/>
                <a:ext cx="1471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4"/>
                    </a:solidFill>
                  </a:rPr>
                  <a:t>218.75.230.32</a:t>
                </a:r>
                <a:endParaRPr lang="en-US" altLang="zh-CN" b="1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214" name="文本框 213"/>
              <p:cNvSpPr txBox="1"/>
              <p:nvPr/>
            </p:nvSpPr>
            <p:spPr>
              <a:xfrm>
                <a:off x="2785822" y="4651688"/>
                <a:ext cx="1682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4"/>
                    </a:solidFill>
                  </a:rPr>
                  <a:t>255.255.255.240</a:t>
                </a:r>
                <a:endParaRPr lang="en-US" altLang="zh-CN" b="1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215" name="文本框 214"/>
              <p:cNvSpPr txBox="1"/>
              <p:nvPr/>
            </p:nvSpPr>
            <p:spPr>
              <a:xfrm>
                <a:off x="4914713" y="4651688"/>
                <a:ext cx="760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b="1" dirty="0"/>
                  <a:t>Gig0/0</a:t>
                </a:r>
                <a:endParaRPr lang="en-US" altLang="zh-CN" b="1" dirty="0"/>
              </a:p>
            </p:txBody>
          </p:sp>
        </p:grpSp>
        <p:grpSp>
          <p:nvGrpSpPr>
            <p:cNvPr id="216" name="组合 215"/>
            <p:cNvGrpSpPr/>
            <p:nvPr/>
          </p:nvGrpSpPr>
          <p:grpSpPr>
            <a:xfrm>
              <a:off x="1241380" y="5410175"/>
              <a:ext cx="4433974" cy="369332"/>
              <a:chOff x="1241380" y="5264699"/>
              <a:chExt cx="4433974" cy="369332"/>
            </a:xfrm>
          </p:grpSpPr>
          <p:sp>
            <p:nvSpPr>
              <p:cNvPr id="217" name="文本框 216"/>
              <p:cNvSpPr txBox="1"/>
              <p:nvPr/>
            </p:nvSpPr>
            <p:spPr>
              <a:xfrm>
                <a:off x="1241380" y="5264699"/>
                <a:ext cx="1471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1"/>
                    </a:solidFill>
                  </a:rPr>
                  <a:t>218.75.230.80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18" name="文本框 217"/>
              <p:cNvSpPr txBox="1"/>
              <p:nvPr/>
            </p:nvSpPr>
            <p:spPr>
              <a:xfrm>
                <a:off x="2785822" y="5264699"/>
                <a:ext cx="1682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1"/>
                    </a:solidFill>
                  </a:rPr>
                  <a:t>255.255.255.252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19" name="文本框 218"/>
              <p:cNvSpPr txBox="1"/>
              <p:nvPr/>
            </p:nvSpPr>
            <p:spPr>
              <a:xfrm>
                <a:off x="4914713" y="5264699"/>
                <a:ext cx="760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b="1" dirty="0"/>
                  <a:t>Gig0/2</a:t>
                </a:r>
                <a:endParaRPr lang="en-US" altLang="zh-CN" b="1" dirty="0"/>
              </a:p>
            </p:txBody>
          </p:sp>
        </p:grpSp>
        <p:sp>
          <p:nvSpPr>
            <p:cNvPr id="220" name="文本框 219"/>
            <p:cNvSpPr txBox="1"/>
            <p:nvPr/>
          </p:nvSpPr>
          <p:spPr>
            <a:xfrm>
              <a:off x="1241380" y="5734296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3"/>
                  </a:solidFill>
                </a:rPr>
                <a:t>218.75.230.64</a:t>
              </a:r>
              <a:endParaRPr lang="en-US" altLang="zh-CN" b="1" dirty="0">
                <a:solidFill>
                  <a:schemeClr val="accent3"/>
                </a:solidFill>
              </a:endParaRPr>
            </a:p>
          </p:txBody>
        </p:sp>
        <p:sp>
          <p:nvSpPr>
            <p:cNvPr id="221" name="文本框 220"/>
            <p:cNvSpPr txBox="1"/>
            <p:nvPr/>
          </p:nvSpPr>
          <p:spPr>
            <a:xfrm>
              <a:off x="2785822" y="5734296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3"/>
                  </a:solidFill>
                </a:rPr>
                <a:t>255.255.255.240</a:t>
              </a:r>
              <a:endParaRPr lang="en-US" altLang="zh-CN" b="1" dirty="0">
                <a:solidFill>
                  <a:schemeClr val="accent3"/>
                </a:solidFill>
              </a:endParaRPr>
            </a:p>
          </p:txBody>
        </p:sp>
        <p:sp>
          <p:nvSpPr>
            <p:cNvPr id="222" name="文本框 221"/>
            <p:cNvSpPr txBox="1"/>
            <p:nvPr/>
          </p:nvSpPr>
          <p:spPr>
            <a:xfrm>
              <a:off x="4503746" y="5734296"/>
              <a:ext cx="14374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>
                  <a:solidFill>
                    <a:schemeClr val="accent1"/>
                  </a:solidFill>
                </a:rPr>
                <a:t>218.75.230.82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223" name="文本框 222"/>
            <p:cNvSpPr txBox="1"/>
            <p:nvPr/>
          </p:nvSpPr>
          <p:spPr>
            <a:xfrm>
              <a:off x="1241380" y="6058418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6"/>
                  </a:solidFill>
                </a:rPr>
                <a:t>218.75.230.48</a:t>
              </a:r>
              <a:endParaRPr lang="en-US" altLang="zh-CN" b="1" dirty="0">
                <a:solidFill>
                  <a:schemeClr val="accent6"/>
                </a:solidFill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2785822" y="6058418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6"/>
                  </a:solidFill>
                </a:rPr>
                <a:t>255.255.255.240</a:t>
              </a:r>
              <a:endParaRPr lang="en-US" altLang="zh-CN" b="1" dirty="0">
                <a:solidFill>
                  <a:schemeClr val="accent6"/>
                </a:solidFill>
              </a:endParaRPr>
            </a:p>
          </p:txBody>
        </p:sp>
        <p:sp>
          <p:nvSpPr>
            <p:cNvPr id="225" name="文本框 224"/>
            <p:cNvSpPr txBox="1"/>
            <p:nvPr/>
          </p:nvSpPr>
          <p:spPr>
            <a:xfrm>
              <a:off x="4503746" y="6058418"/>
              <a:ext cx="14374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>
                  <a:solidFill>
                    <a:schemeClr val="accent1"/>
                  </a:solidFill>
                </a:rPr>
                <a:t>218.75.230.82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711326" y="3452218"/>
            <a:ext cx="1494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218.75.230.82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250761" y="4024282"/>
            <a:ext cx="4699861" cy="2415426"/>
            <a:chOff x="1241380" y="4024282"/>
            <a:chExt cx="4699861" cy="2415426"/>
          </a:xfrm>
        </p:grpSpPr>
        <p:grpSp>
          <p:nvGrpSpPr>
            <p:cNvPr id="7" name="组合 6"/>
            <p:cNvGrpSpPr/>
            <p:nvPr/>
          </p:nvGrpSpPr>
          <p:grpSpPr>
            <a:xfrm>
              <a:off x="1241380" y="4024282"/>
              <a:ext cx="4698977" cy="2415426"/>
              <a:chOff x="1241380" y="4024282"/>
              <a:chExt cx="4698977" cy="2415426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1241380" y="4024282"/>
                <a:ext cx="4695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latin typeface="Arial Narrow" panose="020B0606020202030204" charset="0"/>
                  </a:rPr>
                  <a:t>Router1</a:t>
                </a:r>
                <a:r>
                  <a:rPr lang="zh-CN" altLang="en-US" b="1" dirty="0">
                    <a:latin typeface="Arial Narrow" panose="020B0606020202030204" charset="0"/>
                  </a:rPr>
                  <a:t>的路由表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245140" y="4407978"/>
                <a:ext cx="4695217" cy="203173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1247622" y="4408009"/>
                <a:ext cx="12915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Arial Narrow" panose="020B0606020202030204" charset="0"/>
                  </a:rPr>
                  <a:t>目的网络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2946358" y="4408009"/>
                <a:ext cx="12915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Arial Narrow" panose="020B0606020202030204" charset="0"/>
                  </a:rPr>
                  <a:t>子网掩码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4645095" y="4408009"/>
                <a:ext cx="12915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Arial Narrow" panose="020B0606020202030204" charset="0"/>
                  </a:rPr>
                  <a:t>下一跳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241380" y="5086054"/>
              <a:ext cx="4433974" cy="369332"/>
              <a:chOff x="1241380" y="4930045"/>
              <a:chExt cx="4433974" cy="369332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1241380" y="4930045"/>
                <a:ext cx="1471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6"/>
                    </a:solidFill>
                  </a:rPr>
                  <a:t>218.75.230.48</a:t>
                </a:r>
                <a:endParaRPr lang="en-US" altLang="zh-CN" b="1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2785822" y="4930045"/>
                <a:ext cx="1682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6"/>
                    </a:solidFill>
                  </a:rPr>
                  <a:t>255.255.255.240</a:t>
                </a:r>
                <a:endParaRPr lang="en-US" altLang="zh-CN" b="1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914713" y="4930045"/>
                <a:ext cx="760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b="1" dirty="0"/>
                  <a:t>Gig0/1</a:t>
                </a:r>
                <a:endParaRPr lang="en-US" altLang="zh-CN" b="1" dirty="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241380" y="4761933"/>
              <a:ext cx="4433974" cy="369332"/>
              <a:chOff x="1241380" y="4651688"/>
              <a:chExt cx="4433974" cy="369332"/>
            </a:xfrm>
          </p:grpSpPr>
          <p:sp>
            <p:nvSpPr>
              <p:cNvPr id="22" name="文本框 21"/>
              <p:cNvSpPr txBox="1"/>
              <p:nvPr/>
            </p:nvSpPr>
            <p:spPr>
              <a:xfrm>
                <a:off x="1241380" y="4651688"/>
                <a:ext cx="1471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3"/>
                    </a:solidFill>
                  </a:rPr>
                  <a:t>218.75.230.64</a:t>
                </a:r>
                <a:endParaRPr lang="en-US" altLang="zh-CN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2785822" y="4651688"/>
                <a:ext cx="1682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3"/>
                    </a:solidFill>
                  </a:rPr>
                  <a:t>255.255.255.240</a:t>
                </a:r>
                <a:endParaRPr lang="en-US" altLang="zh-CN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4914713" y="4651688"/>
                <a:ext cx="760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b="1" dirty="0"/>
                  <a:t>Gig0/0</a:t>
                </a:r>
                <a:endParaRPr lang="en-US" altLang="zh-CN" b="1" dirty="0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241380" y="5410175"/>
              <a:ext cx="4433974" cy="369332"/>
              <a:chOff x="1241380" y="5264699"/>
              <a:chExt cx="4433974" cy="369332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1241380" y="5264699"/>
                <a:ext cx="1471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1"/>
                    </a:solidFill>
                  </a:rPr>
                  <a:t>218.75.230.82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2785822" y="5264699"/>
                <a:ext cx="1682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1"/>
                    </a:solidFill>
                  </a:rPr>
                  <a:t>255.255.255.252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914713" y="5264699"/>
                <a:ext cx="760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b="1" dirty="0"/>
                  <a:t>Gig0/2</a:t>
                </a:r>
                <a:endParaRPr lang="en-US" altLang="zh-CN" b="1" dirty="0"/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241380" y="5734296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4"/>
                  </a:solidFill>
                </a:rPr>
                <a:t>218.75.230.32</a:t>
              </a:r>
              <a:endParaRPr lang="en-US" altLang="zh-CN" b="1" dirty="0">
                <a:solidFill>
                  <a:schemeClr val="accent4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85822" y="5734296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4"/>
                  </a:solidFill>
                </a:rPr>
                <a:t>255.255.255.240</a:t>
              </a:r>
              <a:endParaRPr lang="en-US" altLang="zh-CN" b="1" dirty="0">
                <a:solidFill>
                  <a:schemeClr val="accent4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503746" y="5734296"/>
              <a:ext cx="14374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>
                  <a:solidFill>
                    <a:schemeClr val="accent1"/>
                  </a:solidFill>
                </a:rPr>
                <a:t>218.75.230.81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41380" y="6058418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5"/>
                  </a:solidFill>
                </a:rPr>
                <a:t>218.75.230.0</a:t>
              </a:r>
              <a:endParaRPr lang="en-US" altLang="zh-CN" b="1" dirty="0">
                <a:solidFill>
                  <a:schemeClr val="accent5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785822" y="6058418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5"/>
                  </a:solidFill>
                </a:rPr>
                <a:t>255.255.255.224</a:t>
              </a:r>
              <a:endParaRPr lang="en-US" altLang="zh-CN" b="1" dirty="0">
                <a:solidFill>
                  <a:schemeClr val="accent5"/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503746" y="6058418"/>
              <a:ext cx="14374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>
                  <a:solidFill>
                    <a:schemeClr val="accent1"/>
                  </a:solidFill>
                </a:rPr>
                <a:t>218.75.230.81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17010" y="685800"/>
            <a:ext cx="4348421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给路由器添加静态路由条目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176" name="直接连接符 175"/>
          <p:cNvCxnSpPr/>
          <p:nvPr/>
        </p:nvCxnSpPr>
        <p:spPr>
          <a:xfrm flipV="1">
            <a:off x="8306479" y="1532784"/>
            <a:ext cx="0" cy="15917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 flipV="1">
            <a:off x="3548212" y="1532784"/>
            <a:ext cx="0" cy="15917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>
            <a:off x="1822027" y="3240676"/>
            <a:ext cx="816864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20 28" descr="卡通人物&#10;&#10;中度可信度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208" y="3049872"/>
            <a:ext cx="530013" cy="381609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3422777" y="2579908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31" name="20 30" descr="卡通人物&#10;&#10;中度可信度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474" y="3049872"/>
            <a:ext cx="530013" cy="381609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8224307" y="2579908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sp>
        <p:nvSpPr>
          <p:cNvPr id="155" name="云形 154"/>
          <p:cNvSpPr/>
          <p:nvPr/>
        </p:nvSpPr>
        <p:spPr>
          <a:xfrm>
            <a:off x="9821333" y="2869241"/>
            <a:ext cx="2065867" cy="718201"/>
          </a:xfrm>
          <a:prstGeom prst="cloud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218.75.230.48/28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grpSp>
        <p:nvGrpSpPr>
          <p:cNvPr id="159" name="组合 158"/>
          <p:cNvGrpSpPr/>
          <p:nvPr/>
        </p:nvGrpSpPr>
        <p:grpSpPr>
          <a:xfrm>
            <a:off x="2683931" y="1355487"/>
            <a:ext cx="1728563" cy="718201"/>
            <a:chOff x="6765197" y="1688025"/>
            <a:chExt cx="1728563" cy="718201"/>
          </a:xfrm>
        </p:grpSpPr>
        <p:sp>
          <p:nvSpPr>
            <p:cNvPr id="156" name="云形 155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58" name="文本框 157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218.75.230.32/28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304800" y="2869241"/>
            <a:ext cx="1728563" cy="718201"/>
            <a:chOff x="6765197" y="1688025"/>
            <a:chExt cx="1728563" cy="718201"/>
          </a:xfrm>
        </p:grpSpPr>
        <p:sp>
          <p:nvSpPr>
            <p:cNvPr id="161" name="云形 160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62" name="文本框 161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218.75.230.0/27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3" name="组合 162"/>
          <p:cNvGrpSpPr/>
          <p:nvPr/>
        </p:nvGrpSpPr>
        <p:grpSpPr>
          <a:xfrm>
            <a:off x="5063066" y="2869241"/>
            <a:ext cx="1728563" cy="718201"/>
            <a:chOff x="6765197" y="1688025"/>
            <a:chExt cx="1728563" cy="718201"/>
          </a:xfrm>
        </p:grpSpPr>
        <p:sp>
          <p:nvSpPr>
            <p:cNvPr id="164" name="云形 163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65" name="文本框 164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218.75.230.80/30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7" name="文本框 176"/>
          <p:cNvSpPr txBox="1"/>
          <p:nvPr/>
        </p:nvSpPr>
        <p:spPr>
          <a:xfrm>
            <a:off x="2897644" y="2739210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78" name="文本框 177"/>
          <p:cNvSpPr txBox="1"/>
          <p:nvPr/>
        </p:nvSpPr>
        <p:spPr>
          <a:xfrm>
            <a:off x="2637555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79" name="文本框 178"/>
          <p:cNvSpPr txBox="1"/>
          <p:nvPr/>
        </p:nvSpPr>
        <p:spPr>
          <a:xfrm>
            <a:off x="3740534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80" name="文本框 179"/>
          <p:cNvSpPr txBox="1"/>
          <p:nvPr/>
        </p:nvSpPr>
        <p:spPr>
          <a:xfrm>
            <a:off x="1934818" y="2206933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218.75.230.46</a:t>
            </a:r>
            <a:endParaRPr lang="en-US" altLang="zh-CN" b="1" dirty="0">
              <a:solidFill>
                <a:schemeClr val="accent4"/>
              </a:solidFill>
            </a:endParaRPr>
          </a:p>
          <a:p>
            <a:r>
              <a:rPr lang="en-US" altLang="zh-CN" b="1" dirty="0">
                <a:solidFill>
                  <a:schemeClr val="accent4"/>
                </a:solidFill>
              </a:rPr>
              <a:t>255.255.255.240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934818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5"/>
                </a:solidFill>
              </a:rPr>
              <a:t>218.75.230.30</a:t>
            </a:r>
            <a:endParaRPr lang="en-US" altLang="zh-CN" b="1" dirty="0">
              <a:solidFill>
                <a:schemeClr val="accent5"/>
              </a:solidFill>
            </a:endParaRPr>
          </a:p>
          <a:p>
            <a:r>
              <a:rPr lang="en-US" altLang="zh-CN" b="1" dirty="0">
                <a:solidFill>
                  <a:schemeClr val="accent5"/>
                </a:solidFill>
              </a:rPr>
              <a:t>255.255.255.224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3744343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218.75.230.81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en-US" altLang="zh-CN" b="1" dirty="0">
                <a:solidFill>
                  <a:schemeClr val="accent1"/>
                </a:solidFill>
              </a:rPr>
              <a:t>255.255.255.252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7674017" y="269167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84" name="文本框 183"/>
          <p:cNvSpPr txBox="1"/>
          <p:nvPr/>
        </p:nvSpPr>
        <p:spPr>
          <a:xfrm>
            <a:off x="7413928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85" name="文本框 184"/>
          <p:cNvSpPr txBox="1"/>
          <p:nvPr/>
        </p:nvSpPr>
        <p:spPr>
          <a:xfrm>
            <a:off x="8516907" y="323986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86" name="文本框 185"/>
          <p:cNvSpPr txBox="1"/>
          <p:nvPr/>
        </p:nvSpPr>
        <p:spPr>
          <a:xfrm>
            <a:off x="6711326" y="2206933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218.75.230.78</a:t>
            </a:r>
            <a:endParaRPr lang="en-US" altLang="zh-CN" b="1" dirty="0">
              <a:solidFill>
                <a:schemeClr val="accent3"/>
              </a:solidFill>
            </a:endParaRPr>
          </a:p>
          <a:p>
            <a:r>
              <a:rPr lang="en-US" altLang="zh-CN" b="1" dirty="0">
                <a:solidFill>
                  <a:schemeClr val="accent3"/>
                </a:solidFill>
              </a:rPr>
              <a:t>255.255.255.240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6711326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218.75.230.82</a:t>
            </a:r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en-US" altLang="zh-CN" b="1" dirty="0">
                <a:solidFill>
                  <a:schemeClr val="accent1"/>
                </a:solidFill>
              </a:rPr>
              <a:t>255.255.255.252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8514233" y="3449129"/>
            <a:ext cx="175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218.75.230.62</a:t>
            </a:r>
            <a:endParaRPr lang="en-US" altLang="zh-CN" b="1" dirty="0">
              <a:solidFill>
                <a:schemeClr val="accent6"/>
              </a:solidFill>
            </a:endParaRPr>
          </a:p>
          <a:p>
            <a:r>
              <a:rPr lang="en-US" altLang="zh-CN" b="1" dirty="0">
                <a:solidFill>
                  <a:schemeClr val="accent6"/>
                </a:solidFill>
              </a:rPr>
              <a:t>255.255.255.240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41380" y="4024282"/>
            <a:ext cx="4699861" cy="2415426"/>
            <a:chOff x="1241380" y="4024282"/>
            <a:chExt cx="4699861" cy="2415426"/>
          </a:xfrm>
        </p:grpSpPr>
        <p:grpSp>
          <p:nvGrpSpPr>
            <p:cNvPr id="202" name="组合 201"/>
            <p:cNvGrpSpPr/>
            <p:nvPr/>
          </p:nvGrpSpPr>
          <p:grpSpPr>
            <a:xfrm>
              <a:off x="1241380" y="4024282"/>
              <a:ext cx="4698977" cy="2415426"/>
              <a:chOff x="1241380" y="4024282"/>
              <a:chExt cx="4698977" cy="2415426"/>
            </a:xfrm>
          </p:grpSpPr>
          <p:sp>
            <p:nvSpPr>
              <p:cNvPr id="203" name="文本框 202"/>
              <p:cNvSpPr txBox="1"/>
              <p:nvPr/>
            </p:nvSpPr>
            <p:spPr>
              <a:xfrm>
                <a:off x="1241380" y="4024282"/>
                <a:ext cx="4695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latin typeface="Arial Narrow" panose="020B0606020202030204" charset="0"/>
                  </a:rPr>
                  <a:t>Router0</a:t>
                </a:r>
                <a:r>
                  <a:rPr lang="zh-CN" altLang="en-US" b="1" dirty="0">
                    <a:latin typeface="Arial Narrow" panose="020B0606020202030204" charset="0"/>
                  </a:rPr>
                  <a:t>的路由表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1245140" y="4407978"/>
                <a:ext cx="4695217" cy="203173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5" name="文本框 204"/>
              <p:cNvSpPr txBox="1"/>
              <p:nvPr/>
            </p:nvSpPr>
            <p:spPr>
              <a:xfrm>
                <a:off x="1247622" y="4408009"/>
                <a:ext cx="12915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Arial Narrow" panose="020B0606020202030204" charset="0"/>
                  </a:rPr>
                  <a:t>目的网络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  <p:sp>
            <p:nvSpPr>
              <p:cNvPr id="206" name="文本框 205"/>
              <p:cNvSpPr txBox="1"/>
              <p:nvPr/>
            </p:nvSpPr>
            <p:spPr>
              <a:xfrm>
                <a:off x="2946358" y="4408009"/>
                <a:ext cx="12915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Arial Narrow" panose="020B0606020202030204" charset="0"/>
                  </a:rPr>
                  <a:t>子网掩码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  <p:sp>
            <p:nvSpPr>
              <p:cNvPr id="207" name="文本框 206"/>
              <p:cNvSpPr txBox="1"/>
              <p:nvPr/>
            </p:nvSpPr>
            <p:spPr>
              <a:xfrm>
                <a:off x="4645095" y="4408009"/>
                <a:ext cx="12915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Arial Narrow" panose="020B0606020202030204" charset="0"/>
                  </a:rPr>
                  <a:t>下一跳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</p:grpSp>
        <p:grpSp>
          <p:nvGrpSpPr>
            <p:cNvPr id="208" name="组合 207"/>
            <p:cNvGrpSpPr/>
            <p:nvPr/>
          </p:nvGrpSpPr>
          <p:grpSpPr>
            <a:xfrm>
              <a:off x="1241380" y="5086054"/>
              <a:ext cx="4433974" cy="369332"/>
              <a:chOff x="1241380" y="4930045"/>
              <a:chExt cx="4433974" cy="369332"/>
            </a:xfrm>
          </p:grpSpPr>
          <p:sp>
            <p:nvSpPr>
              <p:cNvPr id="209" name="文本框 208"/>
              <p:cNvSpPr txBox="1"/>
              <p:nvPr/>
            </p:nvSpPr>
            <p:spPr>
              <a:xfrm>
                <a:off x="1241380" y="4930045"/>
                <a:ext cx="1471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5"/>
                    </a:solidFill>
                  </a:rPr>
                  <a:t>218.75.230.0</a:t>
                </a:r>
                <a:endParaRPr lang="en-US" altLang="zh-CN" b="1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210" name="文本框 209"/>
              <p:cNvSpPr txBox="1"/>
              <p:nvPr/>
            </p:nvSpPr>
            <p:spPr>
              <a:xfrm>
                <a:off x="2785822" y="4930045"/>
                <a:ext cx="1682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5"/>
                    </a:solidFill>
                  </a:rPr>
                  <a:t>255.255.255.224</a:t>
                </a:r>
                <a:endParaRPr lang="en-US" altLang="zh-CN" b="1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211" name="文本框 210"/>
              <p:cNvSpPr txBox="1"/>
              <p:nvPr/>
            </p:nvSpPr>
            <p:spPr>
              <a:xfrm>
                <a:off x="4914713" y="4930045"/>
                <a:ext cx="760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b="1" dirty="0"/>
                  <a:t>Gig0/1</a:t>
                </a:r>
                <a:endParaRPr lang="en-US" altLang="zh-CN" b="1" dirty="0"/>
              </a:p>
            </p:txBody>
          </p:sp>
        </p:grpSp>
        <p:grpSp>
          <p:nvGrpSpPr>
            <p:cNvPr id="212" name="组合 211"/>
            <p:cNvGrpSpPr/>
            <p:nvPr/>
          </p:nvGrpSpPr>
          <p:grpSpPr>
            <a:xfrm>
              <a:off x="1241380" y="4761933"/>
              <a:ext cx="4433974" cy="369332"/>
              <a:chOff x="1241380" y="4651688"/>
              <a:chExt cx="4433974" cy="369332"/>
            </a:xfrm>
          </p:grpSpPr>
          <p:sp>
            <p:nvSpPr>
              <p:cNvPr id="213" name="文本框 212"/>
              <p:cNvSpPr txBox="1"/>
              <p:nvPr/>
            </p:nvSpPr>
            <p:spPr>
              <a:xfrm>
                <a:off x="1241380" y="4651688"/>
                <a:ext cx="1471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4"/>
                    </a:solidFill>
                  </a:rPr>
                  <a:t>218.75.230.32</a:t>
                </a:r>
                <a:endParaRPr lang="en-US" altLang="zh-CN" b="1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214" name="文本框 213"/>
              <p:cNvSpPr txBox="1"/>
              <p:nvPr/>
            </p:nvSpPr>
            <p:spPr>
              <a:xfrm>
                <a:off x="2785822" y="4651688"/>
                <a:ext cx="1682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4"/>
                    </a:solidFill>
                  </a:rPr>
                  <a:t>255.255.255.240</a:t>
                </a:r>
                <a:endParaRPr lang="en-US" altLang="zh-CN" b="1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215" name="文本框 214"/>
              <p:cNvSpPr txBox="1"/>
              <p:nvPr/>
            </p:nvSpPr>
            <p:spPr>
              <a:xfrm>
                <a:off x="4914713" y="4651688"/>
                <a:ext cx="760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b="1" dirty="0"/>
                  <a:t>Gig0/0</a:t>
                </a:r>
                <a:endParaRPr lang="en-US" altLang="zh-CN" b="1" dirty="0"/>
              </a:p>
            </p:txBody>
          </p:sp>
        </p:grpSp>
        <p:grpSp>
          <p:nvGrpSpPr>
            <p:cNvPr id="216" name="组合 215"/>
            <p:cNvGrpSpPr/>
            <p:nvPr/>
          </p:nvGrpSpPr>
          <p:grpSpPr>
            <a:xfrm>
              <a:off x="1241380" y="5410175"/>
              <a:ext cx="4433974" cy="369332"/>
              <a:chOff x="1241380" y="5264699"/>
              <a:chExt cx="4433974" cy="369332"/>
            </a:xfrm>
          </p:grpSpPr>
          <p:sp>
            <p:nvSpPr>
              <p:cNvPr id="217" name="文本框 216"/>
              <p:cNvSpPr txBox="1"/>
              <p:nvPr/>
            </p:nvSpPr>
            <p:spPr>
              <a:xfrm>
                <a:off x="1241380" y="5264699"/>
                <a:ext cx="1471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1"/>
                    </a:solidFill>
                  </a:rPr>
                  <a:t>218.75.230.80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18" name="文本框 217"/>
              <p:cNvSpPr txBox="1"/>
              <p:nvPr/>
            </p:nvSpPr>
            <p:spPr>
              <a:xfrm>
                <a:off x="2785822" y="5264699"/>
                <a:ext cx="1682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1"/>
                    </a:solidFill>
                  </a:rPr>
                  <a:t>255.255.255.252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19" name="文本框 218"/>
              <p:cNvSpPr txBox="1"/>
              <p:nvPr/>
            </p:nvSpPr>
            <p:spPr>
              <a:xfrm>
                <a:off x="4914713" y="5264699"/>
                <a:ext cx="760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b="1" dirty="0"/>
                  <a:t>Gig0/2</a:t>
                </a:r>
                <a:endParaRPr lang="en-US" altLang="zh-CN" b="1" dirty="0"/>
              </a:p>
            </p:txBody>
          </p:sp>
        </p:grpSp>
        <p:sp>
          <p:nvSpPr>
            <p:cNvPr id="220" name="文本框 219"/>
            <p:cNvSpPr txBox="1"/>
            <p:nvPr/>
          </p:nvSpPr>
          <p:spPr>
            <a:xfrm>
              <a:off x="1241380" y="5734296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3"/>
                  </a:solidFill>
                </a:rPr>
                <a:t>218.75.230.64</a:t>
              </a:r>
              <a:endParaRPr lang="en-US" altLang="zh-CN" b="1" dirty="0">
                <a:solidFill>
                  <a:schemeClr val="accent3"/>
                </a:solidFill>
              </a:endParaRPr>
            </a:p>
          </p:txBody>
        </p:sp>
        <p:sp>
          <p:nvSpPr>
            <p:cNvPr id="221" name="文本框 220"/>
            <p:cNvSpPr txBox="1"/>
            <p:nvPr/>
          </p:nvSpPr>
          <p:spPr>
            <a:xfrm>
              <a:off x="2785822" y="5734296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3"/>
                  </a:solidFill>
                </a:rPr>
                <a:t>255.255.255.240</a:t>
              </a:r>
              <a:endParaRPr lang="en-US" altLang="zh-CN" b="1" dirty="0">
                <a:solidFill>
                  <a:schemeClr val="accent3"/>
                </a:solidFill>
              </a:endParaRPr>
            </a:p>
          </p:txBody>
        </p:sp>
        <p:sp>
          <p:nvSpPr>
            <p:cNvPr id="222" name="文本框 221"/>
            <p:cNvSpPr txBox="1"/>
            <p:nvPr/>
          </p:nvSpPr>
          <p:spPr>
            <a:xfrm>
              <a:off x="4503746" y="5734296"/>
              <a:ext cx="14374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>
                  <a:solidFill>
                    <a:schemeClr val="accent1"/>
                  </a:solidFill>
                </a:rPr>
                <a:t>218.75.230.82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223" name="文本框 222"/>
            <p:cNvSpPr txBox="1"/>
            <p:nvPr/>
          </p:nvSpPr>
          <p:spPr>
            <a:xfrm>
              <a:off x="1241380" y="6058418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6"/>
                  </a:solidFill>
                </a:rPr>
                <a:t>218.75.230.48</a:t>
              </a:r>
              <a:endParaRPr lang="en-US" altLang="zh-CN" b="1" dirty="0">
                <a:solidFill>
                  <a:schemeClr val="accent6"/>
                </a:solidFill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2785822" y="6058418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6"/>
                  </a:solidFill>
                </a:rPr>
                <a:t>255.255.255.240</a:t>
              </a:r>
              <a:endParaRPr lang="en-US" altLang="zh-CN" b="1" dirty="0">
                <a:solidFill>
                  <a:schemeClr val="accent6"/>
                </a:solidFill>
              </a:endParaRPr>
            </a:p>
          </p:txBody>
        </p:sp>
        <p:sp>
          <p:nvSpPr>
            <p:cNvPr id="225" name="文本框 224"/>
            <p:cNvSpPr txBox="1"/>
            <p:nvPr/>
          </p:nvSpPr>
          <p:spPr>
            <a:xfrm>
              <a:off x="4503746" y="6058418"/>
              <a:ext cx="14374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>
                  <a:solidFill>
                    <a:schemeClr val="accent1"/>
                  </a:solidFill>
                </a:rPr>
                <a:t>218.75.230.82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711326" y="3452218"/>
            <a:ext cx="1494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218.75.230.82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250761" y="4024282"/>
            <a:ext cx="4699861" cy="2415426"/>
            <a:chOff x="1241380" y="4024282"/>
            <a:chExt cx="4699861" cy="2415426"/>
          </a:xfrm>
        </p:grpSpPr>
        <p:grpSp>
          <p:nvGrpSpPr>
            <p:cNvPr id="7" name="组合 6"/>
            <p:cNvGrpSpPr/>
            <p:nvPr/>
          </p:nvGrpSpPr>
          <p:grpSpPr>
            <a:xfrm>
              <a:off x="1241380" y="4024282"/>
              <a:ext cx="4698977" cy="2415426"/>
              <a:chOff x="1241380" y="4024282"/>
              <a:chExt cx="4698977" cy="2415426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1241380" y="4024282"/>
                <a:ext cx="4695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latin typeface="Arial Narrow" panose="020B0606020202030204" charset="0"/>
                  </a:rPr>
                  <a:t>Router1</a:t>
                </a:r>
                <a:r>
                  <a:rPr lang="zh-CN" altLang="en-US" b="1" dirty="0">
                    <a:latin typeface="Arial Narrow" panose="020B0606020202030204" charset="0"/>
                  </a:rPr>
                  <a:t>的路由表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245140" y="4407978"/>
                <a:ext cx="4695217" cy="203173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1247622" y="4408009"/>
                <a:ext cx="12915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Arial Narrow" panose="020B0606020202030204" charset="0"/>
                  </a:rPr>
                  <a:t>目的网络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2946358" y="4408009"/>
                <a:ext cx="12915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Arial Narrow" panose="020B0606020202030204" charset="0"/>
                  </a:rPr>
                  <a:t>子网掩码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4645095" y="4408009"/>
                <a:ext cx="12915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latin typeface="Arial Narrow" panose="020B0606020202030204" charset="0"/>
                  </a:rPr>
                  <a:t>下一跳</a:t>
                </a:r>
                <a:endParaRPr lang="zh-CN" altLang="en-US" b="1" dirty="0">
                  <a:latin typeface="Arial Narrow" panose="020B060602020203020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241380" y="5086054"/>
              <a:ext cx="4433974" cy="369332"/>
              <a:chOff x="1241380" y="4930045"/>
              <a:chExt cx="4433974" cy="369332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1241380" y="4930045"/>
                <a:ext cx="1471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6"/>
                    </a:solidFill>
                  </a:rPr>
                  <a:t>218.75.230.48</a:t>
                </a:r>
                <a:endParaRPr lang="en-US" altLang="zh-CN" b="1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2785822" y="4930045"/>
                <a:ext cx="1682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6"/>
                    </a:solidFill>
                  </a:rPr>
                  <a:t>255.255.255.240</a:t>
                </a:r>
                <a:endParaRPr lang="en-US" altLang="zh-CN" b="1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914713" y="4930045"/>
                <a:ext cx="760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b="1" dirty="0"/>
                  <a:t>Gig0/1</a:t>
                </a:r>
                <a:endParaRPr lang="en-US" altLang="zh-CN" b="1" dirty="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241380" y="4761933"/>
              <a:ext cx="4433974" cy="369332"/>
              <a:chOff x="1241380" y="4651688"/>
              <a:chExt cx="4433974" cy="369332"/>
            </a:xfrm>
          </p:grpSpPr>
          <p:sp>
            <p:nvSpPr>
              <p:cNvPr id="22" name="文本框 21"/>
              <p:cNvSpPr txBox="1"/>
              <p:nvPr/>
            </p:nvSpPr>
            <p:spPr>
              <a:xfrm>
                <a:off x="1241380" y="4651688"/>
                <a:ext cx="1471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3"/>
                    </a:solidFill>
                  </a:rPr>
                  <a:t>218.75.230.64</a:t>
                </a:r>
                <a:endParaRPr lang="en-US" altLang="zh-CN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2785822" y="4651688"/>
                <a:ext cx="1682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3"/>
                    </a:solidFill>
                  </a:rPr>
                  <a:t>255.255.255.240</a:t>
                </a:r>
                <a:endParaRPr lang="en-US" altLang="zh-CN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4914713" y="4651688"/>
                <a:ext cx="760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b="1" dirty="0"/>
                  <a:t>Gig0/0</a:t>
                </a:r>
                <a:endParaRPr lang="en-US" altLang="zh-CN" b="1" dirty="0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241380" y="5410175"/>
              <a:ext cx="4433974" cy="369332"/>
              <a:chOff x="1241380" y="5264699"/>
              <a:chExt cx="4433974" cy="369332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1241380" y="5264699"/>
                <a:ext cx="1471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1"/>
                    </a:solidFill>
                  </a:rPr>
                  <a:t>218.75.230.82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2785822" y="5264699"/>
                <a:ext cx="1682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1"/>
                    </a:solidFill>
                  </a:rPr>
                  <a:t>255.255.255.252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914713" y="5264699"/>
                <a:ext cx="760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b="1" dirty="0"/>
                  <a:t>Gig0/2</a:t>
                </a:r>
                <a:endParaRPr lang="en-US" altLang="zh-CN" b="1" dirty="0"/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241380" y="5734296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4"/>
                  </a:solidFill>
                </a:rPr>
                <a:t>218.75.230.32</a:t>
              </a:r>
              <a:endParaRPr lang="en-US" altLang="zh-CN" b="1" dirty="0">
                <a:solidFill>
                  <a:schemeClr val="accent4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85822" y="5734296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4"/>
                  </a:solidFill>
                </a:rPr>
                <a:t>255.255.255.240</a:t>
              </a:r>
              <a:endParaRPr lang="en-US" altLang="zh-CN" b="1" dirty="0">
                <a:solidFill>
                  <a:schemeClr val="accent4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503746" y="5734296"/>
              <a:ext cx="14374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>
                  <a:solidFill>
                    <a:schemeClr val="accent1"/>
                  </a:solidFill>
                </a:rPr>
                <a:t>218.75.230.81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41380" y="6058418"/>
              <a:ext cx="1471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5"/>
                  </a:solidFill>
                </a:rPr>
                <a:t>218.75.230.0</a:t>
              </a:r>
              <a:endParaRPr lang="en-US" altLang="zh-CN" b="1" dirty="0">
                <a:solidFill>
                  <a:schemeClr val="accent5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785822" y="6058418"/>
              <a:ext cx="1682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5"/>
                  </a:solidFill>
                </a:rPr>
                <a:t>255.255.255.224</a:t>
              </a:r>
              <a:endParaRPr lang="en-US" altLang="zh-CN" b="1" dirty="0">
                <a:solidFill>
                  <a:schemeClr val="accent5"/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503746" y="6058418"/>
              <a:ext cx="14374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dirty="0">
                  <a:solidFill>
                    <a:schemeClr val="accent1"/>
                  </a:solidFill>
                </a:rPr>
                <a:t>218.75.230.81</a:t>
              </a:r>
              <a:endParaRPr lang="en-US" altLang="zh-CN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6" name="矩形 55"/>
          <p:cNvSpPr/>
          <p:nvPr/>
        </p:nvSpPr>
        <p:spPr>
          <a:xfrm>
            <a:off x="9201320" y="753993"/>
            <a:ext cx="2676321" cy="1621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         请参照此方法给</a:t>
            </a:r>
            <a:r>
              <a:rPr lang="en-US" altLang="zh-CN" sz="2000" b="1" dirty="0"/>
              <a:t>Router1</a:t>
            </a:r>
            <a:r>
              <a:rPr lang="zh-CN" altLang="en-US" sz="2000" b="1" dirty="0"/>
              <a:t>添加一条相应的静态路由条目。</a:t>
            </a:r>
            <a:endParaRPr lang="zh-CN" altLang="en-US" sz="2000" b="1" dirty="0"/>
          </a:p>
        </p:txBody>
      </p:sp>
      <p:grpSp>
        <p:nvGrpSpPr>
          <p:cNvPr id="57" name="组合 56"/>
          <p:cNvGrpSpPr/>
          <p:nvPr/>
        </p:nvGrpSpPr>
        <p:grpSpPr>
          <a:xfrm>
            <a:off x="7442198" y="1354775"/>
            <a:ext cx="1728563" cy="718201"/>
            <a:chOff x="6765197" y="1688025"/>
            <a:chExt cx="1728563" cy="718201"/>
          </a:xfrm>
        </p:grpSpPr>
        <p:sp>
          <p:nvSpPr>
            <p:cNvPr id="58" name="云形 57"/>
            <p:cNvSpPr/>
            <p:nvPr/>
          </p:nvSpPr>
          <p:spPr>
            <a:xfrm>
              <a:off x="6765197" y="1688025"/>
              <a:ext cx="1728563" cy="718201"/>
            </a:xfrm>
            <a:prstGeom prst="clou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830389" y="1862459"/>
              <a:ext cx="1663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bg1"/>
                  </a:solidFill>
                </a:rPr>
                <a:t>218.75.230.64/28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8" name="20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46458"/>
            <a:ext cx="8621832" cy="3307596"/>
          </a:xfrm>
          <a:prstGeom prst="rect">
            <a:avLst/>
          </a:prstGeom>
        </p:spPr>
      </p:pic>
      <p:grpSp>
        <p:nvGrpSpPr>
          <p:cNvPr id="54" name="组合 53"/>
          <p:cNvGrpSpPr/>
          <p:nvPr/>
        </p:nvGrpSpPr>
        <p:grpSpPr>
          <a:xfrm>
            <a:off x="5571627" y="1394879"/>
            <a:ext cx="3199521" cy="872885"/>
            <a:chOff x="5581311" y="1394879"/>
            <a:chExt cx="3199521" cy="872885"/>
          </a:xfrm>
        </p:grpSpPr>
        <p:sp>
          <p:nvSpPr>
            <p:cNvPr id="39" name="文本框 38"/>
            <p:cNvSpPr txBox="1"/>
            <p:nvPr/>
          </p:nvSpPr>
          <p:spPr>
            <a:xfrm>
              <a:off x="5581311" y="1394879"/>
              <a:ext cx="31995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//  </a:t>
              </a:r>
              <a:r>
                <a:rPr lang="zh-CN" altLang="en-US" sz="1400" b="1" dirty="0">
                  <a:solidFill>
                    <a:schemeClr val="accent6"/>
                  </a:solidFill>
                </a:rPr>
                <a:t>添加一条静态路由条目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5581311" y="1583248"/>
              <a:ext cx="31995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//  </a:t>
              </a:r>
              <a:r>
                <a:rPr lang="zh-CN" altLang="en-US" sz="1400" b="1" dirty="0">
                  <a:solidFill>
                    <a:schemeClr val="accent6"/>
                  </a:solidFill>
                </a:rPr>
                <a:t>目的网络地址为</a:t>
              </a:r>
              <a:r>
                <a:rPr lang="en-US" altLang="zh-CN" sz="1400" b="1" dirty="0">
                  <a:solidFill>
                    <a:schemeClr val="accent6"/>
                  </a:solidFill>
                </a:rPr>
                <a:t>218.75.230.48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581311" y="1771617"/>
              <a:ext cx="31995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6"/>
                  </a:solidFill>
                </a:rPr>
                <a:t>//  </a:t>
              </a:r>
              <a:r>
                <a:rPr lang="zh-CN" altLang="en-US" sz="1400" b="1" dirty="0">
                  <a:solidFill>
                    <a:schemeClr val="accent6"/>
                  </a:solidFill>
                </a:rPr>
                <a:t>子网掩码为</a:t>
              </a:r>
              <a:r>
                <a:rPr lang="en-US" altLang="zh-CN" sz="1400" b="1" dirty="0">
                  <a:solidFill>
                    <a:schemeClr val="accent6"/>
                  </a:solidFill>
                </a:rPr>
                <a:t>255.255.255.240</a:t>
              </a:r>
              <a:endParaRPr lang="zh-CN" altLang="en-US" sz="1400" b="1" dirty="0">
                <a:solidFill>
                  <a:schemeClr val="accent6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5581311" y="1959987"/>
              <a:ext cx="31995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/>
                  </a:solidFill>
                </a:rPr>
                <a:t>//  </a:t>
              </a:r>
              <a:r>
                <a:rPr lang="zh-CN" altLang="en-US" sz="1400" b="1" dirty="0">
                  <a:solidFill>
                    <a:schemeClr val="accent1"/>
                  </a:solidFill>
                </a:rPr>
                <a:t>下一跳地址为</a:t>
              </a:r>
              <a:r>
                <a:rPr lang="en-US" altLang="zh-CN" sz="1400" b="1" dirty="0">
                  <a:solidFill>
                    <a:schemeClr val="accent1"/>
                  </a:solidFill>
                </a:rPr>
                <a:t>218.75.230.82</a:t>
              </a:r>
              <a:endParaRPr lang="zh-CN" altLang="en-US" sz="14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5555631" y="2154885"/>
            <a:ext cx="3199521" cy="872885"/>
            <a:chOff x="5565315" y="2154885"/>
            <a:chExt cx="3199521" cy="872885"/>
          </a:xfrm>
        </p:grpSpPr>
        <p:sp>
          <p:nvSpPr>
            <p:cNvPr id="50" name="文本框 49"/>
            <p:cNvSpPr txBox="1"/>
            <p:nvPr/>
          </p:nvSpPr>
          <p:spPr>
            <a:xfrm>
              <a:off x="5565315" y="2154885"/>
              <a:ext cx="31995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3"/>
                  </a:solidFill>
                </a:rPr>
                <a:t>//  </a:t>
              </a:r>
              <a:r>
                <a:rPr lang="zh-CN" altLang="en-US" sz="1400" b="1" dirty="0">
                  <a:solidFill>
                    <a:schemeClr val="accent3"/>
                  </a:solidFill>
                </a:rPr>
                <a:t>添加一条静态路由条目</a:t>
              </a:r>
              <a:endParaRPr lang="zh-CN" altLang="en-US" sz="1400" b="1" dirty="0">
                <a:solidFill>
                  <a:schemeClr val="accent3"/>
                </a:solidFill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5565315" y="2343254"/>
              <a:ext cx="31995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3"/>
                  </a:solidFill>
                </a:rPr>
                <a:t>//  </a:t>
              </a:r>
              <a:r>
                <a:rPr lang="zh-CN" altLang="en-US" sz="1400" b="1" dirty="0">
                  <a:solidFill>
                    <a:schemeClr val="accent3"/>
                  </a:solidFill>
                </a:rPr>
                <a:t>目的网络地址为</a:t>
              </a:r>
              <a:r>
                <a:rPr lang="en-US" altLang="zh-CN" sz="1400" b="1" dirty="0">
                  <a:solidFill>
                    <a:schemeClr val="accent3"/>
                  </a:solidFill>
                </a:rPr>
                <a:t>218.75.230.64</a:t>
              </a:r>
              <a:endParaRPr lang="zh-CN" altLang="en-US" sz="1400" b="1" dirty="0">
                <a:solidFill>
                  <a:schemeClr val="accent3"/>
                </a:solidFill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5565315" y="2531623"/>
              <a:ext cx="31995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3"/>
                  </a:solidFill>
                </a:rPr>
                <a:t>//  </a:t>
              </a:r>
              <a:r>
                <a:rPr lang="zh-CN" altLang="en-US" sz="1400" b="1" dirty="0">
                  <a:solidFill>
                    <a:schemeClr val="accent3"/>
                  </a:solidFill>
                </a:rPr>
                <a:t>子网掩码为</a:t>
              </a:r>
              <a:r>
                <a:rPr lang="en-US" altLang="zh-CN" sz="1400" b="1" dirty="0">
                  <a:solidFill>
                    <a:schemeClr val="accent3"/>
                  </a:solidFill>
                </a:rPr>
                <a:t>255.255.255.240</a:t>
              </a:r>
              <a:endParaRPr lang="zh-CN" altLang="en-US" sz="1400" b="1" dirty="0">
                <a:solidFill>
                  <a:schemeClr val="accent3"/>
                </a:solidFill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5565315" y="2719993"/>
              <a:ext cx="31995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/>
                  </a:solidFill>
                </a:rPr>
                <a:t>//  </a:t>
              </a:r>
              <a:r>
                <a:rPr lang="zh-CN" altLang="en-US" sz="1400" b="1" dirty="0">
                  <a:solidFill>
                    <a:schemeClr val="accent1"/>
                  </a:solidFill>
                </a:rPr>
                <a:t>下一跳地址为</a:t>
              </a:r>
              <a:r>
                <a:rPr lang="en-US" altLang="zh-CN" sz="1400" b="1" dirty="0">
                  <a:solidFill>
                    <a:schemeClr val="accent1"/>
                  </a:solidFill>
                </a:rPr>
                <a:t>218.75.230.82</a:t>
              </a:r>
              <a:endParaRPr lang="zh-CN" altLang="en-US" sz="14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297040" y="5779507"/>
            <a:ext cx="5382638" cy="6030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路由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聚合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800" decel="100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93140" y="685800"/>
            <a:ext cx="3614751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选择要监视的网络协议</a:t>
            </a:r>
            <a:endParaRPr lang="en-US" altLang="zh-CN" sz="2400" b="1" dirty="0"/>
          </a:p>
        </p:txBody>
      </p:sp>
      <p:cxnSp>
        <p:nvCxnSpPr>
          <p:cNvPr id="68" name="直接连接符 67"/>
          <p:cNvCxnSpPr/>
          <p:nvPr/>
        </p:nvCxnSpPr>
        <p:spPr>
          <a:xfrm>
            <a:off x="3358290" y="3875212"/>
            <a:ext cx="546188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9061677" y="4028174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9061677" y="2616910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3150499" y="4028174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3150499" y="2616910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2455094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2" name="文本框 111"/>
          <p:cNvSpPr txBox="1"/>
          <p:nvPr/>
        </p:nvSpPr>
        <p:spPr>
          <a:xfrm>
            <a:off x="2455094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9105668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9105668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3399503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54327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304800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04799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207137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207136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430077" y="3576613"/>
            <a:ext cx="5354462" cy="60463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182844" y="2786705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4"/>
                </a:solidFill>
              </a:rPr>
              <a:t>网络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199516" y="2786705"/>
            <a:ext cx="74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网络</a:t>
            </a:r>
            <a:r>
              <a:rPr lang="en-US" altLang="zh-CN" b="1" dirty="0">
                <a:solidFill>
                  <a:schemeClr val="accent3"/>
                </a:solidFill>
              </a:rPr>
              <a:t>4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182844" y="4511862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5"/>
                </a:solidFill>
              </a:rPr>
              <a:t>网络</a:t>
            </a:r>
            <a:r>
              <a:rPr lang="en-US" altLang="zh-CN" b="1" dirty="0">
                <a:solidFill>
                  <a:schemeClr val="accent5"/>
                </a:solidFill>
              </a:rPr>
              <a:t>2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99516" y="4512950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网络</a:t>
            </a:r>
            <a:r>
              <a:rPr lang="en-US" altLang="zh-CN" b="1" dirty="0">
                <a:solidFill>
                  <a:schemeClr val="accent6"/>
                </a:solidFill>
              </a:rPr>
              <a:t>3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686713" y="3844823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1"/>
                </a:solidFill>
              </a:rPr>
              <a:t>网络</a:t>
            </a:r>
            <a:r>
              <a:rPr lang="en-US" altLang="zh-CN" b="1" dirty="0">
                <a:solidFill>
                  <a:schemeClr val="accent1"/>
                </a:solidFill>
              </a:rPr>
              <a:t>5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70375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2276481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25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8172712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8144629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3238453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4"/>
                </a:solidFill>
              </a:rPr>
              <a:t>CIDR</a:t>
            </a:r>
            <a:r>
              <a:rPr lang="zh-CN" altLang="en-US" sz="1600" b="1" dirty="0">
                <a:solidFill>
                  <a:schemeClr val="accent4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4"/>
                </a:solidFill>
              </a:rPr>
              <a:t>218.75.230.32/28</a:t>
            </a:r>
            <a:endParaRPr lang="en-US" altLang="zh-CN" sz="1600" b="1" dirty="0">
              <a:solidFill>
                <a:schemeClr val="accent4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199516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</a:rPr>
              <a:t>CIDR</a:t>
            </a:r>
            <a:r>
              <a:rPr lang="zh-CN" altLang="en-US" sz="1600" b="1" dirty="0">
                <a:solidFill>
                  <a:schemeClr val="accent3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3"/>
                </a:solidFill>
              </a:rPr>
              <a:t>218.75.230.64/28</a:t>
            </a:r>
            <a:endParaRPr lang="en-US" altLang="zh-CN" sz="1600" b="1" dirty="0">
              <a:solidFill>
                <a:schemeClr val="accent3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238453" y="4245048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5"/>
                </a:solidFill>
              </a:rPr>
              <a:t>CIDR</a:t>
            </a:r>
            <a:r>
              <a:rPr lang="zh-CN" altLang="en-US" sz="1600" b="1" dirty="0">
                <a:solidFill>
                  <a:schemeClr val="accent5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5"/>
                </a:solidFill>
              </a:rPr>
              <a:t>218.75.230.0/27</a:t>
            </a:r>
            <a:endParaRPr lang="en-US" altLang="zh-CN" sz="1600" b="1" dirty="0">
              <a:solidFill>
                <a:schemeClr val="accent5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199516" y="4246136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</a:rPr>
              <a:t>CIDR</a:t>
            </a:r>
            <a:r>
              <a:rPr lang="zh-CN" altLang="en-US" sz="1600" b="1" dirty="0">
                <a:solidFill>
                  <a:schemeClr val="accent6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6"/>
                </a:solidFill>
              </a:rPr>
              <a:t>218.75.230.48/28</a:t>
            </a:r>
            <a:endParaRPr lang="en-US" altLang="zh-CN" sz="1600" b="1" dirty="0">
              <a:solidFill>
                <a:schemeClr val="accent6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309841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218.75.230.33/28</a:t>
            </a:r>
            <a:endParaRPr lang="en-US" altLang="zh-CN" sz="1400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3821967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218.75.230.34/28</a:t>
            </a:r>
            <a:endParaRPr lang="en-US" altLang="zh-CN" sz="1400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304800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218.75.230.1/27</a:t>
            </a:r>
            <a:endParaRPr lang="en-US" altLang="zh-CN" sz="1400" b="1" dirty="0"/>
          </a:p>
        </p:txBody>
      </p:sp>
      <p:sp>
        <p:nvSpPr>
          <p:cNvPr id="102" name="文本框 101"/>
          <p:cNvSpPr txBox="1"/>
          <p:nvPr/>
        </p:nvSpPr>
        <p:spPr>
          <a:xfrm>
            <a:off x="3821967" y="5861618"/>
            <a:ext cx="2164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218.75.230.2/27</a:t>
            </a:r>
            <a:endParaRPr lang="en-US" altLang="zh-CN" sz="14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6212178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218.75.230.65/28</a:t>
            </a:r>
            <a:endParaRPr lang="en-US" altLang="zh-CN" sz="14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9724304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218.75.230.66/28</a:t>
            </a:r>
            <a:endParaRPr lang="en-US" altLang="zh-CN" sz="1400" b="1" dirty="0"/>
          </a:p>
        </p:txBody>
      </p:sp>
      <p:sp>
        <p:nvSpPr>
          <p:cNvPr id="110" name="文本框 109"/>
          <p:cNvSpPr txBox="1"/>
          <p:nvPr/>
        </p:nvSpPr>
        <p:spPr>
          <a:xfrm>
            <a:off x="6207137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218.75.230.49/28</a:t>
            </a:r>
            <a:endParaRPr lang="en-US" altLang="zh-CN" sz="1400" b="1" dirty="0"/>
          </a:p>
        </p:txBody>
      </p:sp>
      <p:sp>
        <p:nvSpPr>
          <p:cNvPr id="117" name="文本框 116"/>
          <p:cNvSpPr txBox="1"/>
          <p:nvPr/>
        </p:nvSpPr>
        <p:spPr>
          <a:xfrm>
            <a:off x="9724304" y="5861618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218.75.230.50/28</a:t>
            </a:r>
            <a:endParaRPr lang="en-US" altLang="zh-CN" sz="1400" b="1" dirty="0"/>
          </a:p>
        </p:txBody>
      </p:sp>
      <p:sp>
        <p:nvSpPr>
          <p:cNvPr id="118" name="文本框 117"/>
          <p:cNvSpPr txBox="1"/>
          <p:nvPr/>
        </p:nvSpPr>
        <p:spPr>
          <a:xfrm>
            <a:off x="884361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218.75.230.46/28</a:t>
            </a:r>
            <a:endParaRPr lang="en-US" altLang="zh-CN" sz="1400" b="1" dirty="0"/>
          </a:p>
        </p:txBody>
      </p:sp>
      <p:sp>
        <p:nvSpPr>
          <p:cNvPr id="119" name="文本框 118"/>
          <p:cNvSpPr txBox="1"/>
          <p:nvPr/>
        </p:nvSpPr>
        <p:spPr>
          <a:xfrm>
            <a:off x="884361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218.75.230.30/27</a:t>
            </a:r>
            <a:endParaRPr lang="en-US" altLang="zh-CN" sz="1400" b="1" dirty="0"/>
          </a:p>
        </p:txBody>
      </p:sp>
      <p:sp>
        <p:nvSpPr>
          <p:cNvPr id="120" name="文本框 119"/>
          <p:cNvSpPr txBox="1"/>
          <p:nvPr/>
        </p:nvSpPr>
        <p:spPr>
          <a:xfrm>
            <a:off x="9096186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218.75.230.78/28</a:t>
            </a:r>
            <a:endParaRPr lang="en-US" altLang="zh-CN" sz="1400" b="1" dirty="0"/>
          </a:p>
        </p:txBody>
      </p:sp>
      <p:sp>
        <p:nvSpPr>
          <p:cNvPr id="121" name="文本框 120"/>
          <p:cNvSpPr txBox="1"/>
          <p:nvPr/>
        </p:nvSpPr>
        <p:spPr>
          <a:xfrm>
            <a:off x="9105668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218.75.230.62/28</a:t>
            </a:r>
            <a:endParaRPr lang="en-US" altLang="zh-CN" sz="1400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309841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2" name="文本框 121"/>
          <p:cNvSpPr txBox="1"/>
          <p:nvPr/>
        </p:nvSpPr>
        <p:spPr>
          <a:xfrm>
            <a:off x="3821967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3" name="文本框 122"/>
          <p:cNvSpPr txBox="1"/>
          <p:nvPr/>
        </p:nvSpPr>
        <p:spPr>
          <a:xfrm>
            <a:off x="304800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4" name="文本框 123"/>
          <p:cNvSpPr txBox="1"/>
          <p:nvPr/>
        </p:nvSpPr>
        <p:spPr>
          <a:xfrm>
            <a:off x="3821967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5" name="文本框 124"/>
          <p:cNvSpPr txBox="1"/>
          <p:nvPr/>
        </p:nvSpPr>
        <p:spPr>
          <a:xfrm>
            <a:off x="6212178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6" name="文本框 125"/>
          <p:cNvSpPr txBox="1"/>
          <p:nvPr/>
        </p:nvSpPr>
        <p:spPr>
          <a:xfrm>
            <a:off x="9724304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7" name="文本框 126"/>
          <p:cNvSpPr txBox="1"/>
          <p:nvPr/>
        </p:nvSpPr>
        <p:spPr>
          <a:xfrm>
            <a:off x="6207137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28" name="文本框 127"/>
          <p:cNvSpPr txBox="1"/>
          <p:nvPr/>
        </p:nvSpPr>
        <p:spPr>
          <a:xfrm>
            <a:off x="9724304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30" name="文本框 129"/>
          <p:cNvSpPr txBox="1"/>
          <p:nvPr/>
        </p:nvSpPr>
        <p:spPr>
          <a:xfrm>
            <a:off x="6570882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218.75.230.82/30</a:t>
            </a:r>
            <a:endParaRPr lang="en-US" altLang="zh-CN" sz="1400" b="1" dirty="0"/>
          </a:p>
        </p:txBody>
      </p:sp>
      <p:sp>
        <p:nvSpPr>
          <p:cNvPr id="131" name="等腰三角形 130"/>
          <p:cNvSpPr/>
          <p:nvPr/>
        </p:nvSpPr>
        <p:spPr>
          <a:xfrm>
            <a:off x="3089151" y="285737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等腰三角形 131"/>
          <p:cNvSpPr/>
          <p:nvPr/>
        </p:nvSpPr>
        <p:spPr>
          <a:xfrm>
            <a:off x="3090695" y="32687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等腰三角形 132"/>
          <p:cNvSpPr/>
          <p:nvPr/>
        </p:nvSpPr>
        <p:spPr>
          <a:xfrm>
            <a:off x="8999310" y="2834154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等腰三角形 133"/>
          <p:cNvSpPr/>
          <p:nvPr/>
        </p:nvSpPr>
        <p:spPr>
          <a:xfrm>
            <a:off x="9000854" y="324554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等腰三角形 134"/>
          <p:cNvSpPr/>
          <p:nvPr/>
        </p:nvSpPr>
        <p:spPr>
          <a:xfrm>
            <a:off x="3093499" y="431675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等腰三角形 135"/>
          <p:cNvSpPr/>
          <p:nvPr/>
        </p:nvSpPr>
        <p:spPr>
          <a:xfrm>
            <a:off x="3095043" y="472814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等腰三角形 136"/>
          <p:cNvSpPr/>
          <p:nvPr/>
        </p:nvSpPr>
        <p:spPr>
          <a:xfrm>
            <a:off x="9001675" y="4321284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等腰三角形 137"/>
          <p:cNvSpPr/>
          <p:nvPr/>
        </p:nvSpPr>
        <p:spPr>
          <a:xfrm>
            <a:off x="9003219" y="473267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等腰三角形 138"/>
          <p:cNvSpPr/>
          <p:nvPr/>
        </p:nvSpPr>
        <p:spPr>
          <a:xfrm>
            <a:off x="3682531" y="381727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等腰三角形 139"/>
          <p:cNvSpPr/>
          <p:nvPr/>
        </p:nvSpPr>
        <p:spPr>
          <a:xfrm>
            <a:off x="8412718" y="381416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文本框 141"/>
          <p:cNvSpPr txBox="1"/>
          <p:nvPr/>
        </p:nvSpPr>
        <p:spPr>
          <a:xfrm>
            <a:off x="3399503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218.75.230.81/30</a:t>
            </a:r>
            <a:endParaRPr lang="en-US" altLang="zh-CN" sz="1400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4781653" y="3563919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</a:rPr>
              <a:t>CIDR</a:t>
            </a:r>
            <a:r>
              <a:rPr lang="zh-CN" altLang="en-US" sz="1600" b="1" dirty="0">
                <a:solidFill>
                  <a:schemeClr val="accent1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1"/>
                </a:solidFill>
              </a:rPr>
              <a:t>218.75.230.80/30</a:t>
            </a:r>
            <a:endParaRPr lang="en-US" altLang="zh-CN" sz="16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93140" y="685800"/>
            <a:ext cx="3614751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选择要监视的网络协议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9" name="20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096" y="1374844"/>
            <a:ext cx="3043465" cy="489601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456561" y="5918684"/>
            <a:ext cx="3843075" cy="369332"/>
            <a:chOff x="3456561" y="5918684"/>
            <a:chExt cx="3843075" cy="369332"/>
          </a:xfrm>
        </p:grpSpPr>
        <p:cxnSp>
          <p:nvCxnSpPr>
            <p:cNvPr id="32" name="直接箭头连接符 31"/>
            <p:cNvCxnSpPr/>
            <p:nvPr/>
          </p:nvCxnSpPr>
          <p:spPr>
            <a:xfrm flipH="1">
              <a:off x="3456561" y="6103350"/>
              <a:ext cx="55123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/>
            <p:nvPr/>
          </p:nvSpPr>
          <p:spPr>
            <a:xfrm>
              <a:off x="4007795" y="5918684"/>
              <a:ext cx="3291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❶  切换到“模拟”工作模式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56561" y="5641685"/>
            <a:ext cx="4507148" cy="369332"/>
            <a:chOff x="3456561" y="5641685"/>
            <a:chExt cx="4507148" cy="369332"/>
          </a:xfrm>
        </p:grpSpPr>
        <p:cxnSp>
          <p:nvCxnSpPr>
            <p:cNvPr id="35" name="直接箭头连接符 34"/>
            <p:cNvCxnSpPr/>
            <p:nvPr/>
          </p:nvCxnSpPr>
          <p:spPr>
            <a:xfrm flipH="1">
              <a:off x="3456561" y="5826351"/>
              <a:ext cx="55123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4007795" y="5641685"/>
              <a:ext cx="395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❷  单击该按钮，清空“事件列表”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293707" y="5236780"/>
            <a:ext cx="7308426" cy="526822"/>
            <a:chOff x="1293707" y="5236780"/>
            <a:chExt cx="7308426" cy="526822"/>
          </a:xfrm>
        </p:grpSpPr>
        <p:sp>
          <p:nvSpPr>
            <p:cNvPr id="41" name="文本框 40"/>
            <p:cNvSpPr txBox="1"/>
            <p:nvPr/>
          </p:nvSpPr>
          <p:spPr>
            <a:xfrm>
              <a:off x="4007795" y="5236780"/>
              <a:ext cx="45943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❸  单击该按钮，打开“协议选择”对话框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43" name="连接符: 肘形 42"/>
            <p:cNvCxnSpPr>
              <a:stCxn id="41" idx="1"/>
            </p:cNvCxnSpPr>
            <p:nvPr/>
          </p:nvCxnSpPr>
          <p:spPr>
            <a:xfrm rot="10800000" flipV="1">
              <a:off x="1293707" y="5421445"/>
              <a:ext cx="2714088" cy="342157"/>
            </a:xfrm>
            <a:prstGeom prst="bentConnector2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20 43" descr="图形用户界面&#10;&#10;中度可信度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150" y="1154039"/>
            <a:ext cx="2779298" cy="4549921"/>
          </a:xfrm>
          <a:prstGeom prst="rect">
            <a:avLst/>
          </a:prstGeom>
        </p:spPr>
      </p:pic>
      <p:grpSp>
        <p:nvGrpSpPr>
          <p:cNvPr id="70" name="组合 69"/>
          <p:cNvGrpSpPr/>
          <p:nvPr/>
        </p:nvGrpSpPr>
        <p:grpSpPr>
          <a:xfrm>
            <a:off x="5942389" y="1367020"/>
            <a:ext cx="2955761" cy="369332"/>
            <a:chOff x="5964720" y="1367020"/>
            <a:chExt cx="2955761" cy="369332"/>
          </a:xfrm>
        </p:grpSpPr>
        <p:cxnSp>
          <p:nvCxnSpPr>
            <p:cNvPr id="71" name="直接箭头连接符 70"/>
            <p:cNvCxnSpPr/>
            <p:nvPr/>
          </p:nvCxnSpPr>
          <p:spPr>
            <a:xfrm>
              <a:off x="8494714" y="1551686"/>
              <a:ext cx="425767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/>
            <p:cNvSpPr txBox="1"/>
            <p:nvPr/>
          </p:nvSpPr>
          <p:spPr>
            <a:xfrm>
              <a:off x="5964720" y="1367020"/>
              <a:ext cx="2507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❹  选择“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IPv4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”选项卡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4951307" y="2114544"/>
            <a:ext cx="3946843" cy="369332"/>
            <a:chOff x="4973638" y="1367020"/>
            <a:chExt cx="3946843" cy="369332"/>
          </a:xfrm>
        </p:grpSpPr>
        <p:cxnSp>
          <p:nvCxnSpPr>
            <p:cNvPr id="129" name="直接箭头连接符 128"/>
            <p:cNvCxnSpPr/>
            <p:nvPr/>
          </p:nvCxnSpPr>
          <p:spPr>
            <a:xfrm>
              <a:off x="8494714" y="1551686"/>
              <a:ext cx="425767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文本框 140"/>
            <p:cNvSpPr txBox="1"/>
            <p:nvPr/>
          </p:nvSpPr>
          <p:spPr>
            <a:xfrm>
              <a:off x="4973638" y="1367020"/>
              <a:ext cx="3548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❺  选择监视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ICMP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协议的相关事件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21151" y="685800"/>
            <a:ext cx="275010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7.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cxnSp>
        <p:nvCxnSpPr>
          <p:cNvPr id="68" name="直接连接符 67"/>
          <p:cNvCxnSpPr/>
          <p:nvPr/>
        </p:nvCxnSpPr>
        <p:spPr>
          <a:xfrm>
            <a:off x="3358290" y="3875212"/>
            <a:ext cx="546188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9061677" y="4028174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9061677" y="2616910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3150499" y="4028174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3150499" y="2616910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2455094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2" name="文本框 111"/>
          <p:cNvSpPr txBox="1"/>
          <p:nvPr/>
        </p:nvSpPr>
        <p:spPr>
          <a:xfrm>
            <a:off x="2455094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9105668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9105668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3399503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54327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304800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04799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207137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207136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430077" y="3576613"/>
            <a:ext cx="5354462" cy="60463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182844" y="2786705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4"/>
                </a:solidFill>
              </a:rPr>
              <a:t>网络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199516" y="2786705"/>
            <a:ext cx="74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网络</a:t>
            </a:r>
            <a:r>
              <a:rPr lang="en-US" altLang="zh-CN" b="1" dirty="0">
                <a:solidFill>
                  <a:schemeClr val="accent3"/>
                </a:solidFill>
              </a:rPr>
              <a:t>4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182844" y="4511862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5"/>
                </a:solidFill>
              </a:rPr>
              <a:t>网络</a:t>
            </a:r>
            <a:r>
              <a:rPr lang="en-US" altLang="zh-CN" b="1" dirty="0">
                <a:solidFill>
                  <a:schemeClr val="accent5"/>
                </a:solidFill>
              </a:rPr>
              <a:t>2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99516" y="4512950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网络</a:t>
            </a:r>
            <a:r>
              <a:rPr lang="en-US" altLang="zh-CN" b="1" dirty="0">
                <a:solidFill>
                  <a:schemeClr val="accent6"/>
                </a:solidFill>
              </a:rPr>
              <a:t>3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686713" y="3844823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1"/>
                </a:solidFill>
              </a:rPr>
              <a:t>网络</a:t>
            </a:r>
            <a:r>
              <a:rPr lang="en-US" altLang="zh-CN" b="1" dirty="0">
                <a:solidFill>
                  <a:schemeClr val="accent1"/>
                </a:solidFill>
              </a:rPr>
              <a:t>5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70375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2276481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25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8172712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8144629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3238453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4"/>
                </a:solidFill>
              </a:rPr>
              <a:t>CIDR</a:t>
            </a:r>
            <a:r>
              <a:rPr lang="zh-CN" altLang="en-US" sz="1600" b="1" dirty="0">
                <a:solidFill>
                  <a:schemeClr val="accent4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4"/>
                </a:solidFill>
              </a:rPr>
              <a:t>218.75.230.32/28</a:t>
            </a:r>
            <a:endParaRPr lang="en-US" altLang="zh-CN" sz="1600" b="1" dirty="0">
              <a:solidFill>
                <a:schemeClr val="accent4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199516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</a:rPr>
              <a:t>CIDR</a:t>
            </a:r>
            <a:r>
              <a:rPr lang="zh-CN" altLang="en-US" sz="1600" b="1" dirty="0">
                <a:solidFill>
                  <a:schemeClr val="accent3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3"/>
                </a:solidFill>
              </a:rPr>
              <a:t>218.75.230.64/28</a:t>
            </a:r>
            <a:endParaRPr lang="en-US" altLang="zh-CN" sz="1600" b="1" dirty="0">
              <a:solidFill>
                <a:schemeClr val="accent3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238453" y="4245048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5"/>
                </a:solidFill>
              </a:rPr>
              <a:t>CIDR</a:t>
            </a:r>
            <a:r>
              <a:rPr lang="zh-CN" altLang="en-US" sz="1600" b="1" dirty="0">
                <a:solidFill>
                  <a:schemeClr val="accent5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5"/>
                </a:solidFill>
              </a:rPr>
              <a:t>218.75.230.0/27</a:t>
            </a:r>
            <a:endParaRPr lang="en-US" altLang="zh-CN" sz="1600" b="1" dirty="0">
              <a:solidFill>
                <a:schemeClr val="accent5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199516" y="4246136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</a:rPr>
              <a:t>CIDR</a:t>
            </a:r>
            <a:r>
              <a:rPr lang="zh-CN" altLang="en-US" sz="1600" b="1" dirty="0">
                <a:solidFill>
                  <a:schemeClr val="accent6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6"/>
                </a:solidFill>
              </a:rPr>
              <a:t>218.75.230.48/28</a:t>
            </a:r>
            <a:endParaRPr lang="en-US" altLang="zh-CN" sz="1600" b="1" dirty="0">
              <a:solidFill>
                <a:schemeClr val="accent6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309841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218.75.230.33/28</a:t>
            </a:r>
            <a:endParaRPr lang="en-US" altLang="zh-CN" sz="1400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3821967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218.75.230.34/28</a:t>
            </a:r>
            <a:endParaRPr lang="en-US" altLang="zh-CN" sz="1400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304800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218.75.230.1/27</a:t>
            </a:r>
            <a:endParaRPr lang="en-US" altLang="zh-CN" sz="1400" b="1" dirty="0"/>
          </a:p>
        </p:txBody>
      </p:sp>
      <p:sp>
        <p:nvSpPr>
          <p:cNvPr id="102" name="文本框 101"/>
          <p:cNvSpPr txBox="1"/>
          <p:nvPr/>
        </p:nvSpPr>
        <p:spPr>
          <a:xfrm>
            <a:off x="3821967" y="5861618"/>
            <a:ext cx="2164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218.75.230.2/27</a:t>
            </a:r>
            <a:endParaRPr lang="en-US" altLang="zh-CN" sz="14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6212178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218.75.230.65/28</a:t>
            </a:r>
            <a:endParaRPr lang="en-US" altLang="zh-CN" sz="14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9724304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218.75.230.66/28</a:t>
            </a:r>
            <a:endParaRPr lang="en-US" altLang="zh-CN" sz="1400" b="1" dirty="0"/>
          </a:p>
        </p:txBody>
      </p:sp>
      <p:sp>
        <p:nvSpPr>
          <p:cNvPr id="110" name="文本框 109"/>
          <p:cNvSpPr txBox="1"/>
          <p:nvPr/>
        </p:nvSpPr>
        <p:spPr>
          <a:xfrm>
            <a:off x="6207137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218.75.230.49/28</a:t>
            </a:r>
            <a:endParaRPr lang="en-US" altLang="zh-CN" sz="1400" b="1" dirty="0"/>
          </a:p>
        </p:txBody>
      </p:sp>
      <p:sp>
        <p:nvSpPr>
          <p:cNvPr id="117" name="文本框 116"/>
          <p:cNvSpPr txBox="1"/>
          <p:nvPr/>
        </p:nvSpPr>
        <p:spPr>
          <a:xfrm>
            <a:off x="9724304" y="5861618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218.75.230.50/28</a:t>
            </a:r>
            <a:endParaRPr lang="en-US" altLang="zh-CN" sz="1400" b="1" dirty="0"/>
          </a:p>
        </p:txBody>
      </p:sp>
      <p:sp>
        <p:nvSpPr>
          <p:cNvPr id="118" name="文本框 117"/>
          <p:cNvSpPr txBox="1"/>
          <p:nvPr/>
        </p:nvSpPr>
        <p:spPr>
          <a:xfrm>
            <a:off x="884361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218.75.230.46/28</a:t>
            </a:r>
            <a:endParaRPr lang="en-US" altLang="zh-CN" sz="1400" b="1" dirty="0"/>
          </a:p>
        </p:txBody>
      </p:sp>
      <p:sp>
        <p:nvSpPr>
          <p:cNvPr id="119" name="文本框 118"/>
          <p:cNvSpPr txBox="1"/>
          <p:nvPr/>
        </p:nvSpPr>
        <p:spPr>
          <a:xfrm>
            <a:off x="884361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218.75.230.30/27</a:t>
            </a:r>
            <a:endParaRPr lang="en-US" altLang="zh-CN" sz="1400" b="1" dirty="0"/>
          </a:p>
        </p:txBody>
      </p:sp>
      <p:sp>
        <p:nvSpPr>
          <p:cNvPr id="120" name="文本框 119"/>
          <p:cNvSpPr txBox="1"/>
          <p:nvPr/>
        </p:nvSpPr>
        <p:spPr>
          <a:xfrm>
            <a:off x="9096186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218.75.230.78/28</a:t>
            </a:r>
            <a:endParaRPr lang="en-US" altLang="zh-CN" sz="1400" b="1" dirty="0"/>
          </a:p>
        </p:txBody>
      </p:sp>
      <p:sp>
        <p:nvSpPr>
          <p:cNvPr id="121" name="文本框 120"/>
          <p:cNvSpPr txBox="1"/>
          <p:nvPr/>
        </p:nvSpPr>
        <p:spPr>
          <a:xfrm>
            <a:off x="9105668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218.75.230.62/28</a:t>
            </a:r>
            <a:endParaRPr lang="en-US" altLang="zh-CN" sz="1400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309841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2" name="文本框 121"/>
          <p:cNvSpPr txBox="1"/>
          <p:nvPr/>
        </p:nvSpPr>
        <p:spPr>
          <a:xfrm>
            <a:off x="3821967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3" name="文本框 122"/>
          <p:cNvSpPr txBox="1"/>
          <p:nvPr/>
        </p:nvSpPr>
        <p:spPr>
          <a:xfrm>
            <a:off x="304800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4" name="文本框 123"/>
          <p:cNvSpPr txBox="1"/>
          <p:nvPr/>
        </p:nvSpPr>
        <p:spPr>
          <a:xfrm>
            <a:off x="3821967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5" name="文本框 124"/>
          <p:cNvSpPr txBox="1"/>
          <p:nvPr/>
        </p:nvSpPr>
        <p:spPr>
          <a:xfrm>
            <a:off x="6212178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6" name="文本框 125"/>
          <p:cNvSpPr txBox="1"/>
          <p:nvPr/>
        </p:nvSpPr>
        <p:spPr>
          <a:xfrm>
            <a:off x="9724304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7" name="文本框 126"/>
          <p:cNvSpPr txBox="1"/>
          <p:nvPr/>
        </p:nvSpPr>
        <p:spPr>
          <a:xfrm>
            <a:off x="6207137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28" name="文本框 127"/>
          <p:cNvSpPr txBox="1"/>
          <p:nvPr/>
        </p:nvSpPr>
        <p:spPr>
          <a:xfrm>
            <a:off x="9724304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30" name="文本框 129"/>
          <p:cNvSpPr txBox="1"/>
          <p:nvPr/>
        </p:nvSpPr>
        <p:spPr>
          <a:xfrm>
            <a:off x="6570882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218.75.230.82/30</a:t>
            </a:r>
            <a:endParaRPr lang="en-US" altLang="zh-CN" sz="1400" b="1" dirty="0"/>
          </a:p>
        </p:txBody>
      </p:sp>
      <p:sp>
        <p:nvSpPr>
          <p:cNvPr id="131" name="等腰三角形 130"/>
          <p:cNvSpPr/>
          <p:nvPr/>
        </p:nvSpPr>
        <p:spPr>
          <a:xfrm>
            <a:off x="3089151" y="285737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等腰三角形 131"/>
          <p:cNvSpPr/>
          <p:nvPr/>
        </p:nvSpPr>
        <p:spPr>
          <a:xfrm>
            <a:off x="3090695" y="32687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等腰三角形 132"/>
          <p:cNvSpPr/>
          <p:nvPr/>
        </p:nvSpPr>
        <p:spPr>
          <a:xfrm>
            <a:off x="8999310" y="2834154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等腰三角形 133"/>
          <p:cNvSpPr/>
          <p:nvPr/>
        </p:nvSpPr>
        <p:spPr>
          <a:xfrm>
            <a:off x="9000854" y="324554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等腰三角形 134"/>
          <p:cNvSpPr/>
          <p:nvPr/>
        </p:nvSpPr>
        <p:spPr>
          <a:xfrm>
            <a:off x="3093499" y="431675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等腰三角形 135"/>
          <p:cNvSpPr/>
          <p:nvPr/>
        </p:nvSpPr>
        <p:spPr>
          <a:xfrm>
            <a:off x="3095043" y="472814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等腰三角形 136"/>
          <p:cNvSpPr/>
          <p:nvPr/>
        </p:nvSpPr>
        <p:spPr>
          <a:xfrm>
            <a:off x="9001675" y="4321284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等腰三角形 137"/>
          <p:cNvSpPr/>
          <p:nvPr/>
        </p:nvSpPr>
        <p:spPr>
          <a:xfrm>
            <a:off x="9003219" y="473267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等腰三角形 138"/>
          <p:cNvSpPr/>
          <p:nvPr/>
        </p:nvSpPr>
        <p:spPr>
          <a:xfrm>
            <a:off x="3682531" y="381727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等腰三角形 139"/>
          <p:cNvSpPr/>
          <p:nvPr/>
        </p:nvSpPr>
        <p:spPr>
          <a:xfrm>
            <a:off x="8412718" y="381416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文本框 141"/>
          <p:cNvSpPr txBox="1"/>
          <p:nvPr/>
        </p:nvSpPr>
        <p:spPr>
          <a:xfrm>
            <a:off x="3399503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218.75.230.81/30</a:t>
            </a:r>
            <a:endParaRPr lang="en-US" altLang="zh-CN" sz="1400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4781653" y="3563919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</a:rPr>
              <a:t>CIDR</a:t>
            </a:r>
            <a:r>
              <a:rPr lang="zh-CN" altLang="en-US" sz="1600" b="1" dirty="0">
                <a:solidFill>
                  <a:schemeClr val="accent1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1"/>
                </a:solidFill>
              </a:rPr>
              <a:t>218.75.230.80/30</a:t>
            </a:r>
            <a:endParaRPr lang="en-US" altLang="zh-CN" sz="16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21151" y="685800"/>
            <a:ext cx="275010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7.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9" name="20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7604" y="3377119"/>
            <a:ext cx="3309761" cy="1387325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4847344" y="2431008"/>
            <a:ext cx="3258944" cy="946111"/>
            <a:chOff x="6341560" y="2120635"/>
            <a:chExt cx="3258944" cy="946111"/>
          </a:xfrm>
        </p:grpSpPr>
        <p:cxnSp>
          <p:nvCxnSpPr>
            <p:cNvPr id="32" name="直接箭头连接符 31"/>
            <p:cNvCxnSpPr/>
            <p:nvPr/>
          </p:nvCxnSpPr>
          <p:spPr>
            <a:xfrm>
              <a:off x="7713516" y="2520745"/>
              <a:ext cx="0" cy="546001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/>
            <p:nvPr/>
          </p:nvSpPr>
          <p:spPr>
            <a:xfrm>
              <a:off x="6341560" y="2120635"/>
              <a:ext cx="32589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切换到“实时”工作模式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21151" y="685800"/>
            <a:ext cx="275010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7.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cxnSp>
        <p:nvCxnSpPr>
          <p:cNvPr id="68" name="直接连接符 67"/>
          <p:cNvCxnSpPr/>
          <p:nvPr/>
        </p:nvCxnSpPr>
        <p:spPr>
          <a:xfrm>
            <a:off x="3358290" y="3875212"/>
            <a:ext cx="546188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9061677" y="4028174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9061677" y="2616910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3150499" y="4028174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3150499" y="2616910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2455094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2" name="文本框 111"/>
          <p:cNvSpPr txBox="1"/>
          <p:nvPr/>
        </p:nvSpPr>
        <p:spPr>
          <a:xfrm>
            <a:off x="2455094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9105668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9105668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3399503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54327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304800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04799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207137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207136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430077" y="3576613"/>
            <a:ext cx="5354462" cy="60463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182844" y="2786705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4"/>
                </a:solidFill>
              </a:rPr>
              <a:t>网络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199516" y="2786705"/>
            <a:ext cx="74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网络</a:t>
            </a:r>
            <a:r>
              <a:rPr lang="en-US" altLang="zh-CN" b="1" dirty="0">
                <a:solidFill>
                  <a:schemeClr val="accent3"/>
                </a:solidFill>
              </a:rPr>
              <a:t>4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182844" y="4511862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5"/>
                </a:solidFill>
              </a:rPr>
              <a:t>网络</a:t>
            </a:r>
            <a:r>
              <a:rPr lang="en-US" altLang="zh-CN" b="1" dirty="0">
                <a:solidFill>
                  <a:schemeClr val="accent5"/>
                </a:solidFill>
              </a:rPr>
              <a:t>2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99516" y="4512950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网络</a:t>
            </a:r>
            <a:r>
              <a:rPr lang="en-US" altLang="zh-CN" b="1" dirty="0">
                <a:solidFill>
                  <a:schemeClr val="accent6"/>
                </a:solidFill>
              </a:rPr>
              <a:t>3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686713" y="3844823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1"/>
                </a:solidFill>
              </a:rPr>
              <a:t>网络</a:t>
            </a:r>
            <a:r>
              <a:rPr lang="en-US" altLang="zh-CN" b="1" dirty="0">
                <a:solidFill>
                  <a:schemeClr val="accent1"/>
                </a:solidFill>
              </a:rPr>
              <a:t>5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70375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2276481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25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8172712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8144629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3238453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4"/>
                </a:solidFill>
              </a:rPr>
              <a:t>CIDR</a:t>
            </a:r>
            <a:r>
              <a:rPr lang="zh-CN" altLang="en-US" sz="1600" b="1" dirty="0">
                <a:solidFill>
                  <a:schemeClr val="accent4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4"/>
                </a:solidFill>
              </a:rPr>
              <a:t>218.75.230.32/28</a:t>
            </a:r>
            <a:endParaRPr lang="en-US" altLang="zh-CN" sz="1600" b="1" dirty="0">
              <a:solidFill>
                <a:schemeClr val="accent4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199516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</a:rPr>
              <a:t>CIDR</a:t>
            </a:r>
            <a:r>
              <a:rPr lang="zh-CN" altLang="en-US" sz="1600" b="1" dirty="0">
                <a:solidFill>
                  <a:schemeClr val="accent3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3"/>
                </a:solidFill>
              </a:rPr>
              <a:t>218.75.230.64/28</a:t>
            </a:r>
            <a:endParaRPr lang="en-US" altLang="zh-CN" sz="1600" b="1" dirty="0">
              <a:solidFill>
                <a:schemeClr val="accent3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238453" y="4245048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5"/>
                </a:solidFill>
              </a:rPr>
              <a:t>CIDR</a:t>
            </a:r>
            <a:r>
              <a:rPr lang="zh-CN" altLang="en-US" sz="1600" b="1" dirty="0">
                <a:solidFill>
                  <a:schemeClr val="accent5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5"/>
                </a:solidFill>
              </a:rPr>
              <a:t>218.75.230.0/27</a:t>
            </a:r>
            <a:endParaRPr lang="en-US" altLang="zh-CN" sz="1600" b="1" dirty="0">
              <a:solidFill>
                <a:schemeClr val="accent5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199516" y="4246136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</a:rPr>
              <a:t>CIDR</a:t>
            </a:r>
            <a:r>
              <a:rPr lang="zh-CN" altLang="en-US" sz="1600" b="1" dirty="0">
                <a:solidFill>
                  <a:schemeClr val="accent6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6"/>
                </a:solidFill>
              </a:rPr>
              <a:t>218.75.230.48/28</a:t>
            </a:r>
            <a:endParaRPr lang="en-US" altLang="zh-CN" sz="1600" b="1" dirty="0">
              <a:solidFill>
                <a:schemeClr val="accent6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309841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218.75.230.33/28</a:t>
            </a:r>
            <a:endParaRPr lang="en-US" altLang="zh-CN" sz="1400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3821967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218.75.230.34/28</a:t>
            </a:r>
            <a:endParaRPr lang="en-US" altLang="zh-CN" sz="1400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304800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218.75.230.1/27</a:t>
            </a:r>
            <a:endParaRPr lang="en-US" altLang="zh-CN" sz="1400" b="1" dirty="0"/>
          </a:p>
        </p:txBody>
      </p:sp>
      <p:sp>
        <p:nvSpPr>
          <p:cNvPr id="102" name="文本框 101"/>
          <p:cNvSpPr txBox="1"/>
          <p:nvPr/>
        </p:nvSpPr>
        <p:spPr>
          <a:xfrm>
            <a:off x="3821967" y="5861618"/>
            <a:ext cx="2164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218.75.230.2/27</a:t>
            </a:r>
            <a:endParaRPr lang="en-US" altLang="zh-CN" sz="14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6212178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218.75.230.65/28</a:t>
            </a:r>
            <a:endParaRPr lang="en-US" altLang="zh-CN" sz="14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9724304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218.75.230.66/28</a:t>
            </a:r>
            <a:endParaRPr lang="en-US" altLang="zh-CN" sz="1400" b="1" dirty="0"/>
          </a:p>
        </p:txBody>
      </p:sp>
      <p:sp>
        <p:nvSpPr>
          <p:cNvPr id="110" name="文本框 109"/>
          <p:cNvSpPr txBox="1"/>
          <p:nvPr/>
        </p:nvSpPr>
        <p:spPr>
          <a:xfrm>
            <a:off x="6207137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218.75.230.49/28</a:t>
            </a:r>
            <a:endParaRPr lang="en-US" altLang="zh-CN" sz="1400" b="1" dirty="0"/>
          </a:p>
        </p:txBody>
      </p:sp>
      <p:sp>
        <p:nvSpPr>
          <p:cNvPr id="117" name="文本框 116"/>
          <p:cNvSpPr txBox="1"/>
          <p:nvPr/>
        </p:nvSpPr>
        <p:spPr>
          <a:xfrm>
            <a:off x="9724304" y="5861618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218.75.230.50/28</a:t>
            </a:r>
            <a:endParaRPr lang="en-US" altLang="zh-CN" sz="1400" b="1" dirty="0"/>
          </a:p>
        </p:txBody>
      </p:sp>
      <p:sp>
        <p:nvSpPr>
          <p:cNvPr id="118" name="文本框 117"/>
          <p:cNvSpPr txBox="1"/>
          <p:nvPr/>
        </p:nvSpPr>
        <p:spPr>
          <a:xfrm>
            <a:off x="884361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218.75.230.46/28</a:t>
            </a:r>
            <a:endParaRPr lang="en-US" altLang="zh-CN" sz="1400" b="1" dirty="0"/>
          </a:p>
        </p:txBody>
      </p:sp>
      <p:sp>
        <p:nvSpPr>
          <p:cNvPr id="119" name="文本框 118"/>
          <p:cNvSpPr txBox="1"/>
          <p:nvPr/>
        </p:nvSpPr>
        <p:spPr>
          <a:xfrm>
            <a:off x="884361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218.75.230.30/27</a:t>
            </a:r>
            <a:endParaRPr lang="en-US" altLang="zh-CN" sz="1400" b="1" dirty="0"/>
          </a:p>
        </p:txBody>
      </p:sp>
      <p:sp>
        <p:nvSpPr>
          <p:cNvPr id="120" name="文本框 119"/>
          <p:cNvSpPr txBox="1"/>
          <p:nvPr/>
        </p:nvSpPr>
        <p:spPr>
          <a:xfrm>
            <a:off x="9096186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218.75.230.78/28</a:t>
            </a:r>
            <a:endParaRPr lang="en-US" altLang="zh-CN" sz="1400" b="1" dirty="0"/>
          </a:p>
        </p:txBody>
      </p:sp>
      <p:sp>
        <p:nvSpPr>
          <p:cNvPr id="121" name="文本框 120"/>
          <p:cNvSpPr txBox="1"/>
          <p:nvPr/>
        </p:nvSpPr>
        <p:spPr>
          <a:xfrm>
            <a:off x="9105668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218.75.230.62/28</a:t>
            </a:r>
            <a:endParaRPr lang="en-US" altLang="zh-CN" sz="1400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309841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2" name="文本框 121"/>
          <p:cNvSpPr txBox="1"/>
          <p:nvPr/>
        </p:nvSpPr>
        <p:spPr>
          <a:xfrm>
            <a:off x="3821967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3" name="文本框 122"/>
          <p:cNvSpPr txBox="1"/>
          <p:nvPr/>
        </p:nvSpPr>
        <p:spPr>
          <a:xfrm>
            <a:off x="304800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4" name="文本框 123"/>
          <p:cNvSpPr txBox="1"/>
          <p:nvPr/>
        </p:nvSpPr>
        <p:spPr>
          <a:xfrm>
            <a:off x="3821967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5" name="文本框 124"/>
          <p:cNvSpPr txBox="1"/>
          <p:nvPr/>
        </p:nvSpPr>
        <p:spPr>
          <a:xfrm>
            <a:off x="6212178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6" name="文本框 125"/>
          <p:cNvSpPr txBox="1"/>
          <p:nvPr/>
        </p:nvSpPr>
        <p:spPr>
          <a:xfrm>
            <a:off x="9724304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7" name="文本框 126"/>
          <p:cNvSpPr txBox="1"/>
          <p:nvPr/>
        </p:nvSpPr>
        <p:spPr>
          <a:xfrm>
            <a:off x="6207137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28" name="文本框 127"/>
          <p:cNvSpPr txBox="1"/>
          <p:nvPr/>
        </p:nvSpPr>
        <p:spPr>
          <a:xfrm>
            <a:off x="9724304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30" name="文本框 129"/>
          <p:cNvSpPr txBox="1"/>
          <p:nvPr/>
        </p:nvSpPr>
        <p:spPr>
          <a:xfrm>
            <a:off x="6570882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218.75.230.82/30</a:t>
            </a:r>
            <a:endParaRPr lang="en-US" altLang="zh-CN" sz="1400" b="1" dirty="0"/>
          </a:p>
        </p:txBody>
      </p:sp>
      <p:sp>
        <p:nvSpPr>
          <p:cNvPr id="131" name="等腰三角形 130"/>
          <p:cNvSpPr/>
          <p:nvPr/>
        </p:nvSpPr>
        <p:spPr>
          <a:xfrm>
            <a:off x="3089151" y="285737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等腰三角形 131"/>
          <p:cNvSpPr/>
          <p:nvPr/>
        </p:nvSpPr>
        <p:spPr>
          <a:xfrm>
            <a:off x="3090695" y="32687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等腰三角形 132"/>
          <p:cNvSpPr/>
          <p:nvPr/>
        </p:nvSpPr>
        <p:spPr>
          <a:xfrm>
            <a:off x="8999310" y="2834154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等腰三角形 133"/>
          <p:cNvSpPr/>
          <p:nvPr/>
        </p:nvSpPr>
        <p:spPr>
          <a:xfrm>
            <a:off x="9000854" y="324554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等腰三角形 134"/>
          <p:cNvSpPr/>
          <p:nvPr/>
        </p:nvSpPr>
        <p:spPr>
          <a:xfrm>
            <a:off x="3093499" y="431675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等腰三角形 135"/>
          <p:cNvSpPr/>
          <p:nvPr/>
        </p:nvSpPr>
        <p:spPr>
          <a:xfrm>
            <a:off x="3095043" y="472814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等腰三角形 136"/>
          <p:cNvSpPr/>
          <p:nvPr/>
        </p:nvSpPr>
        <p:spPr>
          <a:xfrm>
            <a:off x="9001675" y="4321284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等腰三角形 137"/>
          <p:cNvSpPr/>
          <p:nvPr/>
        </p:nvSpPr>
        <p:spPr>
          <a:xfrm>
            <a:off x="9003219" y="473267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等腰三角形 138"/>
          <p:cNvSpPr/>
          <p:nvPr/>
        </p:nvSpPr>
        <p:spPr>
          <a:xfrm>
            <a:off x="3682531" y="381727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等腰三角形 139"/>
          <p:cNvSpPr/>
          <p:nvPr/>
        </p:nvSpPr>
        <p:spPr>
          <a:xfrm>
            <a:off x="8412718" y="381416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文本框 141"/>
          <p:cNvSpPr txBox="1"/>
          <p:nvPr/>
        </p:nvSpPr>
        <p:spPr>
          <a:xfrm>
            <a:off x="3399503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218.75.230.81/30</a:t>
            </a:r>
            <a:endParaRPr lang="en-US" altLang="zh-CN" sz="1400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4781653" y="3563919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</a:rPr>
              <a:t>CIDR</a:t>
            </a:r>
            <a:r>
              <a:rPr lang="zh-CN" altLang="en-US" sz="1600" b="1" dirty="0">
                <a:solidFill>
                  <a:schemeClr val="accent1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1"/>
                </a:solidFill>
              </a:rPr>
              <a:t>218.75.230.80/30</a:t>
            </a:r>
            <a:endParaRPr lang="en-US" altLang="zh-CN" sz="1600" b="1" dirty="0">
              <a:solidFill>
                <a:schemeClr val="accent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234330" y="1396607"/>
            <a:ext cx="3040650" cy="188791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chemeClr val="bg1"/>
                </a:solidFill>
              </a:rPr>
              <a:t>         在计算机</a:t>
            </a:r>
            <a:r>
              <a:rPr lang="en-US" altLang="zh-CN" sz="1800" b="1" dirty="0">
                <a:solidFill>
                  <a:schemeClr val="bg1"/>
                </a:solidFill>
              </a:rPr>
              <a:t>PC0</a:t>
            </a:r>
            <a:r>
              <a:rPr lang="zh-CN" altLang="en-US" sz="1800" b="1" dirty="0">
                <a:solidFill>
                  <a:schemeClr val="bg1"/>
                </a:solidFill>
              </a:rPr>
              <a:t>的命令行使用“</a:t>
            </a:r>
            <a:r>
              <a:rPr lang="en-US" altLang="zh-CN" sz="1800" b="1" dirty="0">
                <a:solidFill>
                  <a:schemeClr val="bg1"/>
                </a:solidFill>
              </a:rPr>
              <a:t>ping</a:t>
            </a:r>
            <a:r>
              <a:rPr lang="zh-CN" altLang="en-US" sz="1800" b="1" dirty="0">
                <a:solidFill>
                  <a:schemeClr val="bg1"/>
                </a:solidFill>
              </a:rPr>
              <a:t>”命令，分别测试</a:t>
            </a:r>
            <a:r>
              <a:rPr lang="en-US" altLang="zh-CN" sz="1800" b="1" dirty="0">
                <a:solidFill>
                  <a:schemeClr val="bg1"/>
                </a:solidFill>
              </a:rPr>
              <a:t>PC0</a:t>
            </a:r>
            <a:r>
              <a:rPr lang="zh-CN" altLang="en-US" sz="1800" b="1" dirty="0">
                <a:solidFill>
                  <a:schemeClr val="bg1"/>
                </a:solidFill>
              </a:rPr>
              <a:t>与</a:t>
            </a:r>
            <a:r>
              <a:rPr lang="zh-CN" altLang="en-US" b="1" dirty="0">
                <a:solidFill>
                  <a:schemeClr val="bg1"/>
                </a:solidFill>
              </a:rPr>
              <a:t>其他各</a:t>
            </a:r>
            <a:r>
              <a:rPr lang="en-US" altLang="zh-CN" b="1" dirty="0">
                <a:solidFill>
                  <a:schemeClr val="bg1"/>
                </a:solidFill>
              </a:rPr>
              <a:t>PC</a:t>
            </a:r>
            <a:r>
              <a:rPr lang="zh-CN" altLang="en-US" sz="1800" b="1" dirty="0">
                <a:solidFill>
                  <a:schemeClr val="bg1"/>
                </a:solidFill>
              </a:rPr>
              <a:t>之间的连通性。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21151" y="685800"/>
            <a:ext cx="275010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7.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2" name="20 31" descr="文本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1987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4721151" y="582508"/>
            <a:ext cx="5032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// 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测试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与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PC1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的连通性（同一网络）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97277" y="582508"/>
            <a:ext cx="4623874" cy="1888318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97277" y="2563708"/>
            <a:ext cx="4623874" cy="1888318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4721151" y="2470826"/>
            <a:ext cx="6731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// 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测试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与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PC2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的连通性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//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（不同网络，需要经过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Router0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的转发）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13483" y="4544908"/>
            <a:ext cx="4623874" cy="1888318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4737357" y="4452026"/>
            <a:ext cx="6731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// 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测试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与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PC4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的连通性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//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（不同网络，需要经过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Router0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和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Router1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的转发）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345658" y="2861536"/>
            <a:ext cx="324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?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1345658" y="4940952"/>
            <a:ext cx="324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?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1686124" y="3000035"/>
            <a:ext cx="208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</a:t>
            </a:r>
            <a:r>
              <a:rPr lang="zh-CN" altLang="en-US" b="1" dirty="0">
                <a:solidFill>
                  <a:srgbClr val="FF0000"/>
                </a:solidFill>
              </a:rPr>
              <a:t>原因参看实验</a:t>
            </a:r>
            <a:r>
              <a:rPr lang="en-US" altLang="zh-CN" b="1" dirty="0">
                <a:solidFill>
                  <a:srgbClr val="FF0000"/>
                </a:solidFill>
              </a:rPr>
              <a:t>4-2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1686124" y="5098357"/>
            <a:ext cx="208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</a:t>
            </a:r>
            <a:r>
              <a:rPr lang="zh-CN" altLang="en-US" b="1" dirty="0">
                <a:solidFill>
                  <a:srgbClr val="FF0000"/>
                </a:solidFill>
              </a:rPr>
              <a:t>原因参看实验</a:t>
            </a:r>
            <a:r>
              <a:rPr lang="en-US" altLang="zh-CN" b="1" dirty="0">
                <a:solidFill>
                  <a:srgbClr val="FF0000"/>
                </a:solidFill>
              </a:rPr>
              <a:t>4-2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 decel="100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 decel="100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1" grpId="0" animBg="1"/>
      <p:bldP spid="43" grpId="0" animBg="1"/>
      <p:bldP spid="44" grpId="0"/>
      <p:bldP spid="70" grpId="0" animBg="1"/>
      <p:bldP spid="71" grpId="0"/>
      <p:bldP spid="72" grpId="0"/>
      <p:bldP spid="96" grpId="0"/>
      <p:bldP spid="129" grpId="0"/>
      <p:bldP spid="14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21151" y="685800"/>
            <a:ext cx="275010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7.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2" name="20 31" descr="文本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1987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4721151" y="582508"/>
            <a:ext cx="5032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// 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测试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与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PC1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的连通性（同一网络）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97277" y="582508"/>
            <a:ext cx="4623874" cy="1888318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97277" y="2563708"/>
            <a:ext cx="4623874" cy="1888318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4721151" y="2470826"/>
            <a:ext cx="6731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// 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测试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与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PC2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的连通性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//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（不同网络，需要经过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Router0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的转发）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13483" y="4544908"/>
            <a:ext cx="4623874" cy="1888318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4737357" y="4452026"/>
            <a:ext cx="6731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// 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测试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与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PC4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的连通性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//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（不同网络，需要经过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Router0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和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Router1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的转发）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345658" y="2861536"/>
            <a:ext cx="324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?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1345658" y="4940952"/>
            <a:ext cx="324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?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1686124" y="3000035"/>
            <a:ext cx="208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</a:t>
            </a:r>
            <a:r>
              <a:rPr lang="zh-CN" altLang="en-US" b="1" dirty="0">
                <a:solidFill>
                  <a:srgbClr val="FF0000"/>
                </a:solidFill>
              </a:rPr>
              <a:t>原因参看实验</a:t>
            </a:r>
            <a:r>
              <a:rPr lang="en-US" altLang="zh-CN" b="1" dirty="0">
                <a:solidFill>
                  <a:srgbClr val="FF0000"/>
                </a:solidFill>
              </a:rPr>
              <a:t>4-2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1686124" y="5098357"/>
            <a:ext cx="208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</a:t>
            </a:r>
            <a:r>
              <a:rPr lang="zh-CN" altLang="en-US" b="1" dirty="0">
                <a:solidFill>
                  <a:srgbClr val="FF0000"/>
                </a:solidFill>
              </a:rPr>
              <a:t>原因参看实验</a:t>
            </a:r>
            <a:r>
              <a:rPr lang="en-US" altLang="zh-CN" b="1" dirty="0">
                <a:solidFill>
                  <a:srgbClr val="FF0000"/>
                </a:solidFill>
              </a:rPr>
              <a:t>4-2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8709489" y="582508"/>
            <a:ext cx="3177711" cy="41197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</a:rPr>
              <a:t>         如果测试失败，请检查网络拓扑、主机的</a:t>
            </a:r>
            <a:r>
              <a:rPr lang="en-US" altLang="zh-CN" sz="2000" b="1" dirty="0">
                <a:solidFill>
                  <a:schemeClr val="bg1"/>
                </a:solidFill>
              </a:rPr>
              <a:t>IP</a:t>
            </a:r>
            <a:r>
              <a:rPr lang="zh-CN" altLang="en-US" sz="2000" b="1" dirty="0">
                <a:solidFill>
                  <a:schemeClr val="bg1"/>
                </a:solidFill>
              </a:rPr>
              <a:t>地址、子网掩码以及默认网关的</a:t>
            </a:r>
            <a:r>
              <a:rPr lang="en-US" altLang="zh-CN" sz="2000" b="1" dirty="0">
                <a:solidFill>
                  <a:schemeClr val="bg1"/>
                </a:solidFill>
              </a:rPr>
              <a:t>IP</a:t>
            </a:r>
            <a:r>
              <a:rPr lang="zh-CN" altLang="en-US" sz="2000" b="1" dirty="0">
                <a:solidFill>
                  <a:schemeClr val="bg1"/>
                </a:solidFill>
              </a:rPr>
              <a:t>地址配置、路由器相关接口的</a:t>
            </a:r>
            <a:r>
              <a:rPr lang="en-US" altLang="zh-CN" sz="2000" b="1" dirty="0">
                <a:solidFill>
                  <a:schemeClr val="bg1"/>
                </a:solidFill>
              </a:rPr>
              <a:t>IP</a:t>
            </a:r>
            <a:r>
              <a:rPr lang="zh-CN" altLang="en-US" sz="2000" b="1" dirty="0">
                <a:solidFill>
                  <a:schemeClr val="bg1"/>
                </a:solidFill>
              </a:rPr>
              <a:t>地址和子网掩码配置、给各路由器添加的静态路由条目、各网络设备相关接口的状态是否正确。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74582" y="685800"/>
            <a:ext cx="7051871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更换本实验的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地址划分方案后重新进行本实验</a:t>
            </a:r>
            <a:endParaRPr lang="en-US" altLang="zh-CN" sz="2400" b="1" dirty="0"/>
          </a:p>
        </p:txBody>
      </p:sp>
      <p:cxnSp>
        <p:nvCxnSpPr>
          <p:cNvPr id="68" name="直接连接符 67"/>
          <p:cNvCxnSpPr/>
          <p:nvPr/>
        </p:nvCxnSpPr>
        <p:spPr>
          <a:xfrm>
            <a:off x="3358290" y="3875212"/>
            <a:ext cx="546188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9061677" y="4028174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9061677" y="2616910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6880495" y="5097630"/>
            <a:ext cx="2240951" cy="468638"/>
            <a:chOff x="969317" y="5097630"/>
            <a:chExt cx="2240951" cy="468638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等腰三角形 47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97177" y="5052131"/>
            <a:ext cx="2002620" cy="575700"/>
            <a:chOff x="3285999" y="5052131"/>
            <a:chExt cx="2002620" cy="575700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等腰三角形 51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67930" y="2066939"/>
            <a:ext cx="2142721" cy="549644"/>
            <a:chOff x="3256752" y="2066939"/>
            <a:chExt cx="2142721" cy="549644"/>
          </a:xfrm>
        </p:grpSpPr>
        <p:cxnSp>
          <p:nvCxnSpPr>
            <p:cNvPr id="56" name="直接连接符 55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等腰三角形 56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24825" y="2072055"/>
            <a:ext cx="2343105" cy="566173"/>
            <a:chOff x="913647" y="2072055"/>
            <a:chExt cx="2343105" cy="56617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等腰三角形 63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3150499" y="4028174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3150499" y="2616910"/>
            <a:ext cx="0" cy="1097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969317" y="5097630"/>
            <a:ext cx="2240951" cy="468638"/>
            <a:chOff x="969317" y="5097630"/>
            <a:chExt cx="2240951" cy="468638"/>
          </a:xfrm>
        </p:grpSpPr>
        <p:cxnSp>
          <p:nvCxnSpPr>
            <p:cNvPr id="18" name="直接连接符 17"/>
            <p:cNvCxnSpPr/>
            <p:nvPr/>
          </p:nvCxnSpPr>
          <p:spPr>
            <a:xfrm flipV="1">
              <a:off x="969317" y="5097630"/>
              <a:ext cx="2240951" cy="4686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>
              <a:off x="1279348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85999" y="5052131"/>
            <a:ext cx="2002620" cy="575700"/>
            <a:chOff x="3285999" y="5052131"/>
            <a:chExt cx="2002620" cy="57570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3285999" y="5052131"/>
              <a:ext cx="2002620" cy="575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>
              <a:off x="4846326" y="5461231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256752" y="2066939"/>
            <a:ext cx="2142721" cy="549644"/>
            <a:chOff x="3256752" y="2066939"/>
            <a:chExt cx="2142721" cy="549644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3256752" y="2066939"/>
              <a:ext cx="2142721" cy="5496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>
              <a:off x="4916403" y="2097066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647" y="2072055"/>
            <a:ext cx="2343105" cy="566173"/>
            <a:chOff x="913647" y="2072055"/>
            <a:chExt cx="2343105" cy="566173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913647" y="2072055"/>
              <a:ext cx="2343105" cy="5661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等腰三角形 7"/>
            <p:cNvSpPr/>
            <p:nvPr/>
          </p:nvSpPr>
          <p:spPr>
            <a:xfrm>
              <a:off x="1285074" y="2131097"/>
              <a:ext cx="111831" cy="96406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60182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PC0</a:t>
            </a:r>
            <a:endParaRPr lang="zh-CN" altLang="en-US" sz="1400" b="1" dirty="0"/>
          </a:p>
        </p:txBody>
      </p:sp>
      <p:pic>
        <p:nvPicPr>
          <p:cNvPr id="28" name="20 2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1941431"/>
            <a:ext cx="428747" cy="364205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93" y="3679455"/>
            <a:ext cx="530013" cy="3816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80482" y="36242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Router0</a:t>
            </a:r>
            <a:endParaRPr lang="zh-CN" altLang="en-US" sz="1400" b="1" dirty="0"/>
          </a:p>
        </p:txBody>
      </p:sp>
      <p:pic>
        <p:nvPicPr>
          <p:cNvPr id="10" name="20 9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2488059"/>
            <a:ext cx="514485" cy="2644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74268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Switch0</a:t>
            </a:r>
            <a:endParaRPr lang="zh-CN" altLang="en-US" sz="1400" b="1" dirty="0"/>
          </a:p>
        </p:txBody>
      </p:sp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1941431"/>
            <a:ext cx="428747" cy="364205"/>
          </a:xfrm>
          <a:prstGeom prst="rect">
            <a:avLst/>
          </a:prstGeom>
        </p:spPr>
      </p:pic>
      <p:pic>
        <p:nvPicPr>
          <p:cNvPr id="39" name="20 3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36" y="4987764"/>
            <a:ext cx="514485" cy="264455"/>
          </a:xfrm>
          <a:prstGeom prst="rect">
            <a:avLst/>
          </a:prstGeom>
        </p:spPr>
      </p:pic>
      <p:pic>
        <p:nvPicPr>
          <p:cNvPr id="40" name="20 3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59" y="5445729"/>
            <a:ext cx="428747" cy="364205"/>
          </a:xfrm>
          <a:prstGeom prst="rect">
            <a:avLst/>
          </a:prstGeom>
        </p:spPr>
      </p:pic>
      <p:pic>
        <p:nvPicPr>
          <p:cNvPr id="45" name="20 44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152" y="5445729"/>
            <a:ext cx="428747" cy="36420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174268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Switch1</a:t>
            </a:r>
            <a:endParaRPr lang="zh-CN" altLang="en-US" sz="1400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5033888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PC1</a:t>
            </a:r>
            <a:endParaRPr lang="zh-CN" altLang="en-US" sz="1400" b="1" dirty="0"/>
          </a:p>
        </p:txBody>
      </p:sp>
      <p:sp>
        <p:nvSpPr>
          <p:cNvPr id="60" name="文本框 59"/>
          <p:cNvSpPr txBox="1"/>
          <p:nvPr/>
        </p:nvSpPr>
        <p:spPr>
          <a:xfrm>
            <a:off x="621112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PC2</a:t>
            </a:r>
            <a:endParaRPr lang="zh-CN" altLang="en-US" sz="1400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5033888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PC3</a:t>
            </a:r>
            <a:endParaRPr lang="zh-CN" altLang="en-US" sz="1400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6462519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PC4</a:t>
            </a:r>
            <a:endParaRPr lang="zh-CN" altLang="en-US" sz="1400" b="1" dirty="0"/>
          </a:p>
        </p:txBody>
      </p:sp>
      <p:pic>
        <p:nvPicPr>
          <p:cNvPr id="89" name="20 88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1941431"/>
            <a:ext cx="428747" cy="364205"/>
          </a:xfrm>
          <a:prstGeom prst="rect">
            <a:avLst/>
          </a:prstGeom>
        </p:spPr>
      </p:pic>
      <p:pic>
        <p:nvPicPr>
          <p:cNvPr id="90" name="20 89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0" y="3679455"/>
            <a:ext cx="530013" cy="381609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9173508" y="3616349"/>
            <a:ext cx="100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2911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Router1</a:t>
            </a:r>
            <a:endParaRPr lang="zh-CN" altLang="en-US" sz="1400" b="1" dirty="0"/>
          </a:p>
        </p:txBody>
      </p:sp>
      <p:pic>
        <p:nvPicPr>
          <p:cNvPr id="92" name="20 91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2488059"/>
            <a:ext cx="514485" cy="26445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7859599" y="2604389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Switch2</a:t>
            </a:r>
            <a:endParaRPr lang="zh-CN" altLang="en-US" sz="1400" b="1" dirty="0"/>
          </a:p>
        </p:txBody>
      </p:sp>
      <p:pic>
        <p:nvPicPr>
          <p:cNvPr id="94" name="20 93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1941431"/>
            <a:ext cx="428747" cy="364205"/>
          </a:xfrm>
          <a:prstGeom prst="rect">
            <a:avLst/>
          </a:prstGeom>
        </p:spPr>
      </p:pic>
      <p:pic>
        <p:nvPicPr>
          <p:cNvPr id="99" name="20 98" descr="图标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73" y="4987764"/>
            <a:ext cx="514485" cy="264455"/>
          </a:xfrm>
          <a:prstGeom prst="rect">
            <a:avLst/>
          </a:prstGeom>
        </p:spPr>
      </p:pic>
      <p:pic>
        <p:nvPicPr>
          <p:cNvPr id="100" name="20 99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96" y="5445729"/>
            <a:ext cx="428747" cy="364205"/>
          </a:xfrm>
          <a:prstGeom prst="rect">
            <a:avLst/>
          </a:prstGeom>
        </p:spPr>
      </p:pic>
      <p:pic>
        <p:nvPicPr>
          <p:cNvPr id="103" name="20 10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489" y="5445729"/>
            <a:ext cx="428747" cy="36420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7859599" y="4609855"/>
            <a:ext cx="1153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2960-24TT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Switch3</a:t>
            </a:r>
            <a:endParaRPr lang="zh-CN" altLang="en-US" sz="14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936225" y="2286545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PC5</a:t>
            </a:r>
            <a:endParaRPr lang="zh-CN" altLang="en-US" sz="1400" b="1" dirty="0"/>
          </a:p>
        </p:txBody>
      </p:sp>
      <p:sp>
        <p:nvSpPr>
          <p:cNvPr id="108" name="文本框 107"/>
          <p:cNvSpPr txBox="1"/>
          <p:nvPr/>
        </p:nvSpPr>
        <p:spPr>
          <a:xfrm>
            <a:off x="6523449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PC6</a:t>
            </a:r>
            <a:endParaRPr lang="zh-CN" altLang="en-US" sz="1400" b="1" dirty="0"/>
          </a:p>
        </p:txBody>
      </p:sp>
      <p:sp>
        <p:nvSpPr>
          <p:cNvPr id="109" name="文本框 108"/>
          <p:cNvSpPr txBox="1"/>
          <p:nvPr/>
        </p:nvSpPr>
        <p:spPr>
          <a:xfrm>
            <a:off x="10936225" y="4938173"/>
            <a:ext cx="706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PC-PT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PC7</a:t>
            </a:r>
            <a:endParaRPr lang="zh-CN" altLang="en-US" sz="1400" b="1" dirty="0"/>
          </a:p>
        </p:txBody>
      </p:sp>
      <p:sp>
        <p:nvSpPr>
          <p:cNvPr id="67" name="等腰三角形 66"/>
          <p:cNvSpPr/>
          <p:nvPr/>
        </p:nvSpPr>
        <p:spPr>
          <a:xfrm>
            <a:off x="267788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等腰三角形 68"/>
          <p:cNvSpPr/>
          <p:nvPr/>
        </p:nvSpPr>
        <p:spPr>
          <a:xfrm>
            <a:off x="3601093" y="245174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>
            <a:off x="2654857" y="515635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650252" y="511219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>
            <a:off x="8584076" y="245448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>
            <a:off x="9489145" y="246367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>
            <a:off x="8538977" y="5142126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/>
          <p:cNvSpPr/>
          <p:nvPr/>
        </p:nvSpPr>
        <p:spPr>
          <a:xfrm>
            <a:off x="9516586" y="509763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2455094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2" name="文本框 111"/>
          <p:cNvSpPr txBox="1"/>
          <p:nvPr/>
        </p:nvSpPr>
        <p:spPr>
          <a:xfrm>
            <a:off x="2455094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9105668" y="3169296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Gig0/0</a:t>
            </a:r>
            <a:endParaRPr lang="en-US" altLang="zh-CN" sz="1400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9105668" y="4223554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Gig0/1</a:t>
            </a:r>
            <a:endParaRPr lang="en-US" altLang="zh-CN" sz="1400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3399503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54327" y="3555029"/>
            <a:ext cx="750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Gig0/2</a:t>
            </a:r>
            <a:endParaRPr lang="en-US" altLang="zh-CN" sz="1400" b="1" dirty="0"/>
          </a:p>
        </p:txBody>
      </p:sp>
      <p:sp>
        <p:nvSpPr>
          <p:cNvPr id="13" name="矩形 12"/>
          <p:cNvSpPr/>
          <p:nvPr/>
        </p:nvSpPr>
        <p:spPr>
          <a:xfrm>
            <a:off x="304800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04799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207137" y="1328843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207136" y="4239109"/>
            <a:ext cx="5681311" cy="22017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430077" y="3576613"/>
            <a:ext cx="5354462" cy="60463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182844" y="2786705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4"/>
                </a:solidFill>
              </a:rPr>
              <a:t>网络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endParaRPr lang="en-US" altLang="zh-CN" b="1" dirty="0">
              <a:solidFill>
                <a:schemeClr val="accent4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199516" y="2786705"/>
            <a:ext cx="74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3"/>
                </a:solidFill>
              </a:rPr>
              <a:t>网络</a:t>
            </a:r>
            <a:r>
              <a:rPr lang="en-US" altLang="zh-CN" b="1" dirty="0">
                <a:solidFill>
                  <a:schemeClr val="accent3"/>
                </a:solidFill>
              </a:rPr>
              <a:t>4</a:t>
            </a:r>
            <a:endParaRPr lang="en-US" altLang="zh-CN" b="1" dirty="0">
              <a:solidFill>
                <a:schemeClr val="accent3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182844" y="4511862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5"/>
                </a:solidFill>
              </a:rPr>
              <a:t>网络</a:t>
            </a:r>
            <a:r>
              <a:rPr lang="en-US" altLang="zh-CN" b="1" dirty="0">
                <a:solidFill>
                  <a:schemeClr val="accent5"/>
                </a:solidFill>
              </a:rPr>
              <a:t>2</a:t>
            </a:r>
            <a:endParaRPr lang="en-US" altLang="zh-CN" b="1" dirty="0">
              <a:solidFill>
                <a:schemeClr val="accent5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99516" y="4512950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</a:rPr>
              <a:t>网络</a:t>
            </a:r>
            <a:r>
              <a:rPr lang="en-US" altLang="zh-CN" b="1" dirty="0">
                <a:solidFill>
                  <a:schemeClr val="accent6"/>
                </a:solidFill>
              </a:rPr>
              <a:t>3</a:t>
            </a:r>
            <a:endParaRPr lang="en-US" altLang="zh-CN" b="1" dirty="0">
              <a:solidFill>
                <a:schemeClr val="accent6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686713" y="3844823"/>
            <a:ext cx="80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accent1"/>
                </a:solidFill>
              </a:rPr>
              <a:t>网络</a:t>
            </a:r>
            <a:r>
              <a:rPr lang="en-US" altLang="zh-CN" b="1" dirty="0">
                <a:solidFill>
                  <a:schemeClr val="accent1"/>
                </a:solidFill>
              </a:rPr>
              <a:t>5</a:t>
            </a:r>
            <a:endParaRPr lang="en-US" altLang="zh-CN" b="1" dirty="0">
              <a:solidFill>
                <a:schemeClr val="accent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70375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2276481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25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8172712" y="1836368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4" name="文本框 83"/>
          <p:cNvSpPr txBox="1"/>
          <p:nvPr/>
        </p:nvSpPr>
        <p:spPr>
          <a:xfrm>
            <a:off x="8144629" y="5276835"/>
            <a:ext cx="1815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…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共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台主机</a:t>
            </a:r>
            <a:endParaRPr lang="zh-CN" altLang="en-US" sz="1400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3238453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4"/>
                </a:solidFill>
              </a:rPr>
              <a:t>CIDR</a:t>
            </a:r>
            <a:r>
              <a:rPr lang="zh-CN" altLang="en-US" sz="1600" b="1" dirty="0">
                <a:solidFill>
                  <a:schemeClr val="accent4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4"/>
                </a:solidFill>
              </a:rPr>
              <a:t>218.75.230.32/28</a:t>
            </a:r>
            <a:endParaRPr lang="en-US" altLang="zh-CN" sz="1600" b="1" dirty="0">
              <a:solidFill>
                <a:schemeClr val="accent4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199516" y="3106692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</a:rPr>
              <a:t>CIDR</a:t>
            </a:r>
            <a:r>
              <a:rPr lang="zh-CN" altLang="en-US" sz="1600" b="1" dirty="0">
                <a:solidFill>
                  <a:schemeClr val="accent3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3"/>
                </a:solidFill>
              </a:rPr>
              <a:t>218.75.230.64/28</a:t>
            </a:r>
            <a:endParaRPr lang="en-US" altLang="zh-CN" sz="1600" b="1" dirty="0">
              <a:solidFill>
                <a:schemeClr val="accent3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238453" y="4245048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accent5"/>
                </a:solidFill>
              </a:rPr>
              <a:t>CIDR</a:t>
            </a:r>
            <a:r>
              <a:rPr lang="zh-CN" altLang="en-US" sz="1600" b="1" dirty="0">
                <a:solidFill>
                  <a:schemeClr val="accent5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5"/>
                </a:solidFill>
              </a:rPr>
              <a:t>218.75.230.0/27</a:t>
            </a:r>
            <a:endParaRPr lang="en-US" altLang="zh-CN" sz="1600" b="1" dirty="0">
              <a:solidFill>
                <a:schemeClr val="accent5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199516" y="4246136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</a:rPr>
              <a:t>CIDR</a:t>
            </a:r>
            <a:r>
              <a:rPr lang="zh-CN" altLang="en-US" sz="1600" b="1" dirty="0">
                <a:solidFill>
                  <a:schemeClr val="accent6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6"/>
                </a:solidFill>
              </a:rPr>
              <a:t>218.75.230.48/28</a:t>
            </a:r>
            <a:endParaRPr lang="en-US" altLang="zh-CN" sz="1600" b="1" dirty="0">
              <a:solidFill>
                <a:schemeClr val="accent6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309841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218.75.230.33/28</a:t>
            </a:r>
            <a:endParaRPr lang="en-US" altLang="zh-CN" sz="1400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3821967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218.75.230.34/28</a:t>
            </a:r>
            <a:endParaRPr lang="en-US" altLang="zh-CN" sz="1400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304800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218.75.230.1/27</a:t>
            </a:r>
            <a:endParaRPr lang="en-US" altLang="zh-CN" sz="1400" b="1" dirty="0"/>
          </a:p>
        </p:txBody>
      </p:sp>
      <p:sp>
        <p:nvSpPr>
          <p:cNvPr id="102" name="文本框 101"/>
          <p:cNvSpPr txBox="1"/>
          <p:nvPr/>
        </p:nvSpPr>
        <p:spPr>
          <a:xfrm>
            <a:off x="3821967" y="5861618"/>
            <a:ext cx="2164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218.75.230.2/27</a:t>
            </a:r>
            <a:endParaRPr lang="en-US" altLang="zh-CN" sz="14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6212178" y="1397352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218.75.230.65/28</a:t>
            </a:r>
            <a:endParaRPr lang="en-US" altLang="zh-CN" sz="14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9724304" y="1397352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218.75.230.66/28</a:t>
            </a:r>
            <a:endParaRPr lang="en-US" altLang="zh-CN" sz="1400" b="1" dirty="0"/>
          </a:p>
        </p:txBody>
      </p:sp>
      <p:sp>
        <p:nvSpPr>
          <p:cNvPr id="110" name="文本框 109"/>
          <p:cNvSpPr txBox="1"/>
          <p:nvPr/>
        </p:nvSpPr>
        <p:spPr>
          <a:xfrm>
            <a:off x="6207137" y="5861618"/>
            <a:ext cx="2951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218.75.230.49/28</a:t>
            </a:r>
            <a:endParaRPr lang="en-US" altLang="zh-CN" sz="1400" b="1" dirty="0"/>
          </a:p>
        </p:txBody>
      </p:sp>
      <p:sp>
        <p:nvSpPr>
          <p:cNvPr id="117" name="文本框 116"/>
          <p:cNvSpPr txBox="1"/>
          <p:nvPr/>
        </p:nvSpPr>
        <p:spPr>
          <a:xfrm>
            <a:off x="9724304" y="5861618"/>
            <a:ext cx="2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218.75.230.50/28</a:t>
            </a:r>
            <a:endParaRPr lang="en-US" altLang="zh-CN" sz="1400" b="1" dirty="0"/>
          </a:p>
        </p:txBody>
      </p:sp>
      <p:sp>
        <p:nvSpPr>
          <p:cNvPr id="118" name="文本框 117"/>
          <p:cNvSpPr txBox="1"/>
          <p:nvPr/>
        </p:nvSpPr>
        <p:spPr>
          <a:xfrm>
            <a:off x="884361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218.75.230.46/28</a:t>
            </a:r>
            <a:endParaRPr lang="en-US" altLang="zh-CN" sz="1400" b="1" dirty="0"/>
          </a:p>
        </p:txBody>
      </p:sp>
      <p:sp>
        <p:nvSpPr>
          <p:cNvPr id="119" name="文本框 118"/>
          <p:cNvSpPr txBox="1"/>
          <p:nvPr/>
        </p:nvSpPr>
        <p:spPr>
          <a:xfrm>
            <a:off x="884361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218.75.230.30/27</a:t>
            </a:r>
            <a:endParaRPr lang="en-US" altLang="zh-CN" sz="1400" b="1" dirty="0"/>
          </a:p>
        </p:txBody>
      </p:sp>
      <p:sp>
        <p:nvSpPr>
          <p:cNvPr id="120" name="文本框 119"/>
          <p:cNvSpPr txBox="1"/>
          <p:nvPr/>
        </p:nvSpPr>
        <p:spPr>
          <a:xfrm>
            <a:off x="9096186" y="2964361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218.75.230.78/28</a:t>
            </a:r>
            <a:endParaRPr lang="en-US" altLang="zh-CN" sz="1400" b="1" dirty="0"/>
          </a:p>
        </p:txBody>
      </p:sp>
      <p:sp>
        <p:nvSpPr>
          <p:cNvPr id="121" name="文本框 120"/>
          <p:cNvSpPr txBox="1"/>
          <p:nvPr/>
        </p:nvSpPr>
        <p:spPr>
          <a:xfrm>
            <a:off x="9105668" y="4458254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218.75.230.62/28</a:t>
            </a:r>
            <a:endParaRPr lang="en-US" altLang="zh-CN" sz="1400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309841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2" name="文本框 121"/>
          <p:cNvSpPr txBox="1"/>
          <p:nvPr/>
        </p:nvSpPr>
        <p:spPr>
          <a:xfrm>
            <a:off x="3821967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218.75.230.46</a:t>
            </a:r>
            <a:endParaRPr lang="zh-CN" altLang="en-US" sz="1400" b="1" dirty="0"/>
          </a:p>
        </p:txBody>
      </p:sp>
      <p:sp>
        <p:nvSpPr>
          <p:cNvPr id="123" name="文本框 122"/>
          <p:cNvSpPr txBox="1"/>
          <p:nvPr/>
        </p:nvSpPr>
        <p:spPr>
          <a:xfrm>
            <a:off x="304800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4" name="文本框 123"/>
          <p:cNvSpPr txBox="1"/>
          <p:nvPr/>
        </p:nvSpPr>
        <p:spPr>
          <a:xfrm>
            <a:off x="3821967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218.75.230.30</a:t>
            </a:r>
            <a:endParaRPr lang="zh-CN" altLang="en-US" sz="1400" b="1" dirty="0"/>
          </a:p>
        </p:txBody>
      </p:sp>
      <p:sp>
        <p:nvSpPr>
          <p:cNvPr id="125" name="文本框 124"/>
          <p:cNvSpPr txBox="1"/>
          <p:nvPr/>
        </p:nvSpPr>
        <p:spPr>
          <a:xfrm>
            <a:off x="6212178" y="1654347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6" name="文本框 125"/>
          <p:cNvSpPr txBox="1"/>
          <p:nvPr/>
        </p:nvSpPr>
        <p:spPr>
          <a:xfrm>
            <a:off x="9724304" y="1654347"/>
            <a:ext cx="2214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218.75.230.78</a:t>
            </a:r>
            <a:endParaRPr lang="zh-CN" altLang="en-US" sz="1400" b="1" dirty="0"/>
          </a:p>
        </p:txBody>
      </p:sp>
      <p:sp>
        <p:nvSpPr>
          <p:cNvPr id="127" name="文本框 126"/>
          <p:cNvSpPr txBox="1"/>
          <p:nvPr/>
        </p:nvSpPr>
        <p:spPr>
          <a:xfrm>
            <a:off x="6207137" y="6118613"/>
            <a:ext cx="2343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28" name="文本框 127"/>
          <p:cNvSpPr txBox="1"/>
          <p:nvPr/>
        </p:nvSpPr>
        <p:spPr>
          <a:xfrm>
            <a:off x="9724304" y="6118613"/>
            <a:ext cx="2048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默认网关：</a:t>
            </a:r>
            <a:r>
              <a:rPr lang="en-US" altLang="zh-CN" sz="1400" b="1" dirty="0"/>
              <a:t>218.75.230.62</a:t>
            </a:r>
            <a:endParaRPr lang="zh-CN" altLang="en-US" sz="1400" b="1" dirty="0"/>
          </a:p>
        </p:txBody>
      </p:sp>
      <p:sp>
        <p:nvSpPr>
          <p:cNvPr id="130" name="文本框 129"/>
          <p:cNvSpPr txBox="1"/>
          <p:nvPr/>
        </p:nvSpPr>
        <p:spPr>
          <a:xfrm>
            <a:off x="6570882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218.75.230.82/30</a:t>
            </a:r>
            <a:endParaRPr lang="en-US" altLang="zh-CN" sz="1400" b="1" dirty="0"/>
          </a:p>
        </p:txBody>
      </p:sp>
      <p:sp>
        <p:nvSpPr>
          <p:cNvPr id="131" name="等腰三角形 130"/>
          <p:cNvSpPr/>
          <p:nvPr/>
        </p:nvSpPr>
        <p:spPr>
          <a:xfrm>
            <a:off x="3089151" y="2857373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等腰三角形 131"/>
          <p:cNvSpPr/>
          <p:nvPr/>
        </p:nvSpPr>
        <p:spPr>
          <a:xfrm>
            <a:off x="3090695" y="32687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等腰三角形 132"/>
          <p:cNvSpPr/>
          <p:nvPr/>
        </p:nvSpPr>
        <p:spPr>
          <a:xfrm>
            <a:off x="8999310" y="2834154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等腰三角形 133"/>
          <p:cNvSpPr/>
          <p:nvPr/>
        </p:nvSpPr>
        <p:spPr>
          <a:xfrm>
            <a:off x="9000854" y="324554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等腰三角形 134"/>
          <p:cNvSpPr/>
          <p:nvPr/>
        </p:nvSpPr>
        <p:spPr>
          <a:xfrm>
            <a:off x="3093499" y="431675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等腰三角形 135"/>
          <p:cNvSpPr/>
          <p:nvPr/>
        </p:nvSpPr>
        <p:spPr>
          <a:xfrm>
            <a:off x="3095043" y="472814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等腰三角形 136"/>
          <p:cNvSpPr/>
          <p:nvPr/>
        </p:nvSpPr>
        <p:spPr>
          <a:xfrm>
            <a:off x="9001675" y="4321284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等腰三角形 137"/>
          <p:cNvSpPr/>
          <p:nvPr/>
        </p:nvSpPr>
        <p:spPr>
          <a:xfrm>
            <a:off x="9003219" y="473267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等腰三角形 138"/>
          <p:cNvSpPr/>
          <p:nvPr/>
        </p:nvSpPr>
        <p:spPr>
          <a:xfrm>
            <a:off x="3682531" y="381727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等腰三角形 139"/>
          <p:cNvSpPr/>
          <p:nvPr/>
        </p:nvSpPr>
        <p:spPr>
          <a:xfrm>
            <a:off x="8412718" y="381416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文本框 141"/>
          <p:cNvSpPr txBox="1"/>
          <p:nvPr/>
        </p:nvSpPr>
        <p:spPr>
          <a:xfrm>
            <a:off x="3399503" y="3861983"/>
            <a:ext cx="2234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IPv4</a:t>
            </a:r>
            <a:r>
              <a:rPr lang="zh-CN" altLang="en-US" sz="1400" b="1" dirty="0"/>
              <a:t>地址： </a:t>
            </a:r>
            <a:r>
              <a:rPr lang="en-US" altLang="zh-CN" sz="1400" b="1" dirty="0"/>
              <a:t>218.75.230.81/30</a:t>
            </a:r>
            <a:endParaRPr lang="en-US" altLang="zh-CN" sz="1400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4781653" y="3563919"/>
            <a:ext cx="27501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</a:rPr>
              <a:t>CIDR</a:t>
            </a:r>
            <a:r>
              <a:rPr lang="zh-CN" altLang="en-US" sz="1600" b="1" dirty="0">
                <a:solidFill>
                  <a:schemeClr val="accent1"/>
                </a:solidFill>
              </a:rPr>
              <a:t>地址块：</a:t>
            </a:r>
            <a:r>
              <a:rPr lang="en-US" altLang="zh-CN" sz="1600" b="1" dirty="0">
                <a:solidFill>
                  <a:schemeClr val="accent1"/>
                </a:solidFill>
              </a:rPr>
              <a:t>218.75.230.80/30</a:t>
            </a:r>
            <a:endParaRPr lang="en-US" altLang="zh-CN" sz="1600" b="1" dirty="0">
              <a:solidFill>
                <a:schemeClr val="accent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954543" y="1281007"/>
            <a:ext cx="6269375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申请到的</a:t>
            </a:r>
            <a:r>
              <a:rPr lang="en-US" altLang="zh-CN" sz="2000" b="1" dirty="0">
                <a:solidFill>
                  <a:schemeClr val="bg1"/>
                </a:solidFill>
              </a:rPr>
              <a:t>CIDR</a:t>
            </a:r>
            <a:r>
              <a:rPr lang="zh-CN" altLang="en-US" sz="2000" b="1" dirty="0">
                <a:solidFill>
                  <a:schemeClr val="bg1"/>
                </a:solidFill>
              </a:rPr>
              <a:t>地址块为：</a:t>
            </a:r>
            <a:r>
              <a:rPr lang="en-US" altLang="zh-CN" sz="2000" b="1" dirty="0">
                <a:solidFill>
                  <a:schemeClr val="bg1"/>
                </a:solidFill>
              </a:rPr>
              <a:t>218.75.230.0/24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09841" y="4851505"/>
            <a:ext cx="11586226" cy="1584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/>
              <a:t>         请重新设计一种选取子块的方案，从</a:t>
            </a:r>
            <a:r>
              <a:rPr lang="en-US" altLang="zh-CN" sz="2000" b="1" dirty="0"/>
              <a:t>CIDR</a:t>
            </a:r>
            <a:r>
              <a:rPr lang="zh-CN" altLang="en-US" sz="2000" b="1" dirty="0"/>
              <a:t>地址块</a:t>
            </a:r>
            <a:r>
              <a:rPr lang="en-US" altLang="zh-CN" sz="2000" b="1" dirty="0"/>
              <a:t>218.75.230.0/24</a:t>
            </a:r>
            <a:r>
              <a:rPr lang="zh-CN" altLang="en-US" sz="2000" b="1" dirty="0"/>
              <a:t>中选取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个子块分配给网络拓扑中的这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个网络。在各网络所分配</a:t>
            </a:r>
            <a:r>
              <a:rPr lang="en-US" altLang="zh-CN" sz="2000" b="1" dirty="0"/>
              <a:t>CIDR</a:t>
            </a:r>
            <a:r>
              <a:rPr lang="zh-CN" altLang="en-US" sz="2000" b="1" dirty="0"/>
              <a:t>子块的范围内，为各网络中的计算机和路由器接口选取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地址，然后进行相应的配置。对于计算机，需要配置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地址、子网掩码以及默认网关的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地址；对于路由器，需要给各相关接口配置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地址和子网掩码，还要添加相应的静态路由条目。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 decel="100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1" grpId="0" animBg="1"/>
      <p:bldP spid="32" grpId="0" animBg="1"/>
    </p:bldLst>
  </p:timing>
</p:sld>
</file>

<file path=ppt/tags/tag1.xml><?xml version="1.0" encoding="utf-8"?>
<p:tagLst xmlns:p="http://schemas.openxmlformats.org/presentationml/2006/main">
  <p:tag name="ISLIDE.GUIDESSETTING" val="{&quot;Id&quot;:&quot;GuidesStyle_Narrow&quot;,&quot;Name&quot;:&quot;GuidesStyle_Narrow&quot;,&quot;Kind&quot;:&quot;System&quot;,&quot;OldGuidesSetting&quot;:{&quot;HeaderHeight&quot;:10.0,&quot;FooterHeight&quot;:5.0,&quot;SideMargin&quot;:2.5,&quot;TopMargin&quot;:0.0,&quot;BottomMargin&quot;:0.0,&quot;IntervalMargin&quot;:1.0}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4472C4"/>
      </a:hlink>
      <a:folHlink>
        <a:srgbClr val="BFBFBF"/>
      </a:folHlink>
    </a:clrScheme>
    <a:fontScheme name="mgea0xa4">
      <a:majorFont>
        <a:latin typeface="Arial Narrow"/>
        <a:ea typeface="微软雅黑"/>
        <a:cs typeface=""/>
      </a:majorFont>
      <a:minorFont>
        <a:latin typeface="Arial Narrow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16155</Words>
  <Application>WPS 演示</Application>
  <PresentationFormat>宽屏</PresentationFormat>
  <Paragraphs>2720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Arial Narrow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user0703</dc:creator>
  <cp:lastModifiedBy>黄小P</cp:lastModifiedBy>
  <cp:revision>411</cp:revision>
  <dcterms:created xsi:type="dcterms:W3CDTF">2021-12-18T00:21:00Z</dcterms:created>
  <dcterms:modified xsi:type="dcterms:W3CDTF">2025-06-20T14:29:07Z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9222865156DB43608F823BC7446724F5_12</vt:lpwstr>
  </property>
  <property fmtid="{D5CDD505-2E9C-101B-9397-08002B2CF9AE}" pid="3" name="KSOProductBuildVer">
    <vt:lpwstr>2052-12.1.0.21541</vt:lpwstr>
  </property>
</Properties>
</file>