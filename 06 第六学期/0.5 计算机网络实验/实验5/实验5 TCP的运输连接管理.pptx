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1" r:id="rId3"/>
    <p:sldId id="292" r:id="rId4"/>
    <p:sldId id="326" r:id="rId5"/>
    <p:sldId id="327" r:id="rId6"/>
    <p:sldId id="328" r:id="rId7"/>
    <p:sldId id="329" r:id="rId8"/>
    <p:sldId id="331" r:id="rId9"/>
    <p:sldId id="330" r:id="rId10"/>
    <p:sldId id="332" r:id="rId11"/>
    <p:sldId id="333" r:id="rId12"/>
    <p:sldId id="334" r:id="rId13"/>
    <p:sldId id="336" r:id="rId14"/>
    <p:sldId id="344" r:id="rId15"/>
    <p:sldId id="345" r:id="rId16"/>
    <p:sldId id="346" r:id="rId17"/>
    <p:sldId id="347" r:id="rId18"/>
    <p:sldId id="348" r:id="rId19"/>
    <p:sldId id="349" r:id="rId20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92" userDrawn="1">
          <p15:clr>
            <a:srgbClr val="A4A3A4"/>
          </p15:clr>
        </p15:guide>
        <p15:guide id="4" pos="7488" userDrawn="1">
          <p15:clr>
            <a:srgbClr val="A4A3A4"/>
          </p15:clr>
        </p15:guide>
        <p15:guide id="5" orient="horz" pos="432" userDrawn="1">
          <p15:clr>
            <a:srgbClr val="A4A3A4"/>
          </p15:clr>
        </p15:guide>
        <p15:guide id="6" orient="horz" pos="472" userDrawn="1">
          <p15:clr>
            <a:srgbClr val="A4A3A4"/>
          </p15:clr>
        </p15:guide>
        <p15:guide id="7" orient="horz" pos="4104" userDrawn="1">
          <p15:clr>
            <a:srgbClr val="A4A3A4"/>
          </p15:clr>
        </p15:guide>
        <p15:guide id="8" orient="horz" pos="40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6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82" y="125"/>
      </p:cViewPr>
      <p:guideLst>
        <p:guide orient="horz" pos="2264"/>
        <p:guide pos="3840"/>
        <p:guide pos="192"/>
        <p:guide pos="7488"/>
        <p:guide orient="horz" pos="432"/>
        <p:guide orient="horz" pos="472"/>
        <p:guide orient="horz" pos="4104"/>
        <p:guide orient="horz" pos="405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5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63500"/>
            <a:ext cx="12207240" cy="622300"/>
          </a:xfrm>
          <a:prstGeom prst="rect">
            <a:avLst/>
          </a:prstGeom>
          <a:solidFill>
            <a:srgbClr val="1B7ADA"/>
          </a:solidFill>
          <a:ln>
            <a:solidFill>
              <a:srgbClr val="1B7AD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/>
              <a:t>动手做计算机网络仿真实验</a:t>
            </a:r>
            <a:r>
              <a:rPr lang="zh-CN" altLang="en-US" sz="2400" b="1" dirty="0"/>
              <a:t>（微课视频版）</a:t>
            </a:r>
            <a:endParaRPr lang="zh-CN" altLang="en-US" sz="2400" b="1" dirty="0"/>
          </a:p>
        </p:txBody>
      </p:sp>
      <p:sp>
        <p:nvSpPr>
          <p:cNvPr id="10" name="矩形 9"/>
          <p:cNvSpPr/>
          <p:nvPr userDrawn="1"/>
        </p:nvSpPr>
        <p:spPr>
          <a:xfrm>
            <a:off x="132079" y="-1"/>
            <a:ext cx="732557" cy="732557"/>
          </a:xfrm>
          <a:prstGeom prst="rect">
            <a:avLst/>
          </a:prstGeom>
          <a:solidFill>
            <a:srgbClr val="8ACF57"/>
          </a:solidFill>
          <a:ln>
            <a:solidFill>
              <a:srgbClr val="8ACF57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 userDrawn="1"/>
        </p:nvSpPr>
        <p:spPr>
          <a:xfrm>
            <a:off x="9850806" y="147319"/>
            <a:ext cx="114853" cy="4498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965107" y="62115"/>
            <a:ext cx="2226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第</a:t>
            </a:r>
            <a:r>
              <a:rPr lang="en-US" altLang="zh-CN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5</a:t>
            </a: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章</a:t>
            </a:r>
            <a:endParaRPr lang="en-US" altLang="zh-CN" b="1" dirty="0">
              <a:solidFill>
                <a:schemeClr val="bg1"/>
              </a:solidFill>
              <a:latin typeface="+mj-ea"/>
              <a:ea typeface="+mj-ea"/>
              <a:cs typeface="+mj-ea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运输层相关实验</a:t>
            </a:r>
            <a:endParaRPr lang="zh-CN" altLang="en-US" b="1" dirty="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14" name="20 13" descr="logo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308" y="6414723"/>
            <a:ext cx="1882140" cy="441960"/>
          </a:xfrm>
          <a:prstGeom prst="rect">
            <a:avLst/>
          </a:prstGeom>
        </p:spPr>
      </p:pic>
      <p:sp>
        <p:nvSpPr>
          <p:cNvPr id="15" name="文本框 14"/>
          <p:cNvSpPr txBox="1"/>
          <p:nvPr userDrawn="1"/>
        </p:nvSpPr>
        <p:spPr>
          <a:xfrm>
            <a:off x="10365377" y="6486579"/>
            <a:ext cx="182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课件制作：高军</a:t>
            </a:r>
            <a:endParaRPr lang="zh-CN" alt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.xml"/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.xml"/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3.xml"/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29057" y="1186773"/>
            <a:ext cx="10194588" cy="1827936"/>
            <a:chOff x="629057" y="1186773"/>
            <a:chExt cx="10194588" cy="1827936"/>
          </a:xfrm>
        </p:grpSpPr>
        <p:sp>
          <p:nvSpPr>
            <p:cNvPr id="3" name="文本框 2"/>
            <p:cNvSpPr txBox="1"/>
            <p:nvPr/>
          </p:nvSpPr>
          <p:spPr>
            <a:xfrm>
              <a:off x="629057" y="1186773"/>
              <a:ext cx="240597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spc="600" dirty="0">
                  <a:solidFill>
                    <a:schemeClr val="accent3">
                      <a:lumMod val="75000"/>
                    </a:schemeClr>
                  </a:solidFill>
                </a:rPr>
                <a:t>实验目的</a:t>
              </a:r>
              <a:endParaRPr lang="zh-CN" altLang="en-US" sz="2800" b="1" spc="600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629057" y="1880681"/>
              <a:ext cx="10194588" cy="11340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400" b="1" dirty="0"/>
                <a:t>验证</a:t>
              </a:r>
              <a:r>
                <a:rPr lang="en-US" altLang="zh-CN" sz="2400" b="1" dirty="0"/>
                <a:t>TCP</a:t>
              </a:r>
              <a:r>
                <a:rPr lang="zh-CN" altLang="en-US" sz="2400" b="1" dirty="0"/>
                <a:t>通过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“三报文握手”建立</a:t>
              </a:r>
              <a:r>
                <a:rPr lang="en-US" altLang="zh-CN" sz="2400" b="1" dirty="0">
                  <a:solidFill>
                    <a:srgbClr val="FF0000"/>
                  </a:solidFill>
                </a:rPr>
                <a:t>TCP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连接</a:t>
              </a:r>
              <a:r>
                <a:rPr lang="zh-CN" altLang="en-US" sz="2400" b="1" dirty="0"/>
                <a:t>。</a:t>
              </a:r>
              <a:endParaRPr lang="zh-CN" altLang="en-US" sz="2400" b="1" dirty="0"/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400" b="1" dirty="0"/>
                <a:t>验证</a:t>
              </a:r>
              <a:r>
                <a:rPr lang="en-US" altLang="zh-CN" sz="2400" b="1" dirty="0"/>
                <a:t>TCP</a:t>
              </a:r>
              <a:r>
                <a:rPr lang="zh-CN" altLang="en-US" sz="2400" b="1" dirty="0"/>
                <a:t>通过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“四报文挥手”释放</a:t>
              </a:r>
              <a:r>
                <a:rPr lang="en-US" altLang="zh-CN" sz="2400" b="1" dirty="0">
                  <a:solidFill>
                    <a:srgbClr val="FF0000"/>
                  </a:solidFill>
                </a:rPr>
                <a:t>TCP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连接</a:t>
              </a:r>
              <a:r>
                <a:rPr lang="zh-CN" altLang="en-US" sz="2400" b="1" dirty="0"/>
                <a:t>。</a:t>
              </a:r>
              <a:endParaRPr lang="zh-CN" altLang="en-US" sz="24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9057" y="1186773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9057" y="1906621"/>
            <a:ext cx="5466943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1.  </a:t>
            </a:r>
            <a:r>
              <a:rPr lang="zh-CN" altLang="en-US" sz="2000" b="1" dirty="0"/>
              <a:t>构建网络拓扑</a:t>
            </a:r>
            <a:endParaRPr lang="en-US" altLang="zh-CN" sz="2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629057" y="2380118"/>
            <a:ext cx="5466943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2.  </a:t>
            </a:r>
            <a:r>
              <a:rPr lang="zh-CN" altLang="en-US" sz="2000" b="1" dirty="0"/>
              <a:t>标注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地址和子网掩码</a:t>
            </a:r>
            <a:endParaRPr lang="en-US" altLang="zh-CN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629057" y="2853615"/>
            <a:ext cx="5466943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3.  </a:t>
            </a:r>
            <a:r>
              <a:rPr lang="zh-CN" altLang="en-US" sz="2000" b="1" dirty="0"/>
              <a:t>配置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地址和子网掩码</a:t>
            </a:r>
            <a:endParaRPr lang="en-US" altLang="zh-CN" sz="20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629057" y="3327112"/>
            <a:ext cx="5466943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4.  </a:t>
            </a:r>
            <a:r>
              <a:rPr lang="zh-CN" altLang="en-US" sz="2000" b="1" dirty="0"/>
              <a:t>网络连通性测试</a:t>
            </a:r>
            <a:endParaRPr lang="en-US" altLang="zh-CN" sz="20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29057" y="3800609"/>
            <a:ext cx="5466943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5.  </a:t>
            </a:r>
            <a:r>
              <a:rPr lang="zh-CN" altLang="en-US" sz="2000" b="1" dirty="0"/>
              <a:t>选择要监视的网络协议</a:t>
            </a:r>
            <a:endParaRPr lang="en-US" altLang="zh-CN" sz="20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629057" y="4274106"/>
            <a:ext cx="5466943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6.  </a:t>
            </a:r>
            <a:r>
              <a:rPr lang="zh-CN" altLang="en-US" sz="2000" b="1" dirty="0"/>
              <a:t>观察</a:t>
            </a:r>
            <a:r>
              <a:rPr lang="en-US" altLang="zh-CN" sz="2000" b="1" dirty="0"/>
              <a:t>TCP</a:t>
            </a:r>
            <a:r>
              <a:rPr lang="zh-CN" altLang="en-US" sz="2000" b="1" dirty="0"/>
              <a:t>的运输连接管理过程</a:t>
            </a:r>
            <a:endParaRPr lang="en-US" altLang="zh-CN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2" grpId="0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grpSp>
        <p:nvGrpSpPr>
          <p:cNvPr id="6" name="组合 5"/>
          <p:cNvGrpSpPr/>
          <p:nvPr/>
        </p:nvGrpSpPr>
        <p:grpSpPr>
          <a:xfrm>
            <a:off x="3419223" y="1795353"/>
            <a:ext cx="5542843" cy="646331"/>
            <a:chOff x="3419223" y="1795353"/>
            <a:chExt cx="5542843" cy="646331"/>
          </a:xfrm>
        </p:grpSpPr>
        <p:pic>
          <p:nvPicPr>
            <p:cNvPr id="10" name="20 9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274541" y="1930020"/>
              <a:ext cx="530924" cy="471102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3419223" y="1795353"/>
              <a:ext cx="10311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PC0</a:t>
              </a:r>
              <a:endParaRPr lang="zh-CN" altLang="en-US" b="1" dirty="0"/>
            </a:p>
          </p:txBody>
        </p:sp>
        <p:pic>
          <p:nvPicPr>
            <p:cNvPr id="11" name="20 10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386535" y="1893835"/>
              <a:ext cx="322291" cy="543471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7599106" y="1795353"/>
              <a:ext cx="13629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Server-PT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Server0</a:t>
              </a:r>
              <a:endParaRPr lang="zh-CN" altLang="en-US" b="1" dirty="0"/>
            </a:p>
          </p:txBody>
        </p:sp>
      </p:grpSp>
      <p:pic>
        <p:nvPicPr>
          <p:cNvPr id="7" name="20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633" y="3833076"/>
            <a:ext cx="8763759" cy="1646063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2262343" y="4656107"/>
            <a:ext cx="1925436" cy="1452593"/>
            <a:chOff x="2253106" y="5615868"/>
            <a:chExt cx="1925436" cy="1452593"/>
          </a:xfrm>
        </p:grpSpPr>
        <p:sp>
          <p:nvSpPr>
            <p:cNvPr id="9" name="文本框 8"/>
            <p:cNvSpPr txBox="1"/>
            <p:nvPr/>
          </p:nvSpPr>
          <p:spPr>
            <a:xfrm>
              <a:off x="2253106" y="6668351"/>
              <a:ext cx="19254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❶  选择“连接”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4" name="直接箭头连接符 13"/>
            <p:cNvCxnSpPr/>
            <p:nvPr/>
          </p:nvCxnSpPr>
          <p:spPr>
            <a:xfrm flipV="1">
              <a:off x="3122926" y="5615868"/>
              <a:ext cx="0" cy="1052483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>
            <a:off x="2692590" y="3077147"/>
            <a:ext cx="3351328" cy="1164349"/>
            <a:chOff x="938046" y="4283818"/>
            <a:chExt cx="3351328" cy="1164349"/>
          </a:xfrm>
        </p:grpSpPr>
        <p:sp>
          <p:nvSpPr>
            <p:cNvPr id="16" name="文本框 15"/>
            <p:cNvSpPr txBox="1"/>
            <p:nvPr/>
          </p:nvSpPr>
          <p:spPr>
            <a:xfrm>
              <a:off x="938046" y="4283818"/>
              <a:ext cx="33513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❷  选择“自动选择连接类型”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7" name="直接箭头连接符 16"/>
            <p:cNvCxnSpPr/>
            <p:nvPr/>
          </p:nvCxnSpPr>
          <p:spPr>
            <a:xfrm>
              <a:off x="2613710" y="4738927"/>
              <a:ext cx="0" cy="70924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4766896" y="2116232"/>
            <a:ext cx="2606483" cy="98676"/>
            <a:chOff x="4766896" y="2116232"/>
            <a:chExt cx="2606483" cy="98676"/>
          </a:xfrm>
        </p:grpSpPr>
        <p:cxnSp>
          <p:nvCxnSpPr>
            <p:cNvPr id="2" name="直接连接符 1"/>
            <p:cNvCxnSpPr/>
            <p:nvPr/>
          </p:nvCxnSpPr>
          <p:spPr>
            <a:xfrm>
              <a:off x="4766896" y="2166584"/>
              <a:ext cx="26064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等腰三角形 4"/>
            <p:cNvSpPr/>
            <p:nvPr/>
          </p:nvSpPr>
          <p:spPr>
            <a:xfrm>
              <a:off x="5064774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>
              <a:off x="7012762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pic>
        <p:nvPicPr>
          <p:cNvPr id="10" name="20 9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74541" y="1930020"/>
            <a:ext cx="530924" cy="47110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19223" y="1795353"/>
            <a:ext cx="1031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11" name="20 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86535" y="1893835"/>
            <a:ext cx="322291" cy="54347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599106" y="1795353"/>
            <a:ext cx="136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82992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790669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4285770" y="685800"/>
            <a:ext cx="3628066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2.  </a:t>
            </a:r>
            <a:r>
              <a:rPr lang="zh-CN" altLang="en-US" sz="2400" b="1" dirty="0"/>
              <a:t>标注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地址和子网掩码</a:t>
            </a:r>
            <a:endParaRPr lang="en-US" altLang="zh-CN" sz="2400" b="1" dirty="0"/>
          </a:p>
        </p:txBody>
      </p:sp>
      <p:grpSp>
        <p:nvGrpSpPr>
          <p:cNvPr id="21" name="组合 20"/>
          <p:cNvGrpSpPr/>
          <p:nvPr/>
        </p:nvGrpSpPr>
        <p:grpSpPr>
          <a:xfrm>
            <a:off x="4766896" y="2116232"/>
            <a:ext cx="2606483" cy="98676"/>
            <a:chOff x="4766896" y="2116232"/>
            <a:chExt cx="2606483" cy="98676"/>
          </a:xfrm>
        </p:grpSpPr>
        <p:cxnSp>
          <p:nvCxnSpPr>
            <p:cNvPr id="2" name="直接连接符 1"/>
            <p:cNvCxnSpPr/>
            <p:nvPr/>
          </p:nvCxnSpPr>
          <p:spPr>
            <a:xfrm>
              <a:off x="4766896" y="2166584"/>
              <a:ext cx="26064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等腰三角形 4"/>
            <p:cNvSpPr/>
            <p:nvPr/>
          </p:nvSpPr>
          <p:spPr>
            <a:xfrm>
              <a:off x="5064774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>
              <a:off x="7012762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0" name="20 9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74541" y="1930020"/>
            <a:ext cx="530924" cy="47110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19223" y="1795353"/>
            <a:ext cx="1031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11" name="20 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86535" y="1893835"/>
            <a:ext cx="322291" cy="54347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599106" y="1795353"/>
            <a:ext cx="136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pic>
        <p:nvPicPr>
          <p:cNvPr id="8" name="20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223" y="3512034"/>
            <a:ext cx="3912977" cy="828961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3537858" y="4355630"/>
            <a:ext cx="7290217" cy="625211"/>
            <a:chOff x="2861015" y="2267382"/>
            <a:chExt cx="7290217" cy="625211"/>
          </a:xfrm>
        </p:grpSpPr>
        <p:sp>
          <p:nvSpPr>
            <p:cNvPr id="14" name="文本框 7"/>
            <p:cNvSpPr txBox="1"/>
            <p:nvPr/>
          </p:nvSpPr>
          <p:spPr>
            <a:xfrm>
              <a:off x="2861015" y="2434454"/>
              <a:ext cx="7290217" cy="458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使用“放置注释”工具，在计算机和服务器旁标注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</a:rPr>
                <a:t>IP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地址和子网掩码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15" name="直接箭头连接符 14"/>
            <p:cNvCxnSpPr/>
            <p:nvPr/>
          </p:nvCxnSpPr>
          <p:spPr>
            <a:xfrm flipV="1">
              <a:off x="4095446" y="2267382"/>
              <a:ext cx="0" cy="282796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2522957" y="2437306"/>
            <a:ext cx="4015990" cy="3941620"/>
            <a:chOff x="2522957" y="2437306"/>
            <a:chExt cx="4015990" cy="3941620"/>
          </a:xfrm>
        </p:grpSpPr>
        <p:pic>
          <p:nvPicPr>
            <p:cNvPr id="9" name="20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22957" y="2437306"/>
              <a:ext cx="4015990" cy="3941620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3829490" y="3673003"/>
              <a:ext cx="975976" cy="405616"/>
            </a:xfrm>
            <a:prstGeom prst="rect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006021" y="3237138"/>
              <a:ext cx="25329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输入</a:t>
              </a:r>
              <a:r>
                <a:rPr lang="en-US" altLang="zh-CN" b="1" dirty="0">
                  <a:solidFill>
                    <a:srgbClr val="FF0000"/>
                  </a:solidFill>
                </a:rPr>
                <a:t>IP</a:t>
              </a:r>
              <a:r>
                <a:rPr lang="zh-CN" altLang="en-US" b="1" dirty="0">
                  <a:solidFill>
                    <a:srgbClr val="FF0000"/>
                  </a:solidFill>
                </a:rPr>
                <a:t>地址和子网掩码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782992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790669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4285770" y="685800"/>
            <a:ext cx="3628066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3.  </a:t>
            </a:r>
            <a:r>
              <a:rPr lang="zh-CN" altLang="en-US" sz="2400" b="1" dirty="0"/>
              <a:t>配置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地址和子网掩码</a:t>
            </a:r>
            <a:endParaRPr lang="en-US" altLang="zh-CN" sz="2400" b="1" dirty="0"/>
          </a:p>
        </p:txBody>
      </p:sp>
      <p:grpSp>
        <p:nvGrpSpPr>
          <p:cNvPr id="21" name="组合 20"/>
          <p:cNvGrpSpPr/>
          <p:nvPr/>
        </p:nvGrpSpPr>
        <p:grpSpPr>
          <a:xfrm>
            <a:off x="4766896" y="2116232"/>
            <a:ext cx="2606483" cy="98676"/>
            <a:chOff x="4766896" y="2116232"/>
            <a:chExt cx="2606483" cy="98676"/>
          </a:xfrm>
        </p:grpSpPr>
        <p:cxnSp>
          <p:nvCxnSpPr>
            <p:cNvPr id="2" name="直接连接符 1"/>
            <p:cNvCxnSpPr/>
            <p:nvPr/>
          </p:nvCxnSpPr>
          <p:spPr>
            <a:xfrm>
              <a:off x="4766896" y="2166584"/>
              <a:ext cx="26064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等腰三角形 4"/>
            <p:cNvSpPr/>
            <p:nvPr/>
          </p:nvSpPr>
          <p:spPr>
            <a:xfrm>
              <a:off x="5064774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>
              <a:off x="7012762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0" name="20 9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74541" y="1930020"/>
            <a:ext cx="530924" cy="47110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19223" y="1795353"/>
            <a:ext cx="1031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11" name="20 10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86535" y="1893835"/>
            <a:ext cx="322291" cy="54347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599106" y="1795353"/>
            <a:ext cx="136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sp>
        <p:nvSpPr>
          <p:cNvPr id="17" name="矩形 16"/>
          <p:cNvSpPr/>
          <p:nvPr/>
        </p:nvSpPr>
        <p:spPr>
          <a:xfrm>
            <a:off x="7012762" y="2487658"/>
            <a:ext cx="4015989" cy="1022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         不要忘记给</a:t>
            </a:r>
            <a:r>
              <a:rPr lang="en-US" altLang="zh-CN" sz="2000" b="1" dirty="0"/>
              <a:t>Server0</a:t>
            </a:r>
            <a:r>
              <a:rPr lang="zh-CN" altLang="en-US" sz="2000" b="1" dirty="0"/>
              <a:t>配置相应的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地址和子网掩码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82992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790669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4739675" y="685800"/>
            <a:ext cx="2726992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4.  </a:t>
            </a:r>
            <a:r>
              <a:rPr lang="zh-CN" altLang="en-US" sz="2400" b="1" dirty="0"/>
              <a:t>网络连通性测试</a:t>
            </a:r>
            <a:endParaRPr lang="en-US" altLang="zh-CN" sz="2400" b="1" dirty="0"/>
          </a:p>
        </p:txBody>
      </p:sp>
      <p:grpSp>
        <p:nvGrpSpPr>
          <p:cNvPr id="21" name="组合 20"/>
          <p:cNvGrpSpPr/>
          <p:nvPr/>
        </p:nvGrpSpPr>
        <p:grpSpPr>
          <a:xfrm>
            <a:off x="4766896" y="2116232"/>
            <a:ext cx="2606483" cy="98676"/>
            <a:chOff x="4766896" y="2116232"/>
            <a:chExt cx="2606483" cy="98676"/>
          </a:xfrm>
        </p:grpSpPr>
        <p:cxnSp>
          <p:nvCxnSpPr>
            <p:cNvPr id="2" name="直接连接符 1"/>
            <p:cNvCxnSpPr/>
            <p:nvPr/>
          </p:nvCxnSpPr>
          <p:spPr>
            <a:xfrm>
              <a:off x="4766896" y="2166584"/>
              <a:ext cx="26064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等腰三角形 4"/>
            <p:cNvSpPr/>
            <p:nvPr/>
          </p:nvSpPr>
          <p:spPr>
            <a:xfrm>
              <a:off x="5064774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>
              <a:off x="7012762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0" name="20 9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74541" y="1930020"/>
            <a:ext cx="530924" cy="47110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19223" y="1795353"/>
            <a:ext cx="1031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11" name="20 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86535" y="1893835"/>
            <a:ext cx="322291" cy="54347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599106" y="1795353"/>
            <a:ext cx="136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pic>
        <p:nvPicPr>
          <p:cNvPr id="9" name="20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111" y="3508305"/>
            <a:ext cx="3309761" cy="1387325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4882442" y="2886259"/>
            <a:ext cx="3258944" cy="622046"/>
            <a:chOff x="10167773" y="1541987"/>
            <a:chExt cx="3258944" cy="622046"/>
          </a:xfrm>
        </p:grpSpPr>
        <p:cxnSp>
          <p:nvCxnSpPr>
            <p:cNvPr id="15" name="直接箭头连接符 14"/>
            <p:cNvCxnSpPr/>
            <p:nvPr/>
          </p:nvCxnSpPr>
          <p:spPr>
            <a:xfrm>
              <a:off x="11544809" y="1895902"/>
              <a:ext cx="0" cy="268131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10167773" y="1541987"/>
              <a:ext cx="32589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切换到“实时”工作模式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82992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790669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4739675" y="685800"/>
            <a:ext cx="2726992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4.  </a:t>
            </a:r>
            <a:r>
              <a:rPr lang="zh-CN" altLang="en-US" sz="2400" b="1" dirty="0"/>
              <a:t>网络连通性测试</a:t>
            </a:r>
            <a:endParaRPr lang="en-US" altLang="zh-CN" sz="2400" b="1" dirty="0"/>
          </a:p>
        </p:txBody>
      </p:sp>
      <p:grpSp>
        <p:nvGrpSpPr>
          <p:cNvPr id="21" name="组合 20"/>
          <p:cNvGrpSpPr/>
          <p:nvPr/>
        </p:nvGrpSpPr>
        <p:grpSpPr>
          <a:xfrm>
            <a:off x="4766896" y="2116232"/>
            <a:ext cx="2606483" cy="98676"/>
            <a:chOff x="4766896" y="2116232"/>
            <a:chExt cx="2606483" cy="98676"/>
          </a:xfrm>
        </p:grpSpPr>
        <p:cxnSp>
          <p:nvCxnSpPr>
            <p:cNvPr id="2" name="直接连接符 1"/>
            <p:cNvCxnSpPr/>
            <p:nvPr/>
          </p:nvCxnSpPr>
          <p:spPr>
            <a:xfrm>
              <a:off x="4766896" y="2166584"/>
              <a:ext cx="26064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等腰三角形 4"/>
            <p:cNvSpPr/>
            <p:nvPr/>
          </p:nvSpPr>
          <p:spPr>
            <a:xfrm>
              <a:off x="5064774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>
              <a:off x="7012762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0" name="20 9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74541" y="1930020"/>
            <a:ext cx="530924" cy="47110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19223" y="1795353"/>
            <a:ext cx="1031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11" name="20 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86535" y="1893835"/>
            <a:ext cx="322291" cy="54347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599106" y="1795353"/>
            <a:ext cx="136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sp>
        <p:nvSpPr>
          <p:cNvPr id="8" name="矩形 7"/>
          <p:cNvSpPr/>
          <p:nvPr/>
        </p:nvSpPr>
        <p:spPr>
          <a:xfrm>
            <a:off x="310776" y="1535143"/>
            <a:ext cx="3290331" cy="114587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chemeClr val="bg1"/>
                </a:solidFill>
              </a:rPr>
              <a:t>         在计算机</a:t>
            </a:r>
            <a:r>
              <a:rPr lang="en-US" altLang="zh-CN" sz="2000" b="1" dirty="0">
                <a:solidFill>
                  <a:schemeClr val="bg1"/>
                </a:solidFill>
              </a:rPr>
              <a:t>PC0</a:t>
            </a:r>
            <a:r>
              <a:rPr lang="zh-CN" altLang="en-US" sz="2000" b="1" dirty="0">
                <a:solidFill>
                  <a:schemeClr val="bg1"/>
                </a:solidFill>
              </a:rPr>
              <a:t>的命令行使用“</a:t>
            </a:r>
            <a:r>
              <a:rPr lang="en-US" altLang="zh-CN" sz="2000" b="1" dirty="0">
                <a:solidFill>
                  <a:schemeClr val="bg1"/>
                </a:solidFill>
              </a:rPr>
              <a:t>ping</a:t>
            </a:r>
            <a:r>
              <a:rPr lang="zh-CN" altLang="en-US" sz="2000" b="1" dirty="0">
                <a:solidFill>
                  <a:schemeClr val="bg1"/>
                </a:solidFill>
              </a:rPr>
              <a:t>”命令，测试</a:t>
            </a:r>
            <a:r>
              <a:rPr lang="en-US" altLang="zh-CN" sz="2000" b="1" dirty="0">
                <a:solidFill>
                  <a:schemeClr val="bg1"/>
                </a:solidFill>
              </a:rPr>
              <a:t>PC0</a:t>
            </a:r>
            <a:r>
              <a:rPr lang="zh-CN" altLang="en-US" sz="2000" b="1" dirty="0">
                <a:solidFill>
                  <a:schemeClr val="bg1"/>
                </a:solidFill>
              </a:rPr>
              <a:t>与</a:t>
            </a:r>
            <a:r>
              <a:rPr lang="en-US" altLang="zh-CN" sz="2000" b="1" dirty="0">
                <a:solidFill>
                  <a:schemeClr val="bg1"/>
                </a:solidFill>
              </a:rPr>
              <a:t>Server0</a:t>
            </a:r>
            <a:r>
              <a:rPr lang="zh-CN" altLang="en-US" sz="2000" b="1" dirty="0">
                <a:solidFill>
                  <a:schemeClr val="bg1"/>
                </a:solidFill>
              </a:rPr>
              <a:t>之间的连通性。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cxnSp>
        <p:nvCxnSpPr>
          <p:cNvPr id="18" name="连接符: 曲线 17"/>
          <p:cNvCxnSpPr>
            <a:stCxn id="10" idx="2"/>
            <a:endCxn id="11" idx="2"/>
          </p:cNvCxnSpPr>
          <p:nvPr/>
        </p:nvCxnSpPr>
        <p:spPr>
          <a:xfrm rot="16200000" flipH="1">
            <a:off x="6025750" y="915375"/>
            <a:ext cx="36184" cy="3007678"/>
          </a:xfrm>
          <a:prstGeom prst="curvedConnector3">
            <a:avLst>
              <a:gd name="adj1" fmla="val 731771"/>
            </a:avLst>
          </a:prstGeom>
          <a:ln w="38100">
            <a:solidFill>
              <a:schemeClr val="accent4"/>
            </a:solidFill>
            <a:prstDash val="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20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804968"/>
            <a:ext cx="8037899" cy="3633932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460165" y="3727678"/>
            <a:ext cx="4836849" cy="2074486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5297014" y="3631200"/>
            <a:ext cx="2765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//  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测试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PC0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与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Server0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的连通性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556501" y="3912170"/>
            <a:ext cx="3154724" cy="17055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</a:rPr>
              <a:t>         如果测试失败，请检查网络拓扑、</a:t>
            </a:r>
            <a:r>
              <a:rPr lang="en-US" altLang="zh-CN" b="1" dirty="0">
                <a:solidFill>
                  <a:schemeClr val="bg1"/>
                </a:solidFill>
              </a:rPr>
              <a:t>PC0</a:t>
            </a:r>
            <a:r>
              <a:rPr lang="zh-CN" altLang="en-US" b="1" dirty="0">
                <a:solidFill>
                  <a:schemeClr val="bg1"/>
                </a:solidFill>
              </a:rPr>
              <a:t>和</a:t>
            </a:r>
            <a:r>
              <a:rPr lang="en-US" altLang="zh-CN" b="1" dirty="0">
                <a:solidFill>
                  <a:schemeClr val="bg1"/>
                </a:solidFill>
              </a:rPr>
              <a:t>Server0</a:t>
            </a:r>
            <a:r>
              <a:rPr lang="zh-CN" altLang="en-US" b="1" dirty="0">
                <a:solidFill>
                  <a:schemeClr val="bg1"/>
                </a:solidFill>
              </a:rPr>
              <a:t>各自的</a:t>
            </a:r>
            <a:r>
              <a:rPr lang="en-US" altLang="zh-CN" b="1" dirty="0">
                <a:solidFill>
                  <a:schemeClr val="bg1"/>
                </a:solidFill>
              </a:rPr>
              <a:t>IP</a:t>
            </a:r>
            <a:r>
              <a:rPr lang="zh-CN" altLang="en-US" b="1" dirty="0">
                <a:solidFill>
                  <a:schemeClr val="bg1"/>
                </a:solidFill>
              </a:rPr>
              <a:t>地址和子网掩码的配置是否正确。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9" grpId="0" animBg="1"/>
      <p:bldP spid="30" grpId="0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82992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790669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4219976" y="685800"/>
            <a:ext cx="3766219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5.  </a:t>
            </a:r>
            <a:r>
              <a:rPr lang="zh-CN" altLang="en-US" sz="2400" b="1" dirty="0"/>
              <a:t>选择要监视的网络协议</a:t>
            </a:r>
            <a:endParaRPr lang="en-US" altLang="zh-CN" sz="2400" b="1" dirty="0"/>
          </a:p>
        </p:txBody>
      </p:sp>
      <p:grpSp>
        <p:nvGrpSpPr>
          <p:cNvPr id="21" name="组合 20"/>
          <p:cNvGrpSpPr/>
          <p:nvPr/>
        </p:nvGrpSpPr>
        <p:grpSpPr>
          <a:xfrm>
            <a:off x="4766896" y="2116232"/>
            <a:ext cx="2606483" cy="98676"/>
            <a:chOff x="4766896" y="2116232"/>
            <a:chExt cx="2606483" cy="98676"/>
          </a:xfrm>
        </p:grpSpPr>
        <p:cxnSp>
          <p:nvCxnSpPr>
            <p:cNvPr id="2" name="直接连接符 1"/>
            <p:cNvCxnSpPr/>
            <p:nvPr/>
          </p:nvCxnSpPr>
          <p:spPr>
            <a:xfrm>
              <a:off x="4766896" y="2166584"/>
              <a:ext cx="26064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等腰三角形 4"/>
            <p:cNvSpPr/>
            <p:nvPr/>
          </p:nvSpPr>
          <p:spPr>
            <a:xfrm>
              <a:off x="5064774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>
              <a:off x="7012762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0" name="20 9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74541" y="1930020"/>
            <a:ext cx="530924" cy="47110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19223" y="1795353"/>
            <a:ext cx="1031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11" name="20 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86535" y="1893835"/>
            <a:ext cx="322291" cy="54347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599106" y="1795353"/>
            <a:ext cx="136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19976" y="685800"/>
            <a:ext cx="3766219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5.  </a:t>
            </a:r>
            <a:r>
              <a:rPr lang="zh-CN" altLang="en-US" sz="2400" b="1" dirty="0"/>
              <a:t>选择要监视的网络协议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8" name="20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096" y="1374844"/>
            <a:ext cx="3043465" cy="489601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3456561" y="5918684"/>
            <a:ext cx="3843075" cy="369332"/>
            <a:chOff x="3456561" y="5918684"/>
            <a:chExt cx="3843075" cy="369332"/>
          </a:xfrm>
        </p:grpSpPr>
        <p:cxnSp>
          <p:nvCxnSpPr>
            <p:cNvPr id="14" name="直接箭头连接符 13"/>
            <p:cNvCxnSpPr/>
            <p:nvPr/>
          </p:nvCxnSpPr>
          <p:spPr>
            <a:xfrm flipH="1">
              <a:off x="3456561" y="6103350"/>
              <a:ext cx="551234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>
            <a:xfrm>
              <a:off x="4007795" y="5918684"/>
              <a:ext cx="32918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❶  切换到“模拟”工作模式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456561" y="5641685"/>
            <a:ext cx="4507148" cy="369332"/>
            <a:chOff x="3456561" y="5641685"/>
            <a:chExt cx="4507148" cy="369332"/>
          </a:xfrm>
        </p:grpSpPr>
        <p:cxnSp>
          <p:nvCxnSpPr>
            <p:cNvPr id="17" name="直接箭头连接符 16"/>
            <p:cNvCxnSpPr/>
            <p:nvPr/>
          </p:nvCxnSpPr>
          <p:spPr>
            <a:xfrm flipH="1">
              <a:off x="3456561" y="5826351"/>
              <a:ext cx="551234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4007795" y="5641685"/>
              <a:ext cx="3955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❷  单击该按钮，清空“事件列表”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293707" y="5236780"/>
            <a:ext cx="7308426" cy="526822"/>
            <a:chOff x="1293707" y="5236780"/>
            <a:chExt cx="7308426" cy="526822"/>
          </a:xfrm>
        </p:grpSpPr>
        <p:sp>
          <p:nvSpPr>
            <p:cNvPr id="22" name="文本框 21"/>
            <p:cNvSpPr txBox="1"/>
            <p:nvPr/>
          </p:nvSpPr>
          <p:spPr>
            <a:xfrm>
              <a:off x="4007795" y="5236780"/>
              <a:ext cx="45943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❸  单击该按钮，打开“协议选择”对话框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23" name="连接符: 肘形 22"/>
            <p:cNvCxnSpPr>
              <a:stCxn id="22" idx="1"/>
            </p:cNvCxnSpPr>
            <p:nvPr/>
          </p:nvCxnSpPr>
          <p:spPr>
            <a:xfrm rot="10800000" flipV="1">
              <a:off x="1293707" y="5421445"/>
              <a:ext cx="2714088" cy="342157"/>
            </a:xfrm>
            <a:prstGeom prst="bentConnector2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20 31" descr="表格&#10;&#10;中度可信度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3670" y="1740027"/>
            <a:ext cx="2833530" cy="4441559"/>
          </a:xfrm>
          <a:prstGeom prst="rect">
            <a:avLst/>
          </a:prstGeom>
        </p:spPr>
      </p:pic>
      <p:grpSp>
        <p:nvGrpSpPr>
          <p:cNvPr id="41" name="组合 40"/>
          <p:cNvGrpSpPr/>
          <p:nvPr/>
        </p:nvGrpSpPr>
        <p:grpSpPr>
          <a:xfrm>
            <a:off x="4951307" y="1459006"/>
            <a:ext cx="5232400" cy="562507"/>
            <a:chOff x="4951307" y="1459006"/>
            <a:chExt cx="5232400" cy="562507"/>
          </a:xfrm>
        </p:grpSpPr>
        <p:sp>
          <p:nvSpPr>
            <p:cNvPr id="27" name="文本框 26"/>
            <p:cNvSpPr txBox="1"/>
            <p:nvPr/>
          </p:nvSpPr>
          <p:spPr>
            <a:xfrm>
              <a:off x="4951307" y="1459006"/>
              <a:ext cx="25874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❹  选择“</a:t>
              </a:r>
              <a:r>
                <a:rPr lang="en-US" altLang="zh-CN" b="1" dirty="0" err="1">
                  <a:solidFill>
                    <a:schemeClr val="accent1">
                      <a:lumMod val="75000"/>
                    </a:schemeClr>
                  </a:solidFill>
                </a:rPr>
                <a:t>Misc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”选项卡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35" name="连接符: 肘形 34"/>
            <p:cNvCxnSpPr>
              <a:stCxn id="27" idx="3"/>
            </p:cNvCxnSpPr>
            <p:nvPr/>
          </p:nvCxnSpPr>
          <p:spPr>
            <a:xfrm>
              <a:off x="7538720" y="1643672"/>
              <a:ext cx="2644987" cy="377841"/>
            </a:xfrm>
            <a:prstGeom prst="bentConnector2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/>
          <p:cNvGrpSpPr/>
          <p:nvPr/>
        </p:nvGrpSpPr>
        <p:grpSpPr>
          <a:xfrm>
            <a:off x="4951307" y="2114544"/>
            <a:ext cx="5852160" cy="2827346"/>
            <a:chOff x="4951307" y="2114544"/>
            <a:chExt cx="5852160" cy="2827346"/>
          </a:xfrm>
        </p:grpSpPr>
        <p:cxnSp>
          <p:nvCxnSpPr>
            <p:cNvPr id="29" name="直接箭头连接符 28"/>
            <p:cNvCxnSpPr/>
            <p:nvPr/>
          </p:nvCxnSpPr>
          <p:spPr>
            <a:xfrm>
              <a:off x="7538720" y="2461770"/>
              <a:ext cx="3264747" cy="299105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/>
            <p:cNvSpPr txBox="1"/>
            <p:nvPr/>
          </p:nvSpPr>
          <p:spPr>
            <a:xfrm>
              <a:off x="4951307" y="2114544"/>
              <a:ext cx="26957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❺  选择监视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</a:rPr>
                <a:t>HTTP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协议和</a:t>
              </a:r>
              <a:endParaRPr lang="en-US" altLang="zh-CN" b="1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</a:rPr>
                <a:t>      TCP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协议的相关事件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43" name="直接箭头连接符 42"/>
            <p:cNvCxnSpPr/>
            <p:nvPr/>
          </p:nvCxnSpPr>
          <p:spPr>
            <a:xfrm>
              <a:off x="7538720" y="2452353"/>
              <a:ext cx="2411307" cy="2489537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92381" y="685800"/>
            <a:ext cx="4601682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6.  </a:t>
            </a:r>
            <a:r>
              <a:rPr lang="zh-CN" altLang="en-US" sz="2400" b="1" dirty="0"/>
              <a:t>观察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的运输连接管理过程</a:t>
            </a:r>
            <a:endParaRPr lang="en-US" altLang="zh-CN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3782992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790669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grpSp>
        <p:nvGrpSpPr>
          <p:cNvPr id="21" name="组合 20"/>
          <p:cNvGrpSpPr/>
          <p:nvPr/>
        </p:nvGrpSpPr>
        <p:grpSpPr>
          <a:xfrm>
            <a:off x="4766896" y="2116232"/>
            <a:ext cx="2606483" cy="98676"/>
            <a:chOff x="4766896" y="2116232"/>
            <a:chExt cx="2606483" cy="98676"/>
          </a:xfrm>
        </p:grpSpPr>
        <p:cxnSp>
          <p:nvCxnSpPr>
            <p:cNvPr id="2" name="直接连接符 1"/>
            <p:cNvCxnSpPr/>
            <p:nvPr/>
          </p:nvCxnSpPr>
          <p:spPr>
            <a:xfrm>
              <a:off x="4766896" y="2166584"/>
              <a:ext cx="26064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等腰三角形 4"/>
            <p:cNvSpPr/>
            <p:nvPr/>
          </p:nvSpPr>
          <p:spPr>
            <a:xfrm>
              <a:off x="5064774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>
              <a:off x="7012762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0" name="20 9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74541" y="1930020"/>
            <a:ext cx="530924" cy="47110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19223" y="1795353"/>
            <a:ext cx="1031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11" name="20 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86535" y="1893835"/>
            <a:ext cx="322291" cy="54347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599106" y="1795353"/>
            <a:ext cx="136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grpSp>
        <p:nvGrpSpPr>
          <p:cNvPr id="8" name="组合 7"/>
          <p:cNvGrpSpPr/>
          <p:nvPr/>
        </p:nvGrpSpPr>
        <p:grpSpPr>
          <a:xfrm>
            <a:off x="7525245" y="2656615"/>
            <a:ext cx="3673705" cy="455894"/>
            <a:chOff x="3166803" y="3177347"/>
            <a:chExt cx="3673705" cy="455894"/>
          </a:xfrm>
        </p:grpSpPr>
        <p:sp>
          <p:nvSpPr>
            <p:cNvPr id="9" name="文本框 8"/>
            <p:cNvSpPr txBox="1"/>
            <p:nvPr/>
          </p:nvSpPr>
          <p:spPr>
            <a:xfrm>
              <a:off x="3455611" y="3177347"/>
              <a:ext cx="3384897" cy="455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❶ 切换到“模拟”工作模式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14" name="直接箭头连接符 13"/>
            <p:cNvCxnSpPr/>
            <p:nvPr/>
          </p:nvCxnSpPr>
          <p:spPr>
            <a:xfrm flipH="1">
              <a:off x="3166803" y="3426743"/>
              <a:ext cx="291521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20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208" y="2738938"/>
            <a:ext cx="2775626" cy="1309139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13136" y="2414278"/>
            <a:ext cx="4074549" cy="3999094"/>
            <a:chOff x="313136" y="2414278"/>
            <a:chExt cx="4074549" cy="3999094"/>
          </a:xfrm>
        </p:grpSpPr>
        <p:grpSp>
          <p:nvGrpSpPr>
            <p:cNvPr id="28" name="组合 27"/>
            <p:cNvGrpSpPr/>
            <p:nvPr/>
          </p:nvGrpSpPr>
          <p:grpSpPr>
            <a:xfrm>
              <a:off x="313136" y="2414278"/>
              <a:ext cx="4074549" cy="3999094"/>
              <a:chOff x="313136" y="2414278"/>
              <a:chExt cx="4074549" cy="3999094"/>
            </a:xfrm>
          </p:grpSpPr>
          <p:pic>
            <p:nvPicPr>
              <p:cNvPr id="18" name="20 1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3136" y="2414278"/>
                <a:ext cx="4074549" cy="3999094"/>
              </a:xfrm>
              <a:prstGeom prst="rect">
                <a:avLst/>
              </a:prstGeom>
            </p:spPr>
          </p:pic>
          <p:sp>
            <p:nvSpPr>
              <p:cNvPr id="19" name="文本框 18"/>
              <p:cNvSpPr txBox="1"/>
              <p:nvPr/>
            </p:nvSpPr>
            <p:spPr>
              <a:xfrm>
                <a:off x="1134303" y="3077290"/>
                <a:ext cx="120103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192.168.0.2</a:t>
                </a:r>
                <a:endParaRPr lang="zh-CN" altLang="en-US" sz="1400" b="1" dirty="0"/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407484" y="3231178"/>
              <a:ext cx="3867049" cy="1421407"/>
              <a:chOff x="407484" y="3231178"/>
              <a:chExt cx="3867049" cy="1421407"/>
            </a:xfrm>
          </p:grpSpPr>
          <p:grpSp>
            <p:nvGrpSpPr>
              <p:cNvPr id="23" name="组合 22"/>
              <p:cNvGrpSpPr/>
              <p:nvPr/>
            </p:nvGrpSpPr>
            <p:grpSpPr>
              <a:xfrm>
                <a:off x="407484" y="3276052"/>
                <a:ext cx="3867049" cy="1376533"/>
                <a:chOff x="2973451" y="2521503"/>
                <a:chExt cx="3867049" cy="1376533"/>
              </a:xfrm>
            </p:grpSpPr>
            <p:sp>
              <p:nvSpPr>
                <p:cNvPr id="24" name="文本框 23"/>
                <p:cNvSpPr txBox="1"/>
                <p:nvPr/>
              </p:nvSpPr>
              <p:spPr>
                <a:xfrm>
                  <a:off x="2973451" y="3024399"/>
                  <a:ext cx="3867049" cy="8736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b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❷ 输入</a:t>
                  </a:r>
                  <a:r>
                    <a:rPr lang="en-US" altLang="zh-CN" b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Server0</a:t>
                  </a:r>
                  <a:r>
                    <a:rPr lang="zh-CN" altLang="en-US" b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的</a:t>
                  </a:r>
                  <a:r>
                    <a:rPr lang="en-US" altLang="zh-CN" b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IP</a:t>
                  </a:r>
                  <a:r>
                    <a:rPr lang="zh-CN" altLang="en-US" b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地址，单击该按钮或输入回车键</a:t>
                  </a:r>
                  <a:endParaRPr lang="zh-CN" altLang="en-US" b="1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  <p:cxnSp>
              <p:nvCxnSpPr>
                <p:cNvPr id="25" name="直接箭头连接符 24"/>
                <p:cNvCxnSpPr/>
                <p:nvPr/>
              </p:nvCxnSpPr>
              <p:spPr>
                <a:xfrm flipH="1" flipV="1">
                  <a:off x="4592120" y="2521503"/>
                  <a:ext cx="230245" cy="655844"/>
                </a:xfrm>
                <a:prstGeom prst="straightConnector1">
                  <a:avLst/>
                </a:prstGeom>
                <a:ln w="25400">
                  <a:solidFill>
                    <a:schemeClr val="accent1">
                      <a:lumMod val="75000"/>
                    </a:schemeClr>
                  </a:solidFill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直接箭头连接符 30"/>
              <p:cNvCxnSpPr/>
              <p:nvPr/>
            </p:nvCxnSpPr>
            <p:spPr>
              <a:xfrm flipH="1" flipV="1">
                <a:off x="3604519" y="3231178"/>
                <a:ext cx="230245" cy="655844"/>
              </a:xfrm>
              <a:prstGeom prst="straightConnector1">
                <a:avLst/>
              </a:prstGeom>
              <a:ln w="25400">
                <a:solidFill>
                  <a:schemeClr val="accent1">
                    <a:lumMod val="75000"/>
                  </a:schemeClr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6" name="20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2208" y="4620430"/>
            <a:ext cx="3674712" cy="1366409"/>
          </a:xfrm>
          <a:prstGeom prst="rect">
            <a:avLst/>
          </a:prstGeom>
        </p:spPr>
      </p:pic>
      <p:grpSp>
        <p:nvGrpSpPr>
          <p:cNvPr id="37" name="组合 36"/>
          <p:cNvGrpSpPr/>
          <p:nvPr/>
        </p:nvGrpSpPr>
        <p:grpSpPr>
          <a:xfrm>
            <a:off x="8304691" y="4620430"/>
            <a:ext cx="3674712" cy="369332"/>
            <a:chOff x="4218128" y="5033585"/>
            <a:chExt cx="3674712" cy="369332"/>
          </a:xfrm>
        </p:grpSpPr>
        <p:sp>
          <p:nvSpPr>
            <p:cNvPr id="38" name="文本框 37"/>
            <p:cNvSpPr txBox="1"/>
            <p:nvPr/>
          </p:nvSpPr>
          <p:spPr>
            <a:xfrm>
              <a:off x="4517721" y="5033585"/>
              <a:ext cx="33751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❸  单击该按钮，进行单步模拟。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39" name="直接箭头连接符 38"/>
            <p:cNvCxnSpPr/>
            <p:nvPr/>
          </p:nvCxnSpPr>
          <p:spPr>
            <a:xfrm flipH="1">
              <a:off x="4218128" y="5186618"/>
              <a:ext cx="345928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92381" y="685800"/>
            <a:ext cx="4601682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6.  </a:t>
            </a:r>
            <a:r>
              <a:rPr lang="zh-CN" altLang="en-US" sz="2400" b="1" dirty="0"/>
              <a:t>观察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的运输连接管理过程</a:t>
            </a:r>
            <a:endParaRPr lang="en-US" altLang="zh-CN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3782992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790669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grpSp>
        <p:nvGrpSpPr>
          <p:cNvPr id="21" name="组合 20"/>
          <p:cNvGrpSpPr/>
          <p:nvPr/>
        </p:nvGrpSpPr>
        <p:grpSpPr>
          <a:xfrm>
            <a:off x="4766896" y="2116232"/>
            <a:ext cx="2606483" cy="98676"/>
            <a:chOff x="4766896" y="2116232"/>
            <a:chExt cx="2606483" cy="98676"/>
          </a:xfrm>
        </p:grpSpPr>
        <p:cxnSp>
          <p:nvCxnSpPr>
            <p:cNvPr id="2" name="直接连接符 1"/>
            <p:cNvCxnSpPr/>
            <p:nvPr/>
          </p:nvCxnSpPr>
          <p:spPr>
            <a:xfrm>
              <a:off x="4766896" y="2166584"/>
              <a:ext cx="26064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等腰三角形 4"/>
            <p:cNvSpPr/>
            <p:nvPr/>
          </p:nvSpPr>
          <p:spPr>
            <a:xfrm>
              <a:off x="5064774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>
              <a:off x="7012762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0" name="20 9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74541" y="1930020"/>
            <a:ext cx="530924" cy="47110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19223" y="1795353"/>
            <a:ext cx="1031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11" name="20 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86535" y="1893835"/>
            <a:ext cx="322291" cy="54347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599106" y="1795353"/>
            <a:ext cx="136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grpSp>
        <p:nvGrpSpPr>
          <p:cNvPr id="28" name="组合 27"/>
          <p:cNvGrpSpPr/>
          <p:nvPr/>
        </p:nvGrpSpPr>
        <p:grpSpPr>
          <a:xfrm>
            <a:off x="313136" y="2414278"/>
            <a:ext cx="4074549" cy="3999094"/>
            <a:chOff x="313136" y="2414278"/>
            <a:chExt cx="4074549" cy="3999094"/>
          </a:xfrm>
        </p:grpSpPr>
        <p:pic>
          <p:nvPicPr>
            <p:cNvPr id="18" name="20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3136" y="2414278"/>
              <a:ext cx="4074549" cy="3999094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/>
          </p:nvSpPr>
          <p:spPr>
            <a:xfrm>
              <a:off x="1134303" y="3077290"/>
              <a:ext cx="1201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192.168.0.2</a:t>
              </a:r>
              <a:endParaRPr lang="zh-CN" altLang="en-US" sz="1400" b="1" dirty="0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524923" y="2352940"/>
            <a:ext cx="3580718" cy="4060432"/>
            <a:chOff x="4524923" y="2352940"/>
            <a:chExt cx="3580718" cy="4060432"/>
          </a:xfrm>
        </p:grpSpPr>
        <p:cxnSp>
          <p:nvCxnSpPr>
            <p:cNvPr id="17" name="直接箭头连接符 16"/>
            <p:cNvCxnSpPr/>
            <p:nvPr/>
          </p:nvCxnSpPr>
          <p:spPr>
            <a:xfrm>
              <a:off x="4524923" y="2352940"/>
              <a:ext cx="0" cy="390971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>
              <a:off x="7545513" y="2401122"/>
              <a:ext cx="0" cy="390971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/>
          </p:nvSpPr>
          <p:spPr>
            <a:xfrm>
              <a:off x="7599106" y="6044040"/>
              <a:ext cx="5065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t</a:t>
              </a:r>
              <a:endParaRPr lang="zh-CN" altLang="en-US" b="1" dirty="0"/>
            </a:p>
          </p:txBody>
        </p:sp>
      </p:grpSp>
      <p:sp>
        <p:nvSpPr>
          <p:cNvPr id="8" name="矩形 7"/>
          <p:cNvSpPr/>
          <p:nvPr/>
        </p:nvSpPr>
        <p:spPr>
          <a:xfrm>
            <a:off x="4533507" y="2538310"/>
            <a:ext cx="3012004" cy="8906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700" b="1" dirty="0"/>
              <a:t>“三报文握手”建立</a:t>
            </a:r>
            <a:r>
              <a:rPr lang="en-US" altLang="zh-CN" sz="1700" b="1" dirty="0"/>
              <a:t>TCP</a:t>
            </a:r>
            <a:r>
              <a:rPr lang="zh-CN" altLang="en-US" sz="1700" b="1" dirty="0"/>
              <a:t>连接</a:t>
            </a:r>
            <a:endParaRPr lang="zh-CN" altLang="en-US" sz="1700" b="1" dirty="0"/>
          </a:p>
        </p:txBody>
      </p:sp>
      <p:sp>
        <p:nvSpPr>
          <p:cNvPr id="9" name="矩形 8"/>
          <p:cNvSpPr/>
          <p:nvPr/>
        </p:nvSpPr>
        <p:spPr>
          <a:xfrm>
            <a:off x="4533507" y="3426640"/>
            <a:ext cx="3012004" cy="144138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700" b="1" dirty="0"/>
              <a:t>基于已建立的</a:t>
            </a:r>
            <a:r>
              <a:rPr lang="en-US" altLang="zh-CN" sz="1700" b="1" dirty="0"/>
              <a:t>TCP</a:t>
            </a:r>
            <a:r>
              <a:rPr lang="zh-CN" altLang="en-US" sz="1700" b="1" dirty="0"/>
              <a:t>连接</a:t>
            </a:r>
            <a:endParaRPr lang="en-US" altLang="zh-CN" sz="1700" b="1" dirty="0"/>
          </a:p>
          <a:p>
            <a:pPr algn="ctr">
              <a:lnSpc>
                <a:spcPct val="150000"/>
              </a:lnSpc>
            </a:pPr>
            <a:r>
              <a:rPr lang="zh-CN" altLang="en-US" sz="1700" b="1" dirty="0"/>
              <a:t>交互</a:t>
            </a:r>
            <a:r>
              <a:rPr lang="en-US" altLang="zh-CN" sz="1700" b="1" dirty="0"/>
              <a:t>HTTP</a:t>
            </a:r>
            <a:r>
              <a:rPr lang="zh-CN" altLang="en-US" sz="1700" b="1" dirty="0"/>
              <a:t>相关报文</a:t>
            </a:r>
            <a:endParaRPr lang="zh-CN" altLang="en-US" sz="1700" b="1" dirty="0"/>
          </a:p>
        </p:txBody>
      </p:sp>
      <p:sp>
        <p:nvSpPr>
          <p:cNvPr id="14" name="矩形 13"/>
          <p:cNvSpPr/>
          <p:nvPr/>
        </p:nvSpPr>
        <p:spPr>
          <a:xfrm>
            <a:off x="4535512" y="4874607"/>
            <a:ext cx="3012004" cy="8906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700" b="1" dirty="0"/>
              <a:t>“四报文挥手”释放</a:t>
            </a:r>
            <a:r>
              <a:rPr lang="en-US" altLang="zh-CN" sz="1700" b="1" dirty="0"/>
              <a:t>TCP</a:t>
            </a:r>
            <a:r>
              <a:rPr lang="zh-CN" altLang="en-US" sz="1700" b="1" dirty="0"/>
              <a:t>连接</a:t>
            </a:r>
            <a:endParaRPr lang="zh-CN" altLang="en-US" sz="1700" b="1" dirty="0"/>
          </a:p>
        </p:txBody>
      </p:sp>
      <p:pic>
        <p:nvPicPr>
          <p:cNvPr id="23" name="20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60" y="3507151"/>
            <a:ext cx="3681506" cy="18407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92381" y="685800"/>
            <a:ext cx="4601682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6.  </a:t>
            </a:r>
            <a:r>
              <a:rPr lang="zh-CN" altLang="en-US" sz="2400" b="1" dirty="0"/>
              <a:t>观察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的运输连接管理过程</a:t>
            </a:r>
            <a:endParaRPr lang="en-US" altLang="zh-CN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3782992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790669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grpSp>
        <p:nvGrpSpPr>
          <p:cNvPr id="21" name="组合 20"/>
          <p:cNvGrpSpPr/>
          <p:nvPr/>
        </p:nvGrpSpPr>
        <p:grpSpPr>
          <a:xfrm>
            <a:off x="4766896" y="2116232"/>
            <a:ext cx="2606483" cy="98676"/>
            <a:chOff x="4766896" y="2116232"/>
            <a:chExt cx="2606483" cy="98676"/>
          </a:xfrm>
        </p:grpSpPr>
        <p:cxnSp>
          <p:nvCxnSpPr>
            <p:cNvPr id="2" name="直接连接符 1"/>
            <p:cNvCxnSpPr/>
            <p:nvPr/>
          </p:nvCxnSpPr>
          <p:spPr>
            <a:xfrm>
              <a:off x="4766896" y="2166584"/>
              <a:ext cx="26064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等腰三角形 4"/>
            <p:cNvSpPr/>
            <p:nvPr/>
          </p:nvSpPr>
          <p:spPr>
            <a:xfrm>
              <a:off x="5064774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>
              <a:off x="7012762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0" name="20 9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74541" y="1930020"/>
            <a:ext cx="530924" cy="47110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19223" y="1795353"/>
            <a:ext cx="1031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11" name="20 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86535" y="1893835"/>
            <a:ext cx="322291" cy="54347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599106" y="1795353"/>
            <a:ext cx="136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grpSp>
        <p:nvGrpSpPr>
          <p:cNvPr id="28" name="组合 27"/>
          <p:cNvGrpSpPr/>
          <p:nvPr/>
        </p:nvGrpSpPr>
        <p:grpSpPr>
          <a:xfrm>
            <a:off x="313136" y="2414278"/>
            <a:ext cx="4074549" cy="3999094"/>
            <a:chOff x="313136" y="2414278"/>
            <a:chExt cx="4074549" cy="3999094"/>
          </a:xfrm>
        </p:grpSpPr>
        <p:pic>
          <p:nvPicPr>
            <p:cNvPr id="18" name="20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3136" y="2414278"/>
              <a:ext cx="4074549" cy="3999094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/>
          </p:nvSpPr>
          <p:spPr>
            <a:xfrm>
              <a:off x="1134303" y="3077290"/>
              <a:ext cx="1201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192.168.0.2</a:t>
              </a:r>
              <a:endParaRPr lang="zh-CN" altLang="en-US" sz="1400" b="1" dirty="0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524923" y="2352940"/>
            <a:ext cx="3580718" cy="4060432"/>
            <a:chOff x="4524923" y="2352940"/>
            <a:chExt cx="3580718" cy="4060432"/>
          </a:xfrm>
        </p:grpSpPr>
        <p:cxnSp>
          <p:nvCxnSpPr>
            <p:cNvPr id="17" name="直接箭头连接符 16"/>
            <p:cNvCxnSpPr/>
            <p:nvPr/>
          </p:nvCxnSpPr>
          <p:spPr>
            <a:xfrm>
              <a:off x="4524923" y="2352940"/>
              <a:ext cx="0" cy="390971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>
              <a:off x="7545513" y="2401122"/>
              <a:ext cx="0" cy="390971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/>
          </p:nvSpPr>
          <p:spPr>
            <a:xfrm>
              <a:off x="7599106" y="6044040"/>
              <a:ext cx="5065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t</a:t>
              </a:r>
              <a:endParaRPr lang="zh-CN" altLang="en-US" b="1" dirty="0"/>
            </a:p>
          </p:txBody>
        </p:sp>
      </p:grpSp>
      <p:sp>
        <p:nvSpPr>
          <p:cNvPr id="8" name="矩形 7"/>
          <p:cNvSpPr/>
          <p:nvPr/>
        </p:nvSpPr>
        <p:spPr>
          <a:xfrm>
            <a:off x="4533507" y="2538310"/>
            <a:ext cx="3012004" cy="8906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700" b="1" dirty="0"/>
              <a:t>“三报文握手”建立</a:t>
            </a:r>
            <a:r>
              <a:rPr lang="en-US" altLang="zh-CN" sz="1700" b="1" dirty="0"/>
              <a:t>TCP</a:t>
            </a:r>
            <a:r>
              <a:rPr lang="zh-CN" altLang="en-US" sz="1700" b="1" dirty="0"/>
              <a:t>连接</a:t>
            </a:r>
            <a:endParaRPr lang="zh-CN" altLang="en-US" sz="1700" b="1" dirty="0"/>
          </a:p>
        </p:txBody>
      </p:sp>
      <p:sp>
        <p:nvSpPr>
          <p:cNvPr id="9" name="矩形 8"/>
          <p:cNvSpPr/>
          <p:nvPr/>
        </p:nvSpPr>
        <p:spPr>
          <a:xfrm>
            <a:off x="4533507" y="3426640"/>
            <a:ext cx="3012004" cy="144138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700" b="1" dirty="0"/>
              <a:t>基于已建立的</a:t>
            </a:r>
            <a:r>
              <a:rPr lang="en-US" altLang="zh-CN" sz="1700" b="1" dirty="0"/>
              <a:t>TCP</a:t>
            </a:r>
            <a:r>
              <a:rPr lang="zh-CN" altLang="en-US" sz="1700" b="1" dirty="0"/>
              <a:t>连接</a:t>
            </a:r>
            <a:endParaRPr lang="en-US" altLang="zh-CN" sz="1700" b="1" dirty="0"/>
          </a:p>
          <a:p>
            <a:pPr algn="ctr">
              <a:lnSpc>
                <a:spcPct val="150000"/>
              </a:lnSpc>
            </a:pPr>
            <a:r>
              <a:rPr lang="zh-CN" altLang="en-US" sz="1700" b="1" dirty="0"/>
              <a:t>交互</a:t>
            </a:r>
            <a:r>
              <a:rPr lang="en-US" altLang="zh-CN" sz="1700" b="1" dirty="0"/>
              <a:t>HTTP</a:t>
            </a:r>
            <a:r>
              <a:rPr lang="zh-CN" altLang="en-US" sz="1700" b="1" dirty="0"/>
              <a:t>相关报文</a:t>
            </a:r>
            <a:endParaRPr lang="zh-CN" altLang="en-US" sz="1700" b="1" dirty="0"/>
          </a:p>
        </p:txBody>
      </p:sp>
      <p:pic>
        <p:nvPicPr>
          <p:cNvPr id="23" name="20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60" y="3507151"/>
            <a:ext cx="3681506" cy="1840753"/>
          </a:xfrm>
          <a:prstGeom prst="rect">
            <a:avLst/>
          </a:prstGeom>
        </p:spPr>
      </p:pic>
      <p:sp>
        <p:nvSpPr>
          <p:cNvPr id="15" name="对话气泡: 矩形 14"/>
          <p:cNvSpPr/>
          <p:nvPr/>
        </p:nvSpPr>
        <p:spPr>
          <a:xfrm>
            <a:off x="7902351" y="2538310"/>
            <a:ext cx="3984849" cy="3591231"/>
          </a:xfrm>
          <a:prstGeom prst="wedgeRectCallout">
            <a:avLst>
              <a:gd name="adj1" fmla="val -58532"/>
              <a:gd name="adj2" fmla="val -326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/>
              <a:t>三个</a:t>
            </a:r>
            <a:r>
              <a:rPr lang="en-US" altLang="zh-CN" b="1" dirty="0"/>
              <a:t>TCP</a:t>
            </a:r>
            <a:r>
              <a:rPr lang="zh-CN" altLang="en-US" b="1" dirty="0"/>
              <a:t>报文段，它们各自首部中的同步（</a:t>
            </a:r>
            <a:r>
              <a:rPr lang="en-US" altLang="zh-CN" b="1" dirty="0"/>
              <a:t>SYN</a:t>
            </a:r>
            <a:r>
              <a:rPr lang="zh-CN" altLang="en-US" b="1" dirty="0"/>
              <a:t>）标志位、确认（</a:t>
            </a:r>
            <a:r>
              <a:rPr lang="en-US" altLang="zh-CN" b="1" dirty="0"/>
              <a:t>ACK</a:t>
            </a:r>
            <a:r>
              <a:rPr lang="zh-CN" altLang="en-US" b="1" dirty="0"/>
              <a:t>）标志位、序号（</a:t>
            </a:r>
            <a:r>
              <a:rPr lang="en-US" altLang="zh-CN" b="1" dirty="0"/>
              <a:t>seq</a:t>
            </a:r>
            <a:r>
              <a:rPr lang="zh-CN" altLang="en-US" b="1" dirty="0"/>
              <a:t>）字段、确认号（</a:t>
            </a:r>
            <a:r>
              <a:rPr lang="en-US" altLang="zh-CN" b="1" dirty="0"/>
              <a:t>ack</a:t>
            </a:r>
            <a:r>
              <a:rPr lang="zh-CN" altLang="en-US" b="1" dirty="0"/>
              <a:t>）字段的值。</a:t>
            </a:r>
            <a:endParaRPr lang="en-US" altLang="zh-CN" b="1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 dirty="0"/>
              <a:t>TCP</a:t>
            </a:r>
            <a:r>
              <a:rPr lang="zh-CN" altLang="en-US" b="1" dirty="0"/>
              <a:t>客户的状态转换过程：关闭（</a:t>
            </a:r>
            <a:r>
              <a:rPr lang="en-US" altLang="zh-CN" b="1" dirty="0"/>
              <a:t>CLOSED</a:t>
            </a:r>
            <a:r>
              <a:rPr lang="zh-CN" altLang="en-US" b="1" dirty="0"/>
              <a:t>）→同步已发送（</a:t>
            </a:r>
            <a:r>
              <a:rPr lang="en-US" altLang="zh-CN" b="1" dirty="0"/>
              <a:t>SYN-SENT</a:t>
            </a:r>
            <a:r>
              <a:rPr lang="zh-CN" altLang="en-US" b="1" dirty="0"/>
              <a:t>）→连接已建立（</a:t>
            </a:r>
            <a:r>
              <a:rPr lang="en-US" altLang="zh-CN" b="1" dirty="0"/>
              <a:t>ESTABLISHED</a:t>
            </a:r>
            <a:r>
              <a:rPr lang="zh-CN" altLang="en-US" b="1" dirty="0"/>
              <a:t>）。</a:t>
            </a:r>
            <a:endParaRPr lang="en-US" altLang="zh-CN" b="1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 dirty="0"/>
              <a:t>TCP</a:t>
            </a:r>
            <a:r>
              <a:rPr lang="zh-CN" altLang="en-US" b="1" dirty="0"/>
              <a:t>服务器的状态转换过程：关闭（</a:t>
            </a:r>
            <a:r>
              <a:rPr lang="en-US" altLang="zh-CN" b="1" dirty="0"/>
              <a:t>CLOSED</a:t>
            </a:r>
            <a:r>
              <a:rPr lang="zh-CN" altLang="en-US" b="1" dirty="0"/>
              <a:t>）→监听（</a:t>
            </a:r>
            <a:r>
              <a:rPr lang="en-US" altLang="zh-CN" b="1" dirty="0"/>
              <a:t>LISTEN</a:t>
            </a:r>
            <a:r>
              <a:rPr lang="zh-CN" altLang="en-US" b="1" dirty="0"/>
              <a:t>）→同步已接收（</a:t>
            </a:r>
            <a:r>
              <a:rPr lang="en-US" altLang="zh-CN" b="1" dirty="0"/>
              <a:t>SYN-RCVD</a:t>
            </a:r>
            <a:r>
              <a:rPr lang="zh-CN" altLang="en-US" b="1" dirty="0"/>
              <a:t>）→连接已建立（</a:t>
            </a:r>
            <a:r>
              <a:rPr lang="en-US" altLang="zh-CN" b="1" dirty="0"/>
              <a:t>ESTABLISHED</a:t>
            </a:r>
            <a:r>
              <a:rPr lang="zh-CN" altLang="en-US" b="1" dirty="0"/>
              <a:t>）。</a:t>
            </a:r>
            <a:endParaRPr lang="zh-CN" altLang="en-US" b="1" dirty="0"/>
          </a:p>
        </p:txBody>
      </p:sp>
      <p:sp>
        <p:nvSpPr>
          <p:cNvPr id="24" name="矩形 23"/>
          <p:cNvSpPr/>
          <p:nvPr/>
        </p:nvSpPr>
        <p:spPr>
          <a:xfrm>
            <a:off x="4535512" y="4874607"/>
            <a:ext cx="3012004" cy="8906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700" b="1" dirty="0"/>
              <a:t>“四报文挥手”释放</a:t>
            </a:r>
            <a:r>
              <a:rPr lang="en-US" altLang="zh-CN" sz="1700" b="1" dirty="0"/>
              <a:t>TCP</a:t>
            </a:r>
            <a:r>
              <a:rPr lang="zh-CN" altLang="en-US" sz="1700" b="1" dirty="0"/>
              <a:t>连接</a:t>
            </a:r>
            <a:endParaRPr lang="zh-CN" altLang="en-US" sz="17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92381" y="685800"/>
            <a:ext cx="4601682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6.  </a:t>
            </a:r>
            <a:r>
              <a:rPr lang="zh-CN" altLang="en-US" sz="2400" b="1" dirty="0"/>
              <a:t>观察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的运输连接管理过程</a:t>
            </a:r>
            <a:endParaRPr lang="en-US" altLang="zh-CN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3782992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790669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grpSp>
        <p:nvGrpSpPr>
          <p:cNvPr id="21" name="组合 20"/>
          <p:cNvGrpSpPr/>
          <p:nvPr/>
        </p:nvGrpSpPr>
        <p:grpSpPr>
          <a:xfrm>
            <a:off x="4766896" y="2116232"/>
            <a:ext cx="2606483" cy="98676"/>
            <a:chOff x="4766896" y="2116232"/>
            <a:chExt cx="2606483" cy="98676"/>
          </a:xfrm>
        </p:grpSpPr>
        <p:cxnSp>
          <p:nvCxnSpPr>
            <p:cNvPr id="2" name="直接连接符 1"/>
            <p:cNvCxnSpPr/>
            <p:nvPr/>
          </p:nvCxnSpPr>
          <p:spPr>
            <a:xfrm>
              <a:off x="4766896" y="2166584"/>
              <a:ext cx="26064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等腰三角形 4"/>
            <p:cNvSpPr/>
            <p:nvPr/>
          </p:nvSpPr>
          <p:spPr>
            <a:xfrm>
              <a:off x="5064774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>
              <a:off x="7012762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0" name="20 9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74541" y="1930020"/>
            <a:ext cx="530924" cy="47110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19223" y="1795353"/>
            <a:ext cx="1031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11" name="20 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86535" y="1893835"/>
            <a:ext cx="322291" cy="54347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599106" y="1795353"/>
            <a:ext cx="136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grpSp>
        <p:nvGrpSpPr>
          <p:cNvPr id="28" name="组合 27"/>
          <p:cNvGrpSpPr/>
          <p:nvPr/>
        </p:nvGrpSpPr>
        <p:grpSpPr>
          <a:xfrm>
            <a:off x="313136" y="2414278"/>
            <a:ext cx="4074549" cy="3999094"/>
            <a:chOff x="313136" y="2414278"/>
            <a:chExt cx="4074549" cy="3999094"/>
          </a:xfrm>
        </p:grpSpPr>
        <p:pic>
          <p:nvPicPr>
            <p:cNvPr id="18" name="20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3136" y="2414278"/>
              <a:ext cx="4074549" cy="3999094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/>
          </p:nvSpPr>
          <p:spPr>
            <a:xfrm>
              <a:off x="1134303" y="3077290"/>
              <a:ext cx="1201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192.168.0.2</a:t>
              </a:r>
              <a:endParaRPr lang="zh-CN" altLang="en-US" sz="1400" b="1" dirty="0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524923" y="2352940"/>
            <a:ext cx="3580718" cy="4060432"/>
            <a:chOff x="4524923" y="2352940"/>
            <a:chExt cx="3580718" cy="4060432"/>
          </a:xfrm>
        </p:grpSpPr>
        <p:cxnSp>
          <p:nvCxnSpPr>
            <p:cNvPr id="17" name="直接箭头连接符 16"/>
            <p:cNvCxnSpPr/>
            <p:nvPr/>
          </p:nvCxnSpPr>
          <p:spPr>
            <a:xfrm>
              <a:off x="4524923" y="2352940"/>
              <a:ext cx="0" cy="390971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>
              <a:off x="7545513" y="2401122"/>
              <a:ext cx="0" cy="390971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/>
          </p:nvSpPr>
          <p:spPr>
            <a:xfrm>
              <a:off x="7599106" y="6044040"/>
              <a:ext cx="5065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t</a:t>
              </a:r>
              <a:endParaRPr lang="zh-CN" altLang="en-US" b="1" dirty="0"/>
            </a:p>
          </p:txBody>
        </p:sp>
      </p:grpSp>
      <p:sp>
        <p:nvSpPr>
          <p:cNvPr id="8" name="矩形 7"/>
          <p:cNvSpPr/>
          <p:nvPr/>
        </p:nvSpPr>
        <p:spPr>
          <a:xfrm>
            <a:off x="4533507" y="2538310"/>
            <a:ext cx="3012004" cy="8906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700" b="1" dirty="0"/>
              <a:t>“三报文握手”建立</a:t>
            </a:r>
            <a:r>
              <a:rPr lang="en-US" altLang="zh-CN" sz="1700" b="1" dirty="0"/>
              <a:t>TCP</a:t>
            </a:r>
            <a:r>
              <a:rPr lang="zh-CN" altLang="en-US" sz="1700" b="1" dirty="0"/>
              <a:t>连接</a:t>
            </a:r>
            <a:endParaRPr lang="zh-CN" altLang="en-US" sz="1700" b="1" dirty="0"/>
          </a:p>
        </p:txBody>
      </p:sp>
      <p:sp>
        <p:nvSpPr>
          <p:cNvPr id="9" name="矩形 8"/>
          <p:cNvSpPr/>
          <p:nvPr/>
        </p:nvSpPr>
        <p:spPr>
          <a:xfrm>
            <a:off x="4533507" y="3426640"/>
            <a:ext cx="3012004" cy="144138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700" b="1" dirty="0"/>
              <a:t>基于已建立的</a:t>
            </a:r>
            <a:r>
              <a:rPr lang="en-US" altLang="zh-CN" sz="1700" b="1" dirty="0"/>
              <a:t>TCP</a:t>
            </a:r>
            <a:r>
              <a:rPr lang="zh-CN" altLang="en-US" sz="1700" b="1" dirty="0"/>
              <a:t>连接</a:t>
            </a:r>
            <a:endParaRPr lang="en-US" altLang="zh-CN" sz="1700" b="1" dirty="0"/>
          </a:p>
          <a:p>
            <a:pPr algn="ctr">
              <a:lnSpc>
                <a:spcPct val="150000"/>
              </a:lnSpc>
            </a:pPr>
            <a:r>
              <a:rPr lang="zh-CN" altLang="en-US" sz="1700" b="1" dirty="0"/>
              <a:t>交互</a:t>
            </a:r>
            <a:r>
              <a:rPr lang="en-US" altLang="zh-CN" sz="1700" b="1" dirty="0"/>
              <a:t>HTTP</a:t>
            </a:r>
            <a:r>
              <a:rPr lang="zh-CN" altLang="en-US" sz="1700" b="1" dirty="0"/>
              <a:t>相关报文</a:t>
            </a:r>
            <a:endParaRPr lang="zh-CN" altLang="en-US" sz="1700" b="1" dirty="0"/>
          </a:p>
        </p:txBody>
      </p:sp>
      <p:pic>
        <p:nvPicPr>
          <p:cNvPr id="23" name="20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60" y="3507151"/>
            <a:ext cx="3681506" cy="1840753"/>
          </a:xfrm>
          <a:prstGeom prst="rect">
            <a:avLst/>
          </a:prstGeom>
        </p:spPr>
      </p:pic>
      <p:sp>
        <p:nvSpPr>
          <p:cNvPr id="24" name="对话气泡: 矩形 23"/>
          <p:cNvSpPr/>
          <p:nvPr/>
        </p:nvSpPr>
        <p:spPr>
          <a:xfrm>
            <a:off x="7902351" y="2538310"/>
            <a:ext cx="3976512" cy="3772525"/>
          </a:xfrm>
          <a:prstGeom prst="wedgeRectCallout">
            <a:avLst>
              <a:gd name="adj1" fmla="val -58364"/>
              <a:gd name="adj2" fmla="val 24133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/>
              <a:t>四个</a:t>
            </a:r>
            <a:r>
              <a:rPr lang="en-US" altLang="zh-CN" b="1" dirty="0"/>
              <a:t>TCP</a:t>
            </a:r>
            <a:r>
              <a:rPr lang="zh-CN" altLang="en-US" b="1" dirty="0"/>
              <a:t>报文段，它们各自首部中的终止（</a:t>
            </a:r>
            <a:r>
              <a:rPr lang="en-US" altLang="zh-CN" b="1" dirty="0"/>
              <a:t>FIN</a:t>
            </a:r>
            <a:r>
              <a:rPr lang="zh-CN" altLang="en-US" b="1" dirty="0"/>
              <a:t>）标志位和确认（</a:t>
            </a:r>
            <a:r>
              <a:rPr lang="en-US" altLang="zh-CN" b="1" dirty="0"/>
              <a:t>ACK</a:t>
            </a:r>
            <a:r>
              <a:rPr lang="zh-CN" altLang="en-US" b="1" dirty="0"/>
              <a:t>）标志位、序号（</a:t>
            </a:r>
            <a:r>
              <a:rPr lang="en-US" altLang="zh-CN" b="1" dirty="0"/>
              <a:t>seq</a:t>
            </a:r>
            <a:r>
              <a:rPr lang="zh-CN" altLang="en-US" b="1" dirty="0"/>
              <a:t>）字段、确认号（</a:t>
            </a:r>
            <a:r>
              <a:rPr lang="en-US" altLang="zh-CN" b="1" dirty="0"/>
              <a:t>ack</a:t>
            </a:r>
            <a:r>
              <a:rPr lang="zh-CN" altLang="en-US" b="1" dirty="0"/>
              <a:t>）字段的值。</a:t>
            </a:r>
            <a:endParaRPr lang="en-US" altLang="zh-CN" b="1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 dirty="0"/>
              <a:t>TCP</a:t>
            </a:r>
            <a:r>
              <a:rPr lang="zh-CN" altLang="en-US" b="1" dirty="0"/>
              <a:t>客户的状态转换过程：连接已建立（</a:t>
            </a:r>
            <a:r>
              <a:rPr lang="en-US" altLang="zh-CN" b="1" dirty="0"/>
              <a:t>ESTABLISHED</a:t>
            </a:r>
            <a:r>
              <a:rPr lang="zh-CN" altLang="en-US" b="1" dirty="0"/>
              <a:t>）→终止等待</a:t>
            </a:r>
            <a:r>
              <a:rPr lang="en-US" altLang="zh-CN" b="1" dirty="0"/>
              <a:t>1 </a:t>
            </a:r>
            <a:r>
              <a:rPr lang="zh-CN" altLang="en-US" b="1" dirty="0"/>
              <a:t>（</a:t>
            </a:r>
            <a:r>
              <a:rPr lang="en-US" altLang="zh-CN" b="1" dirty="0"/>
              <a:t>FIN-WAIT-1</a:t>
            </a:r>
            <a:r>
              <a:rPr lang="zh-CN" altLang="en-US" b="1" dirty="0"/>
              <a:t>）→终止等待</a:t>
            </a:r>
            <a:r>
              <a:rPr lang="en-US" altLang="zh-CN" b="1" dirty="0"/>
              <a:t>2</a:t>
            </a:r>
            <a:r>
              <a:rPr lang="zh-CN" altLang="en-US" b="1" dirty="0"/>
              <a:t>（</a:t>
            </a:r>
            <a:r>
              <a:rPr lang="en-US" altLang="zh-CN" b="1" dirty="0"/>
              <a:t>FIN-WAIT-2</a:t>
            </a:r>
            <a:r>
              <a:rPr lang="zh-CN" altLang="en-US" b="1" dirty="0"/>
              <a:t>）→时间等待（</a:t>
            </a:r>
            <a:r>
              <a:rPr lang="en-US" altLang="zh-CN" b="1" dirty="0"/>
              <a:t>TIME-WAIT</a:t>
            </a:r>
            <a:r>
              <a:rPr lang="zh-CN" altLang="en-US" b="1" dirty="0"/>
              <a:t>）→关闭（</a:t>
            </a:r>
            <a:r>
              <a:rPr lang="en-US" altLang="zh-CN" b="1" dirty="0"/>
              <a:t>CLOSED</a:t>
            </a:r>
            <a:r>
              <a:rPr lang="zh-CN" altLang="en-US" b="1" dirty="0"/>
              <a:t>））。</a:t>
            </a:r>
            <a:endParaRPr lang="en-US" altLang="zh-CN" b="1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 dirty="0"/>
              <a:t>TCP</a:t>
            </a:r>
            <a:r>
              <a:rPr lang="zh-CN" altLang="en-US" b="1" dirty="0"/>
              <a:t>服务器的状态转换过程：连接已建立（</a:t>
            </a:r>
            <a:r>
              <a:rPr lang="en-US" altLang="zh-CN" b="1" dirty="0"/>
              <a:t>ESTABLISHED</a:t>
            </a:r>
            <a:r>
              <a:rPr lang="zh-CN" altLang="en-US" b="1" dirty="0"/>
              <a:t>）→关闭等待（</a:t>
            </a:r>
            <a:r>
              <a:rPr lang="en-US" altLang="zh-CN" b="1" dirty="0"/>
              <a:t>CLOSE-WAIT</a:t>
            </a:r>
            <a:r>
              <a:rPr lang="zh-CN" altLang="en-US" b="1" dirty="0"/>
              <a:t>）→最后确认（</a:t>
            </a:r>
            <a:r>
              <a:rPr lang="en-US" altLang="zh-CN" b="1" dirty="0"/>
              <a:t>LAST-ACK</a:t>
            </a:r>
            <a:r>
              <a:rPr lang="zh-CN" altLang="en-US" b="1" dirty="0"/>
              <a:t>）→关闭（</a:t>
            </a:r>
            <a:r>
              <a:rPr lang="en-US" altLang="zh-CN" b="1" dirty="0"/>
              <a:t>CLOSED</a:t>
            </a:r>
            <a:r>
              <a:rPr lang="zh-CN" altLang="en-US" b="1" dirty="0"/>
              <a:t>）。</a:t>
            </a:r>
            <a:endParaRPr lang="zh-CN" altLang="en-US" b="1" dirty="0"/>
          </a:p>
        </p:txBody>
      </p:sp>
      <p:sp>
        <p:nvSpPr>
          <p:cNvPr id="15" name="矩形 14"/>
          <p:cNvSpPr/>
          <p:nvPr/>
        </p:nvSpPr>
        <p:spPr>
          <a:xfrm>
            <a:off x="4535512" y="4874607"/>
            <a:ext cx="3012004" cy="8906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700" b="1" dirty="0"/>
              <a:t>“四报文挥手”释放</a:t>
            </a:r>
            <a:r>
              <a:rPr lang="en-US" altLang="zh-CN" sz="1700" b="1" dirty="0"/>
              <a:t>TCP</a:t>
            </a:r>
            <a:r>
              <a:rPr lang="zh-CN" altLang="en-US" sz="1700" b="1" dirty="0"/>
              <a:t>连接</a:t>
            </a:r>
            <a:endParaRPr lang="zh-CN" altLang="en-US" sz="17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92381" y="685800"/>
            <a:ext cx="4601682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6.  </a:t>
            </a:r>
            <a:r>
              <a:rPr lang="zh-CN" altLang="en-US" sz="2400" b="1" dirty="0"/>
              <a:t>观察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的运输连接管理过程</a:t>
            </a:r>
            <a:endParaRPr lang="en-US" altLang="zh-CN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3782992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790669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grpSp>
        <p:nvGrpSpPr>
          <p:cNvPr id="21" name="组合 20"/>
          <p:cNvGrpSpPr/>
          <p:nvPr/>
        </p:nvGrpSpPr>
        <p:grpSpPr>
          <a:xfrm>
            <a:off x="4766896" y="2116232"/>
            <a:ext cx="2606483" cy="98676"/>
            <a:chOff x="4766896" y="2116232"/>
            <a:chExt cx="2606483" cy="98676"/>
          </a:xfrm>
        </p:grpSpPr>
        <p:cxnSp>
          <p:nvCxnSpPr>
            <p:cNvPr id="2" name="直接连接符 1"/>
            <p:cNvCxnSpPr/>
            <p:nvPr/>
          </p:nvCxnSpPr>
          <p:spPr>
            <a:xfrm>
              <a:off x="4766896" y="2166584"/>
              <a:ext cx="26064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等腰三角形 4"/>
            <p:cNvSpPr/>
            <p:nvPr/>
          </p:nvSpPr>
          <p:spPr>
            <a:xfrm>
              <a:off x="5064774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>
              <a:off x="7012762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0" name="20 9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74541" y="1930020"/>
            <a:ext cx="530924" cy="47110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19223" y="1795353"/>
            <a:ext cx="1031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11" name="20 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86535" y="1893835"/>
            <a:ext cx="322291" cy="54347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599106" y="1795353"/>
            <a:ext cx="136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pic>
        <p:nvPicPr>
          <p:cNvPr id="25" name="20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426211"/>
            <a:ext cx="9997001" cy="4138233"/>
          </a:xfrm>
          <a:prstGeom prst="rect">
            <a:avLst/>
          </a:prstGeom>
        </p:spPr>
      </p:pic>
      <p:sp>
        <p:nvSpPr>
          <p:cNvPr id="27" name="iconfont-11253-5330645"/>
          <p:cNvSpPr/>
          <p:nvPr/>
        </p:nvSpPr>
        <p:spPr>
          <a:xfrm>
            <a:off x="4695744" y="1862912"/>
            <a:ext cx="322292" cy="253147"/>
          </a:xfrm>
          <a:custGeom>
            <a:avLst/>
            <a:gdLst>
              <a:gd name="T0" fmla="*/ 10000 w 10000"/>
              <a:gd name="T1" fmla="*/ 891 h 7855"/>
              <a:gd name="T2" fmla="*/ 9726 w 10000"/>
              <a:gd name="T3" fmla="*/ 1733 h 7855"/>
              <a:gd name="T4" fmla="*/ 9045 w 10000"/>
              <a:gd name="T5" fmla="*/ 2420 h 7855"/>
              <a:gd name="T6" fmla="*/ 6434 w 10000"/>
              <a:gd name="T7" fmla="*/ 4233 h 7855"/>
              <a:gd name="T8" fmla="*/ 6196 w 10000"/>
              <a:gd name="T9" fmla="*/ 4403 h 7855"/>
              <a:gd name="T10" fmla="*/ 5895 w 10000"/>
              <a:gd name="T11" fmla="*/ 4616 h 7855"/>
              <a:gd name="T12" fmla="*/ 5605 w 10000"/>
              <a:gd name="T13" fmla="*/ 4798 h 7855"/>
              <a:gd name="T14" fmla="*/ 5285 w 10000"/>
              <a:gd name="T15" fmla="*/ 4948 h 7855"/>
              <a:gd name="T16" fmla="*/ 5006 w 10000"/>
              <a:gd name="T17" fmla="*/ 4998 h 7855"/>
              <a:gd name="T18" fmla="*/ 4994 w 10000"/>
              <a:gd name="T19" fmla="*/ 4998 h 7855"/>
              <a:gd name="T20" fmla="*/ 4715 w 10000"/>
              <a:gd name="T21" fmla="*/ 4948 h 7855"/>
              <a:gd name="T22" fmla="*/ 4395 w 10000"/>
              <a:gd name="T23" fmla="*/ 4798 h 7855"/>
              <a:gd name="T24" fmla="*/ 4105 w 10000"/>
              <a:gd name="T25" fmla="*/ 4616 h 7855"/>
              <a:gd name="T26" fmla="*/ 3804 w 10000"/>
              <a:gd name="T27" fmla="*/ 4403 h 7855"/>
              <a:gd name="T28" fmla="*/ 3566 w 10000"/>
              <a:gd name="T29" fmla="*/ 4233 h 7855"/>
              <a:gd name="T30" fmla="*/ 2104 w 10000"/>
              <a:gd name="T31" fmla="*/ 3215 h 7855"/>
              <a:gd name="T32" fmla="*/ 960 w 10000"/>
              <a:gd name="T33" fmla="*/ 2418 h 7855"/>
              <a:gd name="T34" fmla="*/ 307 w 10000"/>
              <a:gd name="T35" fmla="*/ 1775 h 7855"/>
              <a:gd name="T36" fmla="*/ 0 w 10000"/>
              <a:gd name="T37" fmla="*/ 1015 h 7855"/>
              <a:gd name="T38" fmla="*/ 231 w 10000"/>
              <a:gd name="T39" fmla="*/ 290 h 7855"/>
              <a:gd name="T40" fmla="*/ 892 w 10000"/>
              <a:gd name="T41" fmla="*/ 0 h 7855"/>
              <a:gd name="T42" fmla="*/ 9108 w 10000"/>
              <a:gd name="T43" fmla="*/ 0 h 7855"/>
              <a:gd name="T44" fmla="*/ 9735 w 10000"/>
              <a:gd name="T45" fmla="*/ 261 h 7855"/>
              <a:gd name="T46" fmla="*/ 10000 w 10000"/>
              <a:gd name="T47" fmla="*/ 891 h 7855"/>
              <a:gd name="T48" fmla="*/ 10000 w 10000"/>
              <a:gd name="T49" fmla="*/ 2532 h 7855"/>
              <a:gd name="T50" fmla="*/ 10000 w 10000"/>
              <a:gd name="T51" fmla="*/ 6963 h 7855"/>
              <a:gd name="T52" fmla="*/ 9739 w 10000"/>
              <a:gd name="T53" fmla="*/ 7593 h 7855"/>
              <a:gd name="T54" fmla="*/ 9109 w 10000"/>
              <a:gd name="T55" fmla="*/ 7855 h 7855"/>
              <a:gd name="T56" fmla="*/ 894 w 10000"/>
              <a:gd name="T57" fmla="*/ 7855 h 7855"/>
              <a:gd name="T58" fmla="*/ 264 w 10000"/>
              <a:gd name="T59" fmla="*/ 7593 h 7855"/>
              <a:gd name="T60" fmla="*/ 1 w 10000"/>
              <a:gd name="T61" fmla="*/ 6963 h 7855"/>
              <a:gd name="T62" fmla="*/ 1 w 10000"/>
              <a:gd name="T63" fmla="*/ 2532 h 7855"/>
              <a:gd name="T64" fmla="*/ 565 w 10000"/>
              <a:gd name="T65" fmla="*/ 3018 h 7855"/>
              <a:gd name="T66" fmla="*/ 3339 w 10000"/>
              <a:gd name="T67" fmla="*/ 4943 h 7855"/>
              <a:gd name="T68" fmla="*/ 3855 w 10000"/>
              <a:gd name="T69" fmla="*/ 5308 h 7855"/>
              <a:gd name="T70" fmla="*/ 4383 w 10000"/>
              <a:gd name="T71" fmla="*/ 5576 h 7855"/>
              <a:gd name="T72" fmla="*/ 4996 w 10000"/>
              <a:gd name="T73" fmla="*/ 5712 h 7855"/>
              <a:gd name="T74" fmla="*/ 5009 w 10000"/>
              <a:gd name="T75" fmla="*/ 5712 h 7855"/>
              <a:gd name="T76" fmla="*/ 5623 w 10000"/>
              <a:gd name="T77" fmla="*/ 5576 h 7855"/>
              <a:gd name="T78" fmla="*/ 6150 w 10000"/>
              <a:gd name="T79" fmla="*/ 5308 h 7855"/>
              <a:gd name="T80" fmla="*/ 6666 w 10000"/>
              <a:gd name="T81" fmla="*/ 4943 h 7855"/>
              <a:gd name="T82" fmla="*/ 9445 w 10000"/>
              <a:gd name="T83" fmla="*/ 3018 h 7855"/>
              <a:gd name="T84" fmla="*/ 10000 w 10000"/>
              <a:gd name="T85" fmla="*/ 2532 h 7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0000" h="7855">
                <a:moveTo>
                  <a:pt x="10000" y="891"/>
                </a:moveTo>
                <a:cubicBezTo>
                  <a:pt x="10000" y="1185"/>
                  <a:pt x="9909" y="1466"/>
                  <a:pt x="9726" y="1733"/>
                </a:cubicBezTo>
                <a:cubicBezTo>
                  <a:pt x="9544" y="2001"/>
                  <a:pt x="9316" y="2230"/>
                  <a:pt x="9045" y="2420"/>
                </a:cubicBezTo>
                <a:cubicBezTo>
                  <a:pt x="7646" y="3391"/>
                  <a:pt x="6776" y="3995"/>
                  <a:pt x="6434" y="4233"/>
                </a:cubicBezTo>
                <a:cubicBezTo>
                  <a:pt x="6396" y="4260"/>
                  <a:pt x="6318" y="4317"/>
                  <a:pt x="6196" y="4403"/>
                </a:cubicBezTo>
                <a:cubicBezTo>
                  <a:pt x="6075" y="4491"/>
                  <a:pt x="5975" y="4562"/>
                  <a:pt x="5895" y="4616"/>
                </a:cubicBezTo>
                <a:cubicBezTo>
                  <a:pt x="5815" y="4670"/>
                  <a:pt x="5718" y="4730"/>
                  <a:pt x="5605" y="4798"/>
                </a:cubicBezTo>
                <a:cubicBezTo>
                  <a:pt x="5491" y="4866"/>
                  <a:pt x="5384" y="4916"/>
                  <a:pt x="5285" y="4948"/>
                </a:cubicBezTo>
                <a:cubicBezTo>
                  <a:pt x="5184" y="4982"/>
                  <a:pt x="5091" y="4998"/>
                  <a:pt x="5006" y="4998"/>
                </a:cubicBezTo>
                <a:lnTo>
                  <a:pt x="4994" y="4998"/>
                </a:lnTo>
                <a:cubicBezTo>
                  <a:pt x="4908" y="4998"/>
                  <a:pt x="4815" y="4982"/>
                  <a:pt x="4715" y="4948"/>
                </a:cubicBezTo>
                <a:cubicBezTo>
                  <a:pt x="4614" y="4915"/>
                  <a:pt x="4508" y="4865"/>
                  <a:pt x="4395" y="4798"/>
                </a:cubicBezTo>
                <a:cubicBezTo>
                  <a:pt x="4281" y="4731"/>
                  <a:pt x="4185" y="4671"/>
                  <a:pt x="4105" y="4616"/>
                </a:cubicBezTo>
                <a:cubicBezTo>
                  <a:pt x="4025" y="4562"/>
                  <a:pt x="3924" y="4491"/>
                  <a:pt x="3804" y="4403"/>
                </a:cubicBezTo>
                <a:cubicBezTo>
                  <a:pt x="3683" y="4317"/>
                  <a:pt x="3604" y="4260"/>
                  <a:pt x="3566" y="4233"/>
                </a:cubicBezTo>
                <a:cubicBezTo>
                  <a:pt x="3229" y="3995"/>
                  <a:pt x="2740" y="3656"/>
                  <a:pt x="2104" y="3215"/>
                </a:cubicBezTo>
                <a:cubicBezTo>
                  <a:pt x="1467" y="2773"/>
                  <a:pt x="1086" y="2510"/>
                  <a:pt x="960" y="2418"/>
                </a:cubicBezTo>
                <a:cubicBezTo>
                  <a:pt x="729" y="2262"/>
                  <a:pt x="511" y="2047"/>
                  <a:pt x="307" y="1775"/>
                </a:cubicBezTo>
                <a:cubicBezTo>
                  <a:pt x="102" y="1503"/>
                  <a:pt x="0" y="1248"/>
                  <a:pt x="0" y="1015"/>
                </a:cubicBezTo>
                <a:cubicBezTo>
                  <a:pt x="0" y="725"/>
                  <a:pt x="77" y="483"/>
                  <a:pt x="231" y="290"/>
                </a:cubicBezTo>
                <a:cubicBezTo>
                  <a:pt x="385" y="96"/>
                  <a:pt x="606" y="0"/>
                  <a:pt x="892" y="0"/>
                </a:cubicBezTo>
                <a:lnTo>
                  <a:pt x="9108" y="0"/>
                </a:lnTo>
                <a:cubicBezTo>
                  <a:pt x="9349" y="0"/>
                  <a:pt x="9559" y="87"/>
                  <a:pt x="9735" y="261"/>
                </a:cubicBezTo>
                <a:cubicBezTo>
                  <a:pt x="9913" y="436"/>
                  <a:pt x="10000" y="646"/>
                  <a:pt x="10000" y="891"/>
                </a:cubicBezTo>
                <a:close/>
                <a:moveTo>
                  <a:pt x="10000" y="2532"/>
                </a:moveTo>
                <a:lnTo>
                  <a:pt x="10000" y="6963"/>
                </a:lnTo>
                <a:cubicBezTo>
                  <a:pt x="10000" y="7208"/>
                  <a:pt x="9913" y="7418"/>
                  <a:pt x="9739" y="7593"/>
                </a:cubicBezTo>
                <a:cubicBezTo>
                  <a:pt x="9564" y="7768"/>
                  <a:pt x="9354" y="7855"/>
                  <a:pt x="9109" y="7855"/>
                </a:cubicBezTo>
                <a:lnTo>
                  <a:pt x="894" y="7855"/>
                </a:lnTo>
                <a:cubicBezTo>
                  <a:pt x="649" y="7855"/>
                  <a:pt x="439" y="7767"/>
                  <a:pt x="264" y="7593"/>
                </a:cubicBezTo>
                <a:cubicBezTo>
                  <a:pt x="88" y="7420"/>
                  <a:pt x="1" y="7208"/>
                  <a:pt x="1" y="6963"/>
                </a:cubicBezTo>
                <a:lnTo>
                  <a:pt x="1" y="2532"/>
                </a:lnTo>
                <a:cubicBezTo>
                  <a:pt x="165" y="2715"/>
                  <a:pt x="354" y="2876"/>
                  <a:pt x="565" y="3018"/>
                </a:cubicBezTo>
                <a:cubicBezTo>
                  <a:pt x="1911" y="3933"/>
                  <a:pt x="2836" y="4576"/>
                  <a:pt x="3339" y="4943"/>
                </a:cubicBezTo>
                <a:cubicBezTo>
                  <a:pt x="3551" y="5099"/>
                  <a:pt x="3723" y="5222"/>
                  <a:pt x="3855" y="5308"/>
                </a:cubicBezTo>
                <a:cubicBezTo>
                  <a:pt x="3986" y="5396"/>
                  <a:pt x="4163" y="5486"/>
                  <a:pt x="4383" y="5576"/>
                </a:cubicBezTo>
                <a:cubicBezTo>
                  <a:pt x="4603" y="5667"/>
                  <a:pt x="4806" y="5712"/>
                  <a:pt x="4996" y="5712"/>
                </a:cubicBezTo>
                <a:lnTo>
                  <a:pt x="5009" y="5712"/>
                </a:lnTo>
                <a:cubicBezTo>
                  <a:pt x="5199" y="5712"/>
                  <a:pt x="5403" y="5666"/>
                  <a:pt x="5623" y="5576"/>
                </a:cubicBezTo>
                <a:cubicBezTo>
                  <a:pt x="5843" y="5485"/>
                  <a:pt x="6018" y="5395"/>
                  <a:pt x="6150" y="5308"/>
                </a:cubicBezTo>
                <a:cubicBezTo>
                  <a:pt x="6281" y="5222"/>
                  <a:pt x="6454" y="5099"/>
                  <a:pt x="6666" y="4943"/>
                </a:cubicBezTo>
                <a:cubicBezTo>
                  <a:pt x="7299" y="4486"/>
                  <a:pt x="8225" y="3843"/>
                  <a:pt x="9445" y="3018"/>
                </a:cubicBezTo>
                <a:cubicBezTo>
                  <a:pt x="9654" y="2872"/>
                  <a:pt x="9840" y="2711"/>
                  <a:pt x="10000" y="2532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92381" y="685800"/>
            <a:ext cx="4601682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6.  </a:t>
            </a:r>
            <a:r>
              <a:rPr lang="zh-CN" altLang="en-US" sz="2400" b="1" dirty="0"/>
              <a:t>观察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的运输连接管理过程</a:t>
            </a:r>
            <a:endParaRPr lang="en-US" altLang="zh-CN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3782992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790669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grpSp>
        <p:nvGrpSpPr>
          <p:cNvPr id="21" name="组合 20"/>
          <p:cNvGrpSpPr/>
          <p:nvPr/>
        </p:nvGrpSpPr>
        <p:grpSpPr>
          <a:xfrm>
            <a:off x="4766896" y="2116232"/>
            <a:ext cx="2606483" cy="98676"/>
            <a:chOff x="4766896" y="2116232"/>
            <a:chExt cx="2606483" cy="98676"/>
          </a:xfrm>
        </p:grpSpPr>
        <p:cxnSp>
          <p:nvCxnSpPr>
            <p:cNvPr id="2" name="直接连接符 1"/>
            <p:cNvCxnSpPr/>
            <p:nvPr/>
          </p:nvCxnSpPr>
          <p:spPr>
            <a:xfrm>
              <a:off x="4766896" y="2166584"/>
              <a:ext cx="26064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等腰三角形 4"/>
            <p:cNvSpPr/>
            <p:nvPr/>
          </p:nvSpPr>
          <p:spPr>
            <a:xfrm>
              <a:off x="5064774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>
              <a:off x="7012762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0" name="20 9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74541" y="1930020"/>
            <a:ext cx="530924" cy="47110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19223" y="1795353"/>
            <a:ext cx="1031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11" name="20 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86535" y="1893835"/>
            <a:ext cx="322291" cy="54347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599106" y="1795353"/>
            <a:ext cx="136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sp>
        <p:nvSpPr>
          <p:cNvPr id="27" name="iconfont-11253-5330645"/>
          <p:cNvSpPr/>
          <p:nvPr/>
        </p:nvSpPr>
        <p:spPr>
          <a:xfrm>
            <a:off x="7103439" y="1862912"/>
            <a:ext cx="322292" cy="253147"/>
          </a:xfrm>
          <a:custGeom>
            <a:avLst/>
            <a:gdLst>
              <a:gd name="T0" fmla="*/ 10000 w 10000"/>
              <a:gd name="T1" fmla="*/ 891 h 7855"/>
              <a:gd name="T2" fmla="*/ 9726 w 10000"/>
              <a:gd name="T3" fmla="*/ 1733 h 7855"/>
              <a:gd name="T4" fmla="*/ 9045 w 10000"/>
              <a:gd name="T5" fmla="*/ 2420 h 7855"/>
              <a:gd name="T6" fmla="*/ 6434 w 10000"/>
              <a:gd name="T7" fmla="*/ 4233 h 7855"/>
              <a:gd name="T8" fmla="*/ 6196 w 10000"/>
              <a:gd name="T9" fmla="*/ 4403 h 7855"/>
              <a:gd name="T10" fmla="*/ 5895 w 10000"/>
              <a:gd name="T11" fmla="*/ 4616 h 7855"/>
              <a:gd name="T12" fmla="*/ 5605 w 10000"/>
              <a:gd name="T13" fmla="*/ 4798 h 7855"/>
              <a:gd name="T14" fmla="*/ 5285 w 10000"/>
              <a:gd name="T15" fmla="*/ 4948 h 7855"/>
              <a:gd name="T16" fmla="*/ 5006 w 10000"/>
              <a:gd name="T17" fmla="*/ 4998 h 7855"/>
              <a:gd name="T18" fmla="*/ 4994 w 10000"/>
              <a:gd name="T19" fmla="*/ 4998 h 7855"/>
              <a:gd name="T20" fmla="*/ 4715 w 10000"/>
              <a:gd name="T21" fmla="*/ 4948 h 7855"/>
              <a:gd name="T22" fmla="*/ 4395 w 10000"/>
              <a:gd name="T23" fmla="*/ 4798 h 7855"/>
              <a:gd name="T24" fmla="*/ 4105 w 10000"/>
              <a:gd name="T25" fmla="*/ 4616 h 7855"/>
              <a:gd name="T26" fmla="*/ 3804 w 10000"/>
              <a:gd name="T27" fmla="*/ 4403 h 7855"/>
              <a:gd name="T28" fmla="*/ 3566 w 10000"/>
              <a:gd name="T29" fmla="*/ 4233 h 7855"/>
              <a:gd name="T30" fmla="*/ 2104 w 10000"/>
              <a:gd name="T31" fmla="*/ 3215 h 7855"/>
              <a:gd name="T32" fmla="*/ 960 w 10000"/>
              <a:gd name="T33" fmla="*/ 2418 h 7855"/>
              <a:gd name="T34" fmla="*/ 307 w 10000"/>
              <a:gd name="T35" fmla="*/ 1775 h 7855"/>
              <a:gd name="T36" fmla="*/ 0 w 10000"/>
              <a:gd name="T37" fmla="*/ 1015 h 7855"/>
              <a:gd name="T38" fmla="*/ 231 w 10000"/>
              <a:gd name="T39" fmla="*/ 290 h 7855"/>
              <a:gd name="T40" fmla="*/ 892 w 10000"/>
              <a:gd name="T41" fmla="*/ 0 h 7855"/>
              <a:gd name="T42" fmla="*/ 9108 w 10000"/>
              <a:gd name="T43" fmla="*/ 0 h 7855"/>
              <a:gd name="T44" fmla="*/ 9735 w 10000"/>
              <a:gd name="T45" fmla="*/ 261 h 7855"/>
              <a:gd name="T46" fmla="*/ 10000 w 10000"/>
              <a:gd name="T47" fmla="*/ 891 h 7855"/>
              <a:gd name="T48" fmla="*/ 10000 w 10000"/>
              <a:gd name="T49" fmla="*/ 2532 h 7855"/>
              <a:gd name="T50" fmla="*/ 10000 w 10000"/>
              <a:gd name="T51" fmla="*/ 6963 h 7855"/>
              <a:gd name="T52" fmla="*/ 9739 w 10000"/>
              <a:gd name="T53" fmla="*/ 7593 h 7855"/>
              <a:gd name="T54" fmla="*/ 9109 w 10000"/>
              <a:gd name="T55" fmla="*/ 7855 h 7855"/>
              <a:gd name="T56" fmla="*/ 894 w 10000"/>
              <a:gd name="T57" fmla="*/ 7855 h 7855"/>
              <a:gd name="T58" fmla="*/ 264 w 10000"/>
              <a:gd name="T59" fmla="*/ 7593 h 7855"/>
              <a:gd name="T60" fmla="*/ 1 w 10000"/>
              <a:gd name="T61" fmla="*/ 6963 h 7855"/>
              <a:gd name="T62" fmla="*/ 1 w 10000"/>
              <a:gd name="T63" fmla="*/ 2532 h 7855"/>
              <a:gd name="T64" fmla="*/ 565 w 10000"/>
              <a:gd name="T65" fmla="*/ 3018 h 7855"/>
              <a:gd name="T66" fmla="*/ 3339 w 10000"/>
              <a:gd name="T67" fmla="*/ 4943 h 7855"/>
              <a:gd name="T68" fmla="*/ 3855 w 10000"/>
              <a:gd name="T69" fmla="*/ 5308 h 7855"/>
              <a:gd name="T70" fmla="*/ 4383 w 10000"/>
              <a:gd name="T71" fmla="*/ 5576 h 7855"/>
              <a:gd name="T72" fmla="*/ 4996 w 10000"/>
              <a:gd name="T73" fmla="*/ 5712 h 7855"/>
              <a:gd name="T74" fmla="*/ 5009 w 10000"/>
              <a:gd name="T75" fmla="*/ 5712 h 7855"/>
              <a:gd name="T76" fmla="*/ 5623 w 10000"/>
              <a:gd name="T77" fmla="*/ 5576 h 7855"/>
              <a:gd name="T78" fmla="*/ 6150 w 10000"/>
              <a:gd name="T79" fmla="*/ 5308 h 7855"/>
              <a:gd name="T80" fmla="*/ 6666 w 10000"/>
              <a:gd name="T81" fmla="*/ 4943 h 7855"/>
              <a:gd name="T82" fmla="*/ 9445 w 10000"/>
              <a:gd name="T83" fmla="*/ 3018 h 7855"/>
              <a:gd name="T84" fmla="*/ 10000 w 10000"/>
              <a:gd name="T85" fmla="*/ 2532 h 7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0000" h="7855">
                <a:moveTo>
                  <a:pt x="10000" y="891"/>
                </a:moveTo>
                <a:cubicBezTo>
                  <a:pt x="10000" y="1185"/>
                  <a:pt x="9909" y="1466"/>
                  <a:pt x="9726" y="1733"/>
                </a:cubicBezTo>
                <a:cubicBezTo>
                  <a:pt x="9544" y="2001"/>
                  <a:pt x="9316" y="2230"/>
                  <a:pt x="9045" y="2420"/>
                </a:cubicBezTo>
                <a:cubicBezTo>
                  <a:pt x="7646" y="3391"/>
                  <a:pt x="6776" y="3995"/>
                  <a:pt x="6434" y="4233"/>
                </a:cubicBezTo>
                <a:cubicBezTo>
                  <a:pt x="6396" y="4260"/>
                  <a:pt x="6318" y="4317"/>
                  <a:pt x="6196" y="4403"/>
                </a:cubicBezTo>
                <a:cubicBezTo>
                  <a:pt x="6075" y="4491"/>
                  <a:pt x="5975" y="4562"/>
                  <a:pt x="5895" y="4616"/>
                </a:cubicBezTo>
                <a:cubicBezTo>
                  <a:pt x="5815" y="4670"/>
                  <a:pt x="5718" y="4730"/>
                  <a:pt x="5605" y="4798"/>
                </a:cubicBezTo>
                <a:cubicBezTo>
                  <a:pt x="5491" y="4866"/>
                  <a:pt x="5384" y="4916"/>
                  <a:pt x="5285" y="4948"/>
                </a:cubicBezTo>
                <a:cubicBezTo>
                  <a:pt x="5184" y="4982"/>
                  <a:pt x="5091" y="4998"/>
                  <a:pt x="5006" y="4998"/>
                </a:cubicBezTo>
                <a:lnTo>
                  <a:pt x="4994" y="4998"/>
                </a:lnTo>
                <a:cubicBezTo>
                  <a:pt x="4908" y="4998"/>
                  <a:pt x="4815" y="4982"/>
                  <a:pt x="4715" y="4948"/>
                </a:cubicBezTo>
                <a:cubicBezTo>
                  <a:pt x="4614" y="4915"/>
                  <a:pt x="4508" y="4865"/>
                  <a:pt x="4395" y="4798"/>
                </a:cubicBezTo>
                <a:cubicBezTo>
                  <a:pt x="4281" y="4731"/>
                  <a:pt x="4185" y="4671"/>
                  <a:pt x="4105" y="4616"/>
                </a:cubicBezTo>
                <a:cubicBezTo>
                  <a:pt x="4025" y="4562"/>
                  <a:pt x="3924" y="4491"/>
                  <a:pt x="3804" y="4403"/>
                </a:cubicBezTo>
                <a:cubicBezTo>
                  <a:pt x="3683" y="4317"/>
                  <a:pt x="3604" y="4260"/>
                  <a:pt x="3566" y="4233"/>
                </a:cubicBezTo>
                <a:cubicBezTo>
                  <a:pt x="3229" y="3995"/>
                  <a:pt x="2740" y="3656"/>
                  <a:pt x="2104" y="3215"/>
                </a:cubicBezTo>
                <a:cubicBezTo>
                  <a:pt x="1467" y="2773"/>
                  <a:pt x="1086" y="2510"/>
                  <a:pt x="960" y="2418"/>
                </a:cubicBezTo>
                <a:cubicBezTo>
                  <a:pt x="729" y="2262"/>
                  <a:pt x="511" y="2047"/>
                  <a:pt x="307" y="1775"/>
                </a:cubicBezTo>
                <a:cubicBezTo>
                  <a:pt x="102" y="1503"/>
                  <a:pt x="0" y="1248"/>
                  <a:pt x="0" y="1015"/>
                </a:cubicBezTo>
                <a:cubicBezTo>
                  <a:pt x="0" y="725"/>
                  <a:pt x="77" y="483"/>
                  <a:pt x="231" y="290"/>
                </a:cubicBezTo>
                <a:cubicBezTo>
                  <a:pt x="385" y="96"/>
                  <a:pt x="606" y="0"/>
                  <a:pt x="892" y="0"/>
                </a:cubicBezTo>
                <a:lnTo>
                  <a:pt x="9108" y="0"/>
                </a:lnTo>
                <a:cubicBezTo>
                  <a:pt x="9349" y="0"/>
                  <a:pt x="9559" y="87"/>
                  <a:pt x="9735" y="261"/>
                </a:cubicBezTo>
                <a:cubicBezTo>
                  <a:pt x="9913" y="436"/>
                  <a:pt x="10000" y="646"/>
                  <a:pt x="10000" y="891"/>
                </a:cubicBezTo>
                <a:close/>
                <a:moveTo>
                  <a:pt x="10000" y="2532"/>
                </a:moveTo>
                <a:lnTo>
                  <a:pt x="10000" y="6963"/>
                </a:lnTo>
                <a:cubicBezTo>
                  <a:pt x="10000" y="7208"/>
                  <a:pt x="9913" y="7418"/>
                  <a:pt x="9739" y="7593"/>
                </a:cubicBezTo>
                <a:cubicBezTo>
                  <a:pt x="9564" y="7768"/>
                  <a:pt x="9354" y="7855"/>
                  <a:pt x="9109" y="7855"/>
                </a:cubicBezTo>
                <a:lnTo>
                  <a:pt x="894" y="7855"/>
                </a:lnTo>
                <a:cubicBezTo>
                  <a:pt x="649" y="7855"/>
                  <a:pt x="439" y="7767"/>
                  <a:pt x="264" y="7593"/>
                </a:cubicBezTo>
                <a:cubicBezTo>
                  <a:pt x="88" y="7420"/>
                  <a:pt x="1" y="7208"/>
                  <a:pt x="1" y="6963"/>
                </a:cubicBezTo>
                <a:lnTo>
                  <a:pt x="1" y="2532"/>
                </a:lnTo>
                <a:cubicBezTo>
                  <a:pt x="165" y="2715"/>
                  <a:pt x="354" y="2876"/>
                  <a:pt x="565" y="3018"/>
                </a:cubicBezTo>
                <a:cubicBezTo>
                  <a:pt x="1911" y="3933"/>
                  <a:pt x="2836" y="4576"/>
                  <a:pt x="3339" y="4943"/>
                </a:cubicBezTo>
                <a:cubicBezTo>
                  <a:pt x="3551" y="5099"/>
                  <a:pt x="3723" y="5222"/>
                  <a:pt x="3855" y="5308"/>
                </a:cubicBezTo>
                <a:cubicBezTo>
                  <a:pt x="3986" y="5396"/>
                  <a:pt x="4163" y="5486"/>
                  <a:pt x="4383" y="5576"/>
                </a:cubicBezTo>
                <a:cubicBezTo>
                  <a:pt x="4603" y="5667"/>
                  <a:pt x="4806" y="5712"/>
                  <a:pt x="4996" y="5712"/>
                </a:cubicBezTo>
                <a:lnTo>
                  <a:pt x="5009" y="5712"/>
                </a:lnTo>
                <a:cubicBezTo>
                  <a:pt x="5199" y="5712"/>
                  <a:pt x="5403" y="5666"/>
                  <a:pt x="5623" y="5576"/>
                </a:cubicBezTo>
                <a:cubicBezTo>
                  <a:pt x="5843" y="5485"/>
                  <a:pt x="6018" y="5395"/>
                  <a:pt x="6150" y="5308"/>
                </a:cubicBezTo>
                <a:cubicBezTo>
                  <a:pt x="6281" y="5222"/>
                  <a:pt x="6454" y="5099"/>
                  <a:pt x="6666" y="4943"/>
                </a:cubicBezTo>
                <a:cubicBezTo>
                  <a:pt x="7299" y="4486"/>
                  <a:pt x="8225" y="3843"/>
                  <a:pt x="9445" y="3018"/>
                </a:cubicBezTo>
                <a:cubicBezTo>
                  <a:pt x="9654" y="2872"/>
                  <a:pt x="9840" y="2711"/>
                  <a:pt x="10000" y="2532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20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526" y="2451473"/>
            <a:ext cx="10097674" cy="4037778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92381" y="685800"/>
            <a:ext cx="4601682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6.  </a:t>
            </a:r>
            <a:r>
              <a:rPr lang="zh-CN" altLang="en-US" sz="2400" b="1" dirty="0"/>
              <a:t>观察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的运输连接管理过程</a:t>
            </a:r>
            <a:endParaRPr lang="en-US" altLang="zh-CN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3782992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790669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grpSp>
        <p:nvGrpSpPr>
          <p:cNvPr id="21" name="组合 20"/>
          <p:cNvGrpSpPr/>
          <p:nvPr/>
        </p:nvGrpSpPr>
        <p:grpSpPr>
          <a:xfrm>
            <a:off x="4766896" y="2116232"/>
            <a:ext cx="2606483" cy="98676"/>
            <a:chOff x="4766896" y="2116232"/>
            <a:chExt cx="2606483" cy="98676"/>
          </a:xfrm>
        </p:grpSpPr>
        <p:cxnSp>
          <p:nvCxnSpPr>
            <p:cNvPr id="2" name="直接连接符 1"/>
            <p:cNvCxnSpPr/>
            <p:nvPr/>
          </p:nvCxnSpPr>
          <p:spPr>
            <a:xfrm>
              <a:off x="4766896" y="2166584"/>
              <a:ext cx="26064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等腰三角形 4"/>
            <p:cNvSpPr/>
            <p:nvPr/>
          </p:nvSpPr>
          <p:spPr>
            <a:xfrm>
              <a:off x="5064774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>
              <a:off x="7012762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0" name="20 9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74541" y="1930020"/>
            <a:ext cx="530924" cy="47110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19223" y="1795353"/>
            <a:ext cx="1031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11" name="20 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86535" y="1893835"/>
            <a:ext cx="322291" cy="54347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599106" y="1795353"/>
            <a:ext cx="136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sp>
        <p:nvSpPr>
          <p:cNvPr id="27" name="iconfont-11253-5330645"/>
          <p:cNvSpPr/>
          <p:nvPr/>
        </p:nvSpPr>
        <p:spPr>
          <a:xfrm>
            <a:off x="7103439" y="1862912"/>
            <a:ext cx="322292" cy="253147"/>
          </a:xfrm>
          <a:custGeom>
            <a:avLst/>
            <a:gdLst>
              <a:gd name="T0" fmla="*/ 10000 w 10000"/>
              <a:gd name="T1" fmla="*/ 891 h 7855"/>
              <a:gd name="T2" fmla="*/ 9726 w 10000"/>
              <a:gd name="T3" fmla="*/ 1733 h 7855"/>
              <a:gd name="T4" fmla="*/ 9045 w 10000"/>
              <a:gd name="T5" fmla="*/ 2420 h 7855"/>
              <a:gd name="T6" fmla="*/ 6434 w 10000"/>
              <a:gd name="T7" fmla="*/ 4233 h 7855"/>
              <a:gd name="T8" fmla="*/ 6196 w 10000"/>
              <a:gd name="T9" fmla="*/ 4403 h 7855"/>
              <a:gd name="T10" fmla="*/ 5895 w 10000"/>
              <a:gd name="T11" fmla="*/ 4616 h 7855"/>
              <a:gd name="T12" fmla="*/ 5605 w 10000"/>
              <a:gd name="T13" fmla="*/ 4798 h 7855"/>
              <a:gd name="T14" fmla="*/ 5285 w 10000"/>
              <a:gd name="T15" fmla="*/ 4948 h 7855"/>
              <a:gd name="T16" fmla="*/ 5006 w 10000"/>
              <a:gd name="T17" fmla="*/ 4998 h 7855"/>
              <a:gd name="T18" fmla="*/ 4994 w 10000"/>
              <a:gd name="T19" fmla="*/ 4998 h 7855"/>
              <a:gd name="T20" fmla="*/ 4715 w 10000"/>
              <a:gd name="T21" fmla="*/ 4948 h 7855"/>
              <a:gd name="T22" fmla="*/ 4395 w 10000"/>
              <a:gd name="T23" fmla="*/ 4798 h 7855"/>
              <a:gd name="T24" fmla="*/ 4105 w 10000"/>
              <a:gd name="T25" fmla="*/ 4616 h 7855"/>
              <a:gd name="T26" fmla="*/ 3804 w 10000"/>
              <a:gd name="T27" fmla="*/ 4403 h 7855"/>
              <a:gd name="T28" fmla="*/ 3566 w 10000"/>
              <a:gd name="T29" fmla="*/ 4233 h 7855"/>
              <a:gd name="T30" fmla="*/ 2104 w 10000"/>
              <a:gd name="T31" fmla="*/ 3215 h 7855"/>
              <a:gd name="T32" fmla="*/ 960 w 10000"/>
              <a:gd name="T33" fmla="*/ 2418 h 7855"/>
              <a:gd name="T34" fmla="*/ 307 w 10000"/>
              <a:gd name="T35" fmla="*/ 1775 h 7855"/>
              <a:gd name="T36" fmla="*/ 0 w 10000"/>
              <a:gd name="T37" fmla="*/ 1015 h 7855"/>
              <a:gd name="T38" fmla="*/ 231 w 10000"/>
              <a:gd name="T39" fmla="*/ 290 h 7855"/>
              <a:gd name="T40" fmla="*/ 892 w 10000"/>
              <a:gd name="T41" fmla="*/ 0 h 7855"/>
              <a:gd name="T42" fmla="*/ 9108 w 10000"/>
              <a:gd name="T43" fmla="*/ 0 h 7855"/>
              <a:gd name="T44" fmla="*/ 9735 w 10000"/>
              <a:gd name="T45" fmla="*/ 261 h 7855"/>
              <a:gd name="T46" fmla="*/ 10000 w 10000"/>
              <a:gd name="T47" fmla="*/ 891 h 7855"/>
              <a:gd name="T48" fmla="*/ 10000 w 10000"/>
              <a:gd name="T49" fmla="*/ 2532 h 7855"/>
              <a:gd name="T50" fmla="*/ 10000 w 10000"/>
              <a:gd name="T51" fmla="*/ 6963 h 7855"/>
              <a:gd name="T52" fmla="*/ 9739 w 10000"/>
              <a:gd name="T53" fmla="*/ 7593 h 7855"/>
              <a:gd name="T54" fmla="*/ 9109 w 10000"/>
              <a:gd name="T55" fmla="*/ 7855 h 7855"/>
              <a:gd name="T56" fmla="*/ 894 w 10000"/>
              <a:gd name="T57" fmla="*/ 7855 h 7855"/>
              <a:gd name="T58" fmla="*/ 264 w 10000"/>
              <a:gd name="T59" fmla="*/ 7593 h 7855"/>
              <a:gd name="T60" fmla="*/ 1 w 10000"/>
              <a:gd name="T61" fmla="*/ 6963 h 7855"/>
              <a:gd name="T62" fmla="*/ 1 w 10000"/>
              <a:gd name="T63" fmla="*/ 2532 h 7855"/>
              <a:gd name="T64" fmla="*/ 565 w 10000"/>
              <a:gd name="T65" fmla="*/ 3018 h 7855"/>
              <a:gd name="T66" fmla="*/ 3339 w 10000"/>
              <a:gd name="T67" fmla="*/ 4943 h 7855"/>
              <a:gd name="T68" fmla="*/ 3855 w 10000"/>
              <a:gd name="T69" fmla="*/ 5308 h 7855"/>
              <a:gd name="T70" fmla="*/ 4383 w 10000"/>
              <a:gd name="T71" fmla="*/ 5576 h 7855"/>
              <a:gd name="T72" fmla="*/ 4996 w 10000"/>
              <a:gd name="T73" fmla="*/ 5712 h 7855"/>
              <a:gd name="T74" fmla="*/ 5009 w 10000"/>
              <a:gd name="T75" fmla="*/ 5712 h 7855"/>
              <a:gd name="T76" fmla="*/ 5623 w 10000"/>
              <a:gd name="T77" fmla="*/ 5576 h 7855"/>
              <a:gd name="T78" fmla="*/ 6150 w 10000"/>
              <a:gd name="T79" fmla="*/ 5308 h 7855"/>
              <a:gd name="T80" fmla="*/ 6666 w 10000"/>
              <a:gd name="T81" fmla="*/ 4943 h 7855"/>
              <a:gd name="T82" fmla="*/ 9445 w 10000"/>
              <a:gd name="T83" fmla="*/ 3018 h 7855"/>
              <a:gd name="T84" fmla="*/ 10000 w 10000"/>
              <a:gd name="T85" fmla="*/ 2532 h 7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0000" h="7855">
                <a:moveTo>
                  <a:pt x="10000" y="891"/>
                </a:moveTo>
                <a:cubicBezTo>
                  <a:pt x="10000" y="1185"/>
                  <a:pt x="9909" y="1466"/>
                  <a:pt x="9726" y="1733"/>
                </a:cubicBezTo>
                <a:cubicBezTo>
                  <a:pt x="9544" y="2001"/>
                  <a:pt x="9316" y="2230"/>
                  <a:pt x="9045" y="2420"/>
                </a:cubicBezTo>
                <a:cubicBezTo>
                  <a:pt x="7646" y="3391"/>
                  <a:pt x="6776" y="3995"/>
                  <a:pt x="6434" y="4233"/>
                </a:cubicBezTo>
                <a:cubicBezTo>
                  <a:pt x="6396" y="4260"/>
                  <a:pt x="6318" y="4317"/>
                  <a:pt x="6196" y="4403"/>
                </a:cubicBezTo>
                <a:cubicBezTo>
                  <a:pt x="6075" y="4491"/>
                  <a:pt x="5975" y="4562"/>
                  <a:pt x="5895" y="4616"/>
                </a:cubicBezTo>
                <a:cubicBezTo>
                  <a:pt x="5815" y="4670"/>
                  <a:pt x="5718" y="4730"/>
                  <a:pt x="5605" y="4798"/>
                </a:cubicBezTo>
                <a:cubicBezTo>
                  <a:pt x="5491" y="4866"/>
                  <a:pt x="5384" y="4916"/>
                  <a:pt x="5285" y="4948"/>
                </a:cubicBezTo>
                <a:cubicBezTo>
                  <a:pt x="5184" y="4982"/>
                  <a:pt x="5091" y="4998"/>
                  <a:pt x="5006" y="4998"/>
                </a:cubicBezTo>
                <a:lnTo>
                  <a:pt x="4994" y="4998"/>
                </a:lnTo>
                <a:cubicBezTo>
                  <a:pt x="4908" y="4998"/>
                  <a:pt x="4815" y="4982"/>
                  <a:pt x="4715" y="4948"/>
                </a:cubicBezTo>
                <a:cubicBezTo>
                  <a:pt x="4614" y="4915"/>
                  <a:pt x="4508" y="4865"/>
                  <a:pt x="4395" y="4798"/>
                </a:cubicBezTo>
                <a:cubicBezTo>
                  <a:pt x="4281" y="4731"/>
                  <a:pt x="4185" y="4671"/>
                  <a:pt x="4105" y="4616"/>
                </a:cubicBezTo>
                <a:cubicBezTo>
                  <a:pt x="4025" y="4562"/>
                  <a:pt x="3924" y="4491"/>
                  <a:pt x="3804" y="4403"/>
                </a:cubicBezTo>
                <a:cubicBezTo>
                  <a:pt x="3683" y="4317"/>
                  <a:pt x="3604" y="4260"/>
                  <a:pt x="3566" y="4233"/>
                </a:cubicBezTo>
                <a:cubicBezTo>
                  <a:pt x="3229" y="3995"/>
                  <a:pt x="2740" y="3656"/>
                  <a:pt x="2104" y="3215"/>
                </a:cubicBezTo>
                <a:cubicBezTo>
                  <a:pt x="1467" y="2773"/>
                  <a:pt x="1086" y="2510"/>
                  <a:pt x="960" y="2418"/>
                </a:cubicBezTo>
                <a:cubicBezTo>
                  <a:pt x="729" y="2262"/>
                  <a:pt x="511" y="2047"/>
                  <a:pt x="307" y="1775"/>
                </a:cubicBezTo>
                <a:cubicBezTo>
                  <a:pt x="102" y="1503"/>
                  <a:pt x="0" y="1248"/>
                  <a:pt x="0" y="1015"/>
                </a:cubicBezTo>
                <a:cubicBezTo>
                  <a:pt x="0" y="725"/>
                  <a:pt x="77" y="483"/>
                  <a:pt x="231" y="290"/>
                </a:cubicBezTo>
                <a:cubicBezTo>
                  <a:pt x="385" y="96"/>
                  <a:pt x="606" y="0"/>
                  <a:pt x="892" y="0"/>
                </a:cubicBezTo>
                <a:lnTo>
                  <a:pt x="9108" y="0"/>
                </a:lnTo>
                <a:cubicBezTo>
                  <a:pt x="9349" y="0"/>
                  <a:pt x="9559" y="87"/>
                  <a:pt x="9735" y="261"/>
                </a:cubicBezTo>
                <a:cubicBezTo>
                  <a:pt x="9913" y="436"/>
                  <a:pt x="10000" y="646"/>
                  <a:pt x="10000" y="891"/>
                </a:cubicBezTo>
                <a:close/>
                <a:moveTo>
                  <a:pt x="10000" y="2532"/>
                </a:moveTo>
                <a:lnTo>
                  <a:pt x="10000" y="6963"/>
                </a:lnTo>
                <a:cubicBezTo>
                  <a:pt x="10000" y="7208"/>
                  <a:pt x="9913" y="7418"/>
                  <a:pt x="9739" y="7593"/>
                </a:cubicBezTo>
                <a:cubicBezTo>
                  <a:pt x="9564" y="7768"/>
                  <a:pt x="9354" y="7855"/>
                  <a:pt x="9109" y="7855"/>
                </a:cubicBezTo>
                <a:lnTo>
                  <a:pt x="894" y="7855"/>
                </a:lnTo>
                <a:cubicBezTo>
                  <a:pt x="649" y="7855"/>
                  <a:pt x="439" y="7767"/>
                  <a:pt x="264" y="7593"/>
                </a:cubicBezTo>
                <a:cubicBezTo>
                  <a:pt x="88" y="7420"/>
                  <a:pt x="1" y="7208"/>
                  <a:pt x="1" y="6963"/>
                </a:cubicBezTo>
                <a:lnTo>
                  <a:pt x="1" y="2532"/>
                </a:lnTo>
                <a:cubicBezTo>
                  <a:pt x="165" y="2715"/>
                  <a:pt x="354" y="2876"/>
                  <a:pt x="565" y="3018"/>
                </a:cubicBezTo>
                <a:cubicBezTo>
                  <a:pt x="1911" y="3933"/>
                  <a:pt x="2836" y="4576"/>
                  <a:pt x="3339" y="4943"/>
                </a:cubicBezTo>
                <a:cubicBezTo>
                  <a:pt x="3551" y="5099"/>
                  <a:pt x="3723" y="5222"/>
                  <a:pt x="3855" y="5308"/>
                </a:cubicBezTo>
                <a:cubicBezTo>
                  <a:pt x="3986" y="5396"/>
                  <a:pt x="4163" y="5486"/>
                  <a:pt x="4383" y="5576"/>
                </a:cubicBezTo>
                <a:cubicBezTo>
                  <a:pt x="4603" y="5667"/>
                  <a:pt x="4806" y="5712"/>
                  <a:pt x="4996" y="5712"/>
                </a:cubicBezTo>
                <a:lnTo>
                  <a:pt x="5009" y="5712"/>
                </a:lnTo>
                <a:cubicBezTo>
                  <a:pt x="5199" y="5712"/>
                  <a:pt x="5403" y="5666"/>
                  <a:pt x="5623" y="5576"/>
                </a:cubicBezTo>
                <a:cubicBezTo>
                  <a:pt x="5843" y="5485"/>
                  <a:pt x="6018" y="5395"/>
                  <a:pt x="6150" y="5308"/>
                </a:cubicBezTo>
                <a:cubicBezTo>
                  <a:pt x="6281" y="5222"/>
                  <a:pt x="6454" y="5099"/>
                  <a:pt x="6666" y="4943"/>
                </a:cubicBezTo>
                <a:cubicBezTo>
                  <a:pt x="7299" y="4486"/>
                  <a:pt x="8225" y="3843"/>
                  <a:pt x="9445" y="3018"/>
                </a:cubicBezTo>
                <a:cubicBezTo>
                  <a:pt x="9654" y="2872"/>
                  <a:pt x="9840" y="2711"/>
                  <a:pt x="10000" y="2532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20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772" y="2390198"/>
            <a:ext cx="10124428" cy="4048476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096000" y="2606426"/>
            <a:ext cx="5791200" cy="38324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         请同学们注意，在本实验中，当</a:t>
            </a:r>
            <a:r>
              <a:rPr lang="en-US" altLang="zh-CN" sz="2000" b="1" dirty="0"/>
              <a:t>Server0</a:t>
            </a:r>
            <a:r>
              <a:rPr lang="zh-CN" altLang="en-US" sz="2000" b="1" dirty="0"/>
              <a:t>中的</a:t>
            </a:r>
            <a:r>
              <a:rPr lang="en-US" altLang="zh-CN" sz="2000" b="1" dirty="0"/>
              <a:t>TCP</a:t>
            </a:r>
            <a:r>
              <a:rPr lang="zh-CN" altLang="en-US" sz="2000" b="1" dirty="0"/>
              <a:t>服务器进程收到</a:t>
            </a:r>
            <a:r>
              <a:rPr lang="en-US" altLang="zh-CN" sz="2000" b="1" dirty="0"/>
              <a:t>PC0</a:t>
            </a:r>
            <a:r>
              <a:rPr lang="zh-CN" altLang="en-US" sz="2000" b="1" dirty="0"/>
              <a:t>中的</a:t>
            </a:r>
            <a:r>
              <a:rPr lang="en-US" altLang="zh-CN" sz="2000" b="1" dirty="0"/>
              <a:t>TCP</a:t>
            </a:r>
            <a:r>
              <a:rPr lang="zh-CN" altLang="en-US" sz="2000" b="1" dirty="0"/>
              <a:t>客户进程发来的</a:t>
            </a:r>
            <a:r>
              <a:rPr lang="en-US" altLang="zh-CN" sz="2000" b="1" dirty="0"/>
              <a:t>TCP</a:t>
            </a:r>
            <a:r>
              <a:rPr lang="zh-CN" altLang="en-US" sz="2000" b="1" dirty="0"/>
              <a:t>连接释放报文段后，会进入关闭等待（</a:t>
            </a:r>
            <a:r>
              <a:rPr lang="en-US" altLang="zh-CN" sz="2000" b="1" dirty="0"/>
              <a:t>CLOSE-WAIT</a:t>
            </a:r>
            <a:r>
              <a:rPr lang="zh-CN" altLang="en-US" sz="2000" b="1" dirty="0"/>
              <a:t>）状态，由于</a:t>
            </a:r>
            <a:r>
              <a:rPr lang="en-US" altLang="zh-CN" sz="2000" b="1" dirty="0"/>
              <a:t>TCP</a:t>
            </a:r>
            <a:r>
              <a:rPr lang="zh-CN" altLang="en-US" sz="2000" b="1" dirty="0"/>
              <a:t>服务器进程此时也没有数据要发给</a:t>
            </a:r>
            <a:r>
              <a:rPr lang="en-US" altLang="zh-CN" sz="2000" b="1" dirty="0"/>
              <a:t>TCP</a:t>
            </a:r>
            <a:r>
              <a:rPr lang="zh-CN" altLang="en-US" sz="2000" b="1" dirty="0"/>
              <a:t>客户进程了，于是</a:t>
            </a:r>
            <a:r>
              <a:rPr lang="en-US" altLang="zh-CN" sz="2000" b="1" dirty="0"/>
              <a:t>TCP</a:t>
            </a:r>
            <a:r>
              <a:rPr lang="zh-CN" altLang="en-US" sz="2000" b="1" dirty="0"/>
              <a:t>服务器进程进入最后确认（</a:t>
            </a:r>
            <a:r>
              <a:rPr lang="en-US" altLang="zh-CN" sz="2000" b="1" dirty="0"/>
              <a:t>LAST-ACK</a:t>
            </a:r>
            <a:r>
              <a:rPr lang="zh-CN" altLang="en-US" sz="2000" b="1" dirty="0"/>
              <a:t>）状态，并给</a:t>
            </a:r>
            <a:r>
              <a:rPr lang="en-US" altLang="zh-CN" sz="2000" b="1" dirty="0"/>
              <a:t>TCP</a:t>
            </a:r>
            <a:r>
              <a:rPr lang="zh-CN" altLang="en-US" sz="2000" b="1" dirty="0"/>
              <a:t>客户进程发送</a:t>
            </a:r>
            <a:r>
              <a:rPr lang="en-US" altLang="zh-CN" sz="2000" b="1" dirty="0"/>
              <a:t>TCP</a:t>
            </a:r>
            <a:r>
              <a:rPr lang="zh-CN" altLang="en-US" sz="2000" b="1" dirty="0"/>
              <a:t>连接释放报文段。因此，“四报文挥手”变成了“三报文挥手”。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3792381" y="685800"/>
            <a:ext cx="4601682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6.  </a:t>
            </a:r>
            <a:r>
              <a:rPr lang="zh-CN" altLang="en-US" sz="2400" b="1" dirty="0"/>
              <a:t>观察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的运输连接管理过程</a:t>
            </a:r>
            <a:endParaRPr lang="en-US" altLang="zh-CN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3782992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790669" y="1498117"/>
            <a:ext cx="151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grpSp>
        <p:nvGrpSpPr>
          <p:cNvPr id="21" name="组合 20"/>
          <p:cNvGrpSpPr/>
          <p:nvPr/>
        </p:nvGrpSpPr>
        <p:grpSpPr>
          <a:xfrm>
            <a:off x="4766896" y="2116232"/>
            <a:ext cx="2606483" cy="98676"/>
            <a:chOff x="4766896" y="2116232"/>
            <a:chExt cx="2606483" cy="98676"/>
          </a:xfrm>
        </p:grpSpPr>
        <p:cxnSp>
          <p:nvCxnSpPr>
            <p:cNvPr id="2" name="直接连接符 1"/>
            <p:cNvCxnSpPr/>
            <p:nvPr/>
          </p:nvCxnSpPr>
          <p:spPr>
            <a:xfrm>
              <a:off x="4766896" y="2166584"/>
              <a:ext cx="26064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等腰三角形 4"/>
            <p:cNvSpPr/>
            <p:nvPr/>
          </p:nvSpPr>
          <p:spPr>
            <a:xfrm>
              <a:off x="5064774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>
              <a:off x="7012762" y="2116232"/>
              <a:ext cx="114464" cy="9867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0" name="20 9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74541" y="1930020"/>
            <a:ext cx="530924" cy="47110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19223" y="1795353"/>
            <a:ext cx="1031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11" name="20 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86535" y="1893835"/>
            <a:ext cx="322291" cy="54347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599106" y="1795353"/>
            <a:ext cx="136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tags/tag1.xml><?xml version="1.0" encoding="utf-8"?>
<p:tagLst xmlns:p="http://schemas.openxmlformats.org/presentationml/2006/main">
  <p:tag name="ISLIDE.ICON" val="#393881;"/>
</p:tagLst>
</file>

<file path=ppt/tags/tag2.xml><?xml version="1.0" encoding="utf-8"?>
<p:tagLst xmlns:p="http://schemas.openxmlformats.org/presentationml/2006/main">
  <p:tag name="ISLIDE.ICON" val="#393881;"/>
</p:tagLst>
</file>

<file path=ppt/tags/tag3.xml><?xml version="1.0" encoding="utf-8"?>
<p:tagLst xmlns:p="http://schemas.openxmlformats.org/presentationml/2006/main">
  <p:tag name="ISLIDE.ICON" val="#393881;"/>
</p:tagLst>
</file>

<file path=ppt/tags/tag4.xml><?xml version="1.0" encoding="utf-8"?>
<p:tagLst xmlns:p="http://schemas.openxmlformats.org/presentationml/2006/main">
  <p:tag name="ISLIDE.ICON" val="#393881;"/>
</p:tagLst>
</file>

<file path=ppt/tags/tag5.xml><?xml version="1.0" encoding="utf-8"?>
<p:tagLst xmlns:p="http://schemas.openxmlformats.org/presentationml/2006/main">
  <p:tag name="ISLIDE.GUIDESSETTING" val="{&quot;Id&quot;:&quot;GuidesStyle_Narrow&quot;,&quot;Name&quot;:&quot;GuidesStyle_Narrow&quot;,&quot;Kind&quot;:&quot;System&quot;,&quot;OldGuidesSetting&quot;:{&quot;HeaderHeight&quot;:10.0,&quot;FooterHeight&quot;:5.0,&quot;SideMargin&quot;:2.5,&quot;TopMargin&quot;:0.0,&quot;BottomMargin&quot;:0.0,&quot;IntervalMargin&quot;:1.0}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84D4D"/>
      </a:accent1>
      <a:accent2>
        <a:srgbClr val="FF6B42"/>
      </a:accent2>
      <a:accent3>
        <a:srgbClr val="5BA3EB"/>
      </a:accent3>
      <a:accent4>
        <a:srgbClr val="06BB9A"/>
      </a:accent4>
      <a:accent5>
        <a:srgbClr val="8E7EF0"/>
      </a:accent5>
      <a:accent6>
        <a:srgbClr val="F4B919"/>
      </a:accent6>
      <a:hlink>
        <a:srgbClr val="4472C4"/>
      </a:hlink>
      <a:folHlink>
        <a:srgbClr val="BFBFBF"/>
      </a:folHlink>
    </a:clrScheme>
    <a:fontScheme name="mgea0xa4">
      <a:majorFont>
        <a:latin typeface="Arial Narrow"/>
        <a:ea typeface="微软雅黑"/>
        <a:cs typeface=""/>
      </a:majorFont>
      <a:minorFont>
        <a:latin typeface="Arial Narrow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2371</Words>
  <Application>WPS 演示</Application>
  <PresentationFormat>宽屏</PresentationFormat>
  <Paragraphs>305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Arial Narrow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user0703</dc:creator>
  <cp:lastModifiedBy>黄小P</cp:lastModifiedBy>
  <cp:revision>151</cp:revision>
  <dcterms:created xsi:type="dcterms:W3CDTF">2021-12-18T00:21:00Z</dcterms:created>
  <dcterms:modified xsi:type="dcterms:W3CDTF">2025-06-20T14:29:48Z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D2F8F5CC570848DE9A80B640052FBF98_12</vt:lpwstr>
  </property>
  <property fmtid="{D5CDD505-2E9C-101B-9397-08002B2CF9AE}" pid="3" name="KSOProductBuildVer">
    <vt:lpwstr>2052-12.1.0.21541</vt:lpwstr>
  </property>
</Properties>
</file>