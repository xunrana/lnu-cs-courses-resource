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8" r:id="rId1"/>
  </p:sldMasterIdLst>
  <p:notesMasterIdLst>
    <p:notesMasterId r:id="rId57"/>
  </p:notesMasterIdLst>
  <p:handoutMasterIdLst>
    <p:handoutMasterId r:id="rId58"/>
  </p:handoutMasterIdLst>
  <p:sldIdLst>
    <p:sldId id="256" r:id="rId2"/>
    <p:sldId id="257" r:id="rId3"/>
    <p:sldId id="259" r:id="rId4"/>
    <p:sldId id="260" r:id="rId5"/>
    <p:sldId id="262" r:id="rId6"/>
    <p:sldId id="263" r:id="rId7"/>
    <p:sldId id="264" r:id="rId8"/>
    <p:sldId id="266" r:id="rId9"/>
    <p:sldId id="267" r:id="rId10"/>
    <p:sldId id="269" r:id="rId11"/>
    <p:sldId id="272" r:id="rId12"/>
    <p:sldId id="273" r:id="rId13"/>
    <p:sldId id="275" r:id="rId14"/>
    <p:sldId id="276" r:id="rId15"/>
    <p:sldId id="277" r:id="rId16"/>
    <p:sldId id="278" r:id="rId17"/>
    <p:sldId id="360" r:id="rId18"/>
    <p:sldId id="279" r:id="rId19"/>
    <p:sldId id="280" r:id="rId20"/>
    <p:sldId id="283" r:id="rId21"/>
    <p:sldId id="284" r:id="rId22"/>
    <p:sldId id="285" r:id="rId23"/>
    <p:sldId id="286" r:id="rId24"/>
    <p:sldId id="288" r:id="rId25"/>
    <p:sldId id="287" r:id="rId26"/>
    <p:sldId id="289" r:id="rId27"/>
    <p:sldId id="290" r:id="rId28"/>
    <p:sldId id="291" r:id="rId29"/>
    <p:sldId id="292" r:id="rId30"/>
    <p:sldId id="293" r:id="rId31"/>
    <p:sldId id="364" r:id="rId32"/>
    <p:sldId id="294" r:id="rId33"/>
    <p:sldId id="295" r:id="rId34"/>
    <p:sldId id="296" r:id="rId35"/>
    <p:sldId id="303" r:id="rId36"/>
    <p:sldId id="304" r:id="rId37"/>
    <p:sldId id="309" r:id="rId38"/>
    <p:sldId id="310" r:id="rId39"/>
    <p:sldId id="311" r:id="rId40"/>
    <p:sldId id="312" r:id="rId41"/>
    <p:sldId id="339" r:id="rId42"/>
    <p:sldId id="340" r:id="rId43"/>
    <p:sldId id="341" r:id="rId44"/>
    <p:sldId id="342" r:id="rId45"/>
    <p:sldId id="343" r:id="rId46"/>
    <p:sldId id="344" r:id="rId47"/>
    <p:sldId id="345" r:id="rId48"/>
    <p:sldId id="346" r:id="rId49"/>
    <p:sldId id="347" r:id="rId50"/>
    <p:sldId id="348" r:id="rId51"/>
    <p:sldId id="349" r:id="rId52"/>
    <p:sldId id="350" r:id="rId53"/>
    <p:sldId id="351" r:id="rId54"/>
    <p:sldId id="352" r:id="rId55"/>
    <p:sldId id="258" r:id="rId56"/>
  </p:sldIdLst>
  <p:sldSz cx="12192000" cy="6858000"/>
  <p:notesSz cx="6858000" cy="9144000"/>
  <p:defaultTextStyle>
    <a:defPPr>
      <a:defRPr lang="zh-CN"/>
    </a:defPPr>
    <a:lvl1pPr algn="ctr" rtl="0" eaLnBrk="0" fontAlgn="base" hangingPunct="0">
      <a:spcBef>
        <a:spcPct val="50000"/>
      </a:spcBef>
      <a:spcAft>
        <a:spcPct val="0"/>
      </a:spcAft>
      <a:defRPr sz="1400" kern="1200">
        <a:solidFill>
          <a:schemeClr val="tx1"/>
        </a:solidFill>
        <a:latin typeface="Times New Roman" panose="02020603050405020304" pitchFamily="18" charset="0"/>
        <a:ea typeface="华文楷体" panose="02010600040101010101" pitchFamily="2" charset="-122"/>
        <a:cs typeface="+mn-cs"/>
      </a:defRPr>
    </a:lvl1pPr>
    <a:lvl2pPr marL="457200" algn="ctr" rtl="0" eaLnBrk="0" fontAlgn="base" hangingPunct="0">
      <a:spcBef>
        <a:spcPct val="50000"/>
      </a:spcBef>
      <a:spcAft>
        <a:spcPct val="0"/>
      </a:spcAft>
      <a:defRPr sz="1400" kern="1200">
        <a:solidFill>
          <a:schemeClr val="tx1"/>
        </a:solidFill>
        <a:latin typeface="Times New Roman" panose="02020603050405020304" pitchFamily="18" charset="0"/>
        <a:ea typeface="华文楷体" panose="02010600040101010101" pitchFamily="2" charset="-122"/>
        <a:cs typeface="+mn-cs"/>
      </a:defRPr>
    </a:lvl2pPr>
    <a:lvl3pPr marL="914400" algn="ctr" rtl="0" eaLnBrk="0" fontAlgn="base" hangingPunct="0">
      <a:spcBef>
        <a:spcPct val="50000"/>
      </a:spcBef>
      <a:spcAft>
        <a:spcPct val="0"/>
      </a:spcAft>
      <a:defRPr sz="1400" kern="1200">
        <a:solidFill>
          <a:schemeClr val="tx1"/>
        </a:solidFill>
        <a:latin typeface="Times New Roman" panose="02020603050405020304" pitchFamily="18" charset="0"/>
        <a:ea typeface="华文楷体" panose="02010600040101010101" pitchFamily="2" charset="-122"/>
        <a:cs typeface="+mn-cs"/>
      </a:defRPr>
    </a:lvl3pPr>
    <a:lvl4pPr marL="1371600" algn="ctr" rtl="0" eaLnBrk="0" fontAlgn="base" hangingPunct="0">
      <a:spcBef>
        <a:spcPct val="50000"/>
      </a:spcBef>
      <a:spcAft>
        <a:spcPct val="0"/>
      </a:spcAft>
      <a:defRPr sz="1400" kern="1200">
        <a:solidFill>
          <a:schemeClr val="tx1"/>
        </a:solidFill>
        <a:latin typeface="Times New Roman" panose="02020603050405020304" pitchFamily="18" charset="0"/>
        <a:ea typeface="华文楷体" panose="02010600040101010101" pitchFamily="2" charset="-122"/>
        <a:cs typeface="+mn-cs"/>
      </a:defRPr>
    </a:lvl4pPr>
    <a:lvl5pPr marL="1828800" algn="ctr" rtl="0" eaLnBrk="0" fontAlgn="base" hangingPunct="0">
      <a:spcBef>
        <a:spcPct val="50000"/>
      </a:spcBef>
      <a:spcAft>
        <a:spcPct val="0"/>
      </a:spcAft>
      <a:defRPr sz="1400" kern="1200">
        <a:solidFill>
          <a:schemeClr val="tx1"/>
        </a:solidFill>
        <a:latin typeface="Times New Roman" panose="02020603050405020304" pitchFamily="18" charset="0"/>
        <a:ea typeface="华文楷体" panose="02010600040101010101" pitchFamily="2" charset="-122"/>
        <a:cs typeface="+mn-cs"/>
      </a:defRPr>
    </a:lvl5pPr>
    <a:lvl6pPr marL="2286000" algn="l" defTabSz="914400" rtl="0" eaLnBrk="1" latinLnBrk="0" hangingPunct="1">
      <a:defRPr sz="1400" kern="1200">
        <a:solidFill>
          <a:schemeClr val="tx1"/>
        </a:solidFill>
        <a:latin typeface="Times New Roman" panose="02020603050405020304" pitchFamily="18" charset="0"/>
        <a:ea typeface="华文楷体" panose="02010600040101010101" pitchFamily="2" charset="-122"/>
        <a:cs typeface="+mn-cs"/>
      </a:defRPr>
    </a:lvl6pPr>
    <a:lvl7pPr marL="2743200" algn="l" defTabSz="914400" rtl="0" eaLnBrk="1" latinLnBrk="0" hangingPunct="1">
      <a:defRPr sz="1400" kern="1200">
        <a:solidFill>
          <a:schemeClr val="tx1"/>
        </a:solidFill>
        <a:latin typeface="Times New Roman" panose="02020603050405020304" pitchFamily="18" charset="0"/>
        <a:ea typeface="华文楷体" panose="02010600040101010101" pitchFamily="2" charset="-122"/>
        <a:cs typeface="+mn-cs"/>
      </a:defRPr>
    </a:lvl7pPr>
    <a:lvl8pPr marL="3200400" algn="l" defTabSz="914400" rtl="0" eaLnBrk="1" latinLnBrk="0" hangingPunct="1">
      <a:defRPr sz="1400" kern="1200">
        <a:solidFill>
          <a:schemeClr val="tx1"/>
        </a:solidFill>
        <a:latin typeface="Times New Roman" panose="02020603050405020304" pitchFamily="18" charset="0"/>
        <a:ea typeface="华文楷体" panose="02010600040101010101" pitchFamily="2" charset="-122"/>
        <a:cs typeface="+mn-cs"/>
      </a:defRPr>
    </a:lvl8pPr>
    <a:lvl9pPr marL="3657600" algn="l" defTabSz="914400" rtl="0" eaLnBrk="1" latinLnBrk="0" hangingPunct="1">
      <a:defRPr sz="1400" kern="1200">
        <a:solidFill>
          <a:schemeClr val="tx1"/>
        </a:solidFill>
        <a:latin typeface="Times New Roman" panose="02020603050405020304" pitchFamily="18" charset="0"/>
        <a:ea typeface="华文楷体"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00FF"/>
    <a:srgbClr val="FFFF99"/>
    <a:srgbClr val="365AA8"/>
    <a:srgbClr val="A50021"/>
    <a:srgbClr val="FFFFCC"/>
    <a:srgbClr val="FFFFFF"/>
    <a:srgbClr val="28A8B6"/>
    <a:srgbClr val="2C9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6" autoAdjust="0"/>
  </p:normalViewPr>
  <p:slideViewPr>
    <p:cSldViewPr>
      <p:cViewPr varScale="1">
        <p:scale>
          <a:sx n="159" d="100"/>
          <a:sy n="159" d="100"/>
        </p:scale>
        <p:origin x="384" y="13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89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kumimoji="1" sz="1200">
                <a:ea typeface="宋体" pitchFamily="2" charset="-122"/>
              </a:defRPr>
            </a:lvl1pPr>
          </a:lstStyle>
          <a:p>
            <a:pPr>
              <a:defRPr/>
            </a:pPr>
            <a:endParaRPr lang="en-US" altLang="zh-CN"/>
          </a:p>
        </p:txBody>
      </p:sp>
      <p:sp>
        <p:nvSpPr>
          <p:cNvPr id="3379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kumimoji="1" sz="1200">
                <a:ea typeface="宋体" pitchFamily="2" charset="-122"/>
              </a:defRPr>
            </a:lvl1pPr>
          </a:lstStyle>
          <a:p>
            <a:pPr>
              <a:defRPr/>
            </a:pPr>
            <a:endParaRPr lang="en-US" altLang="zh-CN"/>
          </a:p>
        </p:txBody>
      </p:sp>
      <p:sp>
        <p:nvSpPr>
          <p:cNvPr id="3379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kumimoji="1" sz="1200">
                <a:ea typeface="宋体" pitchFamily="2" charset="-122"/>
              </a:defRPr>
            </a:lvl1pPr>
          </a:lstStyle>
          <a:p>
            <a:pPr>
              <a:defRPr/>
            </a:pPr>
            <a:endParaRPr lang="en-US" altLang="zh-CN"/>
          </a:p>
        </p:txBody>
      </p:sp>
      <p:sp>
        <p:nvSpPr>
          <p:cNvPr id="3379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defRPr kumimoji="1" sz="1200">
                <a:ea typeface="宋体" panose="02010600030101010101" pitchFamily="2" charset="-122"/>
              </a:defRPr>
            </a:lvl1pPr>
          </a:lstStyle>
          <a:p>
            <a:fld id="{3410FA40-AE0F-4A8A-9DF7-992BEEB466C6}" type="slidenum">
              <a:rPr lang="en-US" altLang="zh-CN"/>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kumimoji="1" sz="1200">
                <a:ea typeface="宋体" pitchFamily="2" charset="-122"/>
              </a:defRPr>
            </a:lvl1pPr>
          </a:lstStyle>
          <a:p>
            <a:pPr>
              <a:defRPr/>
            </a:pPr>
            <a:endParaRPr lang="en-US" altLang="zh-CN"/>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kumimoji="1" sz="1200">
                <a:ea typeface="宋体" pitchFamily="2" charset="-122"/>
              </a:defRPr>
            </a:lvl1pPr>
          </a:lstStyle>
          <a:p>
            <a:pPr>
              <a:defRPr/>
            </a:pPr>
            <a:endParaRPr lang="en-US" altLang="zh-CN"/>
          </a:p>
        </p:txBody>
      </p:sp>
      <p:sp>
        <p:nvSpPr>
          <p:cNvPr id="809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kumimoji="1" sz="1200">
                <a:ea typeface="宋体" pitchFamily="2" charset="-122"/>
              </a:defRPr>
            </a:lvl1pPr>
          </a:lstStyle>
          <a:p>
            <a:pPr>
              <a:defRPr/>
            </a:pPr>
            <a:endParaRPr lang="en-US" altLang="zh-CN"/>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defRPr kumimoji="1" sz="1200">
                <a:ea typeface="宋体" panose="02010600030101010101" pitchFamily="2" charset="-122"/>
              </a:defRPr>
            </a:lvl1pPr>
          </a:lstStyle>
          <a:p>
            <a:fld id="{6C0F11EB-6BEE-40CA-BE48-F0C2EF08D668}"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标题幻灯片">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1869216" y="2490788"/>
            <a:ext cx="8449336" cy="939800"/>
          </a:xfrm>
        </p:spPr>
        <p:txBody>
          <a:bodyPr/>
          <a:lstStyle>
            <a:lvl1pPr>
              <a:defRPr sz="4000">
                <a:solidFill>
                  <a:schemeClr val="tx1"/>
                </a:solidFill>
                <a:latin typeface="Times New Roman" panose="02020603050405020304" pitchFamily="18" charset="0"/>
              </a:defRPr>
            </a:lvl1pPr>
          </a:lstStyle>
          <a:p>
            <a:pPr lvl="0"/>
            <a:r>
              <a:rPr lang="zh-CN" altLang="en-US" noProof="0"/>
              <a:t>单击此处编辑母版标题样式</a:t>
            </a:r>
            <a:endParaRPr lang="zh-CN" altLang="en-US" noProof="0" dirty="0"/>
          </a:p>
        </p:txBody>
      </p:sp>
      <p:sp>
        <p:nvSpPr>
          <p:cNvPr id="15363" name="Rectangle 3"/>
          <p:cNvSpPr>
            <a:spLocks noGrp="1" noChangeArrowheads="1"/>
          </p:cNvSpPr>
          <p:nvPr>
            <p:ph type="subTitle" idx="1" hasCustomPrompt="1"/>
          </p:nvPr>
        </p:nvSpPr>
        <p:spPr>
          <a:xfrm>
            <a:off x="2255009" y="4095156"/>
            <a:ext cx="7680655" cy="1782117"/>
          </a:xfrm>
        </p:spPr>
        <p:txBody>
          <a:bodyPr/>
          <a:lstStyle>
            <a:lvl1pPr marL="0" indent="0">
              <a:buFont typeface="Wingdings" panose="05000000000000000000" pitchFamily="2" charset="2"/>
              <a:buNone/>
              <a:defRPr sz="2800"/>
            </a:lvl1pPr>
          </a:lstStyle>
          <a:p>
            <a:pPr lvl="0"/>
            <a:r>
              <a:rPr lang="zh-CN" altLang="en-US" noProof="0" dirty="0"/>
              <a:t>20 单位与部门</a:t>
            </a:r>
          </a:p>
          <a:p>
            <a:pPr lvl="0"/>
            <a:r>
              <a:rPr lang="zh-CN" altLang="en-US" noProof="0" dirty="0"/>
              <a:t>邮箱</a:t>
            </a:r>
            <a:endParaRPr lang="en-US" altLang="zh-CN" noProof="0" dirty="0"/>
          </a:p>
          <a:p>
            <a:pPr lvl="0"/>
            <a:fld id="{6C40B87A-88C1-4508-9DA4-E8CBD3BEE188}" type="datetime1">
              <a:rPr lang="zh-CN" altLang="en-US" noProof="0" smtClean="0"/>
              <a:t>2015/2/11</a:t>
            </a:fld>
            <a:endParaRPr lang="en-US" altLang="zh-CN" noProof="0" dirty="0"/>
          </a:p>
        </p:txBody>
      </p:sp>
      <p:sp>
        <p:nvSpPr>
          <p:cNvPr id="15367" name="AutoShape 7"/>
          <p:cNvSpPr>
            <a:spLocks noChangeArrowheads="1"/>
          </p:cNvSpPr>
          <p:nvPr/>
        </p:nvSpPr>
        <p:spPr bwMode="auto">
          <a:xfrm>
            <a:off x="912284" y="1844675"/>
            <a:ext cx="10363200" cy="109538"/>
          </a:xfrm>
          <a:custGeom>
            <a:avLst/>
            <a:gdLst>
              <a:gd name="G0" fmla="+- 618 0 0"/>
              <a:gd name="T0" fmla="*/ 0 w 1000"/>
              <a:gd name="T1" fmla="*/ 0 h 1000"/>
              <a:gd name="T2" fmla="*/ 618 w 1000"/>
              <a:gd name="T3" fmla="*/ 0 h 1000"/>
              <a:gd name="T4" fmla="*/ 618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618" y="0"/>
                </a:lnTo>
                <a:lnTo>
                  <a:pt x="618" y="1000"/>
                </a:lnTo>
                <a:lnTo>
                  <a:pt x="0" y="1000"/>
                </a:lnTo>
                <a:close/>
              </a:path>
              <a:path w="1000" h="1000">
                <a:moveTo>
                  <a:pt x="0" y="0"/>
                </a:moveTo>
                <a:lnTo>
                  <a:pt x="1000" y="0"/>
                </a:lnTo>
              </a:path>
            </a:pathLst>
          </a:custGeom>
          <a:solidFill>
            <a:srgbClr val="7030A0"/>
          </a:solidFill>
          <a:ln w="9525">
            <a:solidFill>
              <a:schemeClr val="accent2"/>
            </a:solidFill>
            <a:round/>
            <a:headEnd/>
            <a:tailEnd/>
          </a:ln>
        </p:spPr>
        <p:txBody>
          <a:bodyPr/>
          <a:lstStyle/>
          <a:p>
            <a:endParaRPr lang="zh-CN" altLang="zh-CN" sz="2400">
              <a:latin typeface="Times New Roman" panose="02020603050405020304" pitchFamily="18" charset="0"/>
            </a:endParaRPr>
          </a:p>
        </p:txBody>
      </p:sp>
      <p:sp>
        <p:nvSpPr>
          <p:cNvPr id="2" name="文本框 1"/>
          <p:cNvSpPr txBox="1"/>
          <p:nvPr/>
        </p:nvSpPr>
        <p:spPr>
          <a:xfrm>
            <a:off x="2711351" y="977596"/>
            <a:ext cx="3005951" cy="769441"/>
          </a:xfrm>
          <a:prstGeom prst="rect">
            <a:avLst/>
          </a:prstGeom>
          <a:noFill/>
        </p:spPr>
        <p:txBody>
          <a:bodyPr wrap="none" rtlCol="0">
            <a:spAutoFit/>
          </a:bodyPr>
          <a:lstStyle/>
          <a:p>
            <a:r>
              <a:rPr lang="zh-CN" altLang="en-US" sz="4400" dirty="0"/>
              <a:t>大数据导论</a:t>
            </a:r>
          </a:p>
        </p:txBody>
      </p:sp>
    </p:spTree>
    <p:extLst>
      <p:ext uri="{BB962C8B-B14F-4D97-AF65-F5344CB8AC3E}">
        <p14:creationId xmlns:p14="http://schemas.microsoft.com/office/powerpoint/2010/main" val="400484525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647743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编辑母版文本样式</a:t>
            </a:r>
          </a:p>
        </p:txBody>
      </p:sp>
    </p:spTree>
    <p:extLst>
      <p:ext uri="{BB962C8B-B14F-4D97-AF65-F5344CB8AC3E}">
        <p14:creationId xmlns:p14="http://schemas.microsoft.com/office/powerpoint/2010/main" val="264776129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34434" y="1124744"/>
            <a:ext cx="5708651"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6284" y="1124744"/>
            <a:ext cx="5611283"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350646938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87785" y="1124744"/>
            <a:ext cx="3287935" cy="53285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3719736" y="1124744"/>
            <a:ext cx="8208912" cy="53285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7591000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34434" y="1124744"/>
            <a:ext cx="5662083" cy="105013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334434" y="2174874"/>
            <a:ext cx="5662083" cy="42784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124744"/>
            <a:ext cx="5663272" cy="105013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93368" y="2174875"/>
            <a:ext cx="5663272" cy="42784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1"/>
          <p:cNvSpPr>
            <a:spLocks noGrp="1"/>
          </p:cNvSpPr>
          <p:nvPr>
            <p:ph type="title"/>
          </p:nvPr>
        </p:nvSpPr>
        <p:spPr>
          <a:xfrm>
            <a:off x="334434" y="0"/>
            <a:ext cx="8713893" cy="981075"/>
          </a:xfrm>
        </p:spPr>
        <p:txBody>
          <a:bodyPr/>
          <a:lstStyle/>
          <a:p>
            <a:r>
              <a:rPr lang="zh-CN" altLang="en-US"/>
              <a:t>单击此处编辑母版标题样式</a:t>
            </a:r>
          </a:p>
        </p:txBody>
      </p:sp>
    </p:spTree>
    <p:extLst>
      <p:ext uri="{BB962C8B-B14F-4D97-AF65-F5344CB8AC3E}">
        <p14:creationId xmlns:p14="http://schemas.microsoft.com/office/powerpoint/2010/main" val="299777631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比较">
    <p:spTree>
      <p:nvGrpSpPr>
        <p:cNvPr id="1" name=""/>
        <p:cNvGrpSpPr/>
        <p:nvPr/>
      </p:nvGrpSpPr>
      <p:grpSpPr>
        <a:xfrm>
          <a:off x="0" y="0"/>
          <a:ext cx="0" cy="0"/>
          <a:chOff x="0" y="0"/>
          <a:chExt cx="0" cy="0"/>
        </a:xfrm>
      </p:grpSpPr>
      <p:sp>
        <p:nvSpPr>
          <p:cNvPr id="4" name="内容占位符 3"/>
          <p:cNvSpPr>
            <a:spLocks noGrp="1"/>
          </p:cNvSpPr>
          <p:nvPr>
            <p:ph sz="half" idx="2"/>
          </p:nvPr>
        </p:nvSpPr>
        <p:spPr>
          <a:xfrm>
            <a:off x="334434" y="2564904"/>
            <a:ext cx="5662083" cy="388843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3368" y="2564904"/>
            <a:ext cx="5663272" cy="388843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1"/>
          <p:cNvSpPr>
            <a:spLocks noGrp="1"/>
          </p:cNvSpPr>
          <p:nvPr>
            <p:ph type="title"/>
          </p:nvPr>
        </p:nvSpPr>
        <p:spPr>
          <a:xfrm>
            <a:off x="334434" y="0"/>
            <a:ext cx="8713893" cy="981075"/>
          </a:xfrm>
        </p:spPr>
        <p:txBody>
          <a:bodyPr/>
          <a:lstStyle/>
          <a:p>
            <a:r>
              <a:rPr lang="zh-CN" altLang="en-US"/>
              <a:t>单击此处编辑母版标题样式</a:t>
            </a:r>
          </a:p>
        </p:txBody>
      </p:sp>
      <p:sp>
        <p:nvSpPr>
          <p:cNvPr id="8" name="内容占位符 3"/>
          <p:cNvSpPr>
            <a:spLocks noGrp="1"/>
          </p:cNvSpPr>
          <p:nvPr>
            <p:ph sz="half" idx="10"/>
          </p:nvPr>
        </p:nvSpPr>
        <p:spPr>
          <a:xfrm>
            <a:off x="335360" y="1094755"/>
            <a:ext cx="11521280" cy="139814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152576176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70104354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491689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文本框 1"/>
          <p:cNvSpPr txBox="1"/>
          <p:nvPr/>
        </p:nvSpPr>
        <p:spPr>
          <a:xfrm>
            <a:off x="2133567" y="3140968"/>
            <a:ext cx="7488832" cy="1323439"/>
          </a:xfrm>
          <a:prstGeom prst="rect">
            <a:avLst/>
          </a:prstGeom>
          <a:noFill/>
        </p:spPr>
        <p:txBody>
          <a:bodyPr wrap="square" rtlCol="0">
            <a:spAutoFit/>
          </a:bodyPr>
          <a:lstStyle/>
          <a:p>
            <a:pPr algn="ctr"/>
            <a:r>
              <a:rPr lang="zh-CN" altLang="en-US" sz="8000" b="1" dirty="0">
                <a:solidFill>
                  <a:srgbClr val="000099"/>
                </a:solidFill>
                <a:ea typeface="华文中宋" panose="02010600040101010101" pitchFamily="2" charset="-122"/>
              </a:rPr>
              <a:t>谢谢！</a:t>
            </a:r>
            <a:endParaRPr lang="zh-CN" altLang="en-US" sz="8000" dirty="0"/>
          </a:p>
        </p:txBody>
      </p:sp>
    </p:spTree>
    <p:extLst>
      <p:ext uri="{BB962C8B-B14F-4D97-AF65-F5344CB8AC3E}">
        <p14:creationId xmlns:p14="http://schemas.microsoft.com/office/powerpoint/2010/main" val="131326364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35360" y="1052736"/>
            <a:ext cx="4294315" cy="1152128"/>
          </a:xfrm>
        </p:spPr>
        <p:txBody>
          <a:bodyPr anchor="b"/>
          <a:lstStyle>
            <a:lvl1pPr algn="l">
              <a:defRPr sz="2000" b="1"/>
            </a:lvl1pPr>
          </a:lstStyle>
          <a:p>
            <a:r>
              <a:rPr lang="zh-CN" altLang="en-US"/>
              <a:t>单击此处编辑母版标题样式</a:t>
            </a:r>
            <a:endParaRPr lang="zh-CN" altLang="en-US" dirty="0"/>
          </a:p>
        </p:txBody>
      </p:sp>
      <p:sp>
        <p:nvSpPr>
          <p:cNvPr id="3" name="内容占位符 2"/>
          <p:cNvSpPr>
            <a:spLocks noGrp="1"/>
          </p:cNvSpPr>
          <p:nvPr>
            <p:ph idx="1"/>
          </p:nvPr>
        </p:nvSpPr>
        <p:spPr>
          <a:xfrm>
            <a:off x="4766733" y="1052736"/>
            <a:ext cx="7089907" cy="5400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文本占位符 3"/>
          <p:cNvSpPr>
            <a:spLocks noGrp="1"/>
          </p:cNvSpPr>
          <p:nvPr>
            <p:ph type="body" sz="half" idx="2"/>
          </p:nvPr>
        </p:nvSpPr>
        <p:spPr>
          <a:xfrm>
            <a:off x="335360" y="2348880"/>
            <a:ext cx="4299116" cy="410445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Tree>
    <p:extLst>
      <p:ext uri="{BB962C8B-B14F-4D97-AF65-F5344CB8AC3E}">
        <p14:creationId xmlns:p14="http://schemas.microsoft.com/office/powerpoint/2010/main" val="303795978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96545"/>
            <a:ext cx="7315200" cy="566738"/>
          </a:xfrm>
        </p:spPr>
        <p:txBody>
          <a:bodyPr anchor="b"/>
          <a:lstStyle>
            <a:lvl1pPr algn="l">
              <a:defRPr sz="2000" b="1"/>
            </a:lvl1pPr>
          </a:lstStyle>
          <a:p>
            <a:r>
              <a:rPr lang="zh-CN" altLang="en-US"/>
              <a:t>单击此处编辑母版标题样式</a:t>
            </a:r>
          </a:p>
        </p:txBody>
      </p:sp>
      <p:sp>
        <p:nvSpPr>
          <p:cNvPr id="3" name="20占位符 2"/>
          <p:cNvSpPr>
            <a:spLocks noGrp="1"/>
          </p:cNvSpPr>
          <p:nvPr>
            <p:ph type="pic" idx="1"/>
          </p:nvPr>
        </p:nvSpPr>
        <p:spPr>
          <a:xfrm>
            <a:off x="2389717" y="1052736"/>
            <a:ext cx="7315200" cy="39707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单击图标添加20</a:t>
            </a:r>
          </a:p>
        </p:txBody>
      </p:sp>
      <p:sp>
        <p:nvSpPr>
          <p:cNvPr id="4" name="文本占位符 3"/>
          <p:cNvSpPr>
            <a:spLocks noGrp="1"/>
          </p:cNvSpPr>
          <p:nvPr>
            <p:ph type="body" sz="half" idx="2"/>
          </p:nvPr>
        </p:nvSpPr>
        <p:spPr>
          <a:xfrm>
            <a:off x="2389717" y="5663283"/>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Tree>
    <p:extLst>
      <p:ext uri="{BB962C8B-B14F-4D97-AF65-F5344CB8AC3E}">
        <p14:creationId xmlns:p14="http://schemas.microsoft.com/office/powerpoint/2010/main" val="228784790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7844117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76785" y="1052736"/>
            <a:ext cx="2880783" cy="54006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34434" y="1052736"/>
            <a:ext cx="8439151" cy="540060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810298"/>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34434" y="1124744"/>
            <a:ext cx="5662083" cy="105013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334434" y="2174874"/>
            <a:ext cx="5662083" cy="42784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124744"/>
            <a:ext cx="5663272" cy="105013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93368" y="2174875"/>
            <a:ext cx="5663272" cy="42784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1"/>
          <p:cNvSpPr>
            <a:spLocks noGrp="1"/>
          </p:cNvSpPr>
          <p:nvPr>
            <p:ph type="title"/>
          </p:nvPr>
        </p:nvSpPr>
        <p:spPr>
          <a:xfrm>
            <a:off x="334434" y="0"/>
            <a:ext cx="8713893" cy="981075"/>
          </a:xfrm>
        </p:spPr>
        <p:txBody>
          <a:bodyPr/>
          <a:lstStyle/>
          <a:p>
            <a:r>
              <a:rPr lang="zh-CN" altLang="en-US"/>
              <a:t>单击此处编辑母版标题样式</a:t>
            </a:r>
          </a:p>
        </p:txBody>
      </p:sp>
    </p:spTree>
    <p:extLst>
      <p:ext uri="{BB962C8B-B14F-4D97-AF65-F5344CB8AC3E}">
        <p14:creationId xmlns:p14="http://schemas.microsoft.com/office/powerpoint/2010/main" val="4064091195"/>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比较">
    <p:spTree>
      <p:nvGrpSpPr>
        <p:cNvPr id="1" name=""/>
        <p:cNvGrpSpPr/>
        <p:nvPr/>
      </p:nvGrpSpPr>
      <p:grpSpPr>
        <a:xfrm>
          <a:off x="0" y="0"/>
          <a:ext cx="0" cy="0"/>
          <a:chOff x="0" y="0"/>
          <a:chExt cx="0" cy="0"/>
        </a:xfrm>
      </p:grpSpPr>
      <p:sp>
        <p:nvSpPr>
          <p:cNvPr id="4" name="内容占位符 3"/>
          <p:cNvSpPr>
            <a:spLocks noGrp="1"/>
          </p:cNvSpPr>
          <p:nvPr>
            <p:ph sz="half" idx="2"/>
          </p:nvPr>
        </p:nvSpPr>
        <p:spPr>
          <a:xfrm>
            <a:off x="334434" y="2564904"/>
            <a:ext cx="5662083" cy="388843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3368" y="2564904"/>
            <a:ext cx="5663272" cy="388843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1"/>
          <p:cNvSpPr>
            <a:spLocks noGrp="1"/>
          </p:cNvSpPr>
          <p:nvPr>
            <p:ph type="title"/>
          </p:nvPr>
        </p:nvSpPr>
        <p:spPr>
          <a:xfrm>
            <a:off x="334434" y="0"/>
            <a:ext cx="8713893" cy="981075"/>
          </a:xfrm>
        </p:spPr>
        <p:txBody>
          <a:bodyPr/>
          <a:lstStyle/>
          <a:p>
            <a:r>
              <a:rPr lang="zh-CN" altLang="en-US"/>
              <a:t>单击此处编辑母版标题样式</a:t>
            </a:r>
          </a:p>
        </p:txBody>
      </p:sp>
      <p:sp>
        <p:nvSpPr>
          <p:cNvPr id="8" name="内容占位符 3"/>
          <p:cNvSpPr>
            <a:spLocks noGrp="1"/>
          </p:cNvSpPr>
          <p:nvPr>
            <p:ph sz="half" idx="10"/>
          </p:nvPr>
        </p:nvSpPr>
        <p:spPr>
          <a:xfrm>
            <a:off x="335360" y="1094755"/>
            <a:ext cx="11521280" cy="139814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230714252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5"/>
          <p:cNvSpPr>
            <a:spLocks noChangeArrowheads="1"/>
          </p:cNvSpPr>
          <p:nvPr/>
        </p:nvSpPr>
        <p:spPr bwMode="auto">
          <a:xfrm>
            <a:off x="0" y="0"/>
            <a:ext cx="12192000" cy="68580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itchFamily="18" charset="0"/>
                <a:ea typeface="华文楷体" pitchFamily="2" charset="-122"/>
              </a:defRPr>
            </a:lvl1pPr>
            <a:lvl2pPr marL="742950" indent="-285750">
              <a:defRPr sz="1400">
                <a:solidFill>
                  <a:schemeClr val="tx1"/>
                </a:solidFill>
                <a:latin typeface="Times New Roman" pitchFamily="18" charset="0"/>
                <a:ea typeface="华文楷体" pitchFamily="2" charset="-122"/>
              </a:defRPr>
            </a:lvl2pPr>
            <a:lvl3pPr marL="1143000" indent="-228600">
              <a:defRPr sz="1400">
                <a:solidFill>
                  <a:schemeClr val="tx1"/>
                </a:solidFill>
                <a:latin typeface="Times New Roman" pitchFamily="18" charset="0"/>
                <a:ea typeface="华文楷体" pitchFamily="2" charset="-122"/>
              </a:defRPr>
            </a:lvl3pPr>
            <a:lvl4pPr marL="1600200" indent="-228600">
              <a:defRPr sz="1400">
                <a:solidFill>
                  <a:schemeClr val="tx1"/>
                </a:solidFill>
                <a:latin typeface="Times New Roman" pitchFamily="18" charset="0"/>
                <a:ea typeface="华文楷体" pitchFamily="2" charset="-122"/>
              </a:defRPr>
            </a:lvl4pPr>
            <a:lvl5pPr marL="2057400" indent="-228600">
              <a:defRPr sz="1400">
                <a:solidFill>
                  <a:schemeClr val="tx1"/>
                </a:solidFill>
                <a:latin typeface="Times New Roman" pitchFamily="18" charset="0"/>
                <a:ea typeface="华文楷体" pitchFamily="2" charset="-122"/>
              </a:defRPr>
            </a:lvl5pPr>
            <a:lvl6pPr marL="2514600" indent="-228600" algn="ctr" eaLnBrk="0" fontAlgn="base" hangingPunct="0">
              <a:spcBef>
                <a:spcPct val="50000"/>
              </a:spcBef>
              <a:spcAft>
                <a:spcPct val="0"/>
              </a:spcAft>
              <a:defRPr sz="1400">
                <a:solidFill>
                  <a:schemeClr val="tx1"/>
                </a:solidFill>
                <a:latin typeface="Times New Roman" pitchFamily="18" charset="0"/>
                <a:ea typeface="华文楷体" pitchFamily="2" charset="-122"/>
              </a:defRPr>
            </a:lvl6pPr>
            <a:lvl7pPr marL="2971800" indent="-228600" algn="ctr" eaLnBrk="0" fontAlgn="base" hangingPunct="0">
              <a:spcBef>
                <a:spcPct val="50000"/>
              </a:spcBef>
              <a:spcAft>
                <a:spcPct val="0"/>
              </a:spcAft>
              <a:defRPr sz="1400">
                <a:solidFill>
                  <a:schemeClr val="tx1"/>
                </a:solidFill>
                <a:latin typeface="Times New Roman" pitchFamily="18" charset="0"/>
                <a:ea typeface="华文楷体" pitchFamily="2" charset="-122"/>
              </a:defRPr>
            </a:lvl7pPr>
            <a:lvl8pPr marL="3429000" indent="-228600" algn="ctr" eaLnBrk="0" fontAlgn="base" hangingPunct="0">
              <a:spcBef>
                <a:spcPct val="50000"/>
              </a:spcBef>
              <a:spcAft>
                <a:spcPct val="0"/>
              </a:spcAft>
              <a:defRPr sz="1400">
                <a:solidFill>
                  <a:schemeClr val="tx1"/>
                </a:solidFill>
                <a:latin typeface="Times New Roman" pitchFamily="18" charset="0"/>
                <a:ea typeface="华文楷体" pitchFamily="2" charset="-122"/>
              </a:defRPr>
            </a:lvl8pPr>
            <a:lvl9pPr marL="3886200" indent="-228600" algn="ctr" eaLnBrk="0" fontAlgn="base" hangingPunct="0">
              <a:spcBef>
                <a:spcPct val="50000"/>
              </a:spcBef>
              <a:spcAft>
                <a:spcPct val="0"/>
              </a:spcAft>
              <a:defRPr sz="1400">
                <a:solidFill>
                  <a:schemeClr val="tx1"/>
                </a:solidFill>
                <a:latin typeface="Times New Roman" pitchFamily="18" charset="0"/>
                <a:ea typeface="华文楷体" pitchFamily="2" charset="-122"/>
              </a:defRPr>
            </a:lvl9pPr>
          </a:lstStyle>
          <a:p>
            <a:pPr>
              <a:defRPr/>
            </a:pPr>
            <a:endParaRPr lang="zh-CN" altLang="en-US" sz="1400"/>
          </a:p>
        </p:txBody>
      </p:sp>
      <p:sp>
        <p:nvSpPr>
          <p:cNvPr id="1027" name="Rectangle 9"/>
          <p:cNvSpPr>
            <a:spLocks noGrp="1" noChangeArrowheads="1"/>
          </p:cNvSpPr>
          <p:nvPr>
            <p:ph type="body" idx="1"/>
          </p:nvPr>
        </p:nvSpPr>
        <p:spPr bwMode="auto">
          <a:xfrm>
            <a:off x="334434" y="1124744"/>
            <a:ext cx="11523135" cy="534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dash"/>
                <a:miter lim="800000"/>
                <a:headEnd/>
                <a:tailEnd/>
              </a14:hiddenLine>
            </a:ext>
          </a:extLst>
        </p:spPr>
        <p:txBody>
          <a:bodyPr vert="horz" wrap="square" lIns="92075" tIns="46038" rIns="92075" bIns="46038" numCol="1" anchor="t" anchorCtr="0" compatLnSpc="1">
            <a:prstTxWarp prst="textNoShape">
              <a:avLst/>
            </a:prstTxWarp>
            <a:normAutofit/>
          </a:bodyPr>
          <a:lstStyle/>
          <a:p>
            <a:pPr lvl="0"/>
            <a:r>
              <a:rPr lang="en-US" altLang="en-US" dirty="0"/>
              <a:t>Click to edit Master text styles</a:t>
            </a:r>
          </a:p>
          <a:p>
            <a:pPr lvl="1"/>
            <a:r>
              <a:rPr lang="en-US" altLang="en-US" dirty="0"/>
              <a:t> Second Level</a:t>
            </a:r>
          </a:p>
          <a:p>
            <a:pPr lvl="2"/>
            <a:r>
              <a:rPr lang="en-US" altLang="en-US" dirty="0"/>
              <a:t> Third Level</a:t>
            </a:r>
          </a:p>
          <a:p>
            <a:pPr lvl="3"/>
            <a:r>
              <a:rPr lang="en-US" altLang="en-US" dirty="0"/>
              <a:t>Fifth Level</a:t>
            </a:r>
            <a:endParaRPr lang="en-US" altLang="zh-CN" dirty="0"/>
          </a:p>
          <a:p>
            <a:pPr lvl="4"/>
            <a:r>
              <a:rPr lang="en-US" altLang="en-US" dirty="0"/>
              <a:t>Fourth Level</a:t>
            </a:r>
          </a:p>
          <a:p>
            <a:pPr lvl="4"/>
            <a:endParaRPr lang="en-US" altLang="en-US" dirty="0"/>
          </a:p>
        </p:txBody>
      </p:sp>
      <p:sp>
        <p:nvSpPr>
          <p:cNvPr id="1028" name="Rectangle 10"/>
          <p:cNvSpPr>
            <a:spLocks noChangeArrowheads="1"/>
          </p:cNvSpPr>
          <p:nvPr/>
        </p:nvSpPr>
        <p:spPr bwMode="auto">
          <a:xfrm>
            <a:off x="0" y="0"/>
            <a:ext cx="12192000" cy="68580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itchFamily="18" charset="0"/>
                <a:ea typeface="华文楷体" pitchFamily="2" charset="-122"/>
              </a:defRPr>
            </a:lvl1pPr>
            <a:lvl2pPr marL="742950" indent="-285750">
              <a:defRPr sz="1400">
                <a:solidFill>
                  <a:schemeClr val="tx1"/>
                </a:solidFill>
                <a:latin typeface="Times New Roman" pitchFamily="18" charset="0"/>
                <a:ea typeface="华文楷体" pitchFamily="2" charset="-122"/>
              </a:defRPr>
            </a:lvl2pPr>
            <a:lvl3pPr marL="1143000" indent="-228600">
              <a:defRPr sz="1400">
                <a:solidFill>
                  <a:schemeClr val="tx1"/>
                </a:solidFill>
                <a:latin typeface="Times New Roman" pitchFamily="18" charset="0"/>
                <a:ea typeface="华文楷体" pitchFamily="2" charset="-122"/>
              </a:defRPr>
            </a:lvl3pPr>
            <a:lvl4pPr marL="1600200" indent="-228600">
              <a:defRPr sz="1400">
                <a:solidFill>
                  <a:schemeClr val="tx1"/>
                </a:solidFill>
                <a:latin typeface="Times New Roman" pitchFamily="18" charset="0"/>
                <a:ea typeface="华文楷体" pitchFamily="2" charset="-122"/>
              </a:defRPr>
            </a:lvl4pPr>
            <a:lvl5pPr marL="2057400" indent="-228600">
              <a:defRPr sz="1400">
                <a:solidFill>
                  <a:schemeClr val="tx1"/>
                </a:solidFill>
                <a:latin typeface="Times New Roman" pitchFamily="18" charset="0"/>
                <a:ea typeface="华文楷体" pitchFamily="2" charset="-122"/>
              </a:defRPr>
            </a:lvl5pPr>
            <a:lvl6pPr marL="2514600" indent="-228600" algn="ctr" eaLnBrk="0" fontAlgn="base" hangingPunct="0">
              <a:spcBef>
                <a:spcPct val="50000"/>
              </a:spcBef>
              <a:spcAft>
                <a:spcPct val="0"/>
              </a:spcAft>
              <a:defRPr sz="1400">
                <a:solidFill>
                  <a:schemeClr val="tx1"/>
                </a:solidFill>
                <a:latin typeface="Times New Roman" pitchFamily="18" charset="0"/>
                <a:ea typeface="华文楷体" pitchFamily="2" charset="-122"/>
              </a:defRPr>
            </a:lvl6pPr>
            <a:lvl7pPr marL="2971800" indent="-228600" algn="ctr" eaLnBrk="0" fontAlgn="base" hangingPunct="0">
              <a:spcBef>
                <a:spcPct val="50000"/>
              </a:spcBef>
              <a:spcAft>
                <a:spcPct val="0"/>
              </a:spcAft>
              <a:defRPr sz="1400">
                <a:solidFill>
                  <a:schemeClr val="tx1"/>
                </a:solidFill>
                <a:latin typeface="Times New Roman" pitchFamily="18" charset="0"/>
                <a:ea typeface="华文楷体" pitchFamily="2" charset="-122"/>
              </a:defRPr>
            </a:lvl7pPr>
            <a:lvl8pPr marL="3429000" indent="-228600" algn="ctr" eaLnBrk="0" fontAlgn="base" hangingPunct="0">
              <a:spcBef>
                <a:spcPct val="50000"/>
              </a:spcBef>
              <a:spcAft>
                <a:spcPct val="0"/>
              </a:spcAft>
              <a:defRPr sz="1400">
                <a:solidFill>
                  <a:schemeClr val="tx1"/>
                </a:solidFill>
                <a:latin typeface="Times New Roman" pitchFamily="18" charset="0"/>
                <a:ea typeface="华文楷体" pitchFamily="2" charset="-122"/>
              </a:defRPr>
            </a:lvl8pPr>
            <a:lvl9pPr marL="3886200" indent="-228600" algn="ctr" eaLnBrk="0" fontAlgn="base" hangingPunct="0">
              <a:spcBef>
                <a:spcPct val="50000"/>
              </a:spcBef>
              <a:spcAft>
                <a:spcPct val="0"/>
              </a:spcAft>
              <a:defRPr sz="1400">
                <a:solidFill>
                  <a:schemeClr val="tx1"/>
                </a:solidFill>
                <a:latin typeface="Times New Roman" pitchFamily="18" charset="0"/>
                <a:ea typeface="华文楷体" pitchFamily="2" charset="-122"/>
              </a:defRPr>
            </a:lvl9pPr>
          </a:lstStyle>
          <a:p>
            <a:pPr>
              <a:defRPr/>
            </a:pPr>
            <a:endParaRPr lang="zh-CN" altLang="en-US" sz="1400"/>
          </a:p>
        </p:txBody>
      </p:sp>
      <p:sp>
        <p:nvSpPr>
          <p:cNvPr id="1032" name="Rectangle 11"/>
          <p:cNvSpPr>
            <a:spLocks noChangeArrowheads="1"/>
          </p:cNvSpPr>
          <p:nvPr/>
        </p:nvSpPr>
        <p:spPr bwMode="auto">
          <a:xfrm>
            <a:off x="0" y="1"/>
            <a:ext cx="12192000" cy="981075"/>
          </a:xfrm>
          <a:prstGeom prst="rect">
            <a:avLst/>
          </a:prstGeom>
          <a:solidFill>
            <a:srgbClr val="7030A0"/>
          </a:solidFill>
          <a:ln>
            <a:noFill/>
          </a:ln>
        </p:spPr>
        <p:txBody>
          <a:bodyPr wrap="none" anchor="ctr"/>
          <a:lstStyle>
            <a:lvl1pPr>
              <a:defRPr sz="1400">
                <a:solidFill>
                  <a:schemeClr val="tx1"/>
                </a:solidFill>
                <a:latin typeface="Times New Roman" pitchFamily="18" charset="0"/>
                <a:ea typeface="华文楷体" pitchFamily="2" charset="-122"/>
              </a:defRPr>
            </a:lvl1pPr>
            <a:lvl2pPr marL="742950" indent="-285750">
              <a:defRPr sz="1400">
                <a:solidFill>
                  <a:schemeClr val="tx1"/>
                </a:solidFill>
                <a:latin typeface="Times New Roman" pitchFamily="18" charset="0"/>
                <a:ea typeface="华文楷体" pitchFamily="2" charset="-122"/>
              </a:defRPr>
            </a:lvl2pPr>
            <a:lvl3pPr marL="1143000" indent="-228600">
              <a:defRPr sz="1400">
                <a:solidFill>
                  <a:schemeClr val="tx1"/>
                </a:solidFill>
                <a:latin typeface="Times New Roman" pitchFamily="18" charset="0"/>
                <a:ea typeface="华文楷体" pitchFamily="2" charset="-122"/>
              </a:defRPr>
            </a:lvl3pPr>
            <a:lvl4pPr marL="1600200" indent="-228600">
              <a:defRPr sz="1400">
                <a:solidFill>
                  <a:schemeClr val="tx1"/>
                </a:solidFill>
                <a:latin typeface="Times New Roman" pitchFamily="18" charset="0"/>
                <a:ea typeface="华文楷体" pitchFamily="2" charset="-122"/>
              </a:defRPr>
            </a:lvl4pPr>
            <a:lvl5pPr marL="2057400" indent="-228600">
              <a:defRPr sz="1400">
                <a:solidFill>
                  <a:schemeClr val="tx1"/>
                </a:solidFill>
                <a:latin typeface="Times New Roman" pitchFamily="18" charset="0"/>
                <a:ea typeface="华文楷体" pitchFamily="2" charset="-122"/>
              </a:defRPr>
            </a:lvl5pPr>
            <a:lvl6pPr marL="2514600" indent="-228600" algn="ctr" eaLnBrk="0" fontAlgn="base" hangingPunct="0">
              <a:spcBef>
                <a:spcPct val="50000"/>
              </a:spcBef>
              <a:spcAft>
                <a:spcPct val="0"/>
              </a:spcAft>
              <a:defRPr sz="1400">
                <a:solidFill>
                  <a:schemeClr val="tx1"/>
                </a:solidFill>
                <a:latin typeface="Times New Roman" pitchFamily="18" charset="0"/>
                <a:ea typeface="华文楷体" pitchFamily="2" charset="-122"/>
              </a:defRPr>
            </a:lvl6pPr>
            <a:lvl7pPr marL="2971800" indent="-228600" algn="ctr" eaLnBrk="0" fontAlgn="base" hangingPunct="0">
              <a:spcBef>
                <a:spcPct val="50000"/>
              </a:spcBef>
              <a:spcAft>
                <a:spcPct val="0"/>
              </a:spcAft>
              <a:defRPr sz="1400">
                <a:solidFill>
                  <a:schemeClr val="tx1"/>
                </a:solidFill>
                <a:latin typeface="Times New Roman" pitchFamily="18" charset="0"/>
                <a:ea typeface="华文楷体" pitchFamily="2" charset="-122"/>
              </a:defRPr>
            </a:lvl7pPr>
            <a:lvl8pPr marL="3429000" indent="-228600" algn="ctr" eaLnBrk="0" fontAlgn="base" hangingPunct="0">
              <a:spcBef>
                <a:spcPct val="50000"/>
              </a:spcBef>
              <a:spcAft>
                <a:spcPct val="0"/>
              </a:spcAft>
              <a:defRPr sz="1400">
                <a:solidFill>
                  <a:schemeClr val="tx1"/>
                </a:solidFill>
                <a:latin typeface="Times New Roman" pitchFamily="18" charset="0"/>
                <a:ea typeface="华文楷体" pitchFamily="2" charset="-122"/>
              </a:defRPr>
            </a:lvl8pPr>
            <a:lvl9pPr marL="3886200" indent="-228600" algn="ctr" eaLnBrk="0" fontAlgn="base" hangingPunct="0">
              <a:spcBef>
                <a:spcPct val="50000"/>
              </a:spcBef>
              <a:spcAft>
                <a:spcPct val="0"/>
              </a:spcAft>
              <a:defRPr sz="1400">
                <a:solidFill>
                  <a:schemeClr val="tx1"/>
                </a:solidFill>
                <a:latin typeface="Times New Roman" pitchFamily="18" charset="0"/>
                <a:ea typeface="华文楷体" pitchFamily="2" charset="-122"/>
              </a:defRPr>
            </a:lvl9pPr>
          </a:lstStyle>
          <a:p>
            <a:pPr>
              <a:defRPr/>
            </a:pPr>
            <a:endParaRPr lang="zh-CN" altLang="en-US" sz="1400"/>
          </a:p>
        </p:txBody>
      </p:sp>
      <p:sp>
        <p:nvSpPr>
          <p:cNvPr id="1033" name="Rectangle 12"/>
          <p:cNvSpPr>
            <a:spLocks noGrp="1" noChangeArrowheads="1"/>
          </p:cNvSpPr>
          <p:nvPr>
            <p:ph type="title"/>
          </p:nvPr>
        </p:nvSpPr>
        <p:spPr bwMode="black">
          <a:xfrm>
            <a:off x="334434" y="0"/>
            <a:ext cx="11857566"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normAutofit/>
          </a:bodyPr>
          <a:lstStyle/>
          <a:p>
            <a:pPr lvl="0"/>
            <a:r>
              <a:rPr lang="en-US" altLang="en-US" dirty="0"/>
              <a:t>Click to edit </a:t>
            </a:r>
            <a:br>
              <a:rPr lang="en-US" altLang="en-US" dirty="0"/>
            </a:br>
            <a:r>
              <a:rPr lang="en-US" altLang="en-US" dirty="0"/>
              <a:t>Master title style</a:t>
            </a:r>
          </a:p>
        </p:txBody>
      </p:sp>
    </p:spTree>
    <p:extLst>
      <p:ext uri="{BB962C8B-B14F-4D97-AF65-F5344CB8AC3E}">
        <p14:creationId xmlns:p14="http://schemas.microsoft.com/office/powerpoint/2010/main" val="2181783536"/>
      </p:ext>
    </p:extLst>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 id="2147483987" r:id="rId9"/>
    <p:sldLayoutId id="2147483988" r:id="rId10"/>
    <p:sldLayoutId id="2147483989" r:id="rId11"/>
    <p:sldLayoutId id="2147483990" r:id="rId12"/>
    <p:sldLayoutId id="2147483991" r:id="rId13"/>
    <p:sldLayoutId id="2147483992" r:id="rId14"/>
    <p:sldLayoutId id="2147483965" r:id="rId15"/>
    <p:sldLayoutId id="2147483977" r:id="rId16"/>
  </p:sldLayoutIdLst>
  <p:transition/>
  <p:txStyles>
    <p:titleStyle>
      <a:lvl1pPr algn="l" rtl="0" eaLnBrk="1" fontAlgn="base" hangingPunct="1">
        <a:lnSpc>
          <a:spcPct val="110000"/>
        </a:lnSpc>
        <a:spcBef>
          <a:spcPct val="0"/>
        </a:spcBef>
        <a:spcAft>
          <a:spcPct val="0"/>
        </a:spcAft>
        <a:defRPr sz="3200" b="1">
          <a:solidFill>
            <a:schemeClr val="bg1"/>
          </a:solidFill>
          <a:latin typeface="+mj-lt"/>
          <a:ea typeface="+mj-ea"/>
          <a:cs typeface="+mj-cs"/>
        </a:defRPr>
      </a:lvl1pPr>
      <a:lvl2pPr algn="l" rtl="0" eaLnBrk="1" fontAlgn="base" hangingPunct="1">
        <a:lnSpc>
          <a:spcPct val="85000"/>
        </a:lnSpc>
        <a:spcBef>
          <a:spcPct val="0"/>
        </a:spcBef>
        <a:spcAft>
          <a:spcPct val="0"/>
        </a:spcAft>
        <a:defRPr sz="2600" b="1">
          <a:solidFill>
            <a:schemeClr val="bg1"/>
          </a:solidFill>
          <a:latin typeface="Times New Roman" pitchFamily="18" charset="0"/>
          <a:ea typeface="宋体" pitchFamily="2" charset="-122"/>
        </a:defRPr>
      </a:lvl2pPr>
      <a:lvl3pPr algn="l" rtl="0" eaLnBrk="1" fontAlgn="base" hangingPunct="1">
        <a:lnSpc>
          <a:spcPct val="85000"/>
        </a:lnSpc>
        <a:spcBef>
          <a:spcPct val="0"/>
        </a:spcBef>
        <a:spcAft>
          <a:spcPct val="0"/>
        </a:spcAft>
        <a:defRPr sz="2600" b="1">
          <a:solidFill>
            <a:schemeClr val="bg1"/>
          </a:solidFill>
          <a:latin typeface="Times New Roman" pitchFamily="18" charset="0"/>
          <a:ea typeface="宋体" pitchFamily="2" charset="-122"/>
        </a:defRPr>
      </a:lvl3pPr>
      <a:lvl4pPr algn="l" rtl="0" eaLnBrk="1" fontAlgn="base" hangingPunct="1">
        <a:lnSpc>
          <a:spcPct val="85000"/>
        </a:lnSpc>
        <a:spcBef>
          <a:spcPct val="0"/>
        </a:spcBef>
        <a:spcAft>
          <a:spcPct val="0"/>
        </a:spcAft>
        <a:defRPr sz="2600" b="1">
          <a:solidFill>
            <a:schemeClr val="bg1"/>
          </a:solidFill>
          <a:latin typeface="Times New Roman" pitchFamily="18" charset="0"/>
          <a:ea typeface="宋体" pitchFamily="2" charset="-122"/>
        </a:defRPr>
      </a:lvl4pPr>
      <a:lvl5pPr algn="l" rtl="0" eaLnBrk="1" fontAlgn="base" hangingPunct="1">
        <a:lnSpc>
          <a:spcPct val="85000"/>
        </a:lnSpc>
        <a:spcBef>
          <a:spcPct val="0"/>
        </a:spcBef>
        <a:spcAft>
          <a:spcPct val="0"/>
        </a:spcAft>
        <a:defRPr sz="2600" b="1">
          <a:solidFill>
            <a:schemeClr val="bg1"/>
          </a:solidFill>
          <a:latin typeface="Times New Roman" pitchFamily="18" charset="0"/>
          <a:ea typeface="宋体" pitchFamily="2" charset="-122"/>
        </a:defRPr>
      </a:lvl5pPr>
      <a:lvl6pPr marL="457200" algn="l" rtl="0" eaLnBrk="1" fontAlgn="base" hangingPunct="1">
        <a:lnSpc>
          <a:spcPct val="85000"/>
        </a:lnSpc>
        <a:spcBef>
          <a:spcPct val="0"/>
        </a:spcBef>
        <a:spcAft>
          <a:spcPct val="0"/>
        </a:spcAft>
        <a:defRPr sz="2600" b="1">
          <a:solidFill>
            <a:schemeClr val="bg1"/>
          </a:solidFill>
          <a:latin typeface="Times New Roman" pitchFamily="18" charset="0"/>
          <a:ea typeface="宋体" pitchFamily="2" charset="-122"/>
        </a:defRPr>
      </a:lvl6pPr>
      <a:lvl7pPr marL="914400" algn="l" rtl="0" eaLnBrk="1" fontAlgn="base" hangingPunct="1">
        <a:lnSpc>
          <a:spcPct val="85000"/>
        </a:lnSpc>
        <a:spcBef>
          <a:spcPct val="0"/>
        </a:spcBef>
        <a:spcAft>
          <a:spcPct val="0"/>
        </a:spcAft>
        <a:defRPr sz="2600" b="1">
          <a:solidFill>
            <a:schemeClr val="bg1"/>
          </a:solidFill>
          <a:latin typeface="Times New Roman" pitchFamily="18" charset="0"/>
          <a:ea typeface="宋体" pitchFamily="2" charset="-122"/>
        </a:defRPr>
      </a:lvl7pPr>
      <a:lvl8pPr marL="1371600" algn="l" rtl="0" eaLnBrk="1" fontAlgn="base" hangingPunct="1">
        <a:lnSpc>
          <a:spcPct val="85000"/>
        </a:lnSpc>
        <a:spcBef>
          <a:spcPct val="0"/>
        </a:spcBef>
        <a:spcAft>
          <a:spcPct val="0"/>
        </a:spcAft>
        <a:defRPr sz="2600" b="1">
          <a:solidFill>
            <a:schemeClr val="bg1"/>
          </a:solidFill>
          <a:latin typeface="Times New Roman" pitchFamily="18" charset="0"/>
          <a:ea typeface="宋体" pitchFamily="2" charset="-122"/>
        </a:defRPr>
      </a:lvl8pPr>
      <a:lvl9pPr marL="1828800" algn="l" rtl="0" eaLnBrk="1" fontAlgn="base" hangingPunct="1">
        <a:lnSpc>
          <a:spcPct val="85000"/>
        </a:lnSpc>
        <a:spcBef>
          <a:spcPct val="0"/>
        </a:spcBef>
        <a:spcAft>
          <a:spcPct val="0"/>
        </a:spcAft>
        <a:defRPr sz="2600" b="1">
          <a:solidFill>
            <a:schemeClr val="bg1"/>
          </a:solidFill>
          <a:latin typeface="Times New Roman" pitchFamily="18" charset="0"/>
          <a:ea typeface="宋体" pitchFamily="2" charset="-122"/>
        </a:defRPr>
      </a:lvl9pPr>
    </p:titleStyle>
    <p:bodyStyle>
      <a:lvl1pPr marL="234950" indent="-234950" algn="l" rtl="0" eaLnBrk="1" fontAlgn="base" hangingPunct="1">
        <a:lnSpc>
          <a:spcPct val="110000"/>
        </a:lnSpc>
        <a:spcBef>
          <a:spcPts val="300"/>
        </a:spcBef>
        <a:spcAft>
          <a:spcPts val="100"/>
        </a:spcAft>
        <a:buClr>
          <a:schemeClr val="accent1"/>
        </a:buClr>
        <a:buSzPct val="90000"/>
        <a:buFont typeface="Wingdings" panose="05000000000000000000" pitchFamily="2" charset="2"/>
        <a:buChar char="n"/>
        <a:defRPr sz="2800" b="0">
          <a:solidFill>
            <a:schemeClr val="tx1"/>
          </a:solidFill>
          <a:latin typeface="+mn-lt"/>
          <a:ea typeface="+mn-ea"/>
          <a:cs typeface="+mn-cs"/>
        </a:defRPr>
      </a:lvl1pPr>
      <a:lvl2pPr marL="681038" indent="-234950" algn="l" rtl="0" eaLnBrk="1" fontAlgn="base" hangingPunct="1">
        <a:lnSpc>
          <a:spcPct val="110000"/>
        </a:lnSpc>
        <a:spcBef>
          <a:spcPts val="300"/>
        </a:spcBef>
        <a:spcAft>
          <a:spcPts val="100"/>
        </a:spcAft>
        <a:buClr>
          <a:schemeClr val="accent1"/>
        </a:buClr>
        <a:buSzPct val="75000"/>
        <a:buFont typeface="Wingdings" panose="05000000000000000000" pitchFamily="2" charset="2"/>
        <a:buChar char="u"/>
        <a:defRPr sz="2400" b="0">
          <a:solidFill>
            <a:schemeClr val="tx1"/>
          </a:solidFill>
          <a:latin typeface="+mn-lt"/>
          <a:ea typeface="+mn-ea"/>
        </a:defRPr>
      </a:lvl2pPr>
      <a:lvl3pPr marL="1147763" indent="-234950" algn="l" rtl="0" eaLnBrk="1" fontAlgn="base" hangingPunct="1">
        <a:lnSpc>
          <a:spcPct val="110000"/>
        </a:lnSpc>
        <a:spcBef>
          <a:spcPts val="300"/>
        </a:spcBef>
        <a:spcAft>
          <a:spcPts val="100"/>
        </a:spcAft>
        <a:buClr>
          <a:schemeClr val="accent1"/>
        </a:buClr>
        <a:buSzPct val="65000"/>
        <a:buFont typeface="Wingdings" panose="05000000000000000000" pitchFamily="2" charset="2"/>
        <a:buChar char="Ø"/>
        <a:defRPr sz="2200">
          <a:solidFill>
            <a:schemeClr val="tx1"/>
          </a:solidFill>
          <a:latin typeface="+mn-lt"/>
          <a:ea typeface="+mn-ea"/>
        </a:defRPr>
      </a:lvl3pPr>
      <a:lvl4pPr marL="1604963" indent="-234950" algn="l" rtl="0" eaLnBrk="1" fontAlgn="base" hangingPunct="1">
        <a:lnSpc>
          <a:spcPct val="110000"/>
        </a:lnSpc>
        <a:spcBef>
          <a:spcPts val="300"/>
        </a:spcBef>
        <a:spcAft>
          <a:spcPts val="100"/>
        </a:spcAft>
        <a:buClr>
          <a:schemeClr val="accent1"/>
        </a:buClr>
        <a:buSzPct val="75000"/>
        <a:buChar char="•"/>
        <a:defRPr sz="2200">
          <a:solidFill>
            <a:schemeClr val="tx1"/>
          </a:solidFill>
          <a:latin typeface="+mn-lt"/>
          <a:ea typeface="+mn-ea"/>
        </a:defRPr>
      </a:lvl4pPr>
      <a:lvl5pPr marL="1947863" indent="-228600" algn="l" rtl="0" eaLnBrk="1" fontAlgn="base" hangingPunct="1">
        <a:lnSpc>
          <a:spcPct val="110000"/>
        </a:lnSpc>
        <a:spcBef>
          <a:spcPts val="300"/>
        </a:spcBef>
        <a:spcAft>
          <a:spcPts val="100"/>
        </a:spcAft>
        <a:buClr>
          <a:schemeClr val="accent1"/>
        </a:buClr>
        <a:buSzPct val="75000"/>
        <a:buChar char="–"/>
        <a:defRPr sz="2000">
          <a:solidFill>
            <a:schemeClr val="tx1"/>
          </a:solidFill>
          <a:latin typeface="+mn-lt"/>
          <a:ea typeface="+mn-ea"/>
        </a:defRPr>
      </a:lvl5pPr>
      <a:lvl6pPr marL="2405063" indent="-228600" algn="l" rtl="0" eaLnBrk="1" fontAlgn="base" hangingPunct="1">
        <a:spcBef>
          <a:spcPct val="5000"/>
        </a:spcBef>
        <a:spcAft>
          <a:spcPct val="0"/>
        </a:spcAft>
        <a:buClr>
          <a:schemeClr val="accent1"/>
        </a:buClr>
        <a:buSzPct val="75000"/>
        <a:buChar char="–"/>
        <a:defRPr sz="2000">
          <a:solidFill>
            <a:schemeClr val="tx1"/>
          </a:solidFill>
          <a:latin typeface="+mn-lt"/>
          <a:ea typeface="+mn-ea"/>
        </a:defRPr>
      </a:lvl6pPr>
      <a:lvl7pPr marL="2862263" indent="-228600" algn="l" rtl="0" eaLnBrk="1" fontAlgn="base" hangingPunct="1">
        <a:spcBef>
          <a:spcPct val="5000"/>
        </a:spcBef>
        <a:spcAft>
          <a:spcPct val="0"/>
        </a:spcAft>
        <a:buClr>
          <a:schemeClr val="accent1"/>
        </a:buClr>
        <a:buSzPct val="75000"/>
        <a:buChar char="–"/>
        <a:defRPr sz="2000">
          <a:solidFill>
            <a:schemeClr val="tx1"/>
          </a:solidFill>
          <a:latin typeface="+mn-lt"/>
          <a:ea typeface="+mn-ea"/>
        </a:defRPr>
      </a:lvl7pPr>
      <a:lvl8pPr marL="3319463" indent="-228600" algn="l" rtl="0" eaLnBrk="1" fontAlgn="base" hangingPunct="1">
        <a:spcBef>
          <a:spcPct val="5000"/>
        </a:spcBef>
        <a:spcAft>
          <a:spcPct val="0"/>
        </a:spcAft>
        <a:buClr>
          <a:schemeClr val="accent1"/>
        </a:buClr>
        <a:buSzPct val="75000"/>
        <a:buChar char="–"/>
        <a:defRPr sz="2000">
          <a:solidFill>
            <a:schemeClr val="tx1"/>
          </a:solidFill>
          <a:latin typeface="+mn-lt"/>
          <a:ea typeface="+mn-ea"/>
        </a:defRPr>
      </a:lvl8pPr>
      <a:lvl9pPr marL="3776663" indent="-228600" algn="l" rtl="0" eaLnBrk="1" fontAlgn="base" hangingPunct="1">
        <a:spcBef>
          <a:spcPct val="5000"/>
        </a:spcBef>
        <a:spcAft>
          <a:spcPct val="0"/>
        </a:spcAft>
        <a:buClr>
          <a:schemeClr val="accent1"/>
        </a:buClr>
        <a:buSzPct val="7500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r>
              <a:rPr lang="zh-CN" altLang="zh-CN" dirty="0"/>
              <a:t>第</a:t>
            </a:r>
            <a:r>
              <a:rPr lang="en-US" altLang="zh-CN" dirty="0"/>
              <a:t>4</a:t>
            </a:r>
            <a:r>
              <a:rPr lang="zh-CN" altLang="zh-CN" dirty="0"/>
              <a:t>章</a:t>
            </a:r>
            <a:r>
              <a:rPr lang="zh-CN" altLang="en-US" dirty="0"/>
              <a:t>（补充）</a:t>
            </a:r>
            <a:r>
              <a:rPr lang="en-US" altLang="zh-CN" dirty="0"/>
              <a:t>  </a:t>
            </a:r>
            <a:r>
              <a:rPr lang="en-US" altLang="zh-CN" dirty="0" err="1"/>
              <a:t>Numpy</a:t>
            </a:r>
            <a:r>
              <a:rPr lang="zh-CN" altLang="zh-CN" dirty="0"/>
              <a:t>数据处理基础</a:t>
            </a:r>
            <a:endParaRPr lang="zh-CN" altLang="en-US" dirty="0"/>
          </a:p>
        </p:txBody>
      </p:sp>
      <p:sp>
        <p:nvSpPr>
          <p:cNvPr id="5" name="副标题 4"/>
          <p:cNvSpPr>
            <a:spLocks noGrp="1"/>
          </p:cNvSpPr>
          <p:nvPr>
            <p:ph type="subTitle" idx="1"/>
          </p:nvPr>
        </p:nvSpPr>
        <p:spPr/>
        <p:txBody>
          <a:bodyPr/>
          <a:lstStyle/>
          <a:p>
            <a:r>
              <a:rPr lang="zh-CN" altLang="en-US" dirty="0"/>
              <a:t>李默 辽宁大学信息学院</a:t>
            </a:r>
          </a:p>
        </p:txBody>
      </p:sp>
    </p:spTree>
    <p:extLst>
      <p:ext uri="{BB962C8B-B14F-4D97-AF65-F5344CB8AC3E}">
        <p14:creationId xmlns:p14="http://schemas.microsoft.com/office/powerpoint/2010/main" val="401139141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err="1"/>
              <a:t>Numpy</a:t>
            </a:r>
            <a:r>
              <a:rPr lang="zh-CN" altLang="zh-CN" dirty="0"/>
              <a:t>是</a:t>
            </a:r>
            <a:r>
              <a:rPr lang="en-US" altLang="zh-CN" dirty="0"/>
              <a:t>Python</a:t>
            </a:r>
            <a:r>
              <a:rPr lang="zh-CN" altLang="zh-CN" dirty="0"/>
              <a:t>的一个开源数值计算第三方库。可用来处理存储和计算各种数组与矩阵，比</a:t>
            </a:r>
            <a:r>
              <a:rPr lang="en-US" altLang="zh-CN" dirty="0"/>
              <a:t>Python</a:t>
            </a:r>
            <a:r>
              <a:rPr lang="zh-CN" altLang="zh-CN" dirty="0"/>
              <a:t>的嵌套列表高效很多。</a:t>
            </a:r>
            <a:r>
              <a:rPr lang="en-US" altLang="zh-CN" dirty="0" err="1"/>
              <a:t>Numpy</a:t>
            </a:r>
            <a:r>
              <a:rPr lang="zh-CN" altLang="zh-CN" dirty="0"/>
              <a:t>中提供了</a:t>
            </a:r>
            <a:r>
              <a:rPr lang="en-US" altLang="zh-CN" dirty="0"/>
              <a:t>N</a:t>
            </a:r>
            <a:r>
              <a:rPr lang="zh-CN" altLang="zh-CN" dirty="0"/>
              <a:t>维数组对象、矩阵数据类型、随机数生成、广播函数、科学计算工具、线性代数和傅里叶变换等功能。很多</a:t>
            </a:r>
            <a:r>
              <a:rPr lang="en-US" altLang="zh-CN" dirty="0"/>
              <a:t>Python</a:t>
            </a:r>
            <a:r>
              <a:rPr lang="zh-CN" altLang="zh-CN" dirty="0"/>
              <a:t>科学计算的库是基于</a:t>
            </a:r>
            <a:r>
              <a:rPr lang="en-US" altLang="zh-CN" dirty="0" err="1"/>
              <a:t>numpy</a:t>
            </a:r>
            <a:r>
              <a:rPr lang="zh-CN" altLang="zh-CN" dirty="0"/>
              <a:t>开发的，因此它是</a:t>
            </a:r>
            <a:r>
              <a:rPr lang="en-US" altLang="zh-CN" dirty="0"/>
              <a:t>python</a:t>
            </a:r>
            <a:r>
              <a:rPr lang="zh-CN" altLang="zh-CN" dirty="0"/>
              <a:t>数据分析不可或缺的第三方库。</a:t>
            </a:r>
          </a:p>
          <a:p>
            <a:r>
              <a:rPr lang="en-US" altLang="zh-CN" dirty="0" err="1"/>
              <a:t>Numpy</a:t>
            </a:r>
            <a:r>
              <a:rPr lang="zh-CN" altLang="zh-CN" dirty="0"/>
              <a:t>是非标准库，需要提前安装。</a:t>
            </a:r>
            <a:r>
              <a:rPr lang="en-US" altLang="zh-CN" dirty="0"/>
              <a:t>Anaconda</a:t>
            </a:r>
            <a:r>
              <a:rPr lang="zh-CN" altLang="zh-CN" dirty="0"/>
              <a:t>中集成了这个库中的模块，可以直接使用</a:t>
            </a:r>
            <a:r>
              <a:rPr lang="en-US" altLang="zh-CN" dirty="0"/>
              <a:t>Anaconda</a:t>
            </a:r>
            <a:r>
              <a:rPr lang="zh-CN" altLang="zh-CN" dirty="0"/>
              <a:t>。也可以不安装</a:t>
            </a:r>
            <a:r>
              <a:rPr lang="en-US" altLang="zh-CN" dirty="0"/>
              <a:t>Anaconda</a:t>
            </a:r>
            <a:r>
              <a:rPr lang="zh-CN" altLang="zh-CN" dirty="0"/>
              <a:t>。这样需要安装完官方标准的</a:t>
            </a:r>
            <a:r>
              <a:rPr lang="en-US" altLang="zh-CN" dirty="0"/>
              <a:t>Python</a:t>
            </a:r>
            <a:r>
              <a:rPr lang="zh-CN" altLang="zh-CN" dirty="0"/>
              <a:t>发行版后在线或下载后安装相关库。</a:t>
            </a:r>
          </a:p>
          <a:p>
            <a:endParaRPr lang="zh-CN" altLang="en-US" dirty="0"/>
          </a:p>
        </p:txBody>
      </p:sp>
    </p:spTree>
    <p:extLst>
      <p:ext uri="{BB962C8B-B14F-4D97-AF65-F5344CB8AC3E}">
        <p14:creationId xmlns:p14="http://schemas.microsoft.com/office/powerpoint/2010/main" val="15987100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dirty="0"/>
              <a:t>如果采用在线安装，打开</a:t>
            </a:r>
            <a:r>
              <a:rPr lang="en-US" altLang="zh-CN" dirty="0"/>
              <a:t>windows</a:t>
            </a:r>
            <a:r>
              <a:rPr lang="zh-CN" altLang="zh-CN" dirty="0"/>
              <a:t>命令窗口，输入</a:t>
            </a:r>
            <a:r>
              <a:rPr lang="en-US" altLang="zh-CN" dirty="0"/>
              <a:t>pip install </a:t>
            </a:r>
            <a:r>
              <a:rPr lang="en-US" altLang="zh-CN" dirty="0" err="1"/>
              <a:t>numpy</a:t>
            </a:r>
            <a:r>
              <a:rPr lang="zh-CN" altLang="zh-CN" dirty="0"/>
              <a:t>命令，完成</a:t>
            </a:r>
            <a:r>
              <a:rPr lang="en-US" altLang="zh-CN" dirty="0" err="1"/>
              <a:t>Numpy</a:t>
            </a:r>
            <a:r>
              <a:rPr lang="zh-CN" altLang="zh-CN" dirty="0"/>
              <a:t>相关模块的安装。受网络等因素的影响，在线从</a:t>
            </a:r>
            <a:r>
              <a:rPr lang="en-US" altLang="zh-CN" dirty="0" err="1"/>
              <a:t>PyPI</a:t>
            </a:r>
            <a:r>
              <a:rPr lang="zh-CN" altLang="zh-CN" dirty="0"/>
              <a:t>官方安装源安装可能会导致失败。这时可以通过参数</a:t>
            </a:r>
            <a:r>
              <a:rPr lang="en-US" altLang="zh-CN" i="1" dirty="0"/>
              <a:t>-</a:t>
            </a:r>
            <a:r>
              <a:rPr lang="en-US" altLang="zh-CN" i="1" dirty="0" err="1"/>
              <a:t>i</a:t>
            </a:r>
            <a:r>
              <a:rPr lang="zh-CN" altLang="zh-CN" dirty="0"/>
              <a:t>后面加安装源地址来尝试改用国内的安装源，以提高网络传输速度。可以通过百度搜索国内</a:t>
            </a:r>
            <a:r>
              <a:rPr lang="en-US" altLang="zh-CN" dirty="0" err="1"/>
              <a:t>PyPI</a:t>
            </a:r>
            <a:r>
              <a:rPr lang="zh-CN" altLang="zh-CN" dirty="0"/>
              <a:t>镜像安装源地址。例如：</a:t>
            </a:r>
          </a:p>
          <a:p>
            <a:pPr marL="446088" lvl="1" indent="0">
              <a:buNone/>
            </a:pPr>
            <a:r>
              <a:rPr lang="en-US" altLang="zh-CN" dirty="0"/>
              <a:t>pip install </a:t>
            </a:r>
            <a:r>
              <a:rPr lang="en-US" altLang="zh-CN" dirty="0" err="1"/>
              <a:t>numpy</a:t>
            </a:r>
            <a:r>
              <a:rPr lang="en-US" altLang="zh-CN" dirty="0"/>
              <a:t> -</a:t>
            </a:r>
            <a:r>
              <a:rPr lang="en-US" altLang="zh-CN" dirty="0" err="1"/>
              <a:t>i</a:t>
            </a:r>
            <a:r>
              <a:rPr lang="en-US" altLang="zh-CN" dirty="0"/>
              <a:t> https://pypi.tuna.tsinghua.edu.cn/simple</a:t>
            </a:r>
            <a:endParaRPr lang="zh-CN" altLang="zh-CN" dirty="0"/>
          </a:p>
          <a:p>
            <a:r>
              <a:rPr lang="zh-CN" altLang="zh-CN" dirty="0"/>
              <a:t>当网络传输质量不高时，在线安装可能会出现安装中断，导致安装失败。可以下载安装模块后在本地安装。这时需要先到官方网站下载</a:t>
            </a:r>
            <a:r>
              <a:rPr lang="en-US" altLang="zh-CN" dirty="0" err="1"/>
              <a:t>whl</a:t>
            </a:r>
            <a:r>
              <a:rPr lang="zh-CN" altLang="zh-CN" dirty="0"/>
              <a:t>文件。然后打开</a:t>
            </a:r>
            <a:r>
              <a:rPr lang="en-US" altLang="zh-CN" dirty="0"/>
              <a:t>windows</a:t>
            </a:r>
            <a:r>
              <a:rPr lang="zh-CN" altLang="zh-CN" dirty="0"/>
              <a:t>命令窗口，进入下载文件所在目录，执行</a:t>
            </a:r>
            <a:r>
              <a:rPr lang="en-US" altLang="zh-CN" dirty="0"/>
              <a:t>pip install </a:t>
            </a:r>
            <a:r>
              <a:rPr lang="zh-CN" altLang="zh-CN" dirty="0"/>
              <a:t>文件名</a:t>
            </a:r>
            <a:r>
              <a:rPr lang="en-US" altLang="zh-CN" dirty="0"/>
              <a:t>.</a:t>
            </a:r>
            <a:r>
              <a:rPr lang="en-US" altLang="zh-CN" dirty="0" err="1"/>
              <a:t>whl</a:t>
            </a:r>
            <a:r>
              <a:rPr lang="zh-CN" altLang="zh-CN" dirty="0"/>
              <a:t>命令。</a:t>
            </a:r>
          </a:p>
          <a:p>
            <a:endParaRPr lang="zh-CN" altLang="en-US" dirty="0"/>
          </a:p>
        </p:txBody>
      </p:sp>
    </p:spTree>
    <p:extLst>
      <p:ext uri="{BB962C8B-B14F-4D97-AF65-F5344CB8AC3E}">
        <p14:creationId xmlns:p14="http://schemas.microsoft.com/office/powerpoint/2010/main" val="218732667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zh-CN" dirty="0"/>
              <a:t>数据结构</a:t>
            </a:r>
            <a:endParaRPr lang="zh-CN" altLang="en-US" dirty="0"/>
          </a:p>
        </p:txBody>
      </p:sp>
      <p:sp>
        <p:nvSpPr>
          <p:cNvPr id="3" name="内容占位符 2"/>
          <p:cNvSpPr>
            <a:spLocks noGrp="1"/>
          </p:cNvSpPr>
          <p:nvPr>
            <p:ph idx="1"/>
          </p:nvPr>
        </p:nvSpPr>
        <p:spPr/>
        <p:txBody>
          <a:bodyPr/>
          <a:lstStyle/>
          <a:p>
            <a:r>
              <a:rPr lang="en-US" altLang="zh-CN" dirty="0" err="1"/>
              <a:t>Numpy</a:t>
            </a:r>
            <a:r>
              <a:rPr lang="zh-CN" altLang="zh-CN" dirty="0"/>
              <a:t>中主要有多维数组和矩阵两种数据结构。这里只简单介绍多维数组</a:t>
            </a:r>
            <a:r>
              <a:rPr lang="zh-CN" altLang="en-US" dirty="0"/>
              <a:t>（</a:t>
            </a:r>
            <a:r>
              <a:rPr lang="en-US" altLang="zh-CN" dirty="0" err="1"/>
              <a:t>ndarray</a:t>
            </a:r>
            <a:r>
              <a:rPr lang="zh-CN" altLang="en-US"/>
              <a:t>）</a:t>
            </a:r>
            <a:r>
              <a:rPr lang="zh-CN" altLang="zh-CN"/>
              <a:t>对象</a:t>
            </a:r>
            <a:r>
              <a:rPr lang="zh-CN" altLang="zh-CN" dirty="0"/>
              <a:t>。</a:t>
            </a:r>
            <a:r>
              <a:rPr lang="en-US" altLang="zh-CN" dirty="0" err="1"/>
              <a:t>ndarray</a:t>
            </a:r>
            <a:r>
              <a:rPr lang="zh-CN" altLang="zh-CN" dirty="0"/>
              <a:t>是</a:t>
            </a:r>
            <a:r>
              <a:rPr lang="en-US" altLang="zh-CN" dirty="0" err="1"/>
              <a:t>Numpy</a:t>
            </a:r>
            <a:r>
              <a:rPr lang="zh-CN" altLang="zh-CN" dirty="0"/>
              <a:t>的数组类型，它的所有元素必须具有相同的数据类型。</a:t>
            </a:r>
            <a:endParaRPr lang="zh-CN" altLang="en-US" dirty="0"/>
          </a:p>
        </p:txBody>
      </p:sp>
    </p:spTree>
    <p:extLst>
      <p:ext uri="{BB962C8B-B14F-4D97-AF65-F5344CB8AC3E}">
        <p14:creationId xmlns:p14="http://schemas.microsoft.com/office/powerpoint/2010/main" val="290925732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4.1.1 </a:t>
            </a:r>
            <a:r>
              <a:rPr lang="zh-CN" altLang="en-US" dirty="0"/>
              <a:t>利用</a:t>
            </a:r>
            <a:r>
              <a:rPr lang="en-US" altLang="zh-CN" dirty="0" err="1"/>
              <a:t>numpy.array</a:t>
            </a:r>
            <a:r>
              <a:rPr lang="en-US" altLang="zh-CN" dirty="0"/>
              <a:t>()</a:t>
            </a:r>
            <a:r>
              <a:rPr lang="zh-CN" altLang="en-US" dirty="0"/>
              <a:t>函数创建数组</a:t>
            </a:r>
          </a:p>
        </p:txBody>
      </p:sp>
      <p:sp>
        <p:nvSpPr>
          <p:cNvPr id="5" name="内容占位符 4"/>
          <p:cNvSpPr>
            <a:spLocks noGrp="1"/>
          </p:cNvSpPr>
          <p:nvPr>
            <p:ph sz="half" idx="1"/>
          </p:nvPr>
        </p:nvSpPr>
        <p:spPr>
          <a:ln>
            <a:solidFill>
              <a:srgbClr val="9900FF"/>
            </a:solidFill>
          </a:ln>
        </p:spPr>
        <p:txBody>
          <a:bodyPr>
            <a:normAutofit fontScale="92500" lnSpcReduction="20000"/>
          </a:bodyPr>
          <a:lstStyle/>
          <a:p>
            <a:pPr lvl="0"/>
            <a:r>
              <a:rPr lang="en-US" altLang="zh-CN" b="1" dirty="0"/>
              <a:t>1. </a:t>
            </a:r>
            <a:r>
              <a:rPr lang="zh-CN" altLang="zh-CN" b="1" dirty="0"/>
              <a:t>创建一维数组</a:t>
            </a:r>
            <a:endParaRPr lang="zh-CN" altLang="zh-CN" dirty="0"/>
          </a:p>
          <a:p>
            <a:pPr marL="446088" lvl="1" indent="0">
              <a:buNone/>
            </a:pPr>
            <a:r>
              <a:rPr lang="en-US" altLang="zh-CN" dirty="0"/>
              <a:t>&gt;&gt;&gt; import </a:t>
            </a:r>
            <a:r>
              <a:rPr lang="en-US" altLang="zh-CN" dirty="0" err="1"/>
              <a:t>numpy</a:t>
            </a:r>
            <a:r>
              <a:rPr lang="en-US" altLang="zh-CN" dirty="0"/>
              <a:t> as np</a:t>
            </a:r>
            <a:endParaRPr lang="zh-CN" altLang="zh-CN" dirty="0"/>
          </a:p>
          <a:p>
            <a:pPr marL="446088" lvl="1" indent="0">
              <a:buNone/>
            </a:pPr>
            <a:r>
              <a:rPr lang="en-US" altLang="zh-CN" dirty="0"/>
              <a:t>&gt;&gt;&gt; list1=[5,6.5,9,2,3,7.8,5.6,4.9]</a:t>
            </a:r>
            <a:endParaRPr lang="zh-CN" altLang="zh-CN" dirty="0"/>
          </a:p>
          <a:p>
            <a:pPr marL="446088" lvl="1" indent="0">
              <a:buNone/>
            </a:pPr>
            <a:r>
              <a:rPr lang="en-US" altLang="zh-CN" dirty="0"/>
              <a:t>&gt;&gt;&gt; arr1=</a:t>
            </a:r>
            <a:r>
              <a:rPr lang="en-US" altLang="zh-CN" dirty="0" err="1"/>
              <a:t>np.array</a:t>
            </a:r>
            <a:r>
              <a:rPr lang="en-US" altLang="zh-CN" dirty="0"/>
              <a:t>(list1)</a:t>
            </a:r>
            <a:endParaRPr lang="zh-CN" altLang="zh-CN" dirty="0"/>
          </a:p>
          <a:p>
            <a:pPr marL="446088" lvl="1" indent="0">
              <a:buNone/>
            </a:pPr>
            <a:r>
              <a:rPr lang="en-US" altLang="zh-CN" dirty="0"/>
              <a:t>&gt;&gt;&gt; arr1</a:t>
            </a:r>
            <a:endParaRPr lang="zh-CN" altLang="zh-CN" dirty="0"/>
          </a:p>
          <a:p>
            <a:pPr marL="446088" lvl="1" indent="0">
              <a:buNone/>
            </a:pPr>
            <a:r>
              <a:rPr lang="en-US" altLang="zh-CN" dirty="0"/>
              <a:t>array([5. , 6.5, 9. , 2. , 3. , 7.8, 5.6, 4.9])</a:t>
            </a:r>
            <a:endParaRPr lang="zh-CN" altLang="zh-CN" dirty="0"/>
          </a:p>
          <a:p>
            <a:pPr marL="446088" lvl="1" indent="0">
              <a:buNone/>
            </a:pPr>
            <a:r>
              <a:rPr lang="en-US" altLang="zh-CN" dirty="0"/>
              <a:t>&gt;&gt;&gt; </a:t>
            </a:r>
            <a:endParaRPr lang="zh-CN" altLang="zh-CN" dirty="0"/>
          </a:p>
          <a:p>
            <a:pPr lvl="0"/>
            <a:r>
              <a:rPr lang="en-US" altLang="zh-CN" b="1" dirty="0"/>
              <a:t>2. </a:t>
            </a:r>
            <a:r>
              <a:rPr lang="zh-CN" altLang="zh-CN" b="1" dirty="0"/>
              <a:t>创建二维数组</a:t>
            </a:r>
            <a:endParaRPr lang="zh-CN" altLang="zh-CN" dirty="0"/>
          </a:p>
          <a:p>
            <a:pPr marL="446088" lvl="1" indent="0">
              <a:buNone/>
            </a:pPr>
            <a:r>
              <a:rPr lang="en-US" altLang="zh-CN" dirty="0"/>
              <a:t>&gt;&gt;&gt; list2=[[1,2,3,4,5],[6,7,8,9,10]]</a:t>
            </a:r>
            <a:endParaRPr lang="zh-CN" altLang="zh-CN" dirty="0"/>
          </a:p>
          <a:p>
            <a:pPr marL="446088" lvl="1" indent="0">
              <a:buNone/>
            </a:pPr>
            <a:r>
              <a:rPr lang="en-US" altLang="zh-CN" dirty="0"/>
              <a:t>&gt;&gt;&gt; arr2=</a:t>
            </a:r>
            <a:r>
              <a:rPr lang="en-US" altLang="zh-CN" dirty="0" err="1"/>
              <a:t>np.array</a:t>
            </a:r>
            <a:r>
              <a:rPr lang="en-US" altLang="zh-CN" dirty="0"/>
              <a:t>(list2)</a:t>
            </a:r>
            <a:endParaRPr lang="zh-CN" altLang="zh-CN" dirty="0"/>
          </a:p>
          <a:p>
            <a:pPr marL="446088" lvl="1" indent="0">
              <a:buNone/>
            </a:pPr>
            <a:r>
              <a:rPr lang="en-US" altLang="zh-CN" dirty="0"/>
              <a:t>&gt;&gt;&gt; arr2</a:t>
            </a:r>
            <a:endParaRPr lang="zh-CN" altLang="zh-CN" dirty="0"/>
          </a:p>
          <a:p>
            <a:pPr marL="446088" lvl="1" indent="0">
              <a:buNone/>
            </a:pPr>
            <a:r>
              <a:rPr lang="en-US" altLang="zh-CN" dirty="0"/>
              <a:t>array([[ 1,  2,  3,  4,  5],</a:t>
            </a:r>
            <a:endParaRPr lang="zh-CN" altLang="zh-CN" dirty="0"/>
          </a:p>
          <a:p>
            <a:pPr marL="446088" lvl="1" indent="0">
              <a:buNone/>
            </a:pPr>
            <a:r>
              <a:rPr lang="en-US" altLang="zh-CN" dirty="0"/>
              <a:t>       [ 6,  7,  8,  9, 10]])</a:t>
            </a:r>
            <a:endParaRPr lang="zh-CN" altLang="zh-CN" dirty="0"/>
          </a:p>
          <a:p>
            <a:pPr marL="446088" lvl="1" indent="0">
              <a:buNone/>
            </a:pPr>
            <a:r>
              <a:rPr lang="en-US" altLang="zh-CN" dirty="0"/>
              <a:t>&gt;&gt;&gt; </a:t>
            </a:r>
            <a:endParaRPr lang="zh-CN" altLang="zh-CN" dirty="0"/>
          </a:p>
        </p:txBody>
      </p:sp>
      <p:sp>
        <p:nvSpPr>
          <p:cNvPr id="6" name="内容占位符 5"/>
          <p:cNvSpPr>
            <a:spLocks noGrp="1"/>
          </p:cNvSpPr>
          <p:nvPr>
            <p:ph sz="half" idx="2"/>
          </p:nvPr>
        </p:nvSpPr>
        <p:spPr>
          <a:ln>
            <a:solidFill>
              <a:srgbClr val="9900FF"/>
            </a:solidFill>
          </a:ln>
        </p:spPr>
        <p:txBody>
          <a:bodyPr>
            <a:normAutofit fontScale="92500" lnSpcReduction="20000"/>
          </a:bodyPr>
          <a:lstStyle/>
          <a:p>
            <a:pPr lvl="0"/>
            <a:r>
              <a:rPr lang="en-US" altLang="zh-CN" b="1" dirty="0"/>
              <a:t>3. </a:t>
            </a:r>
            <a:r>
              <a:rPr lang="zh-CN" altLang="zh-CN" b="1" dirty="0"/>
              <a:t>创建三维或多维数组</a:t>
            </a:r>
            <a:endParaRPr lang="zh-CN" altLang="zh-CN" dirty="0"/>
          </a:p>
          <a:p>
            <a:pPr marL="446088" lvl="1" indent="0">
              <a:buNone/>
            </a:pPr>
            <a:r>
              <a:rPr lang="en-US" altLang="zh-CN" dirty="0"/>
              <a:t>&gt;&gt;&gt; list3=[[[1,2],[3,4]],[[5,6],[7,8]]]</a:t>
            </a:r>
            <a:endParaRPr lang="zh-CN" altLang="zh-CN" dirty="0"/>
          </a:p>
          <a:p>
            <a:pPr marL="446088" lvl="1" indent="0">
              <a:buNone/>
            </a:pPr>
            <a:r>
              <a:rPr lang="en-US" altLang="zh-CN" dirty="0"/>
              <a:t>&gt;&gt;&gt; arr3=</a:t>
            </a:r>
            <a:r>
              <a:rPr lang="en-US" altLang="zh-CN" dirty="0" err="1"/>
              <a:t>np.array</a:t>
            </a:r>
            <a:r>
              <a:rPr lang="en-US" altLang="zh-CN" dirty="0"/>
              <a:t>(list3)</a:t>
            </a:r>
            <a:endParaRPr lang="zh-CN" altLang="zh-CN" dirty="0"/>
          </a:p>
          <a:p>
            <a:pPr marL="446088" lvl="1" indent="0">
              <a:buNone/>
            </a:pPr>
            <a:r>
              <a:rPr lang="en-US" altLang="zh-CN" dirty="0"/>
              <a:t>&gt;&gt;&gt; arr3</a:t>
            </a:r>
            <a:endParaRPr lang="zh-CN" altLang="zh-CN" dirty="0"/>
          </a:p>
          <a:p>
            <a:pPr marL="446088" lvl="1" indent="0">
              <a:buNone/>
            </a:pPr>
            <a:r>
              <a:rPr lang="en-US" altLang="zh-CN" dirty="0"/>
              <a:t>array([[[1, 2],</a:t>
            </a:r>
            <a:endParaRPr lang="zh-CN" altLang="zh-CN" dirty="0"/>
          </a:p>
          <a:p>
            <a:pPr marL="446088" lvl="1" indent="0">
              <a:buNone/>
            </a:pPr>
            <a:r>
              <a:rPr lang="en-US" altLang="zh-CN" dirty="0"/>
              <a:t>        [3, 4]],</a:t>
            </a:r>
            <a:endParaRPr lang="zh-CN" altLang="zh-CN" dirty="0"/>
          </a:p>
          <a:p>
            <a:pPr marL="446088" lvl="1" indent="0">
              <a:buNone/>
            </a:pPr>
            <a:r>
              <a:rPr lang="en-US" altLang="zh-CN" dirty="0"/>
              <a:t> </a:t>
            </a:r>
            <a:endParaRPr lang="zh-CN" altLang="zh-CN" dirty="0"/>
          </a:p>
          <a:p>
            <a:pPr marL="446088" lvl="1" indent="0">
              <a:buNone/>
            </a:pPr>
            <a:r>
              <a:rPr lang="en-US" altLang="zh-CN" dirty="0"/>
              <a:t>       [[5, 6],</a:t>
            </a:r>
            <a:endParaRPr lang="zh-CN" altLang="zh-CN" dirty="0"/>
          </a:p>
          <a:p>
            <a:pPr marL="446088" lvl="1" indent="0">
              <a:buNone/>
            </a:pPr>
            <a:r>
              <a:rPr lang="en-US" altLang="zh-CN" dirty="0"/>
              <a:t>        [7, 8]]])</a:t>
            </a:r>
            <a:endParaRPr lang="zh-CN" altLang="zh-CN" dirty="0"/>
          </a:p>
          <a:p>
            <a:pPr marL="446088" lvl="1" indent="0">
              <a:buNone/>
            </a:pPr>
            <a:r>
              <a:rPr lang="en-US" altLang="zh-CN" dirty="0"/>
              <a:t>&gt;&gt;&gt; </a:t>
            </a:r>
            <a:endParaRPr lang="zh-CN" altLang="zh-CN" dirty="0"/>
          </a:p>
          <a:p>
            <a:endParaRPr lang="zh-CN" altLang="en-US" dirty="0"/>
          </a:p>
        </p:txBody>
      </p:sp>
    </p:spTree>
    <p:extLst>
      <p:ext uri="{BB962C8B-B14F-4D97-AF65-F5344CB8AC3E}">
        <p14:creationId xmlns:p14="http://schemas.microsoft.com/office/powerpoint/2010/main" val="39367631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2"/>
          </p:nvPr>
        </p:nvSpPr>
        <p:spPr>
          <a:xfrm>
            <a:off x="334434" y="2348880"/>
            <a:ext cx="5761566" cy="4392488"/>
          </a:xfrm>
          <a:ln>
            <a:solidFill>
              <a:srgbClr val="9900FF"/>
            </a:solidFill>
          </a:ln>
        </p:spPr>
        <p:txBody>
          <a:bodyPr>
            <a:normAutofit fontScale="77500" lnSpcReduction="20000"/>
          </a:bodyPr>
          <a:lstStyle/>
          <a:p>
            <a:pPr>
              <a:spcBef>
                <a:spcPts val="100"/>
              </a:spcBef>
            </a:pPr>
            <a:r>
              <a:rPr lang="en-US" altLang="zh-CN" dirty="0"/>
              <a:t>1</a:t>
            </a:r>
            <a:r>
              <a:rPr lang="zh-CN" altLang="zh-CN" dirty="0"/>
              <a:t>、通过</a:t>
            </a:r>
            <a:r>
              <a:rPr lang="en-US" altLang="zh-CN" dirty="0" err="1"/>
              <a:t>ndim</a:t>
            </a:r>
            <a:r>
              <a:rPr lang="zh-CN" altLang="en-US" dirty="0"/>
              <a:t>属性</a:t>
            </a:r>
            <a:r>
              <a:rPr lang="zh-CN" altLang="zh-CN" dirty="0"/>
              <a:t>获取数组的维度</a:t>
            </a:r>
          </a:p>
          <a:p>
            <a:pPr marL="446088" lvl="1" indent="0">
              <a:spcBef>
                <a:spcPts val="100"/>
              </a:spcBef>
              <a:buNone/>
            </a:pPr>
            <a:r>
              <a:rPr lang="en-US" altLang="zh-CN" dirty="0"/>
              <a:t>&gt;&gt;&gt; arr1.ndim</a:t>
            </a:r>
            <a:endParaRPr lang="zh-CN" altLang="zh-CN" dirty="0"/>
          </a:p>
          <a:p>
            <a:pPr marL="446088" lvl="1" indent="0">
              <a:spcBef>
                <a:spcPts val="100"/>
              </a:spcBef>
              <a:buNone/>
            </a:pPr>
            <a:r>
              <a:rPr lang="en-US" altLang="zh-CN" dirty="0"/>
              <a:t>1</a:t>
            </a:r>
            <a:endParaRPr lang="zh-CN" altLang="zh-CN" dirty="0"/>
          </a:p>
          <a:p>
            <a:pPr marL="446088" lvl="1" indent="0">
              <a:spcBef>
                <a:spcPts val="100"/>
              </a:spcBef>
              <a:buNone/>
            </a:pPr>
            <a:r>
              <a:rPr lang="en-US" altLang="zh-CN" dirty="0"/>
              <a:t>&gt;&gt;&gt; arr2.ndim</a:t>
            </a:r>
            <a:endParaRPr lang="zh-CN" altLang="zh-CN" dirty="0"/>
          </a:p>
          <a:p>
            <a:pPr marL="446088" lvl="1" indent="0">
              <a:spcBef>
                <a:spcPts val="100"/>
              </a:spcBef>
              <a:buNone/>
            </a:pPr>
            <a:r>
              <a:rPr lang="en-US" altLang="zh-CN" dirty="0"/>
              <a:t>2</a:t>
            </a:r>
            <a:endParaRPr lang="zh-CN" altLang="zh-CN" dirty="0"/>
          </a:p>
          <a:p>
            <a:pPr marL="446088" lvl="1" indent="0">
              <a:spcBef>
                <a:spcPts val="100"/>
              </a:spcBef>
              <a:buNone/>
            </a:pPr>
            <a:r>
              <a:rPr lang="en-US" altLang="zh-CN" dirty="0"/>
              <a:t>&gt;&gt;&gt; arr3.ndim</a:t>
            </a:r>
            <a:endParaRPr lang="zh-CN" altLang="zh-CN" dirty="0"/>
          </a:p>
          <a:p>
            <a:pPr marL="446088" lvl="1" indent="0">
              <a:spcBef>
                <a:spcPts val="100"/>
              </a:spcBef>
              <a:buNone/>
            </a:pPr>
            <a:r>
              <a:rPr lang="en-US" altLang="zh-CN" dirty="0"/>
              <a:t>3</a:t>
            </a:r>
            <a:endParaRPr lang="zh-CN" altLang="zh-CN" dirty="0"/>
          </a:p>
          <a:p>
            <a:pPr marL="446088" lvl="1" indent="0">
              <a:spcBef>
                <a:spcPts val="100"/>
              </a:spcBef>
              <a:buNone/>
            </a:pPr>
            <a:r>
              <a:rPr lang="en-US" altLang="zh-CN" dirty="0"/>
              <a:t>&gt;&gt;&gt; </a:t>
            </a:r>
            <a:endParaRPr lang="zh-CN" altLang="zh-CN" dirty="0"/>
          </a:p>
          <a:p>
            <a:pPr>
              <a:spcBef>
                <a:spcPts val="100"/>
              </a:spcBef>
            </a:pPr>
            <a:r>
              <a:rPr lang="en-US" altLang="zh-CN" dirty="0"/>
              <a:t>2</a:t>
            </a:r>
            <a:r>
              <a:rPr lang="zh-CN" altLang="zh-CN" dirty="0"/>
              <a:t>、通过</a:t>
            </a:r>
            <a:r>
              <a:rPr lang="en-US" altLang="zh-CN" dirty="0"/>
              <a:t>shape</a:t>
            </a:r>
            <a:r>
              <a:rPr lang="zh-CN" altLang="en-US" dirty="0"/>
              <a:t>属性获取</a:t>
            </a:r>
            <a:r>
              <a:rPr lang="zh-CN" altLang="zh-CN" dirty="0"/>
              <a:t>表示数组各维度</a:t>
            </a:r>
            <a:r>
              <a:rPr lang="zh-CN" altLang="zh-CN"/>
              <a:t>大小的</a:t>
            </a:r>
            <a:r>
              <a:rPr lang="zh-CN" altLang="en-US"/>
              <a:t>形状</a:t>
            </a:r>
            <a:r>
              <a:rPr lang="zh-CN" altLang="zh-CN"/>
              <a:t>元组</a:t>
            </a:r>
            <a:endParaRPr lang="zh-CN" altLang="zh-CN" dirty="0"/>
          </a:p>
          <a:p>
            <a:pPr marL="446088" lvl="1" indent="0">
              <a:spcBef>
                <a:spcPts val="100"/>
              </a:spcBef>
              <a:buNone/>
            </a:pPr>
            <a:r>
              <a:rPr lang="en-US" altLang="zh-CN" dirty="0"/>
              <a:t>&gt;&gt;&gt; arr1.shape</a:t>
            </a:r>
            <a:endParaRPr lang="zh-CN" altLang="zh-CN" dirty="0"/>
          </a:p>
          <a:p>
            <a:pPr marL="446088" lvl="1" indent="0">
              <a:spcBef>
                <a:spcPts val="100"/>
              </a:spcBef>
              <a:buNone/>
            </a:pPr>
            <a:r>
              <a:rPr lang="en-US" altLang="zh-CN" dirty="0"/>
              <a:t>(8,)</a:t>
            </a:r>
            <a:endParaRPr lang="zh-CN" altLang="zh-CN" dirty="0"/>
          </a:p>
          <a:p>
            <a:pPr marL="446088" lvl="1" indent="0">
              <a:spcBef>
                <a:spcPts val="100"/>
              </a:spcBef>
              <a:buNone/>
            </a:pPr>
            <a:r>
              <a:rPr lang="en-US" altLang="zh-CN" dirty="0"/>
              <a:t>&gt;&gt;&gt; arr2.shape</a:t>
            </a:r>
            <a:endParaRPr lang="zh-CN" altLang="zh-CN" dirty="0"/>
          </a:p>
          <a:p>
            <a:pPr marL="446088" lvl="1" indent="0">
              <a:spcBef>
                <a:spcPts val="100"/>
              </a:spcBef>
              <a:buNone/>
            </a:pPr>
            <a:r>
              <a:rPr lang="en-US" altLang="zh-CN" dirty="0"/>
              <a:t>(2, 5)</a:t>
            </a:r>
            <a:endParaRPr lang="zh-CN" altLang="zh-CN" dirty="0"/>
          </a:p>
          <a:p>
            <a:pPr marL="446088" lvl="1" indent="0">
              <a:spcBef>
                <a:spcPts val="100"/>
              </a:spcBef>
              <a:buNone/>
            </a:pPr>
            <a:r>
              <a:rPr lang="en-US" altLang="zh-CN" dirty="0"/>
              <a:t>&gt;&gt;&gt; arr3.shape</a:t>
            </a:r>
            <a:endParaRPr lang="zh-CN" altLang="zh-CN" dirty="0"/>
          </a:p>
          <a:p>
            <a:pPr marL="446088" lvl="1" indent="0">
              <a:spcBef>
                <a:spcPts val="100"/>
              </a:spcBef>
              <a:buNone/>
            </a:pPr>
            <a:r>
              <a:rPr lang="en-US" altLang="zh-CN" dirty="0"/>
              <a:t>(2, 2, 2)</a:t>
            </a:r>
            <a:endParaRPr lang="zh-CN" altLang="zh-CN" dirty="0"/>
          </a:p>
          <a:p>
            <a:pPr marL="446088" lvl="1" indent="0">
              <a:spcBef>
                <a:spcPts val="100"/>
              </a:spcBef>
              <a:buNone/>
            </a:pPr>
            <a:r>
              <a:rPr lang="en-US" altLang="zh-CN" dirty="0"/>
              <a:t>&gt;&gt;&gt; </a:t>
            </a:r>
            <a:endParaRPr lang="zh-CN" altLang="zh-CN" dirty="0"/>
          </a:p>
        </p:txBody>
      </p:sp>
      <p:sp>
        <p:nvSpPr>
          <p:cNvPr id="6" name="内容占位符 5"/>
          <p:cNvSpPr>
            <a:spLocks noGrp="1"/>
          </p:cNvSpPr>
          <p:nvPr>
            <p:ph sz="quarter" idx="4"/>
          </p:nvPr>
        </p:nvSpPr>
        <p:spPr>
          <a:xfrm>
            <a:off x="6193368" y="2348880"/>
            <a:ext cx="5663272" cy="4392488"/>
          </a:xfrm>
          <a:ln>
            <a:solidFill>
              <a:srgbClr val="9900FF"/>
            </a:solidFill>
          </a:ln>
        </p:spPr>
        <p:txBody>
          <a:bodyPr>
            <a:normAutofit fontScale="85000" lnSpcReduction="20000"/>
          </a:bodyPr>
          <a:lstStyle/>
          <a:p>
            <a:pPr>
              <a:spcBef>
                <a:spcPts val="100"/>
              </a:spcBef>
            </a:pPr>
            <a:r>
              <a:rPr lang="en-US" altLang="zh-CN" dirty="0"/>
              <a:t>3</a:t>
            </a:r>
            <a:r>
              <a:rPr lang="zh-CN" altLang="zh-CN" dirty="0"/>
              <a:t>、通过</a:t>
            </a:r>
            <a:r>
              <a:rPr lang="en-US" altLang="zh-CN" dirty="0"/>
              <a:t>size</a:t>
            </a:r>
            <a:r>
              <a:rPr lang="zh-CN" altLang="en-US" dirty="0"/>
              <a:t>属性</a:t>
            </a:r>
            <a:r>
              <a:rPr lang="zh-CN" altLang="zh-CN" dirty="0"/>
              <a:t>获取数组中元素的总个数</a:t>
            </a:r>
          </a:p>
          <a:p>
            <a:pPr marL="446088" lvl="1" indent="0">
              <a:spcBef>
                <a:spcPts val="100"/>
              </a:spcBef>
              <a:buNone/>
            </a:pPr>
            <a:r>
              <a:rPr lang="en-US" altLang="zh-CN" dirty="0"/>
              <a:t>&gt;&gt;&gt; arr1.size</a:t>
            </a:r>
            <a:endParaRPr lang="zh-CN" altLang="zh-CN" dirty="0"/>
          </a:p>
          <a:p>
            <a:pPr marL="446088" lvl="1" indent="0">
              <a:spcBef>
                <a:spcPts val="100"/>
              </a:spcBef>
              <a:buNone/>
            </a:pPr>
            <a:r>
              <a:rPr lang="en-US" altLang="zh-CN" dirty="0"/>
              <a:t>8</a:t>
            </a:r>
            <a:endParaRPr lang="zh-CN" altLang="zh-CN" dirty="0"/>
          </a:p>
          <a:p>
            <a:pPr marL="446088" lvl="1" indent="0">
              <a:spcBef>
                <a:spcPts val="100"/>
              </a:spcBef>
              <a:buNone/>
            </a:pPr>
            <a:r>
              <a:rPr lang="en-US" altLang="zh-CN" dirty="0"/>
              <a:t>&gt;&gt;&gt; arr2.size</a:t>
            </a:r>
            <a:endParaRPr lang="zh-CN" altLang="zh-CN" dirty="0"/>
          </a:p>
          <a:p>
            <a:pPr marL="446088" lvl="1" indent="0">
              <a:spcBef>
                <a:spcPts val="100"/>
              </a:spcBef>
              <a:buNone/>
            </a:pPr>
            <a:r>
              <a:rPr lang="en-US" altLang="zh-CN" dirty="0"/>
              <a:t>10</a:t>
            </a:r>
            <a:endParaRPr lang="zh-CN" altLang="zh-CN" dirty="0"/>
          </a:p>
          <a:p>
            <a:pPr marL="446088" lvl="1" indent="0">
              <a:spcBef>
                <a:spcPts val="100"/>
              </a:spcBef>
              <a:buNone/>
            </a:pPr>
            <a:r>
              <a:rPr lang="en-US" altLang="zh-CN" dirty="0"/>
              <a:t>&gt;&gt;&gt; arr3.size</a:t>
            </a:r>
            <a:endParaRPr lang="zh-CN" altLang="zh-CN" dirty="0"/>
          </a:p>
          <a:p>
            <a:pPr marL="446088" lvl="1" indent="0">
              <a:spcBef>
                <a:spcPts val="100"/>
              </a:spcBef>
              <a:buNone/>
            </a:pPr>
            <a:r>
              <a:rPr lang="en-US" altLang="zh-CN" dirty="0"/>
              <a:t>8</a:t>
            </a:r>
            <a:endParaRPr lang="zh-CN" altLang="zh-CN" dirty="0"/>
          </a:p>
          <a:p>
            <a:pPr marL="446088" lvl="1" indent="0">
              <a:spcBef>
                <a:spcPts val="100"/>
              </a:spcBef>
              <a:buNone/>
            </a:pPr>
            <a:r>
              <a:rPr lang="en-US" altLang="zh-CN" dirty="0"/>
              <a:t>&gt;&gt;&gt; </a:t>
            </a:r>
            <a:endParaRPr lang="zh-CN" altLang="zh-CN" dirty="0"/>
          </a:p>
          <a:p>
            <a:pPr>
              <a:spcBef>
                <a:spcPts val="100"/>
              </a:spcBef>
            </a:pPr>
            <a:r>
              <a:rPr lang="en-US" altLang="zh-CN" dirty="0"/>
              <a:t>4</a:t>
            </a:r>
            <a:r>
              <a:rPr lang="zh-CN" altLang="zh-CN" dirty="0"/>
              <a:t>、通过</a:t>
            </a:r>
            <a:r>
              <a:rPr lang="en-US" altLang="zh-CN" dirty="0" err="1"/>
              <a:t>dtype</a:t>
            </a:r>
            <a:r>
              <a:rPr lang="zh-CN" altLang="en-US" dirty="0"/>
              <a:t>属性</a:t>
            </a:r>
            <a:r>
              <a:rPr lang="zh-CN" altLang="zh-CN" dirty="0"/>
              <a:t>获取数组元素的数据类型</a:t>
            </a:r>
          </a:p>
          <a:p>
            <a:pPr marL="446088" lvl="1" indent="0">
              <a:spcBef>
                <a:spcPts val="100"/>
              </a:spcBef>
              <a:buNone/>
            </a:pPr>
            <a:r>
              <a:rPr lang="en-US" altLang="zh-CN" dirty="0"/>
              <a:t>&gt;&gt;&gt; arr1.dtype</a:t>
            </a:r>
            <a:endParaRPr lang="zh-CN" altLang="zh-CN" dirty="0"/>
          </a:p>
          <a:p>
            <a:pPr marL="446088" lvl="1" indent="0">
              <a:spcBef>
                <a:spcPts val="100"/>
              </a:spcBef>
              <a:buNone/>
            </a:pPr>
            <a:r>
              <a:rPr lang="en-US" altLang="zh-CN" dirty="0" err="1"/>
              <a:t>dtype</a:t>
            </a:r>
            <a:r>
              <a:rPr lang="en-US" altLang="zh-CN" dirty="0"/>
              <a:t>('float64')</a:t>
            </a:r>
            <a:endParaRPr lang="zh-CN" altLang="zh-CN" dirty="0"/>
          </a:p>
          <a:p>
            <a:pPr marL="446088" lvl="1" indent="0">
              <a:spcBef>
                <a:spcPts val="100"/>
              </a:spcBef>
              <a:buNone/>
            </a:pPr>
            <a:r>
              <a:rPr lang="en-US" altLang="zh-CN" dirty="0"/>
              <a:t>&gt;&gt;&gt; arr2.dtype</a:t>
            </a:r>
            <a:endParaRPr lang="zh-CN" altLang="zh-CN" dirty="0"/>
          </a:p>
          <a:p>
            <a:pPr marL="446088" lvl="1" indent="0">
              <a:spcBef>
                <a:spcPts val="100"/>
              </a:spcBef>
              <a:buNone/>
            </a:pPr>
            <a:r>
              <a:rPr lang="en-US" altLang="zh-CN" dirty="0" err="1"/>
              <a:t>dtype</a:t>
            </a:r>
            <a:r>
              <a:rPr lang="en-US" altLang="zh-CN" dirty="0"/>
              <a:t>('int32')</a:t>
            </a:r>
            <a:endParaRPr lang="zh-CN" altLang="zh-CN" dirty="0"/>
          </a:p>
          <a:p>
            <a:pPr marL="446088" lvl="1" indent="0">
              <a:spcBef>
                <a:spcPts val="100"/>
              </a:spcBef>
              <a:buNone/>
            </a:pPr>
            <a:r>
              <a:rPr lang="en-US" altLang="zh-CN" dirty="0"/>
              <a:t>&gt;&gt;&gt; arr3.dtype</a:t>
            </a:r>
            <a:endParaRPr lang="zh-CN" altLang="zh-CN" dirty="0"/>
          </a:p>
          <a:p>
            <a:pPr marL="446088" lvl="1" indent="0">
              <a:spcBef>
                <a:spcPts val="100"/>
              </a:spcBef>
              <a:buNone/>
            </a:pPr>
            <a:r>
              <a:rPr lang="en-US" altLang="zh-CN" dirty="0" err="1"/>
              <a:t>dtype</a:t>
            </a:r>
            <a:r>
              <a:rPr lang="en-US" altLang="zh-CN" dirty="0"/>
              <a:t>('int32')</a:t>
            </a:r>
            <a:endParaRPr lang="zh-CN" altLang="zh-CN" dirty="0"/>
          </a:p>
          <a:p>
            <a:pPr marL="446088" lvl="1" indent="0">
              <a:spcBef>
                <a:spcPts val="100"/>
              </a:spcBef>
              <a:buNone/>
            </a:pPr>
            <a:r>
              <a:rPr lang="en-US" altLang="zh-CN" dirty="0"/>
              <a:t>&gt;&gt;&gt; </a:t>
            </a:r>
            <a:endParaRPr lang="zh-CN" altLang="zh-CN" dirty="0"/>
          </a:p>
        </p:txBody>
      </p:sp>
      <p:sp>
        <p:nvSpPr>
          <p:cNvPr id="2" name="标题 1"/>
          <p:cNvSpPr>
            <a:spLocks noGrp="1"/>
          </p:cNvSpPr>
          <p:nvPr>
            <p:ph type="title"/>
          </p:nvPr>
        </p:nvSpPr>
        <p:spPr/>
        <p:txBody>
          <a:bodyPr/>
          <a:lstStyle/>
          <a:p>
            <a:r>
              <a:rPr lang="en-US" altLang="zh-CN" dirty="0"/>
              <a:t>4.1.2 </a:t>
            </a:r>
            <a:r>
              <a:rPr lang="zh-CN" altLang="zh-CN" dirty="0"/>
              <a:t>访问数组对象属性</a:t>
            </a:r>
            <a:endParaRPr lang="zh-CN" altLang="en-US" dirty="0"/>
          </a:p>
        </p:txBody>
      </p:sp>
      <p:sp>
        <p:nvSpPr>
          <p:cNvPr id="7" name="内容占位符 6"/>
          <p:cNvSpPr>
            <a:spLocks noGrp="1"/>
          </p:cNvSpPr>
          <p:nvPr>
            <p:ph sz="half" idx="10"/>
          </p:nvPr>
        </p:nvSpPr>
        <p:spPr>
          <a:xfrm>
            <a:off x="335360" y="1094755"/>
            <a:ext cx="11521280" cy="1254125"/>
          </a:xfrm>
        </p:spPr>
        <p:txBody>
          <a:bodyPr>
            <a:normAutofit fontScale="92500"/>
          </a:bodyPr>
          <a:lstStyle/>
          <a:p>
            <a:r>
              <a:rPr lang="en-US" altLang="zh-CN" dirty="0" err="1"/>
              <a:t>ndarray</a:t>
            </a:r>
            <a:r>
              <a:rPr lang="zh-CN" altLang="zh-CN" dirty="0"/>
              <a:t>类的重要对象属性有</a:t>
            </a:r>
            <a:r>
              <a:rPr lang="en-US" altLang="zh-CN" dirty="0" err="1"/>
              <a:t>ndim</a:t>
            </a:r>
            <a:r>
              <a:rPr lang="zh-CN" altLang="zh-CN" dirty="0"/>
              <a:t>、</a:t>
            </a:r>
            <a:r>
              <a:rPr lang="en-US" altLang="zh-CN" dirty="0"/>
              <a:t>shape</a:t>
            </a:r>
            <a:r>
              <a:rPr lang="zh-CN" altLang="zh-CN" dirty="0"/>
              <a:t>、</a:t>
            </a:r>
            <a:r>
              <a:rPr lang="en-US" altLang="zh-CN" dirty="0"/>
              <a:t>size</a:t>
            </a:r>
            <a:r>
              <a:rPr lang="zh-CN" altLang="zh-CN" dirty="0"/>
              <a:t>、</a:t>
            </a:r>
            <a:r>
              <a:rPr lang="en-US" altLang="zh-CN" dirty="0" err="1"/>
              <a:t>dtype</a:t>
            </a:r>
            <a:r>
              <a:rPr lang="zh-CN" altLang="zh-CN" dirty="0"/>
              <a:t>等。</a:t>
            </a:r>
            <a:r>
              <a:rPr lang="en-US" altLang="zh-CN" dirty="0" err="1"/>
              <a:t>ndarray.ndim</a:t>
            </a:r>
            <a:r>
              <a:rPr lang="zh-CN" altLang="zh-CN" dirty="0"/>
              <a:t>表示数组维度。</a:t>
            </a:r>
            <a:r>
              <a:rPr lang="en-US" altLang="zh-CN" dirty="0" err="1"/>
              <a:t>ndarray.shape</a:t>
            </a:r>
            <a:r>
              <a:rPr lang="zh-CN" altLang="zh-CN" dirty="0"/>
              <a:t>表示数组各维度大小的</a:t>
            </a:r>
            <a:r>
              <a:rPr lang="zh-CN" altLang="en-US" dirty="0"/>
              <a:t>形状</a:t>
            </a:r>
            <a:r>
              <a:rPr lang="zh-CN" altLang="zh-CN" dirty="0"/>
              <a:t>元组。</a:t>
            </a:r>
            <a:r>
              <a:rPr lang="en-US" altLang="zh-CN" dirty="0" err="1"/>
              <a:t>ndarray.size</a:t>
            </a:r>
            <a:r>
              <a:rPr lang="zh-CN" altLang="zh-CN" dirty="0"/>
              <a:t>表示数组元素的总个数，等于</a:t>
            </a:r>
            <a:r>
              <a:rPr lang="en-US" altLang="zh-CN" dirty="0"/>
              <a:t>shape</a:t>
            </a:r>
            <a:r>
              <a:rPr lang="zh-CN" altLang="zh-CN" dirty="0"/>
              <a:t>属性元组中各元素的乘积。</a:t>
            </a:r>
            <a:r>
              <a:rPr lang="en-US" altLang="zh-CN" dirty="0" err="1"/>
              <a:t>ndarray.dtype</a:t>
            </a:r>
            <a:r>
              <a:rPr lang="zh-CN" altLang="zh-CN" dirty="0"/>
              <a:t>表示数组中元素的数据类型。</a:t>
            </a:r>
          </a:p>
          <a:p>
            <a:endParaRPr lang="zh-CN" altLang="en-US" dirty="0"/>
          </a:p>
        </p:txBody>
      </p:sp>
    </p:spTree>
    <p:extLst>
      <p:ext uri="{BB962C8B-B14F-4D97-AF65-F5344CB8AC3E}">
        <p14:creationId xmlns:p14="http://schemas.microsoft.com/office/powerpoint/2010/main" val="111677769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4.1.3 </a:t>
            </a:r>
            <a:r>
              <a:rPr lang="zh-CN" altLang="zh-CN" dirty="0"/>
              <a:t>数组对象的类型</a:t>
            </a:r>
            <a:endParaRPr lang="zh-CN" altLang="en-US" dirty="0"/>
          </a:p>
        </p:txBody>
      </p:sp>
      <p:sp>
        <p:nvSpPr>
          <p:cNvPr id="7" name="内容占位符 6"/>
          <p:cNvSpPr>
            <a:spLocks noGrp="1"/>
          </p:cNvSpPr>
          <p:nvPr>
            <p:ph idx="1"/>
          </p:nvPr>
        </p:nvSpPr>
        <p:spPr/>
        <p:txBody>
          <a:bodyPr>
            <a:normAutofit/>
          </a:bodyPr>
          <a:lstStyle/>
          <a:p>
            <a:r>
              <a:rPr lang="en-US" altLang="zh-CN" b="1" u="sng" dirty="0"/>
              <a:t>1</a:t>
            </a:r>
            <a:r>
              <a:rPr lang="zh-CN" altLang="zh-CN" b="1" u="sng" dirty="0"/>
              <a:t>、创建指定数据类型的数组对象</a:t>
            </a:r>
          </a:p>
          <a:p>
            <a:pPr marL="446088" lvl="1" indent="0">
              <a:buNone/>
            </a:pPr>
            <a:r>
              <a:rPr lang="en-US" altLang="zh-CN" dirty="0"/>
              <a:t>&gt;&gt;&gt; arr3=</a:t>
            </a:r>
            <a:r>
              <a:rPr lang="en-US" altLang="zh-CN" dirty="0" err="1"/>
              <a:t>np.array</a:t>
            </a:r>
            <a:r>
              <a:rPr lang="en-US" altLang="zh-CN" dirty="0"/>
              <a:t>([10,20,30,40],</a:t>
            </a:r>
            <a:r>
              <a:rPr lang="en-US" altLang="zh-CN" dirty="0" err="1"/>
              <a:t>dtype</a:t>
            </a:r>
            <a:r>
              <a:rPr lang="en-US" altLang="zh-CN" dirty="0"/>
              <a:t>=np.float64)</a:t>
            </a:r>
            <a:endParaRPr lang="zh-CN" altLang="zh-CN" dirty="0"/>
          </a:p>
          <a:p>
            <a:pPr marL="446088" lvl="1" indent="0">
              <a:buNone/>
            </a:pPr>
            <a:r>
              <a:rPr lang="en-US" altLang="zh-CN" dirty="0"/>
              <a:t>&gt;&gt;&gt; arr3</a:t>
            </a:r>
            <a:endParaRPr lang="zh-CN" altLang="zh-CN" dirty="0"/>
          </a:p>
          <a:p>
            <a:pPr marL="446088" lvl="1" indent="0">
              <a:buNone/>
            </a:pPr>
            <a:r>
              <a:rPr lang="en-US" altLang="zh-CN" dirty="0"/>
              <a:t>array([10., 20., 30., 40.])</a:t>
            </a:r>
            <a:endParaRPr lang="zh-CN" altLang="zh-CN" dirty="0"/>
          </a:p>
          <a:p>
            <a:pPr marL="446088" lvl="1" indent="0">
              <a:buNone/>
            </a:pPr>
            <a:r>
              <a:rPr lang="en-US" altLang="zh-CN" dirty="0"/>
              <a:t>&gt;&gt;&gt; </a:t>
            </a:r>
            <a:endParaRPr lang="zh-CN" altLang="zh-CN" dirty="0"/>
          </a:p>
          <a:p>
            <a:r>
              <a:rPr lang="zh-CN" altLang="zh-CN" dirty="0"/>
              <a:t>其中参数</a:t>
            </a:r>
            <a:r>
              <a:rPr lang="en-US" altLang="zh-CN" dirty="0" err="1"/>
              <a:t>dtype</a:t>
            </a:r>
            <a:r>
              <a:rPr lang="zh-CN" altLang="zh-CN" dirty="0"/>
              <a:t>指定了数组对象的类型。虽然原生</a:t>
            </a:r>
            <a:r>
              <a:rPr lang="en-US" altLang="zh-CN" dirty="0"/>
              <a:t>python</a:t>
            </a:r>
            <a:r>
              <a:rPr lang="zh-CN" altLang="zh-CN" dirty="0"/>
              <a:t>中提供了不少数据类型，但</a:t>
            </a:r>
            <a:r>
              <a:rPr lang="en-US" altLang="zh-CN" dirty="0" err="1"/>
              <a:t>numpy</a:t>
            </a:r>
            <a:r>
              <a:rPr lang="zh-CN" altLang="zh-CN" dirty="0"/>
              <a:t>需要更多、更精确的数据类型来支持科学计算。</a:t>
            </a:r>
            <a:endParaRPr lang="zh-CN" altLang="en-US" dirty="0"/>
          </a:p>
        </p:txBody>
      </p:sp>
    </p:spTree>
    <p:extLst>
      <p:ext uri="{BB962C8B-B14F-4D97-AF65-F5344CB8AC3E}">
        <p14:creationId xmlns:p14="http://schemas.microsoft.com/office/powerpoint/2010/main" val="101251841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4.1.4 </a:t>
            </a:r>
            <a:r>
              <a:rPr lang="zh-CN" altLang="zh-CN" dirty="0"/>
              <a:t>创建常用数组</a:t>
            </a:r>
            <a:endParaRPr lang="zh-CN" altLang="en-US" dirty="0"/>
          </a:p>
        </p:txBody>
      </p:sp>
      <p:sp>
        <p:nvSpPr>
          <p:cNvPr id="3" name="内容占位符 2"/>
          <p:cNvSpPr>
            <a:spLocks noGrp="1"/>
          </p:cNvSpPr>
          <p:nvPr>
            <p:ph sz="half" idx="1"/>
          </p:nvPr>
        </p:nvSpPr>
        <p:spPr>
          <a:ln>
            <a:solidFill>
              <a:srgbClr val="9900FF"/>
            </a:solidFill>
          </a:ln>
        </p:spPr>
        <p:txBody>
          <a:bodyPr>
            <a:normAutofit fontScale="92500" lnSpcReduction="20000"/>
          </a:bodyPr>
          <a:lstStyle/>
          <a:p>
            <a:r>
              <a:rPr lang="en-US" altLang="zh-CN" dirty="0"/>
              <a:t>1</a:t>
            </a:r>
            <a:r>
              <a:rPr lang="zh-CN" altLang="zh-CN" dirty="0"/>
              <a:t>、利用</a:t>
            </a:r>
            <a:r>
              <a:rPr lang="en-US" altLang="zh-CN" dirty="0"/>
              <a:t>zeros</a:t>
            </a:r>
            <a:r>
              <a:rPr lang="zh-CN" altLang="en-US" dirty="0"/>
              <a:t>函数</a:t>
            </a:r>
            <a:r>
              <a:rPr lang="zh-CN" altLang="zh-CN" dirty="0"/>
              <a:t>和</a:t>
            </a:r>
            <a:r>
              <a:rPr lang="en-US" altLang="zh-CN" dirty="0"/>
              <a:t>ones</a:t>
            </a:r>
            <a:r>
              <a:rPr lang="zh-CN" altLang="en-US" dirty="0"/>
              <a:t>函数</a:t>
            </a:r>
            <a:r>
              <a:rPr lang="zh-CN" altLang="zh-CN"/>
              <a:t>创建指定</a:t>
            </a:r>
            <a:r>
              <a:rPr lang="zh-CN" altLang="en-US"/>
              <a:t>形状</a:t>
            </a:r>
            <a:r>
              <a:rPr lang="zh-CN" altLang="zh-CN"/>
              <a:t>的</a:t>
            </a:r>
            <a:r>
              <a:rPr lang="zh-CN" altLang="zh-CN" dirty="0"/>
              <a:t>全</a:t>
            </a:r>
            <a:r>
              <a:rPr lang="en-US" altLang="zh-CN" dirty="0"/>
              <a:t>0</a:t>
            </a:r>
            <a:r>
              <a:rPr lang="zh-CN" altLang="zh-CN" dirty="0"/>
              <a:t>或全</a:t>
            </a:r>
            <a:r>
              <a:rPr lang="en-US" altLang="zh-CN" dirty="0"/>
              <a:t>1</a:t>
            </a:r>
            <a:r>
              <a:rPr lang="zh-CN" altLang="zh-CN" dirty="0"/>
              <a:t>数组</a:t>
            </a:r>
          </a:p>
          <a:p>
            <a:pPr marL="446088" lvl="1" indent="0">
              <a:buNone/>
            </a:pPr>
            <a:r>
              <a:rPr lang="en-US" altLang="zh-CN" dirty="0"/>
              <a:t>&gt;&gt;&gt; </a:t>
            </a:r>
            <a:r>
              <a:rPr lang="en-US" altLang="zh-CN" dirty="0" err="1"/>
              <a:t>np.zeros</a:t>
            </a:r>
            <a:r>
              <a:rPr lang="en-US" altLang="zh-CN" dirty="0"/>
              <a:t>(5)</a:t>
            </a:r>
            <a:endParaRPr lang="zh-CN" altLang="zh-CN" dirty="0"/>
          </a:p>
          <a:p>
            <a:pPr marL="446088" lvl="1" indent="0">
              <a:buNone/>
            </a:pPr>
            <a:r>
              <a:rPr lang="en-US" altLang="zh-CN" dirty="0"/>
              <a:t>array([0., 0., 0., 0., 0.])</a:t>
            </a:r>
            <a:endParaRPr lang="zh-CN" altLang="zh-CN" dirty="0"/>
          </a:p>
          <a:p>
            <a:pPr marL="446088" lvl="1" indent="0">
              <a:buNone/>
            </a:pPr>
            <a:r>
              <a:rPr lang="en-US" altLang="zh-CN" dirty="0"/>
              <a:t>&gt;&gt;&gt; </a:t>
            </a:r>
            <a:r>
              <a:rPr lang="en-US" altLang="zh-CN" dirty="0" err="1"/>
              <a:t>np.zeros</a:t>
            </a:r>
            <a:r>
              <a:rPr lang="en-US" altLang="zh-CN" dirty="0"/>
              <a:t>((2,3))</a:t>
            </a:r>
            <a:endParaRPr lang="zh-CN" altLang="zh-CN" dirty="0"/>
          </a:p>
          <a:p>
            <a:pPr marL="446088" lvl="1" indent="0">
              <a:buNone/>
            </a:pPr>
            <a:r>
              <a:rPr lang="en-US" altLang="zh-CN" dirty="0"/>
              <a:t>array([[0., 0., 0.],</a:t>
            </a:r>
            <a:endParaRPr lang="zh-CN" altLang="zh-CN" dirty="0"/>
          </a:p>
          <a:p>
            <a:pPr marL="446088" lvl="1" indent="0">
              <a:buNone/>
            </a:pPr>
            <a:r>
              <a:rPr lang="en-US" altLang="zh-CN" dirty="0"/>
              <a:t>       [0., 0., 0.]])</a:t>
            </a:r>
            <a:endParaRPr lang="zh-CN" altLang="zh-CN" dirty="0"/>
          </a:p>
          <a:p>
            <a:pPr marL="446088" lvl="1" indent="0">
              <a:buNone/>
            </a:pPr>
            <a:r>
              <a:rPr lang="en-US" altLang="zh-CN" dirty="0"/>
              <a:t>&gt;&gt;&gt; </a:t>
            </a:r>
            <a:r>
              <a:rPr lang="en-US" altLang="zh-CN" dirty="0" err="1"/>
              <a:t>np.ones</a:t>
            </a:r>
            <a:r>
              <a:rPr lang="en-US" altLang="zh-CN" dirty="0"/>
              <a:t>((1,2))</a:t>
            </a:r>
            <a:endParaRPr lang="zh-CN" altLang="zh-CN" dirty="0"/>
          </a:p>
          <a:p>
            <a:pPr marL="446088" lvl="1" indent="0">
              <a:buNone/>
            </a:pPr>
            <a:r>
              <a:rPr lang="en-US" altLang="zh-CN" dirty="0"/>
              <a:t>array([[1., 1.]])</a:t>
            </a:r>
            <a:endParaRPr lang="zh-CN" altLang="zh-CN" dirty="0"/>
          </a:p>
          <a:p>
            <a:pPr marL="446088" lvl="1" indent="0">
              <a:buNone/>
            </a:pPr>
            <a:r>
              <a:rPr lang="en-US" altLang="zh-CN" dirty="0"/>
              <a:t>&gt;&gt;&gt; </a:t>
            </a:r>
            <a:r>
              <a:rPr lang="en-US" altLang="zh-CN" dirty="0" err="1"/>
              <a:t>np.ones</a:t>
            </a:r>
            <a:r>
              <a:rPr lang="en-US" altLang="zh-CN" dirty="0"/>
              <a:t>((3,4),</a:t>
            </a:r>
            <a:r>
              <a:rPr lang="en-US" altLang="zh-CN" dirty="0" err="1"/>
              <a:t>dtype</a:t>
            </a:r>
            <a:r>
              <a:rPr lang="en-US" altLang="zh-CN" dirty="0"/>
              <a:t>=np.int16)</a:t>
            </a:r>
            <a:endParaRPr lang="zh-CN" altLang="zh-CN" dirty="0"/>
          </a:p>
          <a:p>
            <a:pPr marL="446088" lvl="1" indent="0">
              <a:buNone/>
            </a:pPr>
            <a:r>
              <a:rPr lang="en-US" altLang="zh-CN" dirty="0"/>
              <a:t>array([[1, 1, 1, 1],</a:t>
            </a:r>
            <a:endParaRPr lang="zh-CN" altLang="zh-CN" dirty="0"/>
          </a:p>
          <a:p>
            <a:pPr marL="446088" lvl="1" indent="0">
              <a:buNone/>
            </a:pPr>
            <a:r>
              <a:rPr lang="en-US" altLang="zh-CN" dirty="0"/>
              <a:t>       [1, 1, 1, 1],</a:t>
            </a:r>
            <a:endParaRPr lang="zh-CN" altLang="zh-CN" dirty="0"/>
          </a:p>
          <a:p>
            <a:pPr marL="446088" lvl="1" indent="0">
              <a:buNone/>
            </a:pPr>
            <a:r>
              <a:rPr lang="en-US" altLang="zh-CN" dirty="0"/>
              <a:t>       [1, 1, 1, 1]], </a:t>
            </a:r>
            <a:r>
              <a:rPr lang="en-US" altLang="zh-CN" dirty="0" err="1"/>
              <a:t>dtype</a:t>
            </a:r>
            <a:r>
              <a:rPr lang="en-US" altLang="zh-CN" dirty="0"/>
              <a:t>=int16)</a:t>
            </a:r>
            <a:endParaRPr lang="zh-CN" altLang="zh-CN" dirty="0"/>
          </a:p>
          <a:p>
            <a:pPr marL="446088" lvl="1" indent="0">
              <a:buNone/>
            </a:pPr>
            <a:r>
              <a:rPr lang="en-US" altLang="zh-CN" dirty="0"/>
              <a:t>&gt;&gt;&gt; </a:t>
            </a:r>
            <a:endParaRPr lang="zh-CN" altLang="zh-CN" dirty="0"/>
          </a:p>
        </p:txBody>
      </p:sp>
      <p:sp>
        <p:nvSpPr>
          <p:cNvPr id="4" name="内容占位符 3"/>
          <p:cNvSpPr>
            <a:spLocks noGrp="1"/>
          </p:cNvSpPr>
          <p:nvPr>
            <p:ph sz="half" idx="2"/>
          </p:nvPr>
        </p:nvSpPr>
        <p:spPr>
          <a:ln>
            <a:solidFill>
              <a:srgbClr val="9900FF"/>
            </a:solidFill>
          </a:ln>
        </p:spPr>
        <p:txBody>
          <a:bodyPr>
            <a:normAutofit fontScale="92500" lnSpcReduction="20000"/>
          </a:bodyPr>
          <a:lstStyle/>
          <a:p>
            <a:r>
              <a:rPr lang="en-US" altLang="zh-CN" dirty="0"/>
              <a:t>2</a:t>
            </a:r>
            <a:r>
              <a:rPr lang="zh-CN" altLang="zh-CN" dirty="0"/>
              <a:t>、利用</a:t>
            </a:r>
            <a:r>
              <a:rPr lang="en-US" altLang="zh-CN" dirty="0"/>
              <a:t>eye</a:t>
            </a:r>
            <a:r>
              <a:rPr lang="zh-CN" altLang="en-US" dirty="0"/>
              <a:t>函数</a:t>
            </a:r>
            <a:r>
              <a:rPr lang="zh-CN" altLang="zh-CN" dirty="0"/>
              <a:t>或</a:t>
            </a:r>
            <a:r>
              <a:rPr lang="en-US" altLang="zh-CN" dirty="0"/>
              <a:t>identity</a:t>
            </a:r>
            <a:r>
              <a:rPr lang="zh-CN" altLang="en-US" dirty="0"/>
              <a:t>函数</a:t>
            </a:r>
            <a:r>
              <a:rPr lang="zh-CN" altLang="zh-CN" dirty="0"/>
              <a:t>创建单位阵</a:t>
            </a:r>
          </a:p>
          <a:p>
            <a:pPr marL="446088" lvl="1" indent="0">
              <a:buNone/>
            </a:pPr>
            <a:r>
              <a:rPr lang="en-US" altLang="zh-CN" dirty="0"/>
              <a:t>&gt;&gt;&gt; </a:t>
            </a:r>
            <a:r>
              <a:rPr lang="en-US" altLang="zh-CN" dirty="0" err="1"/>
              <a:t>np.eye</a:t>
            </a:r>
            <a:r>
              <a:rPr lang="en-US" altLang="zh-CN" dirty="0"/>
              <a:t>(4)</a:t>
            </a:r>
            <a:endParaRPr lang="zh-CN" altLang="zh-CN" dirty="0"/>
          </a:p>
          <a:p>
            <a:pPr marL="446088" lvl="1" indent="0">
              <a:buNone/>
            </a:pPr>
            <a:r>
              <a:rPr lang="en-US" altLang="zh-CN" dirty="0"/>
              <a:t>array([[1., 0., 0., 0.],</a:t>
            </a:r>
            <a:endParaRPr lang="zh-CN" altLang="zh-CN" dirty="0"/>
          </a:p>
          <a:p>
            <a:pPr marL="446088" lvl="1" indent="0">
              <a:buNone/>
            </a:pPr>
            <a:r>
              <a:rPr lang="en-US" altLang="zh-CN" dirty="0"/>
              <a:t>       [0., 1., 0., 0.],</a:t>
            </a:r>
            <a:endParaRPr lang="zh-CN" altLang="zh-CN" dirty="0"/>
          </a:p>
          <a:p>
            <a:pPr marL="446088" lvl="1" indent="0">
              <a:buNone/>
            </a:pPr>
            <a:r>
              <a:rPr lang="en-US" altLang="zh-CN" dirty="0"/>
              <a:t>       [0., 0., 1., 0.],</a:t>
            </a:r>
            <a:endParaRPr lang="zh-CN" altLang="zh-CN" dirty="0"/>
          </a:p>
          <a:p>
            <a:pPr marL="446088" lvl="1" indent="0">
              <a:buNone/>
            </a:pPr>
            <a:r>
              <a:rPr lang="en-US" altLang="zh-CN" dirty="0"/>
              <a:t>       [0., 0., 0., 1.]])</a:t>
            </a:r>
            <a:endParaRPr lang="zh-CN" altLang="zh-CN" dirty="0"/>
          </a:p>
          <a:p>
            <a:pPr marL="446088" lvl="1" indent="0">
              <a:buNone/>
            </a:pPr>
            <a:r>
              <a:rPr lang="en-US" altLang="zh-CN" dirty="0"/>
              <a:t>&gt;&gt;&gt; </a:t>
            </a:r>
            <a:r>
              <a:rPr lang="en-US" altLang="zh-CN" dirty="0" err="1"/>
              <a:t>np.identity</a:t>
            </a:r>
            <a:r>
              <a:rPr lang="en-US" altLang="zh-CN" dirty="0"/>
              <a:t>(4)</a:t>
            </a:r>
            <a:endParaRPr lang="zh-CN" altLang="zh-CN" dirty="0"/>
          </a:p>
          <a:p>
            <a:pPr marL="446088" lvl="1" indent="0">
              <a:buNone/>
            </a:pPr>
            <a:r>
              <a:rPr lang="en-US" altLang="zh-CN" dirty="0"/>
              <a:t>array([[1., 0., 0., 0.],</a:t>
            </a:r>
            <a:endParaRPr lang="zh-CN" altLang="zh-CN" dirty="0"/>
          </a:p>
          <a:p>
            <a:pPr marL="446088" lvl="1" indent="0">
              <a:buNone/>
            </a:pPr>
            <a:r>
              <a:rPr lang="en-US" altLang="zh-CN" dirty="0"/>
              <a:t>       [0., 1., 0., 0.],</a:t>
            </a:r>
            <a:endParaRPr lang="zh-CN" altLang="zh-CN" dirty="0"/>
          </a:p>
          <a:p>
            <a:pPr marL="446088" lvl="1" indent="0">
              <a:buNone/>
            </a:pPr>
            <a:r>
              <a:rPr lang="en-US" altLang="zh-CN" dirty="0"/>
              <a:t>       [0., 0., 1., 0.],</a:t>
            </a:r>
            <a:endParaRPr lang="zh-CN" altLang="zh-CN" dirty="0"/>
          </a:p>
          <a:p>
            <a:pPr marL="446088" lvl="1" indent="0">
              <a:buNone/>
            </a:pPr>
            <a:r>
              <a:rPr lang="en-US" altLang="zh-CN" dirty="0"/>
              <a:t>       [0., 0., 0., 1.]])</a:t>
            </a:r>
            <a:endParaRPr lang="zh-CN" altLang="zh-CN" dirty="0"/>
          </a:p>
          <a:p>
            <a:pPr marL="446088" lvl="1" indent="0">
              <a:buNone/>
            </a:pPr>
            <a:r>
              <a:rPr lang="en-US" altLang="zh-CN" dirty="0"/>
              <a:t>&gt;&gt;&gt; </a:t>
            </a:r>
            <a:endParaRPr lang="zh-CN" altLang="zh-CN" dirty="0"/>
          </a:p>
        </p:txBody>
      </p:sp>
    </p:spTree>
    <p:extLst>
      <p:ext uri="{BB962C8B-B14F-4D97-AF65-F5344CB8AC3E}">
        <p14:creationId xmlns:p14="http://schemas.microsoft.com/office/powerpoint/2010/main" val="175626628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a:xfrm>
            <a:off x="334434" y="1124744"/>
            <a:ext cx="11523135" cy="5616624"/>
          </a:xfrm>
        </p:spPr>
        <p:txBody>
          <a:bodyPr>
            <a:normAutofit lnSpcReduction="10000"/>
          </a:bodyPr>
          <a:lstStyle/>
          <a:p>
            <a:r>
              <a:rPr lang="en-US" altLang="zh-CN" dirty="0"/>
              <a:t>3</a:t>
            </a:r>
            <a:r>
              <a:rPr lang="zh-CN" altLang="zh-CN" dirty="0"/>
              <a:t>、创建等差数组</a:t>
            </a:r>
          </a:p>
          <a:p>
            <a:pPr lvl="1"/>
            <a:r>
              <a:rPr lang="zh-CN" altLang="en-US" dirty="0"/>
              <a:t>（</a:t>
            </a:r>
            <a:r>
              <a:rPr lang="en-US" altLang="zh-CN" dirty="0"/>
              <a:t>1</a:t>
            </a:r>
            <a:r>
              <a:rPr lang="zh-CN" altLang="en-US" dirty="0"/>
              <a:t>）</a:t>
            </a:r>
            <a:r>
              <a:rPr lang="en-US" altLang="zh-CN" dirty="0" err="1"/>
              <a:t>numpy</a:t>
            </a:r>
            <a:r>
              <a:rPr lang="zh-CN" altLang="en-US" dirty="0"/>
              <a:t>中的</a:t>
            </a:r>
            <a:r>
              <a:rPr lang="en-US" altLang="zh-CN" dirty="0" err="1"/>
              <a:t>arange</a:t>
            </a:r>
            <a:r>
              <a:rPr lang="en-US" altLang="zh-CN" dirty="0"/>
              <a:t>()</a:t>
            </a:r>
            <a:r>
              <a:rPr lang="zh-CN" altLang="en-US" dirty="0"/>
              <a:t>函数用于创建等差数组对象。</a:t>
            </a:r>
            <a:endParaRPr lang="en-US" altLang="zh-CN" dirty="0"/>
          </a:p>
          <a:p>
            <a:pPr lvl="2"/>
            <a:r>
              <a:rPr lang="zh-CN" altLang="en-US" dirty="0"/>
              <a:t>它的用法</a:t>
            </a:r>
            <a:r>
              <a:rPr lang="zh-CN" altLang="zh-CN" dirty="0"/>
              <a:t>类似于</a:t>
            </a:r>
            <a:r>
              <a:rPr lang="en-US" altLang="zh-CN" dirty="0"/>
              <a:t>Python</a:t>
            </a:r>
            <a:r>
              <a:rPr lang="zh-CN" altLang="zh-CN" dirty="0"/>
              <a:t>中的</a:t>
            </a:r>
            <a:r>
              <a:rPr lang="en-US" altLang="zh-CN" dirty="0"/>
              <a:t>range</a:t>
            </a:r>
            <a:r>
              <a:rPr lang="zh-CN" altLang="zh-CN" dirty="0"/>
              <a:t>类。调用格式为</a:t>
            </a:r>
            <a:r>
              <a:rPr lang="en-US" altLang="zh-CN" dirty="0" err="1"/>
              <a:t>numpy.arange</a:t>
            </a:r>
            <a:r>
              <a:rPr lang="en-US" altLang="zh-CN" dirty="0"/>
              <a:t>([start,] stop[, step,], </a:t>
            </a:r>
            <a:r>
              <a:rPr lang="en-US" altLang="zh-CN" dirty="0" err="1"/>
              <a:t>dtype</a:t>
            </a:r>
            <a:r>
              <a:rPr lang="en-US" altLang="zh-CN" dirty="0"/>
              <a:t>=None, *, like=None)</a:t>
            </a:r>
            <a:r>
              <a:rPr lang="zh-CN" altLang="zh-CN" dirty="0"/>
              <a:t>。其中</a:t>
            </a:r>
            <a:r>
              <a:rPr lang="en-US" altLang="zh-CN" dirty="0"/>
              <a:t>start</a:t>
            </a:r>
            <a:r>
              <a:rPr lang="zh-CN" altLang="zh-CN" dirty="0"/>
              <a:t>表示开始值，默认为</a:t>
            </a:r>
            <a:r>
              <a:rPr lang="en-US" altLang="zh-CN" dirty="0"/>
              <a:t>0</a:t>
            </a:r>
            <a:r>
              <a:rPr lang="zh-CN" altLang="zh-CN" dirty="0"/>
              <a:t>；</a:t>
            </a:r>
            <a:r>
              <a:rPr lang="en-US" altLang="zh-CN" dirty="0"/>
              <a:t>stop</a:t>
            </a:r>
            <a:r>
              <a:rPr lang="zh-CN" altLang="zh-CN" dirty="0"/>
              <a:t>表示结束值，结果中不包含</a:t>
            </a:r>
            <a:r>
              <a:rPr lang="en-US" altLang="zh-CN" dirty="0"/>
              <a:t>stop</a:t>
            </a:r>
            <a:r>
              <a:rPr lang="zh-CN" altLang="zh-CN" dirty="0"/>
              <a:t>本身；</a:t>
            </a:r>
            <a:r>
              <a:rPr lang="en-US" altLang="zh-CN" dirty="0"/>
              <a:t>step</a:t>
            </a:r>
            <a:r>
              <a:rPr lang="zh-CN" altLang="zh-CN" dirty="0"/>
              <a:t>表示步长，默认为</a:t>
            </a:r>
            <a:r>
              <a:rPr lang="en-US" altLang="zh-CN" dirty="0"/>
              <a:t>1</a:t>
            </a:r>
            <a:r>
              <a:rPr lang="zh-CN" altLang="zh-CN" dirty="0"/>
              <a:t>；</a:t>
            </a:r>
            <a:r>
              <a:rPr lang="en-US" altLang="zh-CN" dirty="0" err="1"/>
              <a:t>dtype</a:t>
            </a:r>
            <a:r>
              <a:rPr lang="zh-CN" altLang="zh-CN" dirty="0"/>
              <a:t>表示数组元素类型，默认从其他参数推断。</a:t>
            </a:r>
            <a:r>
              <a:rPr lang="en-US" altLang="zh-CN" dirty="0"/>
              <a:t>start</a:t>
            </a:r>
            <a:r>
              <a:rPr lang="zh-CN" altLang="zh-CN" dirty="0"/>
              <a:t>，</a:t>
            </a:r>
            <a:r>
              <a:rPr lang="en-US" altLang="zh-CN" dirty="0"/>
              <a:t>step</a:t>
            </a:r>
            <a:r>
              <a:rPr lang="zh-CN" altLang="zh-CN" dirty="0"/>
              <a:t>，</a:t>
            </a:r>
            <a:r>
              <a:rPr lang="en-US" altLang="zh-CN" dirty="0" err="1"/>
              <a:t>dtype</a:t>
            </a:r>
            <a:r>
              <a:rPr lang="zh-CN" altLang="zh-CN" dirty="0"/>
              <a:t>三个参数可以省略。</a:t>
            </a:r>
            <a:r>
              <a:rPr lang="en-US" altLang="zh-CN" dirty="0"/>
              <a:t> </a:t>
            </a:r>
            <a:endParaRPr lang="zh-CN" altLang="zh-CN" dirty="0"/>
          </a:p>
          <a:p>
            <a:pPr marL="912813" lvl="2" indent="0">
              <a:buNone/>
            </a:pPr>
            <a:r>
              <a:rPr lang="en-US" altLang="zh-CN" dirty="0"/>
              <a:t>&gt;&gt;&gt; </a:t>
            </a:r>
            <a:r>
              <a:rPr lang="en-US" altLang="zh-CN" dirty="0" err="1"/>
              <a:t>np.arange</a:t>
            </a:r>
            <a:r>
              <a:rPr lang="en-US" altLang="zh-CN" dirty="0"/>
              <a:t>(3,20,3)</a:t>
            </a:r>
            <a:endParaRPr lang="zh-CN" altLang="zh-CN" dirty="0"/>
          </a:p>
          <a:p>
            <a:pPr marL="912813" lvl="2" indent="0">
              <a:buNone/>
            </a:pPr>
            <a:r>
              <a:rPr lang="en-US" altLang="zh-CN" dirty="0"/>
              <a:t>array([ 3,  6,  9, 12, 15, 18])</a:t>
            </a:r>
            <a:endParaRPr lang="zh-CN" altLang="zh-CN" dirty="0"/>
          </a:p>
          <a:p>
            <a:pPr marL="912813" lvl="2" indent="0">
              <a:buNone/>
            </a:pPr>
            <a:r>
              <a:rPr lang="en-US" altLang="zh-CN" dirty="0"/>
              <a:t>&gt;&gt;&gt; </a:t>
            </a:r>
          </a:p>
          <a:p>
            <a:pPr lvl="2"/>
            <a:r>
              <a:rPr lang="en-US" altLang="zh-CN" dirty="0"/>
              <a:t>Python</a:t>
            </a:r>
            <a:r>
              <a:rPr lang="zh-CN" altLang="zh-CN" dirty="0"/>
              <a:t>中的</a:t>
            </a:r>
            <a:r>
              <a:rPr lang="en-US" altLang="zh-CN" dirty="0"/>
              <a:t>range</a:t>
            </a:r>
            <a:r>
              <a:rPr lang="zh-CN" altLang="zh-CN" dirty="0"/>
              <a:t>类</a:t>
            </a:r>
            <a:r>
              <a:rPr lang="zh-CN" altLang="zh-CN"/>
              <a:t>只能创建</a:t>
            </a:r>
            <a:r>
              <a:rPr lang="zh-CN" altLang="en-US"/>
              <a:t>由</a:t>
            </a:r>
            <a:r>
              <a:rPr lang="zh-CN" altLang="zh-CN"/>
              <a:t>整数</a:t>
            </a:r>
            <a:r>
              <a:rPr lang="zh-CN" altLang="en-US"/>
              <a:t>构成的</a:t>
            </a:r>
            <a:r>
              <a:rPr lang="zh-CN" altLang="zh-CN"/>
              <a:t>序列</a:t>
            </a:r>
            <a:r>
              <a:rPr lang="zh-CN" altLang="zh-CN" dirty="0"/>
              <a:t>对象。而</a:t>
            </a:r>
            <a:r>
              <a:rPr lang="en-US" altLang="zh-CN" dirty="0" err="1"/>
              <a:t>numpy</a:t>
            </a:r>
            <a:r>
              <a:rPr lang="zh-CN" altLang="zh-CN" dirty="0"/>
              <a:t>中的</a:t>
            </a:r>
            <a:r>
              <a:rPr lang="en-US" altLang="zh-CN" dirty="0" err="1"/>
              <a:t>arange</a:t>
            </a:r>
            <a:r>
              <a:rPr lang="zh-CN" altLang="zh-CN" dirty="0"/>
              <a:t>函数还可以创建浮点数类型的数组，例如：</a:t>
            </a:r>
          </a:p>
          <a:p>
            <a:pPr marL="912813" lvl="2" indent="0">
              <a:buNone/>
            </a:pPr>
            <a:r>
              <a:rPr lang="en-US" altLang="zh-CN" dirty="0"/>
              <a:t>&gt;&gt;&gt; </a:t>
            </a:r>
            <a:r>
              <a:rPr lang="en-US" altLang="zh-CN" dirty="0" err="1"/>
              <a:t>np.arange</a:t>
            </a:r>
            <a:r>
              <a:rPr lang="en-US" altLang="zh-CN" dirty="0"/>
              <a:t>(0.5, 1.8, 0.3)</a:t>
            </a:r>
            <a:endParaRPr lang="zh-CN" altLang="zh-CN" dirty="0"/>
          </a:p>
          <a:p>
            <a:pPr marL="912813" lvl="2" indent="0">
              <a:buNone/>
            </a:pPr>
            <a:r>
              <a:rPr lang="en-US" altLang="zh-CN" dirty="0"/>
              <a:t>array([0.5, 0.8, 1.1, 1.4, 1.7])</a:t>
            </a:r>
            <a:endParaRPr lang="zh-CN" altLang="zh-CN" dirty="0"/>
          </a:p>
          <a:p>
            <a:pPr marL="912813" lvl="2" indent="0">
              <a:buNone/>
            </a:pPr>
            <a:r>
              <a:rPr lang="en-US" altLang="zh-CN" dirty="0"/>
              <a:t>&gt;&gt;&gt; </a:t>
            </a:r>
            <a:endParaRPr lang="zh-CN" altLang="zh-CN" dirty="0"/>
          </a:p>
        </p:txBody>
      </p:sp>
    </p:spTree>
    <p:extLst>
      <p:ext uri="{BB962C8B-B14F-4D97-AF65-F5344CB8AC3E}">
        <p14:creationId xmlns:p14="http://schemas.microsoft.com/office/powerpoint/2010/main" val="252482345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dirty="0"/>
              <a:t>5</a:t>
            </a:r>
            <a:r>
              <a:rPr lang="zh-CN" altLang="zh-CN" dirty="0"/>
              <a:t>、从字符串创建数组</a:t>
            </a:r>
          </a:p>
          <a:p>
            <a:pPr lvl="1"/>
            <a:r>
              <a:rPr lang="zh-CN" altLang="zh-CN" dirty="0"/>
              <a:t>可以利用</a:t>
            </a:r>
            <a:r>
              <a:rPr lang="en-US" altLang="zh-CN" dirty="0" err="1"/>
              <a:t>numpy.fromstring</a:t>
            </a:r>
            <a:r>
              <a:rPr lang="en-US" altLang="zh-CN" dirty="0"/>
              <a:t>(string, </a:t>
            </a:r>
            <a:r>
              <a:rPr lang="en-US" altLang="zh-CN" dirty="0" err="1"/>
              <a:t>dtype</a:t>
            </a:r>
            <a:r>
              <a:rPr lang="en-US" altLang="zh-CN" dirty="0"/>
              <a:t>=float, count=-1, *, </a:t>
            </a:r>
            <a:r>
              <a:rPr lang="en-US" altLang="zh-CN" dirty="0" err="1"/>
              <a:t>sep</a:t>
            </a:r>
            <a:r>
              <a:rPr lang="en-US" altLang="zh-CN" dirty="0"/>
              <a:t>, like=None)</a:t>
            </a:r>
            <a:r>
              <a:rPr lang="zh-CN" altLang="zh-CN" dirty="0"/>
              <a:t>函数读取字符串中的数据来创建数组。参数</a:t>
            </a:r>
            <a:r>
              <a:rPr lang="en-US" altLang="zh-CN" dirty="0"/>
              <a:t>string</a:t>
            </a:r>
            <a:r>
              <a:rPr lang="zh-CN" altLang="zh-CN" dirty="0"/>
              <a:t>表示输入的字符串。参数</a:t>
            </a:r>
            <a:r>
              <a:rPr lang="en-US" altLang="zh-CN" dirty="0" err="1"/>
              <a:t>dtype</a:t>
            </a:r>
            <a:r>
              <a:rPr lang="zh-CN" altLang="zh-CN" dirty="0"/>
              <a:t>表示数组元素类型。参数</a:t>
            </a:r>
            <a:r>
              <a:rPr lang="en-US" altLang="zh-CN" dirty="0"/>
              <a:t>count</a:t>
            </a:r>
            <a:r>
              <a:rPr lang="zh-CN" altLang="zh-CN" dirty="0"/>
              <a:t>是一个整数，表示从数据中最多读取</a:t>
            </a:r>
            <a:r>
              <a:rPr lang="en-US" altLang="zh-CN" dirty="0"/>
              <a:t>count</a:t>
            </a:r>
            <a:r>
              <a:rPr lang="zh-CN" altLang="zh-CN" dirty="0"/>
              <a:t>个</a:t>
            </a:r>
            <a:r>
              <a:rPr lang="en-US" altLang="zh-CN" dirty="0" err="1"/>
              <a:t>dtype</a:t>
            </a:r>
            <a:r>
              <a:rPr lang="zh-CN" altLang="zh-CN" dirty="0"/>
              <a:t>类型的元素构成数组。</a:t>
            </a:r>
            <a:r>
              <a:rPr lang="en-US" altLang="zh-CN" dirty="0" err="1"/>
              <a:t>sep</a:t>
            </a:r>
            <a:r>
              <a:rPr lang="zh-CN" altLang="zh-CN" dirty="0"/>
              <a:t>表示参数</a:t>
            </a:r>
            <a:r>
              <a:rPr lang="en-US" altLang="zh-CN" dirty="0"/>
              <a:t>string</a:t>
            </a:r>
            <a:r>
              <a:rPr lang="zh-CN" altLang="zh-CN" dirty="0"/>
              <a:t>字符串中的分隔符。</a:t>
            </a:r>
          </a:p>
          <a:p>
            <a:pPr marL="912813" lvl="2" indent="0">
              <a:buNone/>
            </a:pPr>
            <a:r>
              <a:rPr lang="en-US" altLang="zh-CN" dirty="0"/>
              <a:t>&gt;&gt;&gt; </a:t>
            </a:r>
            <a:r>
              <a:rPr lang="en-US" altLang="zh-CN" dirty="0" err="1"/>
              <a:t>np.fromstring</a:t>
            </a:r>
            <a:r>
              <a:rPr lang="en-US" altLang="zh-CN" dirty="0"/>
              <a:t>("1,2,5,6,8,9,10",dtype=</a:t>
            </a:r>
            <a:r>
              <a:rPr lang="en-US" altLang="zh-CN" dirty="0" err="1"/>
              <a:t>int,sep</a:t>
            </a:r>
            <a:r>
              <a:rPr lang="en-US" altLang="zh-CN" dirty="0"/>
              <a:t>=",")</a:t>
            </a:r>
            <a:endParaRPr lang="zh-CN" altLang="zh-CN" dirty="0"/>
          </a:p>
          <a:p>
            <a:pPr marL="912813" lvl="2" indent="0">
              <a:buNone/>
            </a:pPr>
            <a:r>
              <a:rPr lang="en-US" altLang="zh-CN" dirty="0"/>
              <a:t>array([ 1,  2,  5,  6,  8,  9, 10])</a:t>
            </a:r>
            <a:endParaRPr lang="zh-CN" altLang="zh-CN" dirty="0"/>
          </a:p>
          <a:p>
            <a:pPr marL="912813" lvl="2" indent="0">
              <a:buNone/>
            </a:pPr>
            <a:r>
              <a:rPr lang="en-US" altLang="zh-CN" dirty="0"/>
              <a:t>&gt;&gt;&gt; </a:t>
            </a:r>
            <a:r>
              <a:rPr lang="en-US" altLang="zh-CN" dirty="0" err="1"/>
              <a:t>np.fromstring</a:t>
            </a:r>
            <a:r>
              <a:rPr lang="en-US" altLang="zh-CN" dirty="0"/>
              <a:t>("1,2,5,6,8,9,10",dtype=</a:t>
            </a:r>
            <a:r>
              <a:rPr lang="en-US" altLang="zh-CN" dirty="0" err="1"/>
              <a:t>int,count</a:t>
            </a:r>
            <a:r>
              <a:rPr lang="en-US" altLang="zh-CN" dirty="0"/>
              <a:t>=2,sep=",")</a:t>
            </a:r>
            <a:endParaRPr lang="zh-CN" altLang="zh-CN" dirty="0"/>
          </a:p>
          <a:p>
            <a:pPr marL="912813" lvl="2" indent="0">
              <a:buNone/>
            </a:pPr>
            <a:r>
              <a:rPr lang="en-US" altLang="zh-CN" dirty="0"/>
              <a:t>array([1, 2])</a:t>
            </a:r>
            <a:endParaRPr lang="zh-CN" altLang="zh-CN" dirty="0"/>
          </a:p>
          <a:p>
            <a:pPr marL="912813" lvl="2" indent="0">
              <a:buNone/>
            </a:pPr>
            <a:r>
              <a:rPr lang="en-US" altLang="zh-CN" dirty="0"/>
              <a:t>&gt;&gt;&gt; </a:t>
            </a:r>
            <a:r>
              <a:rPr lang="en-US" altLang="zh-CN" dirty="0" err="1"/>
              <a:t>np.fromstring</a:t>
            </a:r>
            <a:r>
              <a:rPr lang="en-US" altLang="zh-CN" dirty="0"/>
              <a:t>("1,2,5,6,8,9,10",dtype=</a:t>
            </a:r>
            <a:r>
              <a:rPr lang="en-US" altLang="zh-CN" dirty="0" err="1"/>
              <a:t>int,count</a:t>
            </a:r>
            <a:r>
              <a:rPr lang="en-US" altLang="zh-CN" dirty="0"/>
              <a:t>=3,sep=",")</a:t>
            </a:r>
            <a:endParaRPr lang="zh-CN" altLang="zh-CN" dirty="0"/>
          </a:p>
          <a:p>
            <a:pPr marL="912813" lvl="2" indent="0">
              <a:buNone/>
            </a:pPr>
            <a:r>
              <a:rPr lang="en-US" altLang="zh-CN" dirty="0"/>
              <a:t>array([1, 2, 5])</a:t>
            </a:r>
            <a:endParaRPr lang="zh-CN" altLang="zh-CN" dirty="0"/>
          </a:p>
          <a:p>
            <a:pPr marL="912813" lvl="2" indent="0">
              <a:buNone/>
            </a:pPr>
            <a:r>
              <a:rPr lang="en-US" altLang="zh-CN" dirty="0"/>
              <a:t>&gt;&gt;&gt; </a:t>
            </a:r>
            <a:endParaRPr lang="zh-CN" altLang="zh-CN" dirty="0"/>
          </a:p>
        </p:txBody>
      </p:sp>
    </p:spTree>
    <p:extLst>
      <p:ext uri="{BB962C8B-B14F-4D97-AF65-F5344CB8AC3E}">
        <p14:creationId xmlns:p14="http://schemas.microsoft.com/office/powerpoint/2010/main" val="66688345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zh-CN" dirty="0"/>
              <a:t>数据准备</a:t>
            </a:r>
            <a:endParaRPr lang="zh-CN" altLang="en-US" dirty="0"/>
          </a:p>
        </p:txBody>
      </p:sp>
      <p:sp>
        <p:nvSpPr>
          <p:cNvPr id="3" name="内容占位符 2"/>
          <p:cNvSpPr>
            <a:spLocks noGrp="1"/>
          </p:cNvSpPr>
          <p:nvPr>
            <p:ph idx="1"/>
          </p:nvPr>
        </p:nvSpPr>
        <p:spPr/>
        <p:txBody>
          <a:bodyPr/>
          <a:lstStyle/>
          <a:p>
            <a:r>
              <a:rPr lang="en-US" altLang="zh-CN" b="1" dirty="0"/>
              <a:t>4.2.1 </a:t>
            </a:r>
            <a:r>
              <a:rPr lang="zh-CN" altLang="zh-CN" b="1" dirty="0"/>
              <a:t>随机数的生成</a:t>
            </a:r>
          </a:p>
          <a:p>
            <a:pPr lvl="1"/>
            <a:r>
              <a:rPr lang="en-US" altLang="zh-CN" dirty="0" err="1"/>
              <a:t>Numpy</a:t>
            </a:r>
            <a:r>
              <a:rPr lang="zh-CN" altLang="zh-CN" dirty="0"/>
              <a:t>中的</a:t>
            </a:r>
            <a:r>
              <a:rPr lang="en-US" altLang="zh-CN" dirty="0"/>
              <a:t>random</a:t>
            </a:r>
            <a:r>
              <a:rPr lang="zh-CN" altLang="zh-CN" dirty="0"/>
              <a:t>子模块用于生成各种随机数。</a:t>
            </a:r>
            <a:endParaRPr lang="zh-CN" altLang="en-US" dirty="0"/>
          </a:p>
        </p:txBody>
      </p:sp>
    </p:spTree>
    <p:extLst>
      <p:ext uri="{BB962C8B-B14F-4D97-AF65-F5344CB8AC3E}">
        <p14:creationId xmlns:p14="http://schemas.microsoft.com/office/powerpoint/2010/main" val="377928447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生成</a:t>
            </a:r>
            <a:r>
              <a:rPr lang="en-US" altLang="zh-CN" dirty="0"/>
              <a:t>[0.0, 1.0)</a:t>
            </a:r>
            <a:r>
              <a:rPr lang="zh-CN" altLang="zh-CN" dirty="0"/>
              <a:t>之间的随机浮点数</a:t>
            </a:r>
            <a:endParaRPr lang="zh-CN" altLang="en-US" dirty="0"/>
          </a:p>
        </p:txBody>
      </p:sp>
      <p:sp>
        <p:nvSpPr>
          <p:cNvPr id="3" name="内容占位符 2"/>
          <p:cNvSpPr>
            <a:spLocks noGrp="1"/>
          </p:cNvSpPr>
          <p:nvPr>
            <p:ph idx="1"/>
          </p:nvPr>
        </p:nvSpPr>
        <p:spPr/>
        <p:txBody>
          <a:bodyPr>
            <a:normAutofit/>
          </a:bodyPr>
          <a:lstStyle/>
          <a:p>
            <a:r>
              <a:rPr lang="zh-CN" altLang="zh-CN" dirty="0"/>
              <a:t>使用</a:t>
            </a:r>
            <a:r>
              <a:rPr lang="en-US" altLang="zh-CN" dirty="0" err="1"/>
              <a:t>numpy.random.</a:t>
            </a:r>
            <a:r>
              <a:rPr lang="en-US" altLang="zh-CN" dirty="0" err="1">
                <a:solidFill>
                  <a:srgbClr val="0000FF"/>
                </a:solidFill>
              </a:rPr>
              <a:t>rand</a:t>
            </a:r>
            <a:r>
              <a:rPr lang="en-US" altLang="zh-CN" dirty="0"/>
              <a:t>()</a:t>
            </a:r>
            <a:r>
              <a:rPr lang="zh-CN" altLang="zh-CN" dirty="0"/>
              <a:t>函数生成</a:t>
            </a:r>
            <a:r>
              <a:rPr lang="en-US" altLang="zh-CN" dirty="0"/>
              <a:t>[0,1)</a:t>
            </a:r>
            <a:r>
              <a:rPr lang="zh-CN" altLang="zh-CN" dirty="0"/>
              <a:t>之间的随机浮点数。</a:t>
            </a:r>
          </a:p>
          <a:p>
            <a:pPr marL="446088" lvl="1" indent="0">
              <a:buNone/>
            </a:pPr>
            <a:r>
              <a:rPr lang="en-US" altLang="zh-CN" dirty="0"/>
              <a:t>&gt;&gt;&gt; import </a:t>
            </a:r>
            <a:r>
              <a:rPr lang="en-US" altLang="zh-CN" dirty="0" err="1"/>
              <a:t>numpy</a:t>
            </a:r>
            <a:r>
              <a:rPr lang="en-US" altLang="zh-CN" dirty="0"/>
              <a:t> as np</a:t>
            </a:r>
            <a:endParaRPr lang="zh-CN" altLang="zh-CN" dirty="0"/>
          </a:p>
          <a:p>
            <a:pPr marL="446088" lvl="1" indent="0">
              <a:buNone/>
            </a:pPr>
            <a:r>
              <a:rPr lang="en-US" altLang="zh-CN" dirty="0"/>
              <a:t>&gt;&gt;&gt; </a:t>
            </a:r>
            <a:r>
              <a:rPr lang="en-US" altLang="zh-CN" dirty="0" err="1"/>
              <a:t>np.random.rand</a:t>
            </a:r>
            <a:r>
              <a:rPr lang="en-US" altLang="zh-CN" dirty="0"/>
              <a:t>()	 #</a:t>
            </a:r>
            <a:r>
              <a:rPr lang="zh-CN" altLang="zh-CN" dirty="0"/>
              <a:t>生成一个</a:t>
            </a:r>
            <a:r>
              <a:rPr lang="en-US" altLang="zh-CN" dirty="0"/>
              <a:t>[0,1)</a:t>
            </a:r>
            <a:r>
              <a:rPr lang="zh-CN" altLang="zh-CN" dirty="0"/>
              <a:t>之间的随机浮点数</a:t>
            </a:r>
            <a:r>
              <a:rPr lang="en-US" altLang="zh-CN" dirty="0"/>
              <a:t>.</a:t>
            </a:r>
            <a:endParaRPr lang="zh-CN" altLang="zh-CN" dirty="0"/>
          </a:p>
          <a:p>
            <a:pPr marL="446088" lvl="1" indent="0">
              <a:buNone/>
            </a:pPr>
            <a:r>
              <a:rPr lang="en-US" altLang="zh-CN" dirty="0"/>
              <a:t>0.8939672908405941</a:t>
            </a:r>
            <a:endParaRPr lang="zh-CN" altLang="zh-CN" dirty="0"/>
          </a:p>
          <a:p>
            <a:pPr marL="446088" lvl="1" indent="0">
              <a:buNone/>
            </a:pPr>
            <a:r>
              <a:rPr lang="en-US" altLang="zh-CN" dirty="0"/>
              <a:t>#</a:t>
            </a:r>
            <a:r>
              <a:rPr lang="zh-CN" altLang="zh-CN" dirty="0"/>
              <a:t>生成一个一维、共三个元素的随机浮点数数组，元素位于</a:t>
            </a:r>
            <a:r>
              <a:rPr lang="en-US" altLang="zh-CN" dirty="0"/>
              <a:t>[0,1)</a:t>
            </a:r>
            <a:r>
              <a:rPr lang="zh-CN" altLang="zh-CN" dirty="0"/>
              <a:t>之间。</a:t>
            </a:r>
            <a:endParaRPr lang="en-US" altLang="zh-CN" dirty="0"/>
          </a:p>
          <a:p>
            <a:pPr marL="446088" lvl="1" indent="0">
              <a:buNone/>
            </a:pPr>
            <a:r>
              <a:rPr lang="en-US" altLang="zh-CN" dirty="0"/>
              <a:t>&gt;&gt;&gt; </a:t>
            </a:r>
            <a:r>
              <a:rPr lang="en-US" altLang="zh-CN" dirty="0" err="1"/>
              <a:t>np.random.rand</a:t>
            </a:r>
            <a:r>
              <a:rPr lang="en-US" altLang="zh-CN" dirty="0"/>
              <a:t>(3)	</a:t>
            </a:r>
            <a:endParaRPr lang="zh-CN" altLang="zh-CN" dirty="0"/>
          </a:p>
          <a:p>
            <a:pPr marL="446088" lvl="1" indent="0">
              <a:buNone/>
            </a:pPr>
            <a:r>
              <a:rPr lang="en-US" altLang="zh-CN" dirty="0"/>
              <a:t>array([0.54350645, 0.92721516, 0.10503672])</a:t>
            </a:r>
            <a:endParaRPr lang="zh-CN" altLang="zh-CN" dirty="0"/>
          </a:p>
          <a:p>
            <a:pPr marL="446088" lvl="1" indent="0">
              <a:buNone/>
            </a:pPr>
            <a:r>
              <a:rPr lang="en-US" altLang="zh-CN" dirty="0"/>
              <a:t>&gt;&gt;&gt; </a:t>
            </a:r>
            <a:r>
              <a:rPr lang="en-US" altLang="zh-CN" dirty="0" err="1"/>
              <a:t>np.random.rand</a:t>
            </a:r>
            <a:r>
              <a:rPr lang="en-US" altLang="zh-CN" dirty="0"/>
              <a:t>(2,3) #</a:t>
            </a:r>
            <a:r>
              <a:rPr lang="zh-CN" altLang="zh-CN" dirty="0"/>
              <a:t>生成一个</a:t>
            </a:r>
            <a:r>
              <a:rPr lang="en-US" altLang="zh-CN" dirty="0"/>
              <a:t>2</a:t>
            </a:r>
            <a:r>
              <a:rPr lang="zh-CN" altLang="zh-CN" dirty="0"/>
              <a:t>行</a:t>
            </a:r>
            <a:r>
              <a:rPr lang="en-US" altLang="zh-CN" dirty="0"/>
              <a:t>3</a:t>
            </a:r>
            <a:r>
              <a:rPr lang="zh-CN" altLang="zh-CN" dirty="0"/>
              <a:t>列的二维数组，数组元素位于</a:t>
            </a:r>
            <a:r>
              <a:rPr lang="en-US" altLang="zh-CN" dirty="0"/>
              <a:t>[0,1)</a:t>
            </a:r>
            <a:r>
              <a:rPr lang="zh-CN" altLang="zh-CN" dirty="0"/>
              <a:t>之间。</a:t>
            </a:r>
          </a:p>
          <a:p>
            <a:pPr marL="446088" lvl="1" indent="0">
              <a:buNone/>
            </a:pPr>
            <a:r>
              <a:rPr lang="en-US" altLang="zh-CN" dirty="0"/>
              <a:t>array([[0.72474509, 0.69509932, 0.82310355],</a:t>
            </a:r>
            <a:endParaRPr lang="zh-CN" altLang="zh-CN" dirty="0"/>
          </a:p>
          <a:p>
            <a:pPr marL="446088" lvl="1" indent="0">
              <a:buNone/>
            </a:pPr>
            <a:r>
              <a:rPr lang="en-US" altLang="zh-CN" dirty="0"/>
              <a:t>       [0.16464369, 0.18150546, 0.87969788]])</a:t>
            </a:r>
            <a:endParaRPr lang="zh-CN" altLang="zh-CN" dirty="0"/>
          </a:p>
        </p:txBody>
      </p:sp>
    </p:spTree>
    <p:extLst>
      <p:ext uri="{BB962C8B-B14F-4D97-AF65-F5344CB8AC3E}">
        <p14:creationId xmlns:p14="http://schemas.microsoft.com/office/powerpoint/2010/main" val="366499356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使用</a:t>
            </a:r>
            <a:r>
              <a:rPr lang="en-US" altLang="zh-CN" dirty="0" err="1"/>
              <a:t>numpy.random.</a:t>
            </a:r>
            <a:r>
              <a:rPr lang="en-US" altLang="zh-CN" dirty="0" err="1">
                <a:solidFill>
                  <a:srgbClr val="0000FF"/>
                </a:solidFill>
              </a:rPr>
              <a:t>randn</a:t>
            </a:r>
            <a:r>
              <a:rPr lang="en-US" altLang="zh-CN" dirty="0"/>
              <a:t>()</a:t>
            </a:r>
            <a:r>
              <a:rPr lang="zh-CN" altLang="zh-CN" dirty="0"/>
              <a:t>生成一个具有标准正态分布的随机浮点数样本</a:t>
            </a:r>
            <a:endParaRPr lang="zh-CN" altLang="en-US" dirty="0"/>
          </a:p>
        </p:txBody>
      </p:sp>
      <p:sp>
        <p:nvSpPr>
          <p:cNvPr id="3" name="内容占位符 2"/>
          <p:cNvSpPr>
            <a:spLocks noGrp="1"/>
          </p:cNvSpPr>
          <p:nvPr>
            <p:ph idx="1"/>
          </p:nvPr>
        </p:nvSpPr>
        <p:spPr/>
        <p:txBody>
          <a:bodyPr/>
          <a:lstStyle/>
          <a:p>
            <a:pPr marL="446088" lvl="1" indent="0">
              <a:buNone/>
            </a:pPr>
            <a:r>
              <a:rPr lang="en-US" altLang="zh-CN" dirty="0"/>
              <a:t>&gt;&gt;&gt; </a:t>
            </a:r>
            <a:r>
              <a:rPr lang="en-US" altLang="zh-CN" dirty="0" err="1"/>
              <a:t>np.random.randn</a:t>
            </a:r>
            <a:r>
              <a:rPr lang="en-US" altLang="zh-CN" dirty="0"/>
              <a:t>(5)  #</a:t>
            </a:r>
            <a:r>
              <a:rPr lang="zh-CN" altLang="zh-CN" dirty="0"/>
              <a:t>生成一个标准正态分布的一维数组随机浮点数。</a:t>
            </a:r>
          </a:p>
          <a:p>
            <a:pPr marL="446088" lvl="1" indent="0">
              <a:buNone/>
            </a:pPr>
            <a:r>
              <a:rPr lang="en-US" altLang="zh-CN" dirty="0"/>
              <a:t>array([ 0.1538501 ,  0.42421551, -0.17355168,  0.09019904, -0.33155756])</a:t>
            </a:r>
            <a:endParaRPr lang="zh-CN" altLang="zh-CN" dirty="0"/>
          </a:p>
          <a:p>
            <a:pPr marL="446088" lvl="1" indent="0">
              <a:buNone/>
            </a:pPr>
            <a:r>
              <a:rPr lang="en-US" altLang="zh-CN" dirty="0"/>
              <a:t>&gt;&gt;&gt; </a:t>
            </a:r>
            <a:r>
              <a:rPr lang="en-US" altLang="zh-CN" dirty="0" err="1"/>
              <a:t>np.random.randn</a:t>
            </a:r>
            <a:r>
              <a:rPr lang="en-US" altLang="zh-CN" dirty="0"/>
              <a:t>(3,4) #</a:t>
            </a:r>
            <a:r>
              <a:rPr lang="zh-CN" altLang="zh-CN" dirty="0"/>
              <a:t>生成一个标准正态分布的</a:t>
            </a:r>
            <a:r>
              <a:rPr lang="en-US" altLang="zh-CN" dirty="0"/>
              <a:t>3</a:t>
            </a:r>
            <a:r>
              <a:rPr lang="zh-CN" altLang="zh-CN" dirty="0"/>
              <a:t>行</a:t>
            </a:r>
            <a:r>
              <a:rPr lang="en-US" altLang="zh-CN" dirty="0"/>
              <a:t>4</a:t>
            </a:r>
            <a:r>
              <a:rPr lang="zh-CN" altLang="zh-CN" dirty="0"/>
              <a:t>列二维数组随机浮点数。</a:t>
            </a:r>
          </a:p>
          <a:p>
            <a:pPr marL="446088" lvl="1" indent="0">
              <a:buNone/>
            </a:pPr>
            <a:r>
              <a:rPr lang="en-US" altLang="zh-CN" dirty="0"/>
              <a:t>array([[ 1.09882567,  0.67002068, -1.84222623,  1.53957494],</a:t>
            </a:r>
            <a:endParaRPr lang="zh-CN" altLang="zh-CN" dirty="0"/>
          </a:p>
          <a:p>
            <a:pPr marL="446088" lvl="1" indent="0">
              <a:buNone/>
            </a:pPr>
            <a:r>
              <a:rPr lang="en-US" altLang="zh-CN" dirty="0"/>
              <a:t>       [-0.14725161,  0.14962733,  0.22269968,  0.38329739],</a:t>
            </a:r>
            <a:endParaRPr lang="zh-CN" altLang="zh-CN" dirty="0"/>
          </a:p>
          <a:p>
            <a:pPr marL="446088" lvl="1" indent="0">
              <a:buNone/>
            </a:pPr>
            <a:r>
              <a:rPr lang="en-US" altLang="zh-CN" dirty="0"/>
              <a:t>       [ 0.66025437,  0.18853493,  0.38823973,  0.98848714]])</a:t>
            </a:r>
            <a:endParaRPr lang="zh-CN" altLang="zh-CN" dirty="0"/>
          </a:p>
          <a:p>
            <a:endParaRPr lang="zh-CN" altLang="en-US" dirty="0"/>
          </a:p>
        </p:txBody>
      </p:sp>
    </p:spTree>
    <p:extLst>
      <p:ext uri="{BB962C8B-B14F-4D97-AF65-F5344CB8AC3E}">
        <p14:creationId xmlns:p14="http://schemas.microsoft.com/office/powerpoint/2010/main" val="232998919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使用</a:t>
            </a:r>
            <a:r>
              <a:rPr lang="en-US" altLang="zh-CN" dirty="0" err="1"/>
              <a:t>numpy.random.</a:t>
            </a:r>
            <a:r>
              <a:rPr lang="en-US" altLang="zh-CN" dirty="0" err="1">
                <a:solidFill>
                  <a:srgbClr val="0000FF"/>
                </a:solidFill>
              </a:rPr>
              <a:t>randint</a:t>
            </a:r>
            <a:r>
              <a:rPr lang="en-US" altLang="zh-CN" dirty="0"/>
              <a:t>()</a:t>
            </a:r>
            <a:r>
              <a:rPr lang="zh-CN" altLang="zh-CN" dirty="0"/>
              <a:t>函数生成随机整数</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err="1"/>
              <a:t>randint</a:t>
            </a:r>
            <a:r>
              <a:rPr lang="en-US" altLang="zh-CN" dirty="0"/>
              <a:t>()</a:t>
            </a:r>
            <a:r>
              <a:rPr lang="zh-CN" altLang="zh-CN" dirty="0"/>
              <a:t>函数形参格式为：</a:t>
            </a:r>
            <a:r>
              <a:rPr lang="en-US" altLang="zh-CN" dirty="0" err="1"/>
              <a:t>randint</a:t>
            </a:r>
            <a:r>
              <a:rPr lang="en-US" altLang="zh-CN" dirty="0"/>
              <a:t>(low, high=None, size=None, </a:t>
            </a:r>
            <a:r>
              <a:rPr lang="en-US" altLang="zh-CN" dirty="0" err="1"/>
              <a:t>dtype</a:t>
            </a:r>
            <a:r>
              <a:rPr lang="en-US" altLang="zh-CN" dirty="0"/>
              <a:t>=</a:t>
            </a:r>
            <a:r>
              <a:rPr lang="en-US" altLang="zh-CN" dirty="0" err="1"/>
              <a:t>int</a:t>
            </a:r>
            <a:r>
              <a:rPr lang="en-US" altLang="zh-CN" dirty="0"/>
              <a:t>)</a:t>
            </a:r>
            <a:r>
              <a:rPr lang="zh-CN" altLang="zh-CN" dirty="0"/>
              <a:t>。其功能是生成位于</a:t>
            </a:r>
            <a:r>
              <a:rPr lang="en-US" altLang="zh-CN" dirty="0"/>
              <a:t>[low, high)</a:t>
            </a:r>
            <a:r>
              <a:rPr lang="zh-CN" altLang="zh-CN" dirty="0"/>
              <a:t>区间内、离散均匀分布的、指定个数的整数值。如果</a:t>
            </a:r>
            <a:r>
              <a:rPr lang="en-US" altLang="zh-CN" dirty="0"/>
              <a:t>high</a:t>
            </a:r>
            <a:r>
              <a:rPr lang="zh-CN" altLang="zh-CN" dirty="0"/>
              <a:t>值为</a:t>
            </a:r>
            <a:r>
              <a:rPr lang="en-US" altLang="zh-CN" dirty="0"/>
              <a:t>None</a:t>
            </a:r>
            <a:r>
              <a:rPr lang="zh-CN" altLang="zh-CN" dirty="0"/>
              <a:t>，则生成的位于</a:t>
            </a:r>
            <a:r>
              <a:rPr lang="en-US" altLang="zh-CN" dirty="0"/>
              <a:t>[0, low)</a:t>
            </a:r>
            <a:r>
              <a:rPr lang="zh-CN" altLang="zh-CN" dirty="0"/>
              <a:t>区间内的整数值。</a:t>
            </a:r>
          </a:p>
          <a:p>
            <a:pPr marL="446088" lvl="1" indent="0">
              <a:buNone/>
            </a:pPr>
            <a:r>
              <a:rPr lang="en-US" altLang="zh-CN" dirty="0"/>
              <a:t>&gt;&gt;&gt; </a:t>
            </a:r>
            <a:r>
              <a:rPr lang="en-US" altLang="zh-CN" dirty="0" err="1"/>
              <a:t>np.random.randint</a:t>
            </a:r>
            <a:r>
              <a:rPr lang="en-US" altLang="zh-CN" dirty="0"/>
              <a:t>(5) #</a:t>
            </a:r>
            <a:r>
              <a:rPr lang="zh-CN" altLang="zh-CN" dirty="0"/>
              <a:t>生成一个</a:t>
            </a:r>
            <a:r>
              <a:rPr lang="en-US" altLang="zh-CN" dirty="0"/>
              <a:t>[0,5)</a:t>
            </a:r>
            <a:r>
              <a:rPr lang="zh-CN" altLang="zh-CN" dirty="0"/>
              <a:t>之间的随机整数</a:t>
            </a:r>
          </a:p>
          <a:p>
            <a:pPr marL="446088" lvl="1" indent="0">
              <a:buNone/>
            </a:pPr>
            <a:r>
              <a:rPr lang="en-US" altLang="zh-CN" dirty="0"/>
              <a:t>2</a:t>
            </a:r>
            <a:endParaRPr lang="zh-CN" altLang="zh-CN" dirty="0"/>
          </a:p>
          <a:p>
            <a:pPr marL="446088" lvl="1" indent="0">
              <a:buNone/>
            </a:pPr>
            <a:r>
              <a:rPr lang="en-US" altLang="zh-CN" dirty="0"/>
              <a:t>&gt;&gt;&gt; </a:t>
            </a:r>
            <a:r>
              <a:rPr lang="en-US" altLang="zh-CN" dirty="0" err="1"/>
              <a:t>np.random.randint</a:t>
            </a:r>
            <a:r>
              <a:rPr lang="en-US" altLang="zh-CN" dirty="0"/>
              <a:t>(50,size=5) #</a:t>
            </a:r>
            <a:r>
              <a:rPr lang="zh-CN" altLang="zh-CN" dirty="0"/>
              <a:t>生成个数为</a:t>
            </a:r>
            <a:r>
              <a:rPr lang="en-US" altLang="zh-CN" dirty="0"/>
              <a:t>5</a:t>
            </a:r>
            <a:r>
              <a:rPr lang="zh-CN" altLang="zh-CN" dirty="0"/>
              <a:t>，值在</a:t>
            </a:r>
            <a:r>
              <a:rPr lang="en-US" altLang="zh-CN" dirty="0"/>
              <a:t>[0,50)</a:t>
            </a:r>
            <a:r>
              <a:rPr lang="zh-CN" altLang="zh-CN" dirty="0"/>
              <a:t>之间的一维整数数组</a:t>
            </a:r>
          </a:p>
          <a:p>
            <a:pPr marL="446088" lvl="1" indent="0">
              <a:buNone/>
            </a:pPr>
            <a:r>
              <a:rPr lang="en-US" altLang="zh-CN" dirty="0"/>
              <a:t>array([23, 17, 24, 27, 34])</a:t>
            </a:r>
            <a:endParaRPr lang="zh-CN" altLang="zh-CN" dirty="0"/>
          </a:p>
          <a:p>
            <a:pPr marL="446088" lvl="1" indent="0">
              <a:buNone/>
            </a:pPr>
            <a:r>
              <a:rPr lang="en-US" altLang="zh-CN" dirty="0"/>
              <a:t>&gt;&gt;&gt; </a:t>
            </a:r>
            <a:r>
              <a:rPr lang="en-US" altLang="zh-CN" dirty="0" err="1"/>
              <a:t>np.random.randint</a:t>
            </a:r>
            <a:r>
              <a:rPr lang="en-US" altLang="zh-CN" dirty="0"/>
              <a:t>(10,20) #</a:t>
            </a:r>
            <a:r>
              <a:rPr lang="zh-CN" altLang="zh-CN" dirty="0"/>
              <a:t>生成一个位于</a:t>
            </a:r>
            <a:r>
              <a:rPr lang="en-US" altLang="zh-CN" dirty="0"/>
              <a:t>[10,20)</a:t>
            </a:r>
            <a:r>
              <a:rPr lang="zh-CN" altLang="zh-CN" dirty="0"/>
              <a:t>区间的随机整数</a:t>
            </a:r>
          </a:p>
          <a:p>
            <a:pPr marL="446088" lvl="1" indent="0">
              <a:buNone/>
            </a:pPr>
            <a:r>
              <a:rPr lang="en-US" altLang="zh-CN" dirty="0"/>
              <a:t>18</a:t>
            </a:r>
            <a:endParaRPr lang="zh-CN" altLang="zh-CN" dirty="0"/>
          </a:p>
          <a:p>
            <a:pPr marL="446088" lvl="1" indent="0">
              <a:buNone/>
            </a:pPr>
            <a:r>
              <a:rPr lang="en-US" altLang="zh-CN" dirty="0"/>
              <a:t>&gt;&gt;&gt; #</a:t>
            </a:r>
            <a:r>
              <a:rPr lang="zh-CN" altLang="zh-CN" dirty="0"/>
              <a:t>生成一个</a:t>
            </a:r>
            <a:r>
              <a:rPr lang="en-US" altLang="zh-CN" dirty="0"/>
              <a:t>3</a:t>
            </a:r>
            <a:r>
              <a:rPr lang="zh-CN" altLang="zh-CN" dirty="0"/>
              <a:t>行</a:t>
            </a:r>
            <a:r>
              <a:rPr lang="en-US" altLang="zh-CN" dirty="0"/>
              <a:t>4</a:t>
            </a:r>
            <a:r>
              <a:rPr lang="zh-CN" altLang="zh-CN" dirty="0"/>
              <a:t>列的数组，元素的值是</a:t>
            </a:r>
            <a:r>
              <a:rPr lang="en-US" altLang="zh-CN" dirty="0"/>
              <a:t>[10,50)</a:t>
            </a:r>
            <a:r>
              <a:rPr lang="zh-CN" altLang="zh-CN" dirty="0"/>
              <a:t>区间里的随机整数。</a:t>
            </a:r>
          </a:p>
          <a:p>
            <a:pPr marL="446088" lvl="1" indent="0">
              <a:buNone/>
            </a:pPr>
            <a:r>
              <a:rPr lang="en-US" altLang="zh-CN" dirty="0"/>
              <a:t>&gt;&gt;&gt; </a:t>
            </a:r>
            <a:r>
              <a:rPr lang="en-US" altLang="zh-CN" dirty="0" err="1"/>
              <a:t>np.random.randint</a:t>
            </a:r>
            <a:r>
              <a:rPr lang="en-US" altLang="zh-CN" dirty="0"/>
              <a:t>(10,50,(3,4)) </a:t>
            </a:r>
            <a:endParaRPr lang="zh-CN" altLang="zh-CN" dirty="0"/>
          </a:p>
          <a:p>
            <a:pPr marL="446088" lvl="1" indent="0">
              <a:buNone/>
            </a:pPr>
            <a:r>
              <a:rPr lang="en-US" altLang="zh-CN" dirty="0"/>
              <a:t>array([[30, 45, 36, 30],</a:t>
            </a:r>
            <a:endParaRPr lang="zh-CN" altLang="zh-CN" dirty="0"/>
          </a:p>
          <a:p>
            <a:pPr marL="446088" lvl="1" indent="0">
              <a:buNone/>
            </a:pPr>
            <a:r>
              <a:rPr lang="en-US" altLang="zh-CN" dirty="0"/>
              <a:t>       [16, 41, 18, 44],</a:t>
            </a:r>
            <a:endParaRPr lang="zh-CN" altLang="zh-CN" dirty="0"/>
          </a:p>
          <a:p>
            <a:pPr marL="446088" lvl="1" indent="0">
              <a:buNone/>
            </a:pPr>
            <a:r>
              <a:rPr lang="en-US" altLang="zh-CN" dirty="0"/>
              <a:t>       [43, 16, 37, 11]])</a:t>
            </a:r>
            <a:endParaRPr lang="zh-CN" altLang="zh-CN" dirty="0"/>
          </a:p>
        </p:txBody>
      </p:sp>
    </p:spTree>
    <p:extLst>
      <p:ext uri="{BB962C8B-B14F-4D97-AF65-F5344CB8AC3E}">
        <p14:creationId xmlns:p14="http://schemas.microsoft.com/office/powerpoint/2010/main" val="210056078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使用</a:t>
            </a:r>
            <a:r>
              <a:rPr lang="en-US" altLang="zh-CN" dirty="0" err="1"/>
              <a:t>np.random.</a:t>
            </a:r>
            <a:r>
              <a:rPr lang="en-US" altLang="zh-CN" dirty="0" err="1">
                <a:solidFill>
                  <a:srgbClr val="0000FF"/>
                </a:solidFill>
              </a:rPr>
              <a:t>uniform</a:t>
            </a:r>
            <a:r>
              <a:rPr lang="en-US" altLang="zh-CN" dirty="0"/>
              <a:t>()</a:t>
            </a:r>
            <a:r>
              <a:rPr lang="zh-CN" altLang="zh-CN" dirty="0"/>
              <a:t>生成一个均匀分布的随机采样</a:t>
            </a:r>
            <a:endParaRPr lang="zh-CN" altLang="en-US" dirty="0"/>
          </a:p>
        </p:txBody>
      </p:sp>
      <p:sp>
        <p:nvSpPr>
          <p:cNvPr id="3" name="内容占位符 2"/>
          <p:cNvSpPr>
            <a:spLocks noGrp="1"/>
          </p:cNvSpPr>
          <p:nvPr>
            <p:ph idx="1"/>
          </p:nvPr>
        </p:nvSpPr>
        <p:spPr/>
        <p:txBody>
          <a:bodyPr/>
          <a:lstStyle/>
          <a:p>
            <a:r>
              <a:rPr lang="zh-CN" altLang="zh-CN" dirty="0"/>
              <a:t>调用格式为</a:t>
            </a:r>
            <a:r>
              <a:rPr lang="en-US" altLang="zh-CN" dirty="0"/>
              <a:t>uniform(low=0.0, high=1.0, size=None)</a:t>
            </a:r>
            <a:r>
              <a:rPr lang="zh-CN" altLang="zh-CN" dirty="0"/>
              <a:t>。功能是生成在</a:t>
            </a:r>
            <a:r>
              <a:rPr lang="en-US" altLang="zh-CN" dirty="0"/>
              <a:t>[low, high)</a:t>
            </a:r>
            <a:r>
              <a:rPr lang="zh-CN" altLang="zh-CN" dirty="0"/>
              <a:t>区间内均匀分布的</a:t>
            </a:r>
            <a:r>
              <a:rPr lang="en-US" altLang="zh-CN" dirty="0"/>
              <a:t>size</a:t>
            </a:r>
            <a:r>
              <a:rPr lang="zh-CN" altLang="zh-CN" dirty="0"/>
              <a:t>个浮点数。返回值是单个标量或多个浮点数组成的数组。</a:t>
            </a:r>
          </a:p>
          <a:p>
            <a:pPr marL="446088" lvl="1" indent="0">
              <a:buNone/>
            </a:pPr>
            <a:r>
              <a:rPr lang="en-US" altLang="zh-CN" dirty="0"/>
              <a:t>&gt;&gt;&gt; </a:t>
            </a:r>
            <a:r>
              <a:rPr lang="en-US" altLang="zh-CN" dirty="0" err="1"/>
              <a:t>np.random.uniform</a:t>
            </a:r>
            <a:r>
              <a:rPr lang="en-US" altLang="zh-CN" dirty="0"/>
              <a:t>(1,5,3)</a:t>
            </a:r>
            <a:endParaRPr lang="zh-CN" altLang="zh-CN" dirty="0"/>
          </a:p>
          <a:p>
            <a:pPr marL="446088" lvl="1" indent="0">
              <a:buNone/>
            </a:pPr>
            <a:r>
              <a:rPr lang="en-US" altLang="zh-CN" dirty="0"/>
              <a:t>array([2.3024662 , 1.00442023, 4.69085634])</a:t>
            </a:r>
            <a:endParaRPr lang="zh-CN" altLang="zh-CN" dirty="0"/>
          </a:p>
          <a:p>
            <a:pPr marL="446088" lvl="1" indent="0">
              <a:buNone/>
            </a:pPr>
            <a:r>
              <a:rPr lang="en-US" altLang="zh-CN" dirty="0"/>
              <a:t>&gt;&gt;&gt; </a:t>
            </a:r>
            <a:r>
              <a:rPr lang="en-US" altLang="zh-CN" dirty="0" err="1"/>
              <a:t>np.random.uniform</a:t>
            </a:r>
            <a:r>
              <a:rPr lang="en-US" altLang="zh-CN" dirty="0"/>
              <a:t>(1,5)</a:t>
            </a:r>
            <a:endParaRPr lang="zh-CN" altLang="zh-CN" dirty="0"/>
          </a:p>
          <a:p>
            <a:pPr marL="446088" lvl="1" indent="0">
              <a:buNone/>
            </a:pPr>
            <a:r>
              <a:rPr lang="en-US" altLang="zh-CN" dirty="0"/>
              <a:t>1.348537831590019</a:t>
            </a:r>
            <a:endParaRPr lang="zh-CN" altLang="zh-CN" dirty="0"/>
          </a:p>
          <a:p>
            <a:pPr marL="446088" lvl="1" indent="0">
              <a:buNone/>
            </a:pPr>
            <a:r>
              <a:rPr lang="en-US" altLang="zh-CN" dirty="0"/>
              <a:t>&gt;&gt;&gt; </a:t>
            </a:r>
            <a:endParaRPr lang="zh-CN" altLang="zh-CN" dirty="0"/>
          </a:p>
        </p:txBody>
      </p:sp>
    </p:spTree>
    <p:extLst>
      <p:ext uri="{BB962C8B-B14F-4D97-AF65-F5344CB8AC3E}">
        <p14:creationId xmlns:p14="http://schemas.microsoft.com/office/powerpoint/2010/main" val="90312010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使用</a:t>
            </a:r>
            <a:r>
              <a:rPr lang="en-US" altLang="zh-CN" dirty="0" err="1"/>
              <a:t>np.random.</a:t>
            </a:r>
            <a:r>
              <a:rPr lang="en-US" altLang="zh-CN" dirty="0" err="1">
                <a:solidFill>
                  <a:srgbClr val="0000FF"/>
                </a:solidFill>
              </a:rPr>
              <a:t>choice</a:t>
            </a:r>
            <a:r>
              <a:rPr lang="en-US" altLang="zh-CN" dirty="0"/>
              <a:t>()</a:t>
            </a:r>
            <a:r>
              <a:rPr lang="zh-CN" altLang="zh-CN" dirty="0"/>
              <a:t>从数组中随机抽取元素</a:t>
            </a:r>
            <a:endParaRPr lang="zh-CN" altLang="en-US" dirty="0"/>
          </a:p>
        </p:txBody>
      </p:sp>
      <p:sp>
        <p:nvSpPr>
          <p:cNvPr id="4" name="内容占位符 3"/>
          <p:cNvSpPr>
            <a:spLocks noGrp="1"/>
          </p:cNvSpPr>
          <p:nvPr>
            <p:ph idx="1"/>
          </p:nvPr>
        </p:nvSpPr>
        <p:spPr>
          <a:ln>
            <a:noFill/>
          </a:ln>
        </p:spPr>
        <p:txBody>
          <a:bodyPr>
            <a:normAutofit/>
          </a:bodyPr>
          <a:lstStyle/>
          <a:p>
            <a:r>
              <a:rPr lang="zh-CN" altLang="zh-CN" dirty="0"/>
              <a:t>调用格式为</a:t>
            </a:r>
            <a:r>
              <a:rPr lang="en-US" altLang="zh-CN" dirty="0"/>
              <a:t>choice(a, size=None, replace=True, p=None)</a:t>
            </a:r>
            <a:r>
              <a:rPr lang="zh-CN" altLang="zh-CN" dirty="0"/>
              <a:t>。</a:t>
            </a:r>
            <a:endParaRPr lang="en-US" altLang="zh-CN" dirty="0"/>
          </a:p>
          <a:p>
            <a:r>
              <a:rPr lang="zh-CN" altLang="zh-CN" dirty="0"/>
              <a:t>功能是从给定的一维数组中随机抽取样本。</a:t>
            </a:r>
            <a:endParaRPr lang="en-US" altLang="zh-CN" dirty="0"/>
          </a:p>
          <a:p>
            <a:r>
              <a:rPr lang="zh-CN" altLang="en-US" dirty="0"/>
              <a:t>参数</a:t>
            </a:r>
            <a:endParaRPr lang="en-US" altLang="zh-CN" dirty="0"/>
          </a:p>
          <a:p>
            <a:pPr lvl="1"/>
            <a:r>
              <a:rPr lang="zh-CN" altLang="zh-CN" dirty="0"/>
              <a:t>如果</a:t>
            </a:r>
            <a:r>
              <a:rPr lang="en-US" altLang="zh-CN" dirty="0"/>
              <a:t>a</a:t>
            </a:r>
            <a:r>
              <a:rPr lang="zh-CN" altLang="zh-CN" dirty="0"/>
              <a:t>为</a:t>
            </a:r>
            <a:r>
              <a:rPr lang="zh-CN" altLang="zh-CN" dirty="0">
                <a:solidFill>
                  <a:srgbClr val="0000FF"/>
                </a:solidFill>
              </a:rPr>
              <a:t>一维数组</a:t>
            </a:r>
            <a:r>
              <a:rPr lang="zh-CN" altLang="zh-CN" dirty="0"/>
              <a:t>，从</a:t>
            </a:r>
            <a:r>
              <a:rPr lang="en-US" altLang="zh-CN" dirty="0"/>
              <a:t>a</a:t>
            </a:r>
            <a:r>
              <a:rPr lang="zh-CN" altLang="zh-CN" dirty="0"/>
              <a:t>的元素中抽取样本；如果</a:t>
            </a:r>
            <a:r>
              <a:rPr lang="en-US" altLang="zh-CN" dirty="0"/>
              <a:t>a</a:t>
            </a:r>
            <a:r>
              <a:rPr lang="zh-CN" altLang="zh-CN" dirty="0"/>
              <a:t>是一个</a:t>
            </a:r>
            <a:r>
              <a:rPr lang="zh-CN" altLang="zh-CN" dirty="0">
                <a:solidFill>
                  <a:srgbClr val="0000FF"/>
                </a:solidFill>
              </a:rPr>
              <a:t>整数</a:t>
            </a:r>
            <a:r>
              <a:rPr lang="zh-CN" altLang="zh-CN" dirty="0"/>
              <a:t>，随机样本从</a:t>
            </a:r>
            <a:r>
              <a:rPr lang="en-US" altLang="zh-CN" dirty="0" err="1"/>
              <a:t>np.arange</a:t>
            </a:r>
            <a:r>
              <a:rPr lang="en-US" altLang="zh-CN" dirty="0"/>
              <a:t>(a)</a:t>
            </a:r>
            <a:r>
              <a:rPr lang="zh-CN" altLang="zh-CN" dirty="0"/>
              <a:t>中抽取。</a:t>
            </a:r>
            <a:endParaRPr lang="en-US" altLang="zh-CN" dirty="0"/>
          </a:p>
          <a:p>
            <a:pPr lvl="1"/>
            <a:r>
              <a:rPr lang="en-US" altLang="zh-CN" dirty="0"/>
              <a:t>size</a:t>
            </a:r>
            <a:r>
              <a:rPr lang="zh-CN" altLang="zh-CN" dirty="0"/>
              <a:t>值如果为</a:t>
            </a:r>
            <a:r>
              <a:rPr lang="en-US" altLang="zh-CN" dirty="0">
                <a:solidFill>
                  <a:srgbClr val="0000FF"/>
                </a:solidFill>
              </a:rPr>
              <a:t>None</a:t>
            </a:r>
            <a:r>
              <a:rPr lang="zh-CN" altLang="zh-CN" dirty="0"/>
              <a:t>，则返回一个随机样本；</a:t>
            </a:r>
            <a:r>
              <a:rPr lang="en-US" altLang="zh-CN" dirty="0"/>
              <a:t>size</a:t>
            </a:r>
            <a:r>
              <a:rPr lang="zh-CN" altLang="zh-CN" dirty="0"/>
              <a:t>为</a:t>
            </a:r>
            <a:r>
              <a:rPr lang="zh-CN" altLang="zh-CN" dirty="0">
                <a:solidFill>
                  <a:srgbClr val="0000FF"/>
                </a:solidFill>
              </a:rPr>
              <a:t>整数</a:t>
            </a:r>
            <a:r>
              <a:rPr lang="zh-CN" altLang="zh-CN" dirty="0"/>
              <a:t>表示返回样本的个数；</a:t>
            </a:r>
            <a:r>
              <a:rPr lang="en-US" altLang="zh-CN" dirty="0"/>
              <a:t>size</a:t>
            </a:r>
            <a:r>
              <a:rPr lang="zh-CN" altLang="zh-CN" dirty="0"/>
              <a:t>为</a:t>
            </a:r>
            <a:r>
              <a:rPr lang="zh-CN" altLang="zh-CN" dirty="0">
                <a:solidFill>
                  <a:srgbClr val="0000FF"/>
                </a:solidFill>
              </a:rPr>
              <a:t>整数元组</a:t>
            </a:r>
            <a:r>
              <a:rPr lang="zh-CN" altLang="zh-CN" dirty="0"/>
              <a:t>，该元组的元素表示返回的样本在各维度上的数量，如</a:t>
            </a:r>
            <a:r>
              <a:rPr lang="en-US" altLang="zh-CN" dirty="0"/>
              <a:t>(</a:t>
            </a:r>
            <a:r>
              <a:rPr lang="en-US" altLang="zh-CN" dirty="0" err="1"/>
              <a:t>m,n</a:t>
            </a:r>
            <a:r>
              <a:rPr lang="en-US" altLang="zh-CN" dirty="0"/>
              <a:t>)</a:t>
            </a:r>
            <a:r>
              <a:rPr lang="zh-CN" altLang="zh-CN" dirty="0"/>
              <a:t>，则总共返回</a:t>
            </a:r>
            <a:r>
              <a:rPr lang="en-US" altLang="zh-CN" dirty="0"/>
              <a:t>m*n</a:t>
            </a:r>
            <a:r>
              <a:rPr lang="zh-CN" altLang="zh-CN" dirty="0"/>
              <a:t>个元素。</a:t>
            </a:r>
            <a:endParaRPr lang="en-US" altLang="zh-CN" dirty="0"/>
          </a:p>
          <a:p>
            <a:pPr lvl="1"/>
            <a:r>
              <a:rPr lang="en-US" altLang="zh-CN" dirty="0"/>
              <a:t>replace=True</a:t>
            </a:r>
            <a:r>
              <a:rPr lang="zh-CN" altLang="zh-CN" dirty="0"/>
              <a:t>表示可以重复取相同元素，否则不可以重复取相同元素。</a:t>
            </a:r>
            <a:endParaRPr lang="en-US" altLang="zh-CN" dirty="0"/>
          </a:p>
          <a:p>
            <a:pPr lvl="1"/>
            <a:r>
              <a:rPr lang="en-US" altLang="zh-CN" dirty="0"/>
              <a:t>p</a:t>
            </a:r>
            <a:r>
              <a:rPr lang="zh-CN" altLang="zh-CN" dirty="0"/>
              <a:t>是与</a:t>
            </a:r>
            <a:r>
              <a:rPr lang="en-US" altLang="zh-CN" dirty="0"/>
              <a:t>a</a:t>
            </a:r>
            <a:r>
              <a:rPr lang="zh-CN" altLang="zh-CN" dirty="0"/>
              <a:t>的形状大小相同的一维数组，其</a:t>
            </a:r>
            <a:r>
              <a:rPr lang="zh-CN" altLang="zh-CN" dirty="0">
                <a:solidFill>
                  <a:srgbClr val="0000FF"/>
                </a:solidFill>
              </a:rPr>
              <a:t>元素值总和为</a:t>
            </a:r>
            <a:r>
              <a:rPr lang="en-US" altLang="zh-CN" dirty="0">
                <a:solidFill>
                  <a:srgbClr val="0000FF"/>
                </a:solidFill>
              </a:rPr>
              <a:t>1</a:t>
            </a:r>
            <a:r>
              <a:rPr lang="zh-CN" altLang="zh-CN" dirty="0"/>
              <a:t>，用来规定</a:t>
            </a:r>
            <a:r>
              <a:rPr lang="en-US" altLang="zh-CN" dirty="0">
                <a:solidFill>
                  <a:srgbClr val="0000FF"/>
                </a:solidFill>
              </a:rPr>
              <a:t>a</a:t>
            </a:r>
            <a:r>
              <a:rPr lang="zh-CN" altLang="zh-CN" dirty="0">
                <a:solidFill>
                  <a:srgbClr val="0000FF"/>
                </a:solidFill>
              </a:rPr>
              <a:t>中每个元素被选取的概率</a:t>
            </a:r>
            <a:r>
              <a:rPr lang="zh-CN" altLang="zh-CN" dirty="0"/>
              <a:t>。如果没有指定</a:t>
            </a:r>
            <a:r>
              <a:rPr lang="en-US" altLang="zh-CN" dirty="0"/>
              <a:t>p</a:t>
            </a:r>
            <a:r>
              <a:rPr lang="zh-CN" altLang="zh-CN" dirty="0"/>
              <a:t>，则</a:t>
            </a:r>
            <a:r>
              <a:rPr lang="en-US" altLang="zh-CN" dirty="0"/>
              <a:t>a</a:t>
            </a:r>
            <a:r>
              <a:rPr lang="zh-CN" altLang="zh-CN" dirty="0"/>
              <a:t>中每个元素被选中的概率相同。</a:t>
            </a:r>
            <a:endParaRPr lang="zh-CN" altLang="en-US" dirty="0"/>
          </a:p>
        </p:txBody>
      </p:sp>
    </p:spTree>
    <p:extLst>
      <p:ext uri="{BB962C8B-B14F-4D97-AF65-F5344CB8AC3E}">
        <p14:creationId xmlns:p14="http://schemas.microsoft.com/office/powerpoint/2010/main" val="265255835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a:xfrm>
            <a:off x="334434" y="1053083"/>
            <a:ext cx="11523135" cy="5760293"/>
          </a:xfrm>
        </p:spPr>
        <p:txBody>
          <a:bodyPr>
            <a:normAutofit fontScale="77500" lnSpcReduction="20000"/>
          </a:bodyPr>
          <a:lstStyle/>
          <a:p>
            <a:pPr marL="0" indent="0">
              <a:buNone/>
            </a:pPr>
            <a:r>
              <a:rPr lang="en-US" altLang="zh-CN" dirty="0"/>
              <a:t>&gt;&gt;&gt; </a:t>
            </a:r>
            <a:r>
              <a:rPr lang="en-US" altLang="zh-CN" dirty="0" err="1"/>
              <a:t>np.random.choice</a:t>
            </a:r>
            <a:r>
              <a:rPr lang="en-US" altLang="zh-CN" dirty="0"/>
              <a:t>(a=5, size=3, replace=True)</a:t>
            </a:r>
            <a:endParaRPr lang="zh-CN" altLang="zh-CN" dirty="0"/>
          </a:p>
          <a:p>
            <a:pPr marL="0" indent="0">
              <a:buNone/>
            </a:pPr>
            <a:r>
              <a:rPr lang="en-US" altLang="zh-CN" dirty="0"/>
              <a:t>array([2, 2, 2])</a:t>
            </a:r>
            <a:endParaRPr lang="zh-CN" altLang="zh-CN" dirty="0"/>
          </a:p>
          <a:p>
            <a:pPr marL="0" indent="0">
              <a:buNone/>
            </a:pPr>
            <a:r>
              <a:rPr lang="en-US" altLang="zh-CN" dirty="0"/>
              <a:t>&gt;&gt;&gt; </a:t>
            </a:r>
            <a:r>
              <a:rPr lang="en-US" altLang="zh-CN" dirty="0" err="1"/>
              <a:t>np.random.choice</a:t>
            </a:r>
            <a:r>
              <a:rPr lang="en-US" altLang="zh-CN" dirty="0"/>
              <a:t>(a=5, size=3, replace=False)</a:t>
            </a:r>
            <a:endParaRPr lang="zh-CN" altLang="zh-CN" dirty="0"/>
          </a:p>
          <a:p>
            <a:pPr marL="0" indent="0">
              <a:buNone/>
            </a:pPr>
            <a:r>
              <a:rPr lang="en-US" altLang="zh-CN" dirty="0"/>
              <a:t>array([4, 1, 3])</a:t>
            </a:r>
            <a:endParaRPr lang="zh-CN" altLang="zh-CN" dirty="0"/>
          </a:p>
          <a:p>
            <a:pPr marL="0" indent="0">
              <a:buNone/>
            </a:pPr>
            <a:r>
              <a:rPr lang="en-US" altLang="zh-CN" dirty="0"/>
              <a:t>&gt;&gt;&gt; direction = ["up", "down", "left", "right"]</a:t>
            </a:r>
            <a:endParaRPr lang="zh-CN" altLang="zh-CN" dirty="0"/>
          </a:p>
          <a:p>
            <a:pPr marL="0" indent="0">
              <a:buNone/>
            </a:pPr>
            <a:r>
              <a:rPr lang="en-US" altLang="zh-CN" dirty="0"/>
              <a:t>&gt;&gt;&gt; </a:t>
            </a:r>
            <a:r>
              <a:rPr lang="en-US" altLang="zh-CN" dirty="0" err="1"/>
              <a:t>np.random.choice</a:t>
            </a:r>
            <a:r>
              <a:rPr lang="en-US" altLang="zh-CN" dirty="0"/>
              <a:t>(a=</a:t>
            </a:r>
            <a:r>
              <a:rPr lang="en-US" altLang="zh-CN" dirty="0" err="1"/>
              <a:t>direction,size</a:t>
            </a:r>
            <a:r>
              <a:rPr lang="en-US" altLang="zh-CN" dirty="0"/>
              <a:t>=(2,2),replace=True)</a:t>
            </a:r>
            <a:endParaRPr lang="zh-CN" altLang="zh-CN" dirty="0"/>
          </a:p>
          <a:p>
            <a:pPr marL="0" indent="0">
              <a:buNone/>
            </a:pPr>
            <a:r>
              <a:rPr lang="en-US" altLang="zh-CN" dirty="0"/>
              <a:t>array([['down', 'right'],</a:t>
            </a:r>
            <a:endParaRPr lang="zh-CN" altLang="zh-CN" dirty="0"/>
          </a:p>
          <a:p>
            <a:pPr marL="0" indent="0">
              <a:buNone/>
            </a:pPr>
            <a:r>
              <a:rPr lang="en-US" altLang="zh-CN" dirty="0"/>
              <a:t>       ['up', 'down']], </a:t>
            </a:r>
            <a:r>
              <a:rPr lang="en-US" altLang="zh-CN" dirty="0" err="1"/>
              <a:t>dtype</a:t>
            </a:r>
            <a:r>
              <a:rPr lang="en-US" altLang="zh-CN" dirty="0"/>
              <a:t>='&lt;U5')</a:t>
            </a:r>
            <a:endParaRPr lang="zh-CN" altLang="zh-CN" dirty="0"/>
          </a:p>
          <a:p>
            <a:pPr marL="0" indent="0">
              <a:buNone/>
            </a:pPr>
            <a:r>
              <a:rPr lang="en-US" altLang="zh-CN" dirty="0"/>
              <a:t>&gt;&gt;&gt; </a:t>
            </a:r>
            <a:r>
              <a:rPr lang="en-US" altLang="zh-CN" dirty="0" err="1"/>
              <a:t>np.random.choice</a:t>
            </a:r>
            <a:r>
              <a:rPr lang="en-US" altLang="zh-CN" dirty="0"/>
              <a:t>(a=</a:t>
            </a:r>
            <a:r>
              <a:rPr lang="en-US" altLang="zh-CN" dirty="0" err="1"/>
              <a:t>direction,size</a:t>
            </a:r>
            <a:r>
              <a:rPr lang="en-US" altLang="zh-CN" dirty="0"/>
              <a:t>=(2,2),replace=False)</a:t>
            </a:r>
            <a:endParaRPr lang="zh-CN" altLang="zh-CN" dirty="0"/>
          </a:p>
          <a:p>
            <a:pPr marL="0" indent="0">
              <a:buNone/>
            </a:pPr>
            <a:r>
              <a:rPr lang="en-US" altLang="zh-CN" dirty="0"/>
              <a:t>array([['left', 'down'],</a:t>
            </a:r>
            <a:endParaRPr lang="zh-CN" altLang="zh-CN" dirty="0"/>
          </a:p>
          <a:p>
            <a:pPr marL="0" indent="0">
              <a:buNone/>
            </a:pPr>
            <a:r>
              <a:rPr lang="en-US" altLang="zh-CN" dirty="0"/>
              <a:t>       ['up', 'right']], </a:t>
            </a:r>
            <a:r>
              <a:rPr lang="en-US" altLang="zh-CN" dirty="0" err="1"/>
              <a:t>dtype</a:t>
            </a:r>
            <a:r>
              <a:rPr lang="en-US" altLang="zh-CN" dirty="0"/>
              <a:t>='&lt;U5')</a:t>
            </a:r>
            <a:endParaRPr lang="zh-CN" altLang="zh-CN" dirty="0"/>
          </a:p>
          <a:p>
            <a:pPr marL="0" indent="0">
              <a:buNone/>
            </a:pPr>
            <a:r>
              <a:rPr lang="en-US" altLang="zh-CN" dirty="0"/>
              <a:t>&gt;&gt;&gt; </a:t>
            </a:r>
            <a:r>
              <a:rPr lang="en-US" altLang="zh-CN" dirty="0" err="1"/>
              <a:t>np.random.choice</a:t>
            </a:r>
            <a:r>
              <a:rPr lang="en-US" altLang="zh-CN" dirty="0"/>
              <a:t>(a=</a:t>
            </a:r>
            <a:r>
              <a:rPr lang="en-US" altLang="zh-CN" dirty="0" err="1"/>
              <a:t>direction,size</a:t>
            </a:r>
            <a:r>
              <a:rPr lang="en-US" altLang="zh-CN" dirty="0"/>
              <a:t>=2,replace=False)</a:t>
            </a:r>
            <a:endParaRPr lang="zh-CN" altLang="zh-CN" dirty="0"/>
          </a:p>
          <a:p>
            <a:pPr marL="0" indent="0">
              <a:buNone/>
            </a:pPr>
            <a:r>
              <a:rPr lang="en-US" altLang="zh-CN" dirty="0"/>
              <a:t>array(['down', 'left'], </a:t>
            </a:r>
            <a:r>
              <a:rPr lang="en-US" altLang="zh-CN" dirty="0" err="1"/>
              <a:t>dtype</a:t>
            </a:r>
            <a:r>
              <a:rPr lang="en-US" altLang="zh-CN" dirty="0"/>
              <a:t>='&lt;U5')</a:t>
            </a:r>
            <a:endParaRPr lang="zh-CN" altLang="zh-CN" dirty="0"/>
          </a:p>
          <a:p>
            <a:pPr marL="0" indent="0">
              <a:buNone/>
            </a:pPr>
            <a:r>
              <a:rPr lang="en-US" altLang="zh-CN" dirty="0"/>
              <a:t>&gt;&gt;&gt; </a:t>
            </a:r>
            <a:r>
              <a:rPr lang="en-US" altLang="zh-CN" dirty="0" err="1"/>
              <a:t>np.random.choice</a:t>
            </a:r>
            <a:r>
              <a:rPr lang="en-US" altLang="zh-CN" dirty="0"/>
              <a:t>(a=</a:t>
            </a:r>
            <a:r>
              <a:rPr lang="en-US" altLang="zh-CN" dirty="0" err="1"/>
              <a:t>direction,size</a:t>
            </a:r>
            <a:r>
              <a:rPr lang="en-US" altLang="zh-CN" dirty="0"/>
              <a:t>=2,replace=</a:t>
            </a:r>
            <a:r>
              <a:rPr lang="en-US" altLang="zh-CN" dirty="0" err="1"/>
              <a:t>False,p</a:t>
            </a:r>
            <a:r>
              <a:rPr lang="en-US" altLang="zh-CN" dirty="0"/>
              <a:t>=[0.3, 0.4, 0.2, 0.1])</a:t>
            </a:r>
            <a:endParaRPr lang="zh-CN" altLang="zh-CN" dirty="0"/>
          </a:p>
          <a:p>
            <a:pPr marL="0" indent="0">
              <a:buNone/>
            </a:pPr>
            <a:r>
              <a:rPr lang="en-US" altLang="zh-CN" dirty="0"/>
              <a:t>array(['up', 'left'], </a:t>
            </a:r>
            <a:r>
              <a:rPr lang="en-US" altLang="zh-CN" dirty="0" err="1"/>
              <a:t>dtype</a:t>
            </a:r>
            <a:r>
              <a:rPr lang="en-US" altLang="zh-CN" dirty="0"/>
              <a:t>='&lt;U5')</a:t>
            </a:r>
            <a:endParaRPr lang="zh-CN" altLang="zh-CN" dirty="0"/>
          </a:p>
          <a:p>
            <a:pPr marL="0" indent="0">
              <a:buNone/>
            </a:pPr>
            <a:r>
              <a:rPr lang="en-US" altLang="zh-CN" dirty="0"/>
              <a:t>&gt;&gt;&gt; </a:t>
            </a:r>
            <a:endParaRPr lang="zh-CN" altLang="zh-CN" dirty="0"/>
          </a:p>
          <a:p>
            <a:endParaRPr lang="zh-CN" altLang="en-US" dirty="0"/>
          </a:p>
        </p:txBody>
      </p:sp>
    </p:spTree>
    <p:extLst>
      <p:ext uri="{BB962C8B-B14F-4D97-AF65-F5344CB8AC3E}">
        <p14:creationId xmlns:p14="http://schemas.microsoft.com/office/powerpoint/2010/main" val="209346491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随机数的种子值</a:t>
            </a:r>
          </a:p>
        </p:txBody>
      </p:sp>
      <p:sp>
        <p:nvSpPr>
          <p:cNvPr id="3" name="内容占位符 2"/>
          <p:cNvSpPr>
            <a:spLocks noGrp="1"/>
          </p:cNvSpPr>
          <p:nvPr>
            <p:ph sz="half" idx="1"/>
          </p:nvPr>
        </p:nvSpPr>
        <p:spPr>
          <a:ln>
            <a:solidFill>
              <a:srgbClr val="9900FF"/>
            </a:solidFill>
          </a:ln>
        </p:spPr>
        <p:txBody>
          <a:bodyPr/>
          <a:lstStyle/>
          <a:p>
            <a:r>
              <a:rPr lang="zh-CN" altLang="zh-CN" dirty="0"/>
              <a:t>从上述随机数产生的结果可以看出，调用随机数生成函数，每次得到一个不同的随机数。原因是调用这些函数时，计算机以当前时间为随机数发生器的种子值。每次调用随机数生成函数的时间不同，因此产生的结果看起来是一个随机数。</a:t>
            </a:r>
            <a:endParaRPr lang="zh-CN" altLang="en-US" dirty="0"/>
          </a:p>
        </p:txBody>
      </p:sp>
      <p:sp>
        <p:nvSpPr>
          <p:cNvPr id="4" name="内容占位符 3"/>
          <p:cNvSpPr>
            <a:spLocks noGrp="1"/>
          </p:cNvSpPr>
          <p:nvPr>
            <p:ph sz="half" idx="2"/>
          </p:nvPr>
        </p:nvSpPr>
        <p:spPr>
          <a:ln>
            <a:solidFill>
              <a:srgbClr val="9900FF"/>
            </a:solidFill>
          </a:ln>
        </p:spPr>
        <p:txBody>
          <a:bodyPr/>
          <a:lstStyle/>
          <a:p>
            <a:pPr marL="446088" lvl="1" indent="0">
              <a:buNone/>
            </a:pPr>
            <a:r>
              <a:rPr lang="en-US" altLang="zh-CN" dirty="0"/>
              <a:t>&gt;&gt;&gt; </a:t>
            </a:r>
            <a:r>
              <a:rPr lang="en-US" altLang="zh-CN" dirty="0" err="1"/>
              <a:t>np.random.randint</a:t>
            </a:r>
            <a:r>
              <a:rPr lang="en-US" altLang="zh-CN" dirty="0"/>
              <a:t>(100)</a:t>
            </a:r>
            <a:endParaRPr lang="zh-CN" altLang="zh-CN" dirty="0"/>
          </a:p>
          <a:p>
            <a:pPr marL="446088" lvl="1" indent="0">
              <a:buNone/>
            </a:pPr>
            <a:r>
              <a:rPr lang="en-US" altLang="zh-CN" dirty="0"/>
              <a:t>15</a:t>
            </a:r>
            <a:endParaRPr lang="zh-CN" altLang="zh-CN" dirty="0"/>
          </a:p>
          <a:p>
            <a:pPr marL="446088" lvl="1" indent="0">
              <a:buNone/>
            </a:pPr>
            <a:r>
              <a:rPr lang="en-US" altLang="zh-CN" dirty="0"/>
              <a:t>&gt;&gt;&gt; </a:t>
            </a:r>
            <a:r>
              <a:rPr lang="en-US" altLang="zh-CN" dirty="0" err="1"/>
              <a:t>np.random.randint</a:t>
            </a:r>
            <a:r>
              <a:rPr lang="en-US" altLang="zh-CN" dirty="0"/>
              <a:t>(100)</a:t>
            </a:r>
            <a:endParaRPr lang="zh-CN" altLang="zh-CN" dirty="0"/>
          </a:p>
          <a:p>
            <a:pPr marL="446088" lvl="1" indent="0">
              <a:buNone/>
            </a:pPr>
            <a:r>
              <a:rPr lang="en-US" altLang="zh-CN" dirty="0"/>
              <a:t>64</a:t>
            </a:r>
            <a:endParaRPr lang="zh-CN" altLang="zh-CN" dirty="0"/>
          </a:p>
          <a:p>
            <a:r>
              <a:rPr lang="zh-CN" altLang="zh-CN" dirty="0"/>
              <a:t>从这两个例子可以看出，没有提供种子值，每次产生不同的随机数。</a:t>
            </a:r>
            <a:endParaRPr lang="zh-CN" altLang="en-US" dirty="0"/>
          </a:p>
        </p:txBody>
      </p:sp>
    </p:spTree>
    <p:extLst>
      <p:ext uri="{BB962C8B-B14F-4D97-AF65-F5344CB8AC3E}">
        <p14:creationId xmlns:p14="http://schemas.microsoft.com/office/powerpoint/2010/main" val="413618815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half" idx="1"/>
          </p:nvPr>
        </p:nvSpPr>
        <p:spPr>
          <a:ln>
            <a:solidFill>
              <a:srgbClr val="9900FF"/>
            </a:solidFill>
          </a:ln>
        </p:spPr>
        <p:txBody>
          <a:bodyPr>
            <a:normAutofit fontScale="92500" lnSpcReduction="20000"/>
          </a:bodyPr>
          <a:lstStyle/>
          <a:p>
            <a:pPr>
              <a:spcBef>
                <a:spcPts val="200"/>
              </a:spcBef>
            </a:pPr>
            <a:r>
              <a:rPr lang="zh-CN" altLang="zh-CN" dirty="0"/>
              <a:t>我们可以通过如下三种方式来</a:t>
            </a:r>
            <a:r>
              <a:rPr lang="zh-CN" altLang="zh-CN" dirty="0">
                <a:solidFill>
                  <a:srgbClr val="0000FF"/>
                </a:solidFill>
              </a:rPr>
              <a:t>设置随机数发生器的种子值</a:t>
            </a:r>
            <a:r>
              <a:rPr lang="zh-CN" altLang="zh-CN" dirty="0"/>
              <a:t>，使得相同条件下每次调用随机数生成函数产生相同的值。</a:t>
            </a:r>
          </a:p>
          <a:p>
            <a:pPr>
              <a:spcBef>
                <a:spcPts val="200"/>
              </a:spcBef>
            </a:pPr>
            <a:r>
              <a:rPr lang="zh-CN" altLang="zh-CN" dirty="0"/>
              <a:t>方式</a:t>
            </a:r>
            <a:r>
              <a:rPr lang="en-US" altLang="zh-CN" dirty="0"/>
              <a:t>1</a:t>
            </a:r>
            <a:r>
              <a:rPr lang="zh-CN" altLang="zh-CN" dirty="0"/>
              <a:t>：使用</a:t>
            </a:r>
            <a:r>
              <a:rPr lang="en-US" altLang="zh-CN" dirty="0" err="1"/>
              <a:t>numpy.random.</a:t>
            </a:r>
            <a:r>
              <a:rPr lang="en-US" altLang="zh-CN" dirty="0" err="1">
                <a:solidFill>
                  <a:srgbClr val="0000FF"/>
                </a:solidFill>
              </a:rPr>
              <a:t>seed</a:t>
            </a:r>
            <a:r>
              <a:rPr lang="en-US" altLang="zh-CN" dirty="0"/>
              <a:t>()</a:t>
            </a:r>
            <a:r>
              <a:rPr lang="zh-CN" altLang="zh-CN" dirty="0"/>
              <a:t>函数设置种子值</a:t>
            </a:r>
            <a:r>
              <a:rPr lang="en-US" altLang="zh-CN" dirty="0"/>
              <a:t>	</a:t>
            </a:r>
            <a:endParaRPr lang="zh-CN" altLang="zh-CN" dirty="0"/>
          </a:p>
          <a:p>
            <a:pPr lvl="1">
              <a:spcBef>
                <a:spcPts val="200"/>
              </a:spcBef>
            </a:pPr>
            <a:r>
              <a:rPr lang="zh-CN" altLang="zh-CN" dirty="0"/>
              <a:t>如果每次调用随机数生成函数前，都通过</a:t>
            </a:r>
            <a:r>
              <a:rPr lang="en-US" altLang="zh-CN" dirty="0" err="1"/>
              <a:t>numpy.random.seed</a:t>
            </a:r>
            <a:r>
              <a:rPr lang="en-US" altLang="zh-CN" dirty="0"/>
              <a:t>()</a:t>
            </a:r>
            <a:r>
              <a:rPr lang="zh-CN" altLang="zh-CN" dirty="0"/>
              <a:t>传递</a:t>
            </a:r>
            <a:r>
              <a:rPr lang="zh-CN" altLang="zh-CN" dirty="0">
                <a:solidFill>
                  <a:srgbClr val="0000FF"/>
                </a:solidFill>
              </a:rPr>
              <a:t>相同的种子值</a:t>
            </a:r>
            <a:r>
              <a:rPr lang="zh-CN" altLang="zh-CN" dirty="0"/>
              <a:t>，每次执行随机数生成函数得到相同的结果。</a:t>
            </a:r>
          </a:p>
          <a:p>
            <a:pPr marL="912813" lvl="2" indent="0">
              <a:spcBef>
                <a:spcPts val="200"/>
              </a:spcBef>
              <a:buNone/>
            </a:pPr>
            <a:r>
              <a:rPr lang="en-US" altLang="zh-CN" dirty="0"/>
              <a:t>&gt;&gt;&gt; </a:t>
            </a:r>
            <a:r>
              <a:rPr lang="en-US" altLang="zh-CN" dirty="0" err="1"/>
              <a:t>np.random.seed</a:t>
            </a:r>
            <a:r>
              <a:rPr lang="en-US" altLang="zh-CN" dirty="0"/>
              <a:t>(10)</a:t>
            </a:r>
            <a:endParaRPr lang="zh-CN" altLang="zh-CN" dirty="0"/>
          </a:p>
          <a:p>
            <a:pPr marL="912813" lvl="2" indent="0">
              <a:spcBef>
                <a:spcPts val="200"/>
              </a:spcBef>
              <a:buNone/>
            </a:pPr>
            <a:r>
              <a:rPr lang="en-US" altLang="zh-CN" dirty="0"/>
              <a:t>&gt;&gt;&gt; </a:t>
            </a:r>
            <a:r>
              <a:rPr lang="en-US" altLang="zh-CN" dirty="0" err="1"/>
              <a:t>np.random.randint</a:t>
            </a:r>
            <a:r>
              <a:rPr lang="en-US" altLang="zh-CN" dirty="0"/>
              <a:t>(100)</a:t>
            </a:r>
            <a:endParaRPr lang="zh-CN" altLang="zh-CN" dirty="0"/>
          </a:p>
          <a:p>
            <a:pPr marL="912813" lvl="2" indent="0">
              <a:spcBef>
                <a:spcPts val="200"/>
              </a:spcBef>
              <a:buNone/>
            </a:pPr>
            <a:r>
              <a:rPr lang="en-US" altLang="zh-CN" dirty="0"/>
              <a:t>9</a:t>
            </a:r>
            <a:endParaRPr lang="zh-CN" altLang="zh-CN" dirty="0"/>
          </a:p>
          <a:p>
            <a:pPr marL="912813" lvl="2" indent="0">
              <a:spcBef>
                <a:spcPts val="200"/>
              </a:spcBef>
              <a:buNone/>
            </a:pPr>
            <a:r>
              <a:rPr lang="en-US" altLang="zh-CN" dirty="0"/>
              <a:t>&gt;&gt;&gt; </a:t>
            </a:r>
            <a:r>
              <a:rPr lang="en-US" altLang="zh-CN" dirty="0" err="1"/>
              <a:t>np.random.seed</a:t>
            </a:r>
            <a:r>
              <a:rPr lang="en-US" altLang="zh-CN" dirty="0"/>
              <a:t>(10)</a:t>
            </a:r>
            <a:endParaRPr lang="zh-CN" altLang="zh-CN" dirty="0"/>
          </a:p>
          <a:p>
            <a:pPr marL="912813" lvl="2" indent="0">
              <a:spcBef>
                <a:spcPts val="200"/>
              </a:spcBef>
              <a:buNone/>
            </a:pPr>
            <a:r>
              <a:rPr lang="en-US" altLang="zh-CN" dirty="0"/>
              <a:t>&gt;&gt;&gt; </a:t>
            </a:r>
            <a:r>
              <a:rPr lang="en-US" altLang="zh-CN" dirty="0" err="1"/>
              <a:t>np.random.randint</a:t>
            </a:r>
            <a:r>
              <a:rPr lang="en-US" altLang="zh-CN" dirty="0"/>
              <a:t>(100)</a:t>
            </a:r>
            <a:endParaRPr lang="zh-CN" altLang="zh-CN" dirty="0"/>
          </a:p>
          <a:p>
            <a:pPr marL="912813" lvl="2" indent="0">
              <a:spcBef>
                <a:spcPts val="200"/>
              </a:spcBef>
              <a:buNone/>
            </a:pPr>
            <a:r>
              <a:rPr lang="en-US" altLang="zh-CN" dirty="0"/>
              <a:t>9</a:t>
            </a:r>
            <a:endParaRPr lang="zh-CN" altLang="zh-CN" dirty="0"/>
          </a:p>
        </p:txBody>
      </p:sp>
      <p:sp>
        <p:nvSpPr>
          <p:cNvPr id="4" name="内容占位符 3"/>
          <p:cNvSpPr>
            <a:spLocks noGrp="1"/>
          </p:cNvSpPr>
          <p:nvPr>
            <p:ph sz="half" idx="2"/>
          </p:nvPr>
        </p:nvSpPr>
        <p:spPr>
          <a:xfrm>
            <a:off x="6246284" y="1124744"/>
            <a:ext cx="5754372" cy="5328592"/>
          </a:xfrm>
          <a:ln>
            <a:solidFill>
              <a:srgbClr val="9900FF"/>
            </a:solidFill>
          </a:ln>
        </p:spPr>
        <p:txBody>
          <a:bodyPr>
            <a:normAutofit fontScale="92500" lnSpcReduction="20000"/>
          </a:bodyPr>
          <a:lstStyle/>
          <a:p>
            <a:pPr lvl="1"/>
            <a:r>
              <a:rPr lang="zh-CN" altLang="zh-CN" dirty="0"/>
              <a:t>方式</a:t>
            </a:r>
            <a:r>
              <a:rPr lang="en-US" altLang="zh-CN" dirty="0"/>
              <a:t>2</a:t>
            </a:r>
            <a:r>
              <a:rPr lang="zh-CN" altLang="zh-CN" dirty="0"/>
              <a:t>：使用</a:t>
            </a:r>
            <a:r>
              <a:rPr lang="en-US" altLang="zh-CN" dirty="0" err="1"/>
              <a:t>numpy.random.</a:t>
            </a:r>
            <a:r>
              <a:rPr lang="en-US" altLang="zh-CN" dirty="0" err="1">
                <a:solidFill>
                  <a:srgbClr val="0000FF"/>
                </a:solidFill>
              </a:rPr>
              <a:t>RandomState</a:t>
            </a:r>
            <a:r>
              <a:rPr lang="zh-CN" altLang="zh-CN" dirty="0"/>
              <a:t>类设置种子值</a:t>
            </a:r>
          </a:p>
          <a:p>
            <a:pPr marL="912813" lvl="2" indent="0">
              <a:buNone/>
            </a:pPr>
            <a:r>
              <a:rPr lang="en-US" altLang="zh-CN" dirty="0"/>
              <a:t>&gt;&gt;&gt; </a:t>
            </a:r>
            <a:r>
              <a:rPr lang="en-US" altLang="zh-CN" dirty="0" err="1"/>
              <a:t>rnd</a:t>
            </a:r>
            <a:r>
              <a:rPr lang="en-US" altLang="zh-CN" dirty="0"/>
              <a:t>=</a:t>
            </a:r>
            <a:r>
              <a:rPr lang="en-US" altLang="zh-CN" dirty="0" err="1"/>
              <a:t>np.random.RandomState</a:t>
            </a:r>
            <a:r>
              <a:rPr lang="en-US" altLang="zh-CN" dirty="0"/>
              <a:t>(</a:t>
            </a:r>
            <a:r>
              <a:rPr lang="en-US" altLang="zh-CN" dirty="0">
                <a:solidFill>
                  <a:srgbClr val="0000FF"/>
                </a:solidFill>
              </a:rPr>
              <a:t>seed</a:t>
            </a:r>
            <a:r>
              <a:rPr lang="en-US" altLang="zh-CN" dirty="0"/>
              <a:t>=0)</a:t>
            </a:r>
            <a:endParaRPr lang="zh-CN" altLang="zh-CN" dirty="0"/>
          </a:p>
          <a:p>
            <a:pPr marL="912813" lvl="2" indent="0">
              <a:buNone/>
            </a:pPr>
            <a:r>
              <a:rPr lang="en-US" altLang="zh-CN" dirty="0"/>
              <a:t>&gt;&gt;&gt; </a:t>
            </a:r>
            <a:r>
              <a:rPr lang="en-US" altLang="zh-CN" dirty="0" err="1"/>
              <a:t>rnd.rand</a:t>
            </a:r>
            <a:r>
              <a:rPr lang="en-US" altLang="zh-CN" dirty="0"/>
              <a:t>(2,2)</a:t>
            </a:r>
            <a:endParaRPr lang="zh-CN" altLang="zh-CN" dirty="0"/>
          </a:p>
          <a:p>
            <a:pPr marL="912813" lvl="2" indent="0">
              <a:buNone/>
            </a:pPr>
            <a:r>
              <a:rPr lang="en-US" altLang="zh-CN" dirty="0"/>
              <a:t>array([[0.5488135 , 0.71518937],</a:t>
            </a:r>
            <a:endParaRPr lang="zh-CN" altLang="zh-CN" dirty="0"/>
          </a:p>
          <a:p>
            <a:pPr marL="912813" lvl="2" indent="0">
              <a:buNone/>
            </a:pPr>
            <a:r>
              <a:rPr lang="en-US" altLang="zh-CN" dirty="0"/>
              <a:t>       [0.60276338, 0.54488318]])</a:t>
            </a:r>
            <a:endParaRPr lang="zh-CN" altLang="zh-CN" dirty="0"/>
          </a:p>
          <a:p>
            <a:pPr marL="912813" lvl="2" indent="0">
              <a:buNone/>
            </a:pPr>
            <a:r>
              <a:rPr lang="en-US" altLang="zh-CN" dirty="0"/>
              <a:t>&gt;&gt;&gt; </a:t>
            </a:r>
            <a:r>
              <a:rPr lang="en-US" altLang="zh-CN" dirty="0" err="1"/>
              <a:t>rnd.randint</a:t>
            </a:r>
            <a:r>
              <a:rPr lang="en-US" altLang="zh-CN" dirty="0"/>
              <a:t>(5,10,size=(2,2))</a:t>
            </a:r>
            <a:endParaRPr lang="zh-CN" altLang="zh-CN" dirty="0"/>
          </a:p>
          <a:p>
            <a:pPr marL="912813" lvl="2" indent="0">
              <a:buNone/>
            </a:pPr>
            <a:r>
              <a:rPr lang="en-US" altLang="zh-CN" dirty="0"/>
              <a:t>array([[6, 8],</a:t>
            </a:r>
            <a:endParaRPr lang="zh-CN" altLang="zh-CN" dirty="0"/>
          </a:p>
          <a:p>
            <a:pPr marL="912813" lvl="2" indent="0">
              <a:buNone/>
            </a:pPr>
            <a:r>
              <a:rPr lang="en-US" altLang="zh-CN" dirty="0"/>
              <a:t>       [7, 9]])</a:t>
            </a:r>
            <a:endParaRPr lang="zh-CN" altLang="zh-CN" dirty="0"/>
          </a:p>
          <a:p>
            <a:pPr marL="912813" lvl="2" indent="0">
              <a:buNone/>
            </a:pPr>
            <a:r>
              <a:rPr lang="en-US" altLang="zh-CN" dirty="0"/>
              <a:t>&gt;&gt;&gt; </a:t>
            </a:r>
            <a:endParaRPr lang="zh-CN" altLang="zh-CN" dirty="0"/>
          </a:p>
        </p:txBody>
      </p:sp>
    </p:spTree>
    <p:extLst>
      <p:ext uri="{BB962C8B-B14F-4D97-AF65-F5344CB8AC3E}">
        <p14:creationId xmlns:p14="http://schemas.microsoft.com/office/powerpoint/2010/main" val="403997289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4.2.2 </a:t>
            </a:r>
            <a:r>
              <a:rPr lang="en-US" altLang="zh-CN" dirty="0" err="1"/>
              <a:t>numpy</a:t>
            </a:r>
            <a:r>
              <a:rPr lang="zh-CN" altLang="zh-CN" dirty="0"/>
              <a:t>数组在文本文件中的存取</a:t>
            </a:r>
            <a:endParaRPr lang="zh-CN" altLang="en-US" dirty="0"/>
          </a:p>
        </p:txBody>
      </p:sp>
      <p:sp>
        <p:nvSpPr>
          <p:cNvPr id="6" name="内容占位符 5"/>
          <p:cNvSpPr>
            <a:spLocks noGrp="1"/>
          </p:cNvSpPr>
          <p:nvPr>
            <p:ph idx="1"/>
          </p:nvPr>
        </p:nvSpPr>
        <p:spPr/>
        <p:txBody>
          <a:bodyPr>
            <a:normAutofit fontScale="92500" lnSpcReduction="20000"/>
          </a:bodyPr>
          <a:lstStyle/>
          <a:p>
            <a:r>
              <a:rPr lang="en-US" altLang="zh-CN" dirty="0"/>
              <a:t>1</a:t>
            </a:r>
            <a:r>
              <a:rPr lang="zh-CN" altLang="zh-CN" dirty="0"/>
              <a:t>、将数组写入</a:t>
            </a:r>
            <a:r>
              <a:rPr lang="en-US" altLang="zh-CN" dirty="0"/>
              <a:t>txt</a:t>
            </a:r>
            <a:r>
              <a:rPr lang="zh-CN" altLang="zh-CN" dirty="0"/>
              <a:t>文件或</a:t>
            </a:r>
            <a:r>
              <a:rPr lang="en-US" altLang="zh-CN" dirty="0"/>
              <a:t>CSV</a:t>
            </a:r>
            <a:r>
              <a:rPr lang="zh-CN" altLang="zh-CN" dirty="0"/>
              <a:t>文件</a:t>
            </a:r>
          </a:p>
          <a:p>
            <a:pPr lvl="1"/>
            <a:r>
              <a:rPr lang="zh-CN" altLang="zh-CN" dirty="0"/>
              <a:t>可以利用</a:t>
            </a:r>
            <a:r>
              <a:rPr lang="en-US" altLang="zh-CN" dirty="0" err="1"/>
              <a:t>numpy.savetxt</a:t>
            </a:r>
            <a:r>
              <a:rPr lang="zh-CN" altLang="zh-CN" dirty="0"/>
              <a:t>将数组保存到以</a:t>
            </a:r>
            <a:r>
              <a:rPr lang="en-US" altLang="zh-CN" dirty="0"/>
              <a:t>txt</a:t>
            </a:r>
            <a:r>
              <a:rPr lang="zh-CN" altLang="zh-CN" dirty="0"/>
              <a:t>为后缀的文本文件中或以</a:t>
            </a:r>
            <a:r>
              <a:rPr lang="en-US" altLang="zh-CN" dirty="0"/>
              <a:t>csv</a:t>
            </a:r>
            <a:r>
              <a:rPr lang="zh-CN" altLang="zh-CN" dirty="0"/>
              <a:t>为后缀的文本文件中。函数定义如下：</a:t>
            </a:r>
          </a:p>
          <a:p>
            <a:pPr marL="446088" lvl="1" indent="0">
              <a:buNone/>
            </a:pPr>
            <a:r>
              <a:rPr lang="en-US" altLang="zh-CN" dirty="0" err="1"/>
              <a:t>numpy.savetxt</a:t>
            </a:r>
            <a:r>
              <a:rPr lang="en-US" altLang="zh-CN" dirty="0"/>
              <a:t>(</a:t>
            </a:r>
            <a:r>
              <a:rPr lang="en-US" altLang="zh-CN" dirty="0" err="1"/>
              <a:t>fname</a:t>
            </a:r>
            <a:r>
              <a:rPr lang="en-US" altLang="zh-CN" dirty="0"/>
              <a:t>, X, </a:t>
            </a:r>
            <a:r>
              <a:rPr lang="en-US" altLang="zh-CN" dirty="0" err="1"/>
              <a:t>fmt</a:t>
            </a:r>
            <a:r>
              <a:rPr lang="en-US" altLang="zh-CN" dirty="0"/>
              <a:t>='%.18e', delimiter=' ', newline='\n', header='', footer='', comments='# ', encoding=None)</a:t>
            </a:r>
            <a:endParaRPr lang="zh-CN" altLang="zh-CN" dirty="0"/>
          </a:p>
          <a:p>
            <a:pPr marL="446088" lvl="1" indent="0">
              <a:buNone/>
            </a:pPr>
            <a:r>
              <a:rPr lang="zh-CN" altLang="zh-CN" dirty="0"/>
              <a:t>各参数简要含义如下：</a:t>
            </a:r>
          </a:p>
          <a:p>
            <a:pPr lvl="2"/>
            <a:r>
              <a:rPr lang="en-US" altLang="zh-CN" dirty="0" err="1"/>
              <a:t>fname</a:t>
            </a:r>
            <a:r>
              <a:rPr lang="zh-CN" altLang="zh-CN" dirty="0"/>
              <a:t>：保存的文件名；</a:t>
            </a:r>
          </a:p>
          <a:p>
            <a:pPr lvl="2"/>
            <a:r>
              <a:rPr lang="en-US" altLang="zh-CN" dirty="0"/>
              <a:t>X</a:t>
            </a:r>
            <a:r>
              <a:rPr lang="zh-CN" altLang="zh-CN" dirty="0"/>
              <a:t>：一维或二维数组数据；</a:t>
            </a:r>
          </a:p>
          <a:p>
            <a:pPr lvl="2"/>
            <a:r>
              <a:rPr lang="en-US" altLang="zh-CN" dirty="0" err="1"/>
              <a:t>fmt</a:t>
            </a:r>
            <a:r>
              <a:rPr lang="zh-CN" altLang="zh-CN" dirty="0"/>
              <a:t>：输出数据的格式字符串或格式字符串序列；</a:t>
            </a:r>
          </a:p>
          <a:p>
            <a:pPr lvl="2"/>
            <a:r>
              <a:rPr lang="en-US" altLang="zh-CN" dirty="0"/>
              <a:t>delimiter</a:t>
            </a:r>
            <a:r>
              <a:rPr lang="zh-CN" altLang="zh-CN" dirty="0"/>
              <a:t>：分隔列数据的字符串；</a:t>
            </a:r>
          </a:p>
          <a:p>
            <a:pPr lvl="2"/>
            <a:r>
              <a:rPr lang="en-US" altLang="zh-CN" dirty="0"/>
              <a:t>newline</a:t>
            </a:r>
            <a:r>
              <a:rPr lang="zh-CN" altLang="zh-CN" dirty="0"/>
              <a:t>：分隔行的字符串；</a:t>
            </a:r>
          </a:p>
          <a:p>
            <a:pPr lvl="2"/>
            <a:r>
              <a:rPr lang="en-US" altLang="zh-CN" dirty="0"/>
              <a:t>header</a:t>
            </a:r>
            <a:r>
              <a:rPr lang="zh-CN" altLang="zh-CN" dirty="0"/>
              <a:t>：将在文件开头写入的字符串；</a:t>
            </a:r>
          </a:p>
          <a:p>
            <a:pPr lvl="2"/>
            <a:r>
              <a:rPr lang="en-US" altLang="zh-CN" dirty="0"/>
              <a:t>footer</a:t>
            </a:r>
            <a:r>
              <a:rPr lang="zh-CN" altLang="zh-CN" dirty="0"/>
              <a:t>：将在文件尾写入的字符串；</a:t>
            </a:r>
          </a:p>
          <a:p>
            <a:pPr lvl="2"/>
            <a:r>
              <a:rPr lang="en-US" altLang="zh-CN" dirty="0"/>
              <a:t>comments</a:t>
            </a:r>
            <a:r>
              <a:rPr lang="zh-CN" altLang="zh-CN" dirty="0"/>
              <a:t>：注释字符串，放在</a:t>
            </a:r>
            <a:r>
              <a:rPr lang="en-US" altLang="zh-CN" dirty="0"/>
              <a:t>header</a:t>
            </a:r>
            <a:r>
              <a:rPr lang="zh-CN" altLang="zh-CN" dirty="0"/>
              <a:t>或</a:t>
            </a:r>
            <a:r>
              <a:rPr lang="en-US" altLang="zh-CN" dirty="0"/>
              <a:t>footer</a:t>
            </a:r>
            <a:r>
              <a:rPr lang="zh-CN" altLang="zh-CN" dirty="0"/>
              <a:t>字符串前面表示注释；</a:t>
            </a:r>
          </a:p>
          <a:p>
            <a:pPr lvl="2"/>
            <a:r>
              <a:rPr lang="en-US" altLang="zh-CN" dirty="0"/>
              <a:t>encoding</a:t>
            </a:r>
            <a:r>
              <a:rPr lang="zh-CN" altLang="zh-CN" dirty="0"/>
              <a:t>：表示输出到文件的字符编码。</a:t>
            </a:r>
            <a:endParaRPr lang="zh-CN" altLang="en-US" dirty="0"/>
          </a:p>
        </p:txBody>
      </p:sp>
    </p:spTree>
    <p:extLst>
      <p:ext uri="{BB962C8B-B14F-4D97-AF65-F5344CB8AC3E}">
        <p14:creationId xmlns:p14="http://schemas.microsoft.com/office/powerpoint/2010/main" val="23238977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内容占位符 4"/>
          <p:cNvSpPr>
            <a:spLocks noGrp="1"/>
          </p:cNvSpPr>
          <p:nvPr>
            <p:ph sz="half" idx="1"/>
          </p:nvPr>
        </p:nvSpPr>
        <p:spPr>
          <a:xfrm>
            <a:off x="334434" y="1124744"/>
            <a:ext cx="7273734" cy="5328592"/>
          </a:xfrm>
          <a:ln>
            <a:solidFill>
              <a:srgbClr val="9900FF"/>
            </a:solidFill>
          </a:ln>
        </p:spPr>
        <p:txBody>
          <a:bodyPr>
            <a:normAutofit fontScale="85000" lnSpcReduction="20000"/>
          </a:bodyPr>
          <a:lstStyle/>
          <a:p>
            <a:r>
              <a:rPr lang="zh-CN" altLang="zh-CN" dirty="0"/>
              <a:t>【例</a:t>
            </a:r>
            <a:r>
              <a:rPr lang="en-US" altLang="zh-CN" dirty="0"/>
              <a:t>5-1</a:t>
            </a:r>
            <a:r>
              <a:rPr lang="zh-CN" altLang="zh-CN" dirty="0"/>
              <a:t>】生成</a:t>
            </a:r>
            <a:r>
              <a:rPr lang="en-US" altLang="zh-CN" dirty="0"/>
              <a:t>5</a:t>
            </a:r>
            <a:r>
              <a:rPr lang="zh-CN" altLang="zh-CN" dirty="0"/>
              <a:t>行</a:t>
            </a:r>
            <a:r>
              <a:rPr lang="en-US" altLang="zh-CN" dirty="0"/>
              <a:t>6</a:t>
            </a:r>
            <a:r>
              <a:rPr lang="zh-CN" altLang="zh-CN" dirty="0"/>
              <a:t>列的数组，数组元素是</a:t>
            </a:r>
            <a:r>
              <a:rPr lang="en-US" altLang="zh-CN" dirty="0"/>
              <a:t>[0,1)</a:t>
            </a:r>
            <a:r>
              <a:rPr lang="zh-CN" altLang="zh-CN" dirty="0"/>
              <a:t>区间里的随机浮点数，屏幕上打印输出该数组，并将该数组保存到文件</a:t>
            </a:r>
            <a:r>
              <a:rPr lang="en-US" altLang="zh-CN" dirty="0"/>
              <a:t>array.txt</a:t>
            </a:r>
            <a:r>
              <a:rPr lang="zh-CN" altLang="zh-CN" dirty="0"/>
              <a:t>中。保存到文件中的数组元素保留</a:t>
            </a:r>
            <a:r>
              <a:rPr lang="en-US" altLang="zh-CN" dirty="0"/>
              <a:t>5</a:t>
            </a:r>
            <a:r>
              <a:rPr lang="zh-CN" altLang="zh-CN" dirty="0"/>
              <a:t>位小数，同一行中的元素之间以逗号分隔。</a:t>
            </a:r>
          </a:p>
          <a:p>
            <a:r>
              <a:rPr lang="zh-CN" altLang="zh-CN" dirty="0"/>
              <a:t>程序源代码如下：</a:t>
            </a:r>
          </a:p>
          <a:p>
            <a:pPr marL="446088" lvl="1" indent="0">
              <a:buNone/>
            </a:pPr>
            <a:r>
              <a:rPr lang="en-US" altLang="zh-CN" dirty="0"/>
              <a:t>#example5_1.py</a:t>
            </a:r>
            <a:endParaRPr lang="zh-CN" altLang="zh-CN" dirty="0"/>
          </a:p>
          <a:p>
            <a:pPr marL="446088" lvl="1" indent="0">
              <a:buNone/>
            </a:pPr>
            <a:r>
              <a:rPr lang="en-US" altLang="zh-CN" dirty="0"/>
              <a:t>#coding=utf-8</a:t>
            </a:r>
            <a:endParaRPr lang="zh-CN" altLang="zh-CN" dirty="0"/>
          </a:p>
          <a:p>
            <a:pPr marL="446088" lvl="1" indent="0">
              <a:buNone/>
            </a:pPr>
            <a:r>
              <a:rPr lang="en-US" altLang="zh-CN" dirty="0"/>
              <a:t>import </a:t>
            </a:r>
            <a:r>
              <a:rPr lang="en-US" altLang="zh-CN" dirty="0" err="1"/>
              <a:t>numpy</a:t>
            </a:r>
            <a:r>
              <a:rPr lang="en-US" altLang="zh-CN" dirty="0"/>
              <a:t> as np</a:t>
            </a:r>
            <a:endParaRPr lang="zh-CN" altLang="zh-CN" dirty="0"/>
          </a:p>
          <a:p>
            <a:pPr marL="446088" lvl="1" indent="0">
              <a:buNone/>
            </a:pPr>
            <a:r>
              <a:rPr lang="en-US" altLang="zh-CN" dirty="0"/>
              <a:t>#</a:t>
            </a:r>
            <a:r>
              <a:rPr lang="zh-CN" altLang="zh-CN" dirty="0"/>
              <a:t>生成</a:t>
            </a:r>
            <a:r>
              <a:rPr lang="en-US" altLang="zh-CN" dirty="0"/>
              <a:t>5</a:t>
            </a:r>
            <a:r>
              <a:rPr lang="zh-CN" altLang="zh-CN" dirty="0"/>
              <a:t>行</a:t>
            </a:r>
            <a:r>
              <a:rPr lang="en-US" altLang="zh-CN" dirty="0"/>
              <a:t>6</a:t>
            </a:r>
            <a:r>
              <a:rPr lang="zh-CN" altLang="zh-CN" dirty="0"/>
              <a:t>列的数组，数组元素是</a:t>
            </a:r>
            <a:r>
              <a:rPr lang="en-US" altLang="zh-CN" dirty="0"/>
              <a:t>[0,1)</a:t>
            </a:r>
            <a:r>
              <a:rPr lang="zh-CN" altLang="zh-CN" dirty="0"/>
              <a:t>区间里的随机浮点数</a:t>
            </a:r>
          </a:p>
          <a:p>
            <a:pPr marL="446088" lvl="1" indent="0">
              <a:buNone/>
            </a:pPr>
            <a:r>
              <a:rPr lang="en-US" altLang="zh-CN" dirty="0"/>
              <a:t>a=</a:t>
            </a:r>
            <a:r>
              <a:rPr lang="en-US" altLang="zh-CN" dirty="0" err="1"/>
              <a:t>np.random.rand</a:t>
            </a:r>
            <a:r>
              <a:rPr lang="en-US" altLang="zh-CN" dirty="0"/>
              <a:t>(5,6)</a:t>
            </a:r>
            <a:endParaRPr lang="zh-CN" altLang="zh-CN" dirty="0"/>
          </a:p>
          <a:p>
            <a:pPr marL="446088" lvl="1" indent="0">
              <a:buNone/>
            </a:pPr>
            <a:r>
              <a:rPr lang="en-US" altLang="zh-CN" dirty="0"/>
              <a:t>print(a)</a:t>
            </a:r>
            <a:endParaRPr lang="zh-CN" altLang="zh-CN" dirty="0"/>
          </a:p>
          <a:p>
            <a:pPr marL="446088" lvl="1" indent="0">
              <a:buNone/>
            </a:pPr>
            <a:r>
              <a:rPr lang="en-US" altLang="zh-CN" dirty="0"/>
              <a:t>#</a:t>
            </a:r>
            <a:r>
              <a:rPr lang="zh-CN" altLang="zh-CN" dirty="0"/>
              <a:t>将数组</a:t>
            </a:r>
            <a:r>
              <a:rPr lang="en-US" altLang="zh-CN" dirty="0"/>
              <a:t>a</a:t>
            </a:r>
            <a:r>
              <a:rPr lang="zh-CN" altLang="zh-CN" dirty="0"/>
              <a:t>保存到</a:t>
            </a:r>
            <a:r>
              <a:rPr lang="en-US" altLang="zh-CN" dirty="0"/>
              <a:t>array.txt</a:t>
            </a:r>
            <a:r>
              <a:rPr lang="zh-CN" altLang="zh-CN" dirty="0"/>
              <a:t>文件，文件名前可以包含路径名。</a:t>
            </a:r>
          </a:p>
          <a:p>
            <a:pPr marL="446088" lvl="1" indent="0">
              <a:buNone/>
            </a:pPr>
            <a:r>
              <a:rPr lang="en-US" altLang="zh-CN" dirty="0"/>
              <a:t>#</a:t>
            </a:r>
            <a:r>
              <a:rPr lang="en-US" altLang="zh-CN" dirty="0" err="1"/>
              <a:t>fmt</a:t>
            </a:r>
            <a:r>
              <a:rPr lang="en-US" altLang="zh-CN" dirty="0"/>
              <a:t>='%0.5f'</a:t>
            </a:r>
            <a:r>
              <a:rPr lang="zh-CN" altLang="zh-CN" dirty="0"/>
              <a:t>表示保留</a:t>
            </a:r>
            <a:r>
              <a:rPr lang="en-US" altLang="zh-CN" dirty="0"/>
              <a:t>5</a:t>
            </a:r>
            <a:r>
              <a:rPr lang="zh-CN" altLang="zh-CN" dirty="0"/>
              <a:t>位小数。</a:t>
            </a:r>
          </a:p>
          <a:p>
            <a:pPr marL="446088" lvl="1" indent="0">
              <a:buNone/>
            </a:pPr>
            <a:r>
              <a:rPr lang="en-US" altLang="zh-CN" dirty="0"/>
              <a:t>#delimiter=','</a:t>
            </a:r>
            <a:r>
              <a:rPr lang="zh-CN" altLang="zh-CN" dirty="0"/>
              <a:t>指定以逗号作为同一行中元素之间的分隔符。</a:t>
            </a:r>
          </a:p>
          <a:p>
            <a:pPr marL="446088" lvl="1" indent="0">
              <a:buNone/>
            </a:pPr>
            <a:r>
              <a:rPr lang="en-US" altLang="zh-CN" dirty="0" err="1"/>
              <a:t>np.savetxt</a:t>
            </a:r>
            <a:r>
              <a:rPr lang="en-US" altLang="zh-CN" dirty="0"/>
              <a:t>('array.txt',</a:t>
            </a:r>
            <a:r>
              <a:rPr lang="en-US" altLang="zh-CN" dirty="0" err="1"/>
              <a:t>a,fmt</a:t>
            </a:r>
            <a:r>
              <a:rPr lang="en-US" altLang="zh-CN" dirty="0"/>
              <a:t>='%0.5f',delimiter=',')</a:t>
            </a:r>
            <a:endParaRPr lang="zh-CN" altLang="zh-CN" dirty="0"/>
          </a:p>
        </p:txBody>
      </p:sp>
      <p:sp>
        <p:nvSpPr>
          <p:cNvPr id="6" name="内容占位符 5"/>
          <p:cNvSpPr>
            <a:spLocks noGrp="1"/>
          </p:cNvSpPr>
          <p:nvPr>
            <p:ph sz="half" idx="2"/>
          </p:nvPr>
        </p:nvSpPr>
        <p:spPr>
          <a:xfrm>
            <a:off x="7968208" y="1124744"/>
            <a:ext cx="3816424" cy="5328592"/>
          </a:xfrm>
          <a:ln>
            <a:solidFill>
              <a:srgbClr val="9900FF"/>
            </a:solidFill>
          </a:ln>
        </p:spPr>
        <p:txBody>
          <a:bodyPr>
            <a:normAutofit fontScale="85000" lnSpcReduction="20000"/>
          </a:bodyPr>
          <a:lstStyle/>
          <a:p>
            <a:r>
              <a:rPr lang="zh-CN" altLang="zh-CN" dirty="0"/>
              <a:t>执行该程序，在源程序文件所在目录下生成一个</a:t>
            </a:r>
            <a:r>
              <a:rPr lang="en-US" altLang="zh-CN" dirty="0"/>
              <a:t>array.txt</a:t>
            </a:r>
            <a:r>
              <a:rPr lang="zh-CN" altLang="zh-CN" dirty="0"/>
              <a:t>文件。该文件中保存</a:t>
            </a:r>
            <a:r>
              <a:rPr lang="en-US" altLang="zh-CN" dirty="0"/>
              <a:t>5</a:t>
            </a:r>
            <a:r>
              <a:rPr lang="zh-CN" altLang="zh-CN" dirty="0"/>
              <a:t>行</a:t>
            </a:r>
            <a:r>
              <a:rPr lang="en-US" altLang="zh-CN" dirty="0"/>
              <a:t>6</a:t>
            </a:r>
            <a:r>
              <a:rPr lang="zh-CN" altLang="zh-CN" dirty="0"/>
              <a:t>列浮点数数据，每行的元素之间以逗号分隔。</a:t>
            </a:r>
          </a:p>
          <a:p>
            <a:r>
              <a:rPr lang="zh-CN" altLang="zh-CN" dirty="0"/>
              <a:t>如果将程序中</a:t>
            </a:r>
            <a:r>
              <a:rPr lang="en-US" altLang="zh-CN" dirty="0" err="1"/>
              <a:t>np.savetxt</a:t>
            </a:r>
            <a:r>
              <a:rPr lang="en-US" altLang="zh-CN" dirty="0"/>
              <a:t>('array.txt',</a:t>
            </a:r>
            <a:r>
              <a:rPr lang="en-US" altLang="zh-CN" dirty="0" err="1"/>
              <a:t>a,fmt</a:t>
            </a:r>
            <a:r>
              <a:rPr lang="en-US" altLang="zh-CN" dirty="0"/>
              <a:t>='%0.5f',delimiter=',')</a:t>
            </a:r>
            <a:r>
              <a:rPr lang="zh-CN" altLang="zh-CN" dirty="0"/>
              <a:t>修改为</a:t>
            </a:r>
            <a:r>
              <a:rPr lang="en-US" altLang="zh-CN" dirty="0" err="1"/>
              <a:t>np.savetxt</a:t>
            </a:r>
            <a:r>
              <a:rPr lang="en-US" altLang="zh-CN" dirty="0"/>
              <a:t>('array.csv',</a:t>
            </a:r>
            <a:r>
              <a:rPr lang="en-US" altLang="zh-CN" dirty="0" err="1"/>
              <a:t>a,fmt</a:t>
            </a:r>
            <a:r>
              <a:rPr lang="en-US" altLang="zh-CN" dirty="0"/>
              <a:t>='%0.5f',delimiter=',')</a:t>
            </a:r>
            <a:r>
              <a:rPr lang="zh-CN" altLang="zh-CN" dirty="0"/>
              <a:t>，执行程序后，将在源程序文件所在目录下生成一个</a:t>
            </a:r>
            <a:r>
              <a:rPr lang="en-US" altLang="zh-CN" dirty="0"/>
              <a:t>array.csv</a:t>
            </a:r>
            <a:r>
              <a:rPr lang="zh-CN" altLang="zh-CN" dirty="0"/>
              <a:t>文件。该文件中保存</a:t>
            </a:r>
            <a:r>
              <a:rPr lang="en-US" altLang="zh-CN" dirty="0"/>
              <a:t>5</a:t>
            </a:r>
            <a:r>
              <a:rPr lang="zh-CN" altLang="zh-CN" dirty="0"/>
              <a:t>行</a:t>
            </a:r>
            <a:r>
              <a:rPr lang="en-US" altLang="zh-CN" dirty="0"/>
              <a:t>6</a:t>
            </a:r>
            <a:r>
              <a:rPr lang="zh-CN" altLang="zh-CN" dirty="0"/>
              <a:t>列浮点数数据。</a:t>
            </a:r>
          </a:p>
          <a:p>
            <a:endParaRPr lang="zh-CN" altLang="en-US" dirty="0"/>
          </a:p>
        </p:txBody>
      </p:sp>
    </p:spTree>
    <p:extLst>
      <p:ext uri="{BB962C8B-B14F-4D97-AF65-F5344CB8AC3E}">
        <p14:creationId xmlns:p14="http://schemas.microsoft.com/office/powerpoint/2010/main" val="165988668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p:txBody>
          <a:bodyPr>
            <a:normAutofit fontScale="85000" lnSpcReduction="20000"/>
          </a:bodyPr>
          <a:lstStyle/>
          <a:p>
            <a:r>
              <a:rPr lang="en-US" altLang="zh-CN" dirty="0"/>
              <a:t>2</a:t>
            </a:r>
            <a:r>
              <a:rPr lang="zh-CN" altLang="zh-CN" dirty="0"/>
              <a:t>、从</a:t>
            </a:r>
            <a:r>
              <a:rPr lang="en-US" altLang="zh-CN" dirty="0"/>
              <a:t>txt</a:t>
            </a:r>
            <a:r>
              <a:rPr lang="zh-CN" altLang="zh-CN" dirty="0"/>
              <a:t>文件或</a:t>
            </a:r>
            <a:r>
              <a:rPr lang="en-US" altLang="zh-CN" dirty="0"/>
              <a:t>CSV</a:t>
            </a:r>
            <a:r>
              <a:rPr lang="zh-CN" altLang="zh-CN" dirty="0"/>
              <a:t>文件读取数据构成数组</a:t>
            </a:r>
          </a:p>
          <a:p>
            <a:pPr lvl="1"/>
            <a:r>
              <a:rPr lang="zh-CN" altLang="zh-CN" dirty="0"/>
              <a:t>可以利用</a:t>
            </a:r>
            <a:r>
              <a:rPr lang="en-US" altLang="zh-CN" dirty="0" err="1"/>
              <a:t>numpy.loadtxt</a:t>
            </a:r>
            <a:r>
              <a:rPr lang="zh-CN" altLang="zh-CN" dirty="0"/>
              <a:t>从</a:t>
            </a:r>
            <a:r>
              <a:rPr lang="en-US" altLang="zh-CN" dirty="0"/>
              <a:t>txt</a:t>
            </a:r>
            <a:r>
              <a:rPr lang="zh-CN" altLang="zh-CN" dirty="0"/>
              <a:t>或</a:t>
            </a:r>
            <a:r>
              <a:rPr lang="en-US" altLang="zh-CN" dirty="0"/>
              <a:t>csv</a:t>
            </a:r>
            <a:r>
              <a:rPr lang="zh-CN" altLang="zh-CN" dirty="0"/>
              <a:t>文件中读取数据，返回数组。函数定义如下：</a:t>
            </a:r>
          </a:p>
          <a:p>
            <a:pPr lvl="2"/>
            <a:r>
              <a:rPr lang="en-US" altLang="zh-CN" dirty="0" err="1"/>
              <a:t>numpy.loadtxt</a:t>
            </a:r>
            <a:r>
              <a:rPr lang="en-US" altLang="zh-CN" dirty="0"/>
              <a:t>(</a:t>
            </a:r>
            <a:r>
              <a:rPr lang="en-US" altLang="zh-CN" dirty="0" err="1"/>
              <a:t>fname</a:t>
            </a:r>
            <a:r>
              <a:rPr lang="en-US" altLang="zh-CN" dirty="0"/>
              <a:t>, </a:t>
            </a:r>
            <a:r>
              <a:rPr lang="en-US" altLang="zh-CN" dirty="0" err="1"/>
              <a:t>dtype</a:t>
            </a:r>
            <a:r>
              <a:rPr lang="en-US" altLang="zh-CN" dirty="0"/>
              <a:t>=&lt;class 'float'&gt;, comments='#', delimiter=None, converters=None, </a:t>
            </a:r>
            <a:r>
              <a:rPr lang="en-US" altLang="zh-CN" dirty="0" err="1"/>
              <a:t>skiprows</a:t>
            </a:r>
            <a:r>
              <a:rPr lang="en-US" altLang="zh-CN" dirty="0"/>
              <a:t>=0, </a:t>
            </a:r>
            <a:r>
              <a:rPr lang="en-US" altLang="zh-CN" dirty="0" err="1"/>
              <a:t>usecols</a:t>
            </a:r>
            <a:r>
              <a:rPr lang="en-US" altLang="zh-CN" dirty="0"/>
              <a:t>=None, unpack=False, </a:t>
            </a:r>
            <a:r>
              <a:rPr lang="en-US" altLang="zh-CN" dirty="0" err="1"/>
              <a:t>ndmin</a:t>
            </a:r>
            <a:r>
              <a:rPr lang="en-US" altLang="zh-CN" dirty="0"/>
              <a:t>=0, encoding='bytes', </a:t>
            </a:r>
            <a:r>
              <a:rPr lang="en-US" altLang="zh-CN" dirty="0" err="1"/>
              <a:t>max_rows</a:t>
            </a:r>
            <a:r>
              <a:rPr lang="en-US" altLang="zh-CN" dirty="0"/>
              <a:t>=None, *, like=None)</a:t>
            </a:r>
            <a:endParaRPr lang="zh-CN" altLang="zh-CN" dirty="0"/>
          </a:p>
          <a:p>
            <a:pPr lvl="2"/>
            <a:r>
              <a:rPr lang="zh-CN" altLang="zh-CN" dirty="0"/>
              <a:t>各参数简要含义如下：</a:t>
            </a:r>
          </a:p>
          <a:p>
            <a:pPr marL="1370013" lvl="3" indent="0">
              <a:buNone/>
            </a:pPr>
            <a:r>
              <a:rPr lang="en-US" altLang="zh-CN" dirty="0" err="1"/>
              <a:t>fname</a:t>
            </a:r>
            <a:r>
              <a:rPr lang="zh-CN" altLang="zh-CN" dirty="0"/>
              <a:t>：要读取的文件或文件名</a:t>
            </a:r>
            <a:r>
              <a:rPr lang="zh-CN" altLang="en-US" dirty="0"/>
              <a:t>。</a:t>
            </a:r>
            <a:endParaRPr lang="zh-CN" altLang="zh-CN" dirty="0"/>
          </a:p>
          <a:p>
            <a:pPr marL="1370013" lvl="3" indent="0">
              <a:buNone/>
            </a:pPr>
            <a:r>
              <a:rPr lang="en-US" altLang="zh-CN" dirty="0" err="1"/>
              <a:t>dtype</a:t>
            </a:r>
            <a:r>
              <a:rPr lang="zh-CN" altLang="zh-CN" dirty="0"/>
              <a:t>：结果数组的数据类型，默认为</a:t>
            </a:r>
            <a:r>
              <a:rPr lang="en-US" altLang="zh-CN" dirty="0"/>
              <a:t>float</a:t>
            </a:r>
            <a:r>
              <a:rPr lang="zh-CN" altLang="zh-CN" dirty="0"/>
              <a:t>类型</a:t>
            </a:r>
            <a:r>
              <a:rPr lang="zh-CN" altLang="en-US" dirty="0"/>
              <a:t>。</a:t>
            </a:r>
            <a:endParaRPr lang="zh-CN" altLang="zh-CN" dirty="0"/>
          </a:p>
          <a:p>
            <a:pPr marL="1370013" lvl="3" indent="0">
              <a:buNone/>
            </a:pPr>
            <a:r>
              <a:rPr lang="en-US" altLang="zh-CN" dirty="0"/>
              <a:t>comments</a:t>
            </a:r>
            <a:r>
              <a:rPr lang="zh-CN" altLang="zh-CN" dirty="0"/>
              <a:t>：标记注释的字符串</a:t>
            </a:r>
            <a:r>
              <a:rPr lang="zh-CN" altLang="en-US" dirty="0"/>
              <a:t>。</a:t>
            </a:r>
            <a:endParaRPr lang="zh-CN" altLang="zh-CN" dirty="0"/>
          </a:p>
          <a:p>
            <a:pPr marL="1370013" lvl="3" indent="0">
              <a:buNone/>
            </a:pPr>
            <a:r>
              <a:rPr lang="en-US" altLang="zh-CN" dirty="0"/>
              <a:t>delimiter</a:t>
            </a:r>
            <a:r>
              <a:rPr lang="zh-CN" altLang="zh-CN" dirty="0"/>
              <a:t>：文件中分隔值的字符串</a:t>
            </a:r>
            <a:r>
              <a:rPr lang="zh-CN" altLang="en-US" dirty="0"/>
              <a:t>。</a:t>
            </a:r>
            <a:endParaRPr lang="zh-CN" altLang="zh-CN" dirty="0"/>
          </a:p>
          <a:p>
            <a:pPr marL="1370013" lvl="3" indent="0">
              <a:buNone/>
            </a:pPr>
            <a:r>
              <a:rPr lang="en-US" altLang="zh-CN" dirty="0"/>
              <a:t>converters</a:t>
            </a:r>
            <a:r>
              <a:rPr lang="zh-CN" altLang="zh-CN"/>
              <a:t>：</a:t>
            </a:r>
            <a:r>
              <a:rPr lang="zh-CN" altLang="en-US"/>
              <a:t>表示一</a:t>
            </a:r>
            <a:r>
              <a:rPr lang="zh-CN" altLang="en-US" dirty="0"/>
              <a:t>个将</a:t>
            </a:r>
            <a:r>
              <a:rPr lang="zh-CN" altLang="zh-CN" dirty="0"/>
              <a:t>列号映射到函数的字典，</a:t>
            </a:r>
            <a:r>
              <a:rPr lang="zh-CN" altLang="en-US" dirty="0"/>
              <a:t>字典中的</a:t>
            </a:r>
            <a:r>
              <a:rPr lang="zh-CN" altLang="zh-CN" dirty="0"/>
              <a:t>函数将该列字符串解析为所需的值；</a:t>
            </a:r>
          </a:p>
          <a:p>
            <a:pPr marL="1370013" lvl="3" indent="0">
              <a:buNone/>
            </a:pPr>
            <a:r>
              <a:rPr lang="en-US" altLang="zh-CN" dirty="0" err="1"/>
              <a:t>skiprows</a:t>
            </a:r>
            <a:r>
              <a:rPr lang="zh-CN" altLang="zh-CN" dirty="0"/>
              <a:t>：读取数据时跳过的行数</a:t>
            </a:r>
            <a:r>
              <a:rPr lang="zh-CN" altLang="en-US" dirty="0"/>
              <a:t>。</a:t>
            </a:r>
            <a:endParaRPr lang="zh-CN" altLang="zh-CN" dirty="0"/>
          </a:p>
          <a:p>
            <a:pPr marL="1370013" lvl="3" indent="0">
              <a:buNone/>
            </a:pPr>
            <a:r>
              <a:rPr lang="en-US" altLang="zh-CN" dirty="0" err="1"/>
              <a:t>usecols</a:t>
            </a:r>
            <a:r>
              <a:rPr lang="zh-CN" altLang="zh-CN" dirty="0"/>
              <a:t>：整数或整数序列，表示需要读取的列号（列编号从</a:t>
            </a:r>
            <a:r>
              <a:rPr lang="en-US" altLang="zh-CN" dirty="0"/>
              <a:t>0</a:t>
            </a:r>
            <a:r>
              <a:rPr lang="zh-CN" altLang="zh-CN" dirty="0"/>
              <a:t>开始）</a:t>
            </a:r>
            <a:r>
              <a:rPr lang="zh-CN" altLang="en-US" dirty="0"/>
              <a:t>。</a:t>
            </a:r>
            <a:endParaRPr lang="zh-CN" altLang="zh-CN" dirty="0"/>
          </a:p>
          <a:p>
            <a:pPr marL="1370013" lvl="3" indent="0">
              <a:buNone/>
            </a:pPr>
            <a:r>
              <a:rPr lang="en-US" altLang="zh-CN" dirty="0"/>
              <a:t>unpack</a:t>
            </a:r>
            <a:r>
              <a:rPr lang="zh-CN" altLang="zh-CN" dirty="0"/>
              <a:t>：是否将返回的数组转置，若为</a:t>
            </a:r>
            <a:r>
              <a:rPr lang="en-US" altLang="zh-CN" dirty="0"/>
              <a:t>True</a:t>
            </a:r>
            <a:r>
              <a:rPr lang="zh-CN" altLang="zh-CN" dirty="0"/>
              <a:t>，返回的数组将被转置，方便将每列数据组成的数组分别赋值给一个单独的变量或作为序列中单独的一个元组</a:t>
            </a:r>
            <a:r>
              <a:rPr lang="zh-CN" altLang="en-US" dirty="0"/>
              <a:t>。</a:t>
            </a:r>
            <a:endParaRPr lang="zh-CN" altLang="zh-CN" dirty="0"/>
          </a:p>
          <a:p>
            <a:pPr marL="1370013" lvl="3" indent="0">
              <a:buNone/>
            </a:pPr>
            <a:r>
              <a:rPr lang="en-US" altLang="zh-CN" dirty="0" err="1"/>
              <a:t>ndmin</a:t>
            </a:r>
            <a:r>
              <a:rPr lang="zh-CN" altLang="zh-CN" dirty="0"/>
              <a:t>：</a:t>
            </a:r>
            <a:r>
              <a:rPr lang="zh-CN" altLang="en-US" dirty="0"/>
              <a:t>取</a:t>
            </a:r>
            <a:r>
              <a:rPr lang="zh-CN" altLang="zh-CN" dirty="0"/>
              <a:t>整数</a:t>
            </a:r>
            <a:r>
              <a:rPr lang="en-US" altLang="zh-CN" dirty="0"/>
              <a:t>0</a:t>
            </a:r>
            <a:r>
              <a:rPr lang="zh-CN" altLang="zh-CN" dirty="0"/>
              <a:t>、</a:t>
            </a:r>
            <a:r>
              <a:rPr lang="en-US" altLang="zh-CN" dirty="0"/>
              <a:t>1</a:t>
            </a:r>
            <a:r>
              <a:rPr lang="zh-CN" altLang="zh-CN" dirty="0"/>
              <a:t>或</a:t>
            </a:r>
            <a:r>
              <a:rPr lang="en-US" altLang="zh-CN" dirty="0"/>
              <a:t>2</a:t>
            </a:r>
            <a:r>
              <a:rPr lang="zh-CN" altLang="zh-CN" dirty="0"/>
              <a:t>，表示返回数组至少具有的维数</a:t>
            </a:r>
            <a:r>
              <a:rPr lang="zh-CN" altLang="en-US" dirty="0"/>
              <a:t>；如果小于这个维数，</a:t>
            </a:r>
            <a:r>
              <a:rPr lang="zh-CN" altLang="zh-CN" dirty="0"/>
              <a:t>一维轴会被压缩</a:t>
            </a:r>
            <a:r>
              <a:rPr lang="zh-CN" altLang="en-US" dirty="0"/>
              <a:t>来增加维数。</a:t>
            </a:r>
            <a:endParaRPr lang="zh-CN" altLang="zh-CN" dirty="0"/>
          </a:p>
          <a:p>
            <a:pPr marL="1370013" lvl="3" indent="0">
              <a:buNone/>
            </a:pPr>
            <a:r>
              <a:rPr lang="en-US" altLang="zh-CN" dirty="0"/>
              <a:t>encoding</a:t>
            </a:r>
            <a:r>
              <a:rPr lang="zh-CN" altLang="zh-CN" dirty="0"/>
              <a:t>：用于解码文件中字符的编码。</a:t>
            </a:r>
          </a:p>
        </p:txBody>
      </p:sp>
    </p:spTree>
    <p:extLst>
      <p:ext uri="{BB962C8B-B14F-4D97-AF65-F5344CB8AC3E}">
        <p14:creationId xmlns:p14="http://schemas.microsoft.com/office/powerpoint/2010/main" val="310707524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内容占位符 4"/>
          <p:cNvSpPr>
            <a:spLocks noGrp="1"/>
          </p:cNvSpPr>
          <p:nvPr>
            <p:ph sz="half" idx="1"/>
          </p:nvPr>
        </p:nvSpPr>
        <p:spPr>
          <a:xfrm>
            <a:off x="191344" y="1124744"/>
            <a:ext cx="5904656" cy="4896544"/>
          </a:xfrm>
          <a:ln>
            <a:solidFill>
              <a:srgbClr val="9900FF"/>
            </a:solidFill>
          </a:ln>
        </p:spPr>
        <p:txBody>
          <a:bodyPr>
            <a:normAutofit/>
          </a:bodyPr>
          <a:lstStyle/>
          <a:p>
            <a:pPr>
              <a:lnSpc>
                <a:spcPct val="100000"/>
              </a:lnSpc>
              <a:spcBef>
                <a:spcPts val="200"/>
              </a:spcBef>
            </a:pPr>
            <a:r>
              <a:rPr lang="zh-CN" altLang="zh-CN" sz="2400" dirty="0"/>
              <a:t>【例</a:t>
            </a:r>
            <a:r>
              <a:rPr lang="en-US" altLang="zh-CN" sz="2400" dirty="0"/>
              <a:t>5-2</a:t>
            </a:r>
            <a:r>
              <a:rPr lang="zh-CN" altLang="zh-CN" sz="2400" dirty="0"/>
              <a:t>】读取</a:t>
            </a:r>
            <a:r>
              <a:rPr lang="en-US" altLang="zh-CN" sz="2400" dirty="0"/>
              <a:t>array.txt</a:t>
            </a:r>
            <a:r>
              <a:rPr lang="zh-CN" altLang="zh-CN" sz="2400" dirty="0"/>
              <a:t>文件中的数据构成数组，并打印输出。读取指定列的元素，并打印输出。</a:t>
            </a:r>
          </a:p>
          <a:p>
            <a:pPr marL="446088" lvl="1" indent="0">
              <a:lnSpc>
                <a:spcPct val="100000"/>
              </a:lnSpc>
              <a:spcBef>
                <a:spcPts val="200"/>
              </a:spcBef>
              <a:buNone/>
            </a:pPr>
            <a:r>
              <a:rPr lang="en-US" altLang="zh-CN" sz="1700" dirty="0"/>
              <a:t>#example5_2.py</a:t>
            </a:r>
            <a:endParaRPr lang="zh-CN" altLang="zh-CN" sz="1700" dirty="0"/>
          </a:p>
          <a:p>
            <a:pPr marL="446088" lvl="1" indent="0">
              <a:lnSpc>
                <a:spcPct val="100000"/>
              </a:lnSpc>
              <a:spcBef>
                <a:spcPts val="200"/>
              </a:spcBef>
              <a:buNone/>
            </a:pPr>
            <a:r>
              <a:rPr lang="en-US" altLang="zh-CN" sz="1700" dirty="0"/>
              <a:t>#coding=utf-8</a:t>
            </a:r>
            <a:endParaRPr lang="zh-CN" altLang="zh-CN" sz="1700" dirty="0"/>
          </a:p>
          <a:p>
            <a:pPr marL="446088" lvl="1" indent="0">
              <a:lnSpc>
                <a:spcPct val="100000"/>
              </a:lnSpc>
              <a:spcBef>
                <a:spcPts val="200"/>
              </a:spcBef>
              <a:buNone/>
            </a:pPr>
            <a:r>
              <a:rPr lang="en-US" altLang="zh-CN" sz="1700" dirty="0"/>
              <a:t>import </a:t>
            </a:r>
            <a:r>
              <a:rPr lang="en-US" altLang="zh-CN" sz="1700" dirty="0" err="1"/>
              <a:t>numpy</a:t>
            </a:r>
            <a:r>
              <a:rPr lang="en-US" altLang="zh-CN" sz="1700" dirty="0"/>
              <a:t> as np</a:t>
            </a:r>
            <a:endParaRPr lang="zh-CN" altLang="zh-CN" sz="1700" dirty="0"/>
          </a:p>
          <a:p>
            <a:pPr marL="446088" lvl="1" indent="0">
              <a:lnSpc>
                <a:spcPct val="100000"/>
              </a:lnSpc>
              <a:spcBef>
                <a:spcPts val="200"/>
              </a:spcBef>
              <a:buNone/>
            </a:pPr>
            <a:r>
              <a:rPr lang="en-US" altLang="zh-CN" sz="1700" dirty="0"/>
              <a:t> </a:t>
            </a:r>
            <a:endParaRPr lang="zh-CN" altLang="zh-CN" sz="1700" dirty="0"/>
          </a:p>
          <a:p>
            <a:pPr marL="446088" lvl="1" indent="0">
              <a:lnSpc>
                <a:spcPct val="100000"/>
              </a:lnSpc>
              <a:spcBef>
                <a:spcPts val="200"/>
              </a:spcBef>
              <a:buNone/>
            </a:pPr>
            <a:r>
              <a:rPr lang="en-US" altLang="zh-CN" sz="1700" dirty="0"/>
              <a:t>#</a:t>
            </a:r>
            <a:r>
              <a:rPr lang="zh-CN" altLang="zh-CN" sz="1700" dirty="0"/>
              <a:t>读取文本文件的内容，并按照正常的行列成为二维数组的元素</a:t>
            </a:r>
          </a:p>
          <a:p>
            <a:pPr marL="446088" lvl="1" indent="0">
              <a:lnSpc>
                <a:spcPct val="100000"/>
              </a:lnSpc>
              <a:spcBef>
                <a:spcPts val="200"/>
              </a:spcBef>
              <a:buNone/>
            </a:pPr>
            <a:r>
              <a:rPr lang="en-US" altLang="zh-CN" sz="1700" dirty="0"/>
              <a:t>#</a:t>
            </a:r>
            <a:r>
              <a:rPr lang="zh-CN" altLang="zh-CN" sz="1700" dirty="0"/>
              <a:t>根据文本文件中元素之间的分隔符指定</a:t>
            </a:r>
            <a:r>
              <a:rPr lang="en-US" altLang="zh-CN" sz="1700" dirty="0"/>
              <a:t>delimiter</a:t>
            </a:r>
            <a:r>
              <a:rPr lang="zh-CN" altLang="zh-CN" sz="1700" dirty="0"/>
              <a:t>参数的值</a:t>
            </a:r>
          </a:p>
          <a:p>
            <a:pPr marL="446088" lvl="1" indent="0">
              <a:lnSpc>
                <a:spcPct val="100000"/>
              </a:lnSpc>
              <a:spcBef>
                <a:spcPts val="200"/>
              </a:spcBef>
              <a:buNone/>
            </a:pPr>
            <a:r>
              <a:rPr lang="en-US" altLang="zh-CN" sz="1700" dirty="0"/>
              <a:t>a=</a:t>
            </a:r>
            <a:r>
              <a:rPr lang="en-US" altLang="zh-CN" sz="1700" dirty="0" err="1"/>
              <a:t>np.loadtxt</a:t>
            </a:r>
            <a:r>
              <a:rPr lang="en-US" altLang="zh-CN" sz="1700" dirty="0"/>
              <a:t>('</a:t>
            </a:r>
            <a:r>
              <a:rPr lang="en-US" altLang="zh-CN" sz="1700" dirty="0" err="1"/>
              <a:t>array.txt',delimiter</a:t>
            </a:r>
            <a:r>
              <a:rPr lang="en-US" altLang="zh-CN" sz="1700" dirty="0"/>
              <a:t>=',',</a:t>
            </a:r>
            <a:r>
              <a:rPr lang="en-US" altLang="zh-CN" sz="1700" dirty="0" err="1"/>
              <a:t>dtype</a:t>
            </a:r>
            <a:r>
              <a:rPr lang="en-US" altLang="zh-CN" sz="1700" dirty="0"/>
              <a:t>=np.float32)</a:t>
            </a:r>
            <a:endParaRPr lang="zh-CN" altLang="zh-CN" sz="1700" dirty="0"/>
          </a:p>
          <a:p>
            <a:pPr marL="446088" lvl="1" indent="0">
              <a:lnSpc>
                <a:spcPct val="100000"/>
              </a:lnSpc>
              <a:spcBef>
                <a:spcPts val="200"/>
              </a:spcBef>
              <a:buNone/>
            </a:pPr>
            <a:r>
              <a:rPr lang="en-US" altLang="zh-CN" sz="1700" dirty="0"/>
              <a:t>print('</a:t>
            </a:r>
            <a:r>
              <a:rPr lang="zh-CN" altLang="zh-CN" sz="1700" dirty="0"/>
              <a:t>文本文件中保存的原始二维数组信息如下：</a:t>
            </a:r>
            <a:r>
              <a:rPr lang="en-US" altLang="zh-CN" sz="1700" dirty="0"/>
              <a:t>')</a:t>
            </a:r>
            <a:endParaRPr lang="zh-CN" altLang="zh-CN" sz="1700" dirty="0"/>
          </a:p>
          <a:p>
            <a:pPr marL="446088" lvl="1" indent="0">
              <a:lnSpc>
                <a:spcPct val="100000"/>
              </a:lnSpc>
              <a:spcBef>
                <a:spcPts val="200"/>
              </a:spcBef>
              <a:buNone/>
            </a:pPr>
            <a:r>
              <a:rPr lang="en-US" altLang="zh-CN" sz="1700" dirty="0"/>
              <a:t>print(a)</a:t>
            </a:r>
            <a:endParaRPr lang="zh-CN" altLang="zh-CN" sz="1700" dirty="0"/>
          </a:p>
          <a:p>
            <a:pPr>
              <a:lnSpc>
                <a:spcPct val="100000"/>
              </a:lnSpc>
              <a:spcBef>
                <a:spcPts val="200"/>
              </a:spcBef>
            </a:pPr>
            <a:endParaRPr lang="zh-CN" altLang="en-US" dirty="0"/>
          </a:p>
        </p:txBody>
      </p:sp>
      <p:sp>
        <p:nvSpPr>
          <p:cNvPr id="6" name="内容占位符 5"/>
          <p:cNvSpPr>
            <a:spLocks noGrp="1"/>
          </p:cNvSpPr>
          <p:nvPr>
            <p:ph sz="half" idx="2"/>
          </p:nvPr>
        </p:nvSpPr>
        <p:spPr>
          <a:xfrm>
            <a:off x="6246284" y="1124744"/>
            <a:ext cx="5826380" cy="4896544"/>
          </a:xfrm>
          <a:ln>
            <a:solidFill>
              <a:srgbClr val="9900FF"/>
            </a:solidFill>
          </a:ln>
        </p:spPr>
        <p:txBody>
          <a:bodyPr>
            <a:normAutofit/>
          </a:bodyPr>
          <a:lstStyle/>
          <a:p>
            <a:pPr marL="446088" lvl="1" indent="0">
              <a:lnSpc>
                <a:spcPct val="100000"/>
              </a:lnSpc>
              <a:spcBef>
                <a:spcPts val="200"/>
              </a:spcBef>
              <a:buNone/>
            </a:pPr>
            <a:r>
              <a:rPr lang="en-US" altLang="zh-CN" sz="1700" dirty="0"/>
              <a:t>#</a:t>
            </a:r>
            <a:r>
              <a:rPr lang="zh-CN" altLang="zh-CN" sz="1700" dirty="0"/>
              <a:t>使用</a:t>
            </a:r>
            <a:r>
              <a:rPr lang="en-US" altLang="zh-CN" sz="1700" dirty="0"/>
              <a:t>unpack=True</a:t>
            </a:r>
            <a:r>
              <a:rPr lang="zh-CN" altLang="zh-CN" sz="1700" dirty="0"/>
              <a:t>得到转置后的数组</a:t>
            </a:r>
          </a:p>
          <a:p>
            <a:pPr marL="446088" lvl="1" indent="0">
              <a:lnSpc>
                <a:spcPct val="100000"/>
              </a:lnSpc>
              <a:spcBef>
                <a:spcPts val="200"/>
              </a:spcBef>
              <a:buNone/>
            </a:pPr>
            <a:r>
              <a:rPr lang="en-US" altLang="zh-CN" sz="1700" dirty="0"/>
              <a:t>b=</a:t>
            </a:r>
            <a:r>
              <a:rPr lang="en-US" altLang="zh-CN" sz="1700" dirty="0" err="1"/>
              <a:t>np.loadtxt</a:t>
            </a:r>
            <a:r>
              <a:rPr lang="en-US" altLang="zh-CN" sz="1700" dirty="0"/>
              <a:t>('</a:t>
            </a:r>
            <a:r>
              <a:rPr lang="en-US" altLang="zh-CN" sz="1700" dirty="0" err="1"/>
              <a:t>array.txt',delimiter</a:t>
            </a:r>
            <a:r>
              <a:rPr lang="en-US" altLang="zh-CN" sz="1700" dirty="0"/>
              <a:t>=',',unpack=True,</a:t>
            </a:r>
            <a:endParaRPr lang="zh-CN" altLang="zh-CN" sz="1700" dirty="0"/>
          </a:p>
          <a:p>
            <a:pPr marL="446088" lvl="1" indent="0">
              <a:lnSpc>
                <a:spcPct val="100000"/>
              </a:lnSpc>
              <a:spcBef>
                <a:spcPts val="200"/>
              </a:spcBef>
              <a:buNone/>
            </a:pPr>
            <a:r>
              <a:rPr lang="en-US" altLang="zh-CN" sz="1700" dirty="0"/>
              <a:t>             </a:t>
            </a:r>
            <a:r>
              <a:rPr lang="en-US" altLang="zh-CN" sz="1700" dirty="0" err="1"/>
              <a:t>dtype</a:t>
            </a:r>
            <a:r>
              <a:rPr lang="en-US" altLang="zh-CN" sz="1700" dirty="0"/>
              <a:t>=np.float32)</a:t>
            </a:r>
            <a:endParaRPr lang="zh-CN" altLang="zh-CN" sz="1700" dirty="0"/>
          </a:p>
          <a:p>
            <a:pPr marL="446088" lvl="1" indent="0">
              <a:lnSpc>
                <a:spcPct val="100000"/>
              </a:lnSpc>
              <a:spcBef>
                <a:spcPts val="200"/>
              </a:spcBef>
              <a:buNone/>
            </a:pPr>
            <a:r>
              <a:rPr lang="en-US" altLang="zh-CN" sz="1700" dirty="0"/>
              <a:t>print('</a:t>
            </a:r>
            <a:r>
              <a:rPr lang="zh-CN" altLang="zh-CN" sz="1700" dirty="0"/>
              <a:t>使用</a:t>
            </a:r>
            <a:r>
              <a:rPr lang="en-US" altLang="zh-CN" sz="1700" dirty="0"/>
              <a:t>unpack=True</a:t>
            </a:r>
            <a:r>
              <a:rPr lang="zh-CN" altLang="zh-CN" sz="1700" dirty="0"/>
              <a:t>得到转置后的数组如下：</a:t>
            </a:r>
            <a:r>
              <a:rPr lang="en-US" altLang="zh-CN" sz="1700" dirty="0"/>
              <a:t>')</a:t>
            </a:r>
            <a:endParaRPr lang="zh-CN" altLang="zh-CN" sz="1700" dirty="0"/>
          </a:p>
          <a:p>
            <a:pPr marL="446088" lvl="1" indent="0">
              <a:lnSpc>
                <a:spcPct val="100000"/>
              </a:lnSpc>
              <a:spcBef>
                <a:spcPts val="200"/>
              </a:spcBef>
              <a:buNone/>
            </a:pPr>
            <a:r>
              <a:rPr lang="en-US" altLang="zh-CN" sz="1700" dirty="0"/>
              <a:t>print(b)</a:t>
            </a:r>
            <a:endParaRPr lang="zh-CN" altLang="zh-CN" sz="1700" dirty="0"/>
          </a:p>
          <a:p>
            <a:pPr marL="446088" lvl="1" indent="0">
              <a:lnSpc>
                <a:spcPct val="100000"/>
              </a:lnSpc>
              <a:spcBef>
                <a:spcPts val="200"/>
              </a:spcBef>
              <a:buNone/>
            </a:pPr>
            <a:r>
              <a:rPr lang="en-US" altLang="zh-CN" sz="1700" dirty="0"/>
              <a:t>print('</a:t>
            </a:r>
            <a:r>
              <a:rPr lang="zh-CN" altLang="zh-CN" sz="1700" dirty="0"/>
              <a:t>以下打印二维数组</a:t>
            </a:r>
            <a:r>
              <a:rPr lang="en-US" altLang="zh-CN" sz="1700" dirty="0"/>
              <a:t>b</a:t>
            </a:r>
            <a:r>
              <a:rPr lang="zh-CN" altLang="zh-CN" sz="1700" dirty="0"/>
              <a:t>的每一行，也就是文本文件的每一列：</a:t>
            </a:r>
            <a:r>
              <a:rPr lang="en-US" altLang="zh-CN" sz="1700" dirty="0"/>
              <a:t>')</a:t>
            </a:r>
            <a:endParaRPr lang="zh-CN" altLang="zh-CN" sz="1700" dirty="0"/>
          </a:p>
          <a:p>
            <a:pPr marL="446088" lvl="1" indent="0">
              <a:lnSpc>
                <a:spcPct val="100000"/>
              </a:lnSpc>
              <a:spcBef>
                <a:spcPts val="200"/>
              </a:spcBef>
              <a:buNone/>
            </a:pPr>
            <a:r>
              <a:rPr lang="en-US" altLang="zh-CN" sz="1700" dirty="0"/>
              <a:t>for </a:t>
            </a:r>
            <a:r>
              <a:rPr lang="en-US" altLang="zh-CN" sz="1700" dirty="0" err="1"/>
              <a:t>i</a:t>
            </a:r>
            <a:r>
              <a:rPr lang="en-US" altLang="zh-CN" sz="1700" dirty="0"/>
              <a:t> in range(</a:t>
            </a:r>
            <a:r>
              <a:rPr lang="en-US" altLang="zh-CN" sz="1700" dirty="0" err="1"/>
              <a:t>len</a:t>
            </a:r>
            <a:r>
              <a:rPr lang="en-US" altLang="zh-CN" sz="1700" dirty="0"/>
              <a:t>(b)):</a:t>
            </a:r>
            <a:endParaRPr lang="zh-CN" altLang="zh-CN" sz="1700" dirty="0"/>
          </a:p>
          <a:p>
            <a:pPr marL="446088" lvl="1" indent="0">
              <a:lnSpc>
                <a:spcPct val="100000"/>
              </a:lnSpc>
              <a:spcBef>
                <a:spcPts val="200"/>
              </a:spcBef>
              <a:buNone/>
            </a:pPr>
            <a:r>
              <a:rPr lang="en-US" altLang="zh-CN" sz="1700" dirty="0"/>
              <a:t>    print(b[</a:t>
            </a:r>
            <a:r>
              <a:rPr lang="en-US" altLang="zh-CN" sz="1700" dirty="0" err="1"/>
              <a:t>i</a:t>
            </a:r>
            <a:r>
              <a:rPr lang="en-US" altLang="zh-CN" sz="1700" dirty="0"/>
              <a:t>])</a:t>
            </a:r>
            <a:endParaRPr lang="zh-CN" altLang="zh-CN" sz="1700" dirty="0"/>
          </a:p>
          <a:p>
            <a:pPr marL="446088" lvl="1" indent="0">
              <a:lnSpc>
                <a:spcPct val="100000"/>
              </a:lnSpc>
              <a:spcBef>
                <a:spcPts val="200"/>
              </a:spcBef>
              <a:buNone/>
            </a:pPr>
            <a:r>
              <a:rPr lang="en-US" altLang="zh-CN" sz="1700" dirty="0"/>
              <a:t> </a:t>
            </a:r>
            <a:endParaRPr lang="zh-CN" altLang="zh-CN" sz="1700" dirty="0"/>
          </a:p>
          <a:p>
            <a:pPr marL="446088" lvl="1" indent="0">
              <a:lnSpc>
                <a:spcPct val="100000"/>
              </a:lnSpc>
              <a:spcBef>
                <a:spcPts val="200"/>
              </a:spcBef>
              <a:buNone/>
            </a:pPr>
            <a:r>
              <a:rPr lang="en-US" altLang="zh-CN" sz="1700" dirty="0"/>
              <a:t>#</a:t>
            </a:r>
            <a:r>
              <a:rPr lang="zh-CN" altLang="zh-CN" sz="1700" dirty="0"/>
              <a:t>读取指定列的值</a:t>
            </a:r>
          </a:p>
          <a:p>
            <a:pPr marL="446088" lvl="1" indent="0">
              <a:lnSpc>
                <a:spcPct val="100000"/>
              </a:lnSpc>
              <a:spcBef>
                <a:spcPts val="200"/>
              </a:spcBef>
              <a:buNone/>
            </a:pPr>
            <a:r>
              <a:rPr lang="en-US" altLang="zh-CN" sz="1700" dirty="0"/>
              <a:t>c1,c3=</a:t>
            </a:r>
            <a:r>
              <a:rPr lang="en-US" altLang="zh-CN" sz="1700" dirty="0" err="1"/>
              <a:t>np.loadtxt</a:t>
            </a:r>
            <a:r>
              <a:rPr lang="en-US" altLang="zh-CN" sz="1700" dirty="0"/>
              <a:t>('</a:t>
            </a:r>
            <a:r>
              <a:rPr lang="en-US" altLang="zh-CN" sz="1700" dirty="0" err="1"/>
              <a:t>array.txt',delimiter</a:t>
            </a:r>
            <a:r>
              <a:rPr lang="en-US" altLang="zh-CN" sz="1700" dirty="0"/>
              <a:t>=',',unpack=True,</a:t>
            </a:r>
            <a:endParaRPr lang="zh-CN" altLang="zh-CN" sz="1700" dirty="0"/>
          </a:p>
          <a:p>
            <a:pPr marL="446088" lvl="1" indent="0">
              <a:lnSpc>
                <a:spcPct val="100000"/>
              </a:lnSpc>
              <a:spcBef>
                <a:spcPts val="200"/>
              </a:spcBef>
              <a:buNone/>
            </a:pPr>
            <a:r>
              <a:rPr lang="en-US" altLang="zh-CN" sz="1700" dirty="0"/>
              <a:t>                 </a:t>
            </a:r>
            <a:r>
              <a:rPr lang="en-US" altLang="zh-CN" sz="1700" dirty="0" err="1"/>
              <a:t>usecols</a:t>
            </a:r>
            <a:r>
              <a:rPr lang="en-US" altLang="zh-CN" sz="1700" dirty="0"/>
              <a:t>=(1,3),</a:t>
            </a:r>
            <a:r>
              <a:rPr lang="en-US" altLang="zh-CN" sz="1700" dirty="0" err="1"/>
              <a:t>dtype</a:t>
            </a:r>
            <a:r>
              <a:rPr lang="en-US" altLang="zh-CN" sz="1700" dirty="0"/>
              <a:t>=np.float32)</a:t>
            </a:r>
            <a:endParaRPr lang="zh-CN" altLang="zh-CN" sz="1700" dirty="0"/>
          </a:p>
          <a:p>
            <a:pPr marL="446088" lvl="1" indent="0">
              <a:lnSpc>
                <a:spcPct val="100000"/>
              </a:lnSpc>
              <a:spcBef>
                <a:spcPts val="200"/>
              </a:spcBef>
              <a:buNone/>
            </a:pPr>
            <a:r>
              <a:rPr lang="en-US" altLang="zh-CN" sz="1700" dirty="0"/>
              <a:t>print('</a:t>
            </a:r>
            <a:r>
              <a:rPr lang="zh-CN" altLang="zh-CN" sz="1700" dirty="0"/>
              <a:t>以下打印列信息构成的数组：</a:t>
            </a:r>
            <a:r>
              <a:rPr lang="en-US" altLang="zh-CN" sz="1700" dirty="0"/>
              <a:t>')</a:t>
            </a:r>
            <a:endParaRPr lang="zh-CN" altLang="zh-CN" sz="1700" dirty="0"/>
          </a:p>
          <a:p>
            <a:pPr marL="446088" lvl="1" indent="0">
              <a:lnSpc>
                <a:spcPct val="100000"/>
              </a:lnSpc>
              <a:spcBef>
                <a:spcPts val="200"/>
              </a:spcBef>
              <a:buNone/>
            </a:pPr>
            <a:r>
              <a:rPr lang="en-US" altLang="zh-CN" sz="1700" dirty="0"/>
              <a:t>print(c1)</a:t>
            </a:r>
            <a:endParaRPr lang="zh-CN" altLang="zh-CN" sz="1700" dirty="0"/>
          </a:p>
          <a:p>
            <a:pPr marL="446088" lvl="1" indent="0">
              <a:lnSpc>
                <a:spcPct val="100000"/>
              </a:lnSpc>
              <a:spcBef>
                <a:spcPts val="200"/>
              </a:spcBef>
              <a:buNone/>
            </a:pPr>
            <a:r>
              <a:rPr lang="en-US" altLang="zh-CN" sz="1700" dirty="0"/>
              <a:t>print(c3)</a:t>
            </a:r>
            <a:endParaRPr lang="zh-CN" altLang="zh-CN" sz="1700" dirty="0"/>
          </a:p>
          <a:p>
            <a:pPr>
              <a:lnSpc>
                <a:spcPct val="100000"/>
              </a:lnSpc>
              <a:spcBef>
                <a:spcPts val="200"/>
              </a:spcBef>
            </a:pPr>
            <a:endParaRPr lang="zh-CN" altLang="en-US" dirty="0"/>
          </a:p>
        </p:txBody>
      </p:sp>
      <p:sp>
        <p:nvSpPr>
          <p:cNvPr id="7" name="文本框 6"/>
          <p:cNvSpPr txBox="1"/>
          <p:nvPr/>
        </p:nvSpPr>
        <p:spPr>
          <a:xfrm>
            <a:off x="191344" y="6093296"/>
            <a:ext cx="11881320" cy="707886"/>
          </a:xfrm>
          <a:prstGeom prst="rect">
            <a:avLst/>
          </a:prstGeom>
          <a:noFill/>
          <a:ln>
            <a:solidFill>
              <a:srgbClr val="0000FF"/>
            </a:solidFill>
          </a:ln>
        </p:spPr>
        <p:txBody>
          <a:bodyPr wrap="square" rtlCol="0">
            <a:spAutoFit/>
          </a:bodyPr>
          <a:lstStyle/>
          <a:p>
            <a:pPr algn="l"/>
            <a:r>
              <a:rPr lang="en-US" altLang="zh-CN" sz="2000" dirty="0"/>
              <a:t>        </a:t>
            </a:r>
            <a:r>
              <a:rPr lang="zh-CN" altLang="zh-CN" sz="2000" dirty="0"/>
              <a:t>只需要将</a:t>
            </a:r>
            <a:r>
              <a:rPr lang="en-US" altLang="zh-CN" sz="2000" dirty="0"/>
              <a:t>example5_2.py</a:t>
            </a:r>
            <a:r>
              <a:rPr lang="zh-CN" altLang="zh-CN" sz="2000" dirty="0"/>
              <a:t>程序文件中的</a:t>
            </a:r>
            <a:r>
              <a:rPr lang="en-US" altLang="zh-CN" sz="2000" dirty="0"/>
              <a:t>array.txt</a:t>
            </a:r>
            <a:r>
              <a:rPr lang="zh-CN" altLang="zh-CN" sz="2000" dirty="0"/>
              <a:t>文件名改为以</a:t>
            </a:r>
            <a:r>
              <a:rPr lang="en-US" altLang="zh-CN" sz="2000" dirty="0"/>
              <a:t>csv</a:t>
            </a:r>
            <a:r>
              <a:rPr lang="zh-CN" altLang="zh-CN" sz="2000" dirty="0"/>
              <a:t>为后缀的文件名，就可以读取</a:t>
            </a:r>
            <a:r>
              <a:rPr lang="en-US" altLang="zh-CN" sz="2000" dirty="0"/>
              <a:t>csv</a:t>
            </a:r>
            <a:r>
              <a:rPr lang="zh-CN" altLang="zh-CN" sz="2000" dirty="0"/>
              <a:t>文件中的数据构成数组。</a:t>
            </a:r>
            <a:endParaRPr lang="zh-CN" altLang="en-US" sz="2000" dirty="0"/>
          </a:p>
        </p:txBody>
      </p:sp>
    </p:spTree>
    <p:extLst>
      <p:ext uri="{BB962C8B-B14F-4D97-AF65-F5344CB8AC3E}">
        <p14:creationId xmlns:p14="http://schemas.microsoft.com/office/powerpoint/2010/main" val="131841330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4.3 </a:t>
            </a:r>
            <a:r>
              <a:rPr lang="zh-CN" altLang="zh-CN" dirty="0"/>
              <a:t>常用数组运算与函数</a:t>
            </a:r>
            <a:endParaRPr lang="zh-CN" altLang="en-US" dirty="0"/>
          </a:p>
        </p:txBody>
      </p:sp>
      <p:sp>
        <p:nvSpPr>
          <p:cNvPr id="6" name="内容占位符 5"/>
          <p:cNvSpPr>
            <a:spLocks noGrp="1"/>
          </p:cNvSpPr>
          <p:nvPr>
            <p:ph idx="1"/>
          </p:nvPr>
        </p:nvSpPr>
        <p:spPr/>
        <p:txBody>
          <a:bodyPr/>
          <a:lstStyle/>
          <a:p>
            <a:r>
              <a:rPr lang="zh-CN" altLang="en-US" dirty="0"/>
              <a:t>数组的索引</a:t>
            </a:r>
            <a:endParaRPr lang="en-US" altLang="zh-CN" dirty="0"/>
          </a:p>
          <a:p>
            <a:r>
              <a:rPr lang="zh-CN" altLang="en-US" dirty="0"/>
              <a:t>数组的切片</a:t>
            </a:r>
            <a:endParaRPr lang="en-US" altLang="zh-CN" dirty="0"/>
          </a:p>
          <a:p>
            <a:r>
              <a:rPr lang="zh-CN" altLang="en-US" dirty="0"/>
              <a:t>改变数组的形状</a:t>
            </a:r>
            <a:endParaRPr lang="en-US" altLang="zh-CN" dirty="0"/>
          </a:p>
          <a:p>
            <a:r>
              <a:rPr lang="zh-CN" altLang="en-US" dirty="0"/>
              <a:t>数组的基本运算</a:t>
            </a:r>
            <a:endParaRPr lang="en-US" altLang="zh-CN" dirty="0"/>
          </a:p>
          <a:p>
            <a:r>
              <a:rPr lang="zh-CN" altLang="en-US" dirty="0"/>
              <a:t>数组的排序</a:t>
            </a:r>
            <a:endParaRPr lang="en-US" altLang="zh-CN" dirty="0"/>
          </a:p>
          <a:p>
            <a:endParaRPr lang="zh-CN" altLang="en-US" dirty="0"/>
          </a:p>
        </p:txBody>
      </p:sp>
    </p:spTree>
    <p:extLst>
      <p:ext uri="{BB962C8B-B14F-4D97-AF65-F5344CB8AC3E}">
        <p14:creationId xmlns:p14="http://schemas.microsoft.com/office/powerpoint/2010/main" val="342976779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4.3.1 </a:t>
            </a:r>
            <a:r>
              <a:rPr lang="zh-CN" altLang="zh-CN" dirty="0"/>
              <a:t>数组的索引</a:t>
            </a:r>
            <a:endParaRPr lang="zh-CN" altLang="en-US" dirty="0"/>
          </a:p>
        </p:txBody>
      </p:sp>
      <p:sp>
        <p:nvSpPr>
          <p:cNvPr id="5" name="内容占位符 4"/>
          <p:cNvSpPr>
            <a:spLocks noGrp="1"/>
          </p:cNvSpPr>
          <p:nvPr>
            <p:ph idx="1"/>
          </p:nvPr>
        </p:nvSpPr>
        <p:spPr/>
        <p:txBody>
          <a:bodyPr>
            <a:normAutofit fontScale="92500" lnSpcReduction="10000"/>
          </a:bodyPr>
          <a:lstStyle/>
          <a:p>
            <a:r>
              <a:rPr lang="en-US" altLang="zh-CN" dirty="0"/>
              <a:t>1</a:t>
            </a:r>
            <a:r>
              <a:rPr lang="zh-CN" altLang="zh-CN" dirty="0"/>
              <a:t>、一维数组索引操作</a:t>
            </a:r>
          </a:p>
          <a:p>
            <a:pPr lvl="1"/>
            <a:r>
              <a:rPr lang="zh-CN" altLang="zh-CN" dirty="0"/>
              <a:t>一维数组通过“数组名</a:t>
            </a:r>
            <a:r>
              <a:rPr lang="en-US" altLang="zh-CN" dirty="0"/>
              <a:t>[</a:t>
            </a:r>
            <a:r>
              <a:rPr lang="zh-CN" altLang="zh-CN" dirty="0"/>
              <a:t>索引号</a:t>
            </a:r>
            <a:r>
              <a:rPr lang="en-US" altLang="zh-CN" dirty="0"/>
              <a:t>]</a:t>
            </a:r>
            <a:r>
              <a:rPr lang="zh-CN" altLang="zh-CN" dirty="0"/>
              <a:t>”的方式来提取特定位置上元素的值或重新设置特定位置上元素的值。位置索引值从</a:t>
            </a:r>
            <a:r>
              <a:rPr lang="en-US" altLang="zh-CN" dirty="0"/>
              <a:t>0</a:t>
            </a:r>
            <a:r>
              <a:rPr lang="zh-CN" altLang="zh-CN" dirty="0"/>
              <a:t>开始计数。</a:t>
            </a:r>
          </a:p>
          <a:p>
            <a:pPr marL="912813" lvl="2" indent="0">
              <a:buNone/>
            </a:pPr>
            <a:r>
              <a:rPr lang="en-US" altLang="zh-CN" dirty="0"/>
              <a:t>&gt;&gt;&gt; import </a:t>
            </a:r>
            <a:r>
              <a:rPr lang="en-US" altLang="zh-CN" dirty="0" err="1"/>
              <a:t>numpy</a:t>
            </a:r>
            <a:r>
              <a:rPr lang="en-US" altLang="zh-CN" dirty="0"/>
              <a:t> as np</a:t>
            </a:r>
            <a:endParaRPr lang="zh-CN" altLang="zh-CN" dirty="0"/>
          </a:p>
          <a:p>
            <a:pPr marL="912813" lvl="2" indent="0">
              <a:buNone/>
            </a:pPr>
            <a:r>
              <a:rPr lang="en-US" altLang="zh-CN" dirty="0"/>
              <a:t>&gt;&gt;&gt; </a:t>
            </a:r>
            <a:r>
              <a:rPr lang="en-US" altLang="zh-CN" dirty="0" err="1"/>
              <a:t>np.random.seed</a:t>
            </a:r>
            <a:r>
              <a:rPr lang="en-US" altLang="zh-CN" dirty="0"/>
              <a:t>(1000)</a:t>
            </a:r>
            <a:endParaRPr lang="zh-CN" altLang="zh-CN" dirty="0"/>
          </a:p>
          <a:p>
            <a:pPr marL="912813" lvl="2" indent="0">
              <a:buNone/>
            </a:pPr>
            <a:r>
              <a:rPr lang="en-US" altLang="zh-CN" dirty="0"/>
              <a:t>&gt;&gt;&gt; a=</a:t>
            </a:r>
            <a:r>
              <a:rPr lang="en-US" altLang="zh-CN" dirty="0" err="1"/>
              <a:t>np.random.randint</a:t>
            </a:r>
            <a:r>
              <a:rPr lang="en-US" altLang="zh-CN" dirty="0"/>
              <a:t>(1,100,10)</a:t>
            </a:r>
            <a:endParaRPr lang="zh-CN" altLang="zh-CN" dirty="0"/>
          </a:p>
          <a:p>
            <a:pPr marL="912813" lvl="2" indent="0">
              <a:buNone/>
            </a:pPr>
            <a:r>
              <a:rPr lang="en-US" altLang="zh-CN" dirty="0"/>
              <a:t>&gt;&gt;&gt; a</a:t>
            </a:r>
            <a:endParaRPr lang="zh-CN" altLang="zh-CN" dirty="0"/>
          </a:p>
          <a:p>
            <a:pPr marL="912813" lvl="2" indent="0">
              <a:buNone/>
            </a:pPr>
            <a:r>
              <a:rPr lang="en-US" altLang="zh-CN" dirty="0"/>
              <a:t>array([52, 88, 72, 65, 95, 93,  2, 62,  1, 90])</a:t>
            </a:r>
            <a:endParaRPr lang="zh-CN" altLang="zh-CN" dirty="0"/>
          </a:p>
          <a:p>
            <a:pPr marL="912813" lvl="2" indent="0">
              <a:buNone/>
            </a:pPr>
            <a:r>
              <a:rPr lang="en-US" altLang="zh-CN" dirty="0"/>
              <a:t>&gt;&gt;&gt; a[5]</a:t>
            </a:r>
            <a:endParaRPr lang="zh-CN" altLang="zh-CN" dirty="0"/>
          </a:p>
          <a:p>
            <a:pPr marL="912813" lvl="2" indent="0">
              <a:buNone/>
            </a:pPr>
            <a:r>
              <a:rPr lang="en-US" altLang="zh-CN" dirty="0"/>
              <a:t>93</a:t>
            </a:r>
            <a:endParaRPr lang="zh-CN" altLang="zh-CN" dirty="0"/>
          </a:p>
          <a:p>
            <a:pPr marL="912813" lvl="2" indent="0">
              <a:buNone/>
            </a:pPr>
            <a:r>
              <a:rPr lang="en-US" altLang="zh-CN" dirty="0"/>
              <a:t>&gt;&gt;&gt; a[6]=a[6]*15</a:t>
            </a:r>
            <a:endParaRPr lang="zh-CN" altLang="zh-CN" dirty="0"/>
          </a:p>
          <a:p>
            <a:pPr marL="912813" lvl="2" indent="0">
              <a:buNone/>
            </a:pPr>
            <a:r>
              <a:rPr lang="en-US" altLang="zh-CN" dirty="0"/>
              <a:t>&gt;&gt;&gt; a</a:t>
            </a:r>
            <a:endParaRPr lang="zh-CN" altLang="zh-CN" dirty="0"/>
          </a:p>
          <a:p>
            <a:pPr marL="912813" lvl="2" indent="0">
              <a:buNone/>
            </a:pPr>
            <a:r>
              <a:rPr lang="en-US" altLang="zh-CN" dirty="0"/>
              <a:t>array([52, 88, 72, 65, 95, 93, </a:t>
            </a:r>
            <a:r>
              <a:rPr lang="en-US" altLang="zh-CN" dirty="0">
                <a:solidFill>
                  <a:srgbClr val="FF0000"/>
                </a:solidFill>
              </a:rPr>
              <a:t>30</a:t>
            </a:r>
            <a:r>
              <a:rPr lang="en-US" altLang="zh-CN" dirty="0"/>
              <a:t>, 62,  1, 90])</a:t>
            </a:r>
            <a:endParaRPr lang="zh-CN" altLang="zh-CN" dirty="0"/>
          </a:p>
          <a:p>
            <a:pPr marL="912813" lvl="2" indent="0">
              <a:buNone/>
            </a:pPr>
            <a:r>
              <a:rPr lang="en-US" altLang="zh-CN" dirty="0"/>
              <a:t>&gt;&gt;&gt; </a:t>
            </a:r>
            <a:endParaRPr lang="zh-CN" altLang="zh-CN" dirty="0"/>
          </a:p>
        </p:txBody>
      </p:sp>
    </p:spTree>
    <p:extLst>
      <p:ext uri="{BB962C8B-B14F-4D97-AF65-F5344CB8AC3E}">
        <p14:creationId xmlns:p14="http://schemas.microsoft.com/office/powerpoint/2010/main" val="181332823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内容占位符 4"/>
          <p:cNvSpPr>
            <a:spLocks noGrp="1"/>
          </p:cNvSpPr>
          <p:nvPr>
            <p:ph sz="half" idx="1"/>
          </p:nvPr>
        </p:nvSpPr>
        <p:spPr>
          <a:xfrm>
            <a:off x="334434" y="1124744"/>
            <a:ext cx="7345742" cy="5328592"/>
          </a:xfrm>
          <a:ln>
            <a:solidFill>
              <a:srgbClr val="9900FF"/>
            </a:solidFill>
          </a:ln>
        </p:spPr>
        <p:txBody>
          <a:bodyPr>
            <a:normAutofit/>
          </a:bodyPr>
          <a:lstStyle/>
          <a:p>
            <a:r>
              <a:rPr lang="en-US" altLang="zh-CN" dirty="0"/>
              <a:t>2</a:t>
            </a:r>
            <a:r>
              <a:rPr lang="zh-CN" altLang="zh-CN" dirty="0"/>
              <a:t>、二维数组索引操作</a:t>
            </a:r>
          </a:p>
          <a:p>
            <a:pPr lvl="1"/>
            <a:r>
              <a:rPr lang="zh-CN" altLang="zh-CN" dirty="0"/>
              <a:t>二维数组通过“数组名</a:t>
            </a:r>
            <a:r>
              <a:rPr lang="en-US" altLang="zh-CN" dirty="0"/>
              <a:t>[</a:t>
            </a:r>
            <a:r>
              <a:rPr lang="en-US" altLang="zh-CN" dirty="0" err="1"/>
              <a:t>i</a:t>
            </a:r>
            <a:r>
              <a:rPr lang="en-US" altLang="zh-CN" dirty="0"/>
              <a:t>, j]</a:t>
            </a:r>
            <a:r>
              <a:rPr lang="zh-CN" altLang="zh-CN" dirty="0"/>
              <a:t>”或“数组名</a:t>
            </a:r>
            <a:r>
              <a:rPr lang="en-US" altLang="zh-CN" dirty="0"/>
              <a:t>[</a:t>
            </a:r>
            <a:r>
              <a:rPr lang="en-US" altLang="zh-CN" dirty="0" err="1"/>
              <a:t>i</a:t>
            </a:r>
            <a:r>
              <a:rPr lang="en-US" altLang="zh-CN" dirty="0"/>
              <a:t>][j]</a:t>
            </a:r>
            <a:r>
              <a:rPr lang="zh-CN" altLang="zh-CN" dirty="0"/>
              <a:t>”的方式获取第</a:t>
            </a:r>
            <a:r>
              <a:rPr lang="en-US" altLang="zh-CN" dirty="0" err="1"/>
              <a:t>i</a:t>
            </a:r>
            <a:r>
              <a:rPr lang="zh-CN" altLang="zh-CN" dirty="0"/>
              <a:t>行</a:t>
            </a:r>
            <a:r>
              <a:rPr lang="en-US" altLang="zh-CN" dirty="0"/>
              <a:t>j</a:t>
            </a:r>
            <a:r>
              <a:rPr lang="zh-CN" altLang="zh-CN" dirty="0"/>
              <a:t>列元素的值或重新设置第</a:t>
            </a:r>
            <a:r>
              <a:rPr lang="en-US" altLang="zh-CN" dirty="0" err="1"/>
              <a:t>i</a:t>
            </a:r>
            <a:r>
              <a:rPr lang="zh-CN" altLang="zh-CN" dirty="0"/>
              <a:t>行</a:t>
            </a:r>
            <a:r>
              <a:rPr lang="en-US" altLang="zh-CN" dirty="0"/>
              <a:t>j</a:t>
            </a:r>
            <a:r>
              <a:rPr lang="zh-CN" altLang="zh-CN" dirty="0"/>
              <a:t>列元素的值。</a:t>
            </a:r>
          </a:p>
          <a:p>
            <a:pPr marL="912813" lvl="2" indent="0">
              <a:buNone/>
            </a:pPr>
            <a:r>
              <a:rPr lang="en-US" altLang="zh-CN" dirty="0"/>
              <a:t>&gt;&gt;&gt; </a:t>
            </a:r>
            <a:r>
              <a:rPr lang="en-US" altLang="zh-CN" dirty="0" err="1"/>
              <a:t>np.random.seed</a:t>
            </a:r>
            <a:r>
              <a:rPr lang="en-US" altLang="zh-CN" dirty="0"/>
              <a:t>(1000)</a:t>
            </a:r>
            <a:endParaRPr lang="zh-CN" altLang="zh-CN" dirty="0"/>
          </a:p>
          <a:p>
            <a:pPr marL="912813" lvl="2" indent="0">
              <a:buNone/>
            </a:pPr>
            <a:r>
              <a:rPr lang="en-US" altLang="zh-CN" dirty="0"/>
              <a:t>&gt;&gt;&gt; x=</a:t>
            </a:r>
            <a:r>
              <a:rPr lang="en-US" altLang="zh-CN" dirty="0" err="1"/>
              <a:t>np.random.randint</a:t>
            </a:r>
            <a:r>
              <a:rPr lang="en-US" altLang="zh-CN" dirty="0"/>
              <a:t>(1,100,size=(3,4))</a:t>
            </a:r>
            <a:endParaRPr lang="zh-CN" altLang="zh-CN" dirty="0"/>
          </a:p>
          <a:p>
            <a:pPr marL="912813" lvl="2" indent="0">
              <a:buNone/>
            </a:pPr>
            <a:r>
              <a:rPr lang="en-US" altLang="zh-CN" dirty="0"/>
              <a:t>&gt;&gt;&gt; x</a:t>
            </a:r>
            <a:endParaRPr lang="zh-CN" altLang="zh-CN" dirty="0"/>
          </a:p>
          <a:p>
            <a:pPr marL="912813" lvl="2" indent="0">
              <a:buNone/>
            </a:pPr>
            <a:r>
              <a:rPr lang="en-US" altLang="zh-CN" dirty="0"/>
              <a:t>array([[52, 88, 72, 65],</a:t>
            </a:r>
            <a:endParaRPr lang="zh-CN" altLang="zh-CN" dirty="0"/>
          </a:p>
          <a:p>
            <a:pPr marL="912813" lvl="2" indent="0">
              <a:buNone/>
            </a:pPr>
            <a:r>
              <a:rPr lang="en-US" altLang="zh-CN" dirty="0"/>
              <a:t>       [95, 93,  2, 62],</a:t>
            </a:r>
            <a:endParaRPr lang="zh-CN" altLang="zh-CN" dirty="0"/>
          </a:p>
          <a:p>
            <a:pPr marL="912813" lvl="2" indent="0">
              <a:buNone/>
            </a:pPr>
            <a:r>
              <a:rPr lang="en-US" altLang="zh-CN" dirty="0"/>
              <a:t>       [ 1, 90, 46, 41]])</a:t>
            </a:r>
            <a:endParaRPr lang="zh-CN" altLang="zh-CN" dirty="0"/>
          </a:p>
          <a:p>
            <a:endParaRPr lang="zh-CN" altLang="en-US" dirty="0"/>
          </a:p>
        </p:txBody>
      </p:sp>
      <p:sp>
        <p:nvSpPr>
          <p:cNvPr id="6" name="内容占位符 5"/>
          <p:cNvSpPr>
            <a:spLocks noGrp="1"/>
          </p:cNvSpPr>
          <p:nvPr>
            <p:ph sz="half" idx="2"/>
          </p:nvPr>
        </p:nvSpPr>
        <p:spPr>
          <a:xfrm>
            <a:off x="7896200" y="1124744"/>
            <a:ext cx="3961367" cy="5328592"/>
          </a:xfrm>
          <a:ln>
            <a:solidFill>
              <a:srgbClr val="9900FF"/>
            </a:solidFill>
          </a:ln>
        </p:spPr>
        <p:txBody>
          <a:bodyPr>
            <a:normAutofit/>
          </a:bodyPr>
          <a:lstStyle/>
          <a:p>
            <a:pPr marL="912813" lvl="2" indent="0">
              <a:buNone/>
            </a:pPr>
            <a:r>
              <a:rPr lang="en-US" altLang="zh-CN" dirty="0"/>
              <a:t>&gt;&gt;&gt; x[2,0]</a:t>
            </a:r>
            <a:endParaRPr lang="zh-CN" altLang="zh-CN" dirty="0"/>
          </a:p>
          <a:p>
            <a:pPr marL="912813" lvl="2" indent="0">
              <a:buNone/>
            </a:pPr>
            <a:r>
              <a:rPr lang="en-US" altLang="zh-CN" dirty="0"/>
              <a:t>1</a:t>
            </a:r>
            <a:endParaRPr lang="zh-CN" altLang="zh-CN" dirty="0"/>
          </a:p>
          <a:p>
            <a:pPr marL="912813" lvl="2" indent="0">
              <a:buNone/>
            </a:pPr>
            <a:r>
              <a:rPr lang="en-US" altLang="zh-CN" dirty="0"/>
              <a:t>&gt;&gt;&gt; x[2][0]</a:t>
            </a:r>
            <a:endParaRPr lang="zh-CN" altLang="zh-CN" dirty="0"/>
          </a:p>
          <a:p>
            <a:pPr marL="912813" lvl="2" indent="0">
              <a:buNone/>
            </a:pPr>
            <a:r>
              <a:rPr lang="en-US" altLang="zh-CN" dirty="0"/>
              <a:t>1</a:t>
            </a:r>
            <a:endParaRPr lang="zh-CN" altLang="zh-CN" dirty="0"/>
          </a:p>
          <a:p>
            <a:pPr marL="912813" lvl="2" indent="0">
              <a:buNone/>
            </a:pPr>
            <a:r>
              <a:rPr lang="en-US" altLang="zh-CN" dirty="0"/>
              <a:t>&gt;&gt;&gt; x[2,0]=5</a:t>
            </a:r>
            <a:endParaRPr lang="zh-CN" altLang="zh-CN" dirty="0"/>
          </a:p>
          <a:p>
            <a:pPr marL="912813" lvl="2" indent="0">
              <a:buNone/>
            </a:pPr>
            <a:r>
              <a:rPr lang="en-US" altLang="zh-CN" dirty="0"/>
              <a:t>&gt;&gt;&gt; x[1,2]=x[1,2]*3</a:t>
            </a:r>
            <a:endParaRPr lang="zh-CN" altLang="zh-CN" dirty="0"/>
          </a:p>
          <a:p>
            <a:pPr marL="912813" lvl="2" indent="0">
              <a:buNone/>
            </a:pPr>
            <a:r>
              <a:rPr lang="en-US" altLang="zh-CN" dirty="0"/>
              <a:t>&gt;&gt;&gt; x</a:t>
            </a:r>
            <a:endParaRPr lang="zh-CN" altLang="zh-CN" dirty="0"/>
          </a:p>
          <a:p>
            <a:pPr marL="912813" lvl="2" indent="0">
              <a:buNone/>
            </a:pPr>
            <a:r>
              <a:rPr lang="en-US" altLang="zh-CN" dirty="0"/>
              <a:t>array([[52, 88, 72, 65],</a:t>
            </a:r>
            <a:endParaRPr lang="zh-CN" altLang="zh-CN" dirty="0"/>
          </a:p>
          <a:p>
            <a:pPr marL="912813" lvl="2" indent="0">
              <a:buNone/>
            </a:pPr>
            <a:r>
              <a:rPr lang="en-US" altLang="zh-CN" dirty="0"/>
              <a:t>       [95, 93,  </a:t>
            </a:r>
            <a:r>
              <a:rPr lang="en-US" altLang="zh-CN" dirty="0">
                <a:solidFill>
                  <a:srgbClr val="0000FF"/>
                </a:solidFill>
              </a:rPr>
              <a:t>6</a:t>
            </a:r>
            <a:r>
              <a:rPr lang="en-US" altLang="zh-CN" dirty="0"/>
              <a:t>, 62],</a:t>
            </a:r>
            <a:endParaRPr lang="zh-CN" altLang="zh-CN" dirty="0"/>
          </a:p>
          <a:p>
            <a:pPr marL="912813" lvl="2" indent="0">
              <a:buNone/>
            </a:pPr>
            <a:r>
              <a:rPr lang="en-US" altLang="zh-CN" dirty="0"/>
              <a:t>       [ </a:t>
            </a:r>
            <a:r>
              <a:rPr lang="en-US" altLang="zh-CN" dirty="0">
                <a:solidFill>
                  <a:srgbClr val="FF0000"/>
                </a:solidFill>
              </a:rPr>
              <a:t>5</a:t>
            </a:r>
            <a:r>
              <a:rPr lang="en-US" altLang="zh-CN" dirty="0"/>
              <a:t>, 90, 46, 41]])</a:t>
            </a:r>
            <a:endParaRPr lang="zh-CN" altLang="zh-CN" dirty="0"/>
          </a:p>
          <a:p>
            <a:pPr marL="912813" lvl="2" indent="0">
              <a:buNone/>
            </a:pPr>
            <a:r>
              <a:rPr lang="en-US" altLang="zh-CN" dirty="0"/>
              <a:t>&gt;&gt;&gt; </a:t>
            </a:r>
            <a:endParaRPr lang="zh-CN" altLang="zh-CN" dirty="0"/>
          </a:p>
          <a:p>
            <a:endParaRPr lang="zh-CN" altLang="en-US" dirty="0"/>
          </a:p>
        </p:txBody>
      </p:sp>
    </p:spTree>
    <p:extLst>
      <p:ext uri="{BB962C8B-B14F-4D97-AF65-F5344CB8AC3E}">
        <p14:creationId xmlns:p14="http://schemas.microsoft.com/office/powerpoint/2010/main" val="19182936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4.3.2 </a:t>
            </a:r>
            <a:r>
              <a:rPr lang="zh-CN" altLang="zh-CN" dirty="0"/>
              <a:t>数组的切片</a:t>
            </a:r>
            <a:endParaRPr lang="zh-CN" altLang="en-US" dirty="0"/>
          </a:p>
        </p:txBody>
      </p:sp>
      <p:sp>
        <p:nvSpPr>
          <p:cNvPr id="5" name="内容占位符 4"/>
          <p:cNvSpPr>
            <a:spLocks noGrp="1"/>
          </p:cNvSpPr>
          <p:nvPr>
            <p:ph idx="1"/>
          </p:nvPr>
        </p:nvSpPr>
        <p:spPr/>
        <p:txBody>
          <a:bodyPr/>
          <a:lstStyle/>
          <a:p>
            <a:r>
              <a:rPr lang="zh-CN" altLang="zh-CN" dirty="0"/>
              <a:t>数组切片是选取原数组指定位置上的元素构成一个数组。数组切片是原始数组的视图，数据并不会被复制，即视图上的任何修改都会直接体现到原数组上或基于同一个原数组的其它切片上。</a:t>
            </a:r>
            <a:endParaRPr lang="zh-CN" altLang="en-US" dirty="0"/>
          </a:p>
        </p:txBody>
      </p:sp>
    </p:spTree>
    <p:extLst>
      <p:ext uri="{BB962C8B-B14F-4D97-AF65-F5344CB8AC3E}">
        <p14:creationId xmlns:p14="http://schemas.microsoft.com/office/powerpoint/2010/main" val="401327641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内容占位符 4"/>
          <p:cNvSpPr>
            <a:spLocks noGrp="1"/>
          </p:cNvSpPr>
          <p:nvPr>
            <p:ph sz="half" idx="1"/>
          </p:nvPr>
        </p:nvSpPr>
        <p:spPr>
          <a:xfrm>
            <a:off x="171325" y="1124744"/>
            <a:ext cx="5708651" cy="5328592"/>
          </a:xfrm>
          <a:ln>
            <a:solidFill>
              <a:srgbClr val="9900FF"/>
            </a:solidFill>
          </a:ln>
        </p:spPr>
        <p:txBody>
          <a:bodyPr>
            <a:normAutofit lnSpcReduction="10000"/>
          </a:bodyPr>
          <a:lstStyle/>
          <a:p>
            <a:r>
              <a:rPr lang="en-US" altLang="zh-CN" dirty="0"/>
              <a:t>1</a:t>
            </a:r>
            <a:r>
              <a:rPr lang="zh-CN" altLang="zh-CN" dirty="0"/>
              <a:t>、一维数组的切片</a:t>
            </a:r>
          </a:p>
          <a:p>
            <a:pPr lvl="1"/>
            <a:r>
              <a:rPr lang="zh-CN" altLang="zh-CN" dirty="0"/>
              <a:t>数组名</a:t>
            </a:r>
            <a:r>
              <a:rPr lang="en-US" altLang="zh-CN" dirty="0"/>
              <a:t>[</a:t>
            </a:r>
            <a:r>
              <a:rPr lang="en-US" altLang="zh-CN" dirty="0" err="1"/>
              <a:t>start:end:step</a:t>
            </a:r>
            <a:r>
              <a:rPr lang="en-US" altLang="zh-CN" dirty="0"/>
              <a:t>]</a:t>
            </a:r>
            <a:r>
              <a:rPr lang="zh-CN" altLang="zh-CN" dirty="0"/>
              <a:t>用来进行一维数组的切片，从</a:t>
            </a:r>
            <a:r>
              <a:rPr lang="en-US" altLang="zh-CN" dirty="0"/>
              <a:t>start</a:t>
            </a:r>
            <a:r>
              <a:rPr lang="zh-CN" altLang="zh-CN" dirty="0"/>
              <a:t>位置上的数开始（包括</a:t>
            </a:r>
            <a:r>
              <a:rPr lang="en-US" altLang="zh-CN" dirty="0"/>
              <a:t>start</a:t>
            </a:r>
            <a:r>
              <a:rPr lang="zh-CN" altLang="zh-CN" dirty="0"/>
              <a:t>），到</a:t>
            </a:r>
            <a:r>
              <a:rPr lang="en-US" altLang="zh-CN" dirty="0"/>
              <a:t>end</a:t>
            </a:r>
            <a:r>
              <a:rPr lang="zh-CN" altLang="zh-CN" dirty="0"/>
              <a:t>位置结束（不包括</a:t>
            </a:r>
            <a:r>
              <a:rPr lang="en-US" altLang="zh-CN" dirty="0"/>
              <a:t>end</a:t>
            </a:r>
            <a:r>
              <a:rPr lang="zh-CN" altLang="zh-CN" dirty="0"/>
              <a:t>），每次增长的步长为</a:t>
            </a:r>
            <a:r>
              <a:rPr lang="en-US" altLang="zh-CN" dirty="0"/>
              <a:t>step</a:t>
            </a:r>
            <a:r>
              <a:rPr lang="zh-CN" altLang="zh-CN" dirty="0"/>
              <a:t>。</a:t>
            </a:r>
          </a:p>
          <a:p>
            <a:pPr marL="912813" lvl="2" indent="0">
              <a:buNone/>
            </a:pPr>
            <a:r>
              <a:rPr lang="en-US" altLang="zh-CN" dirty="0"/>
              <a:t>&gt;&gt;&gt; import </a:t>
            </a:r>
            <a:r>
              <a:rPr lang="en-US" altLang="zh-CN" dirty="0" err="1"/>
              <a:t>numpy</a:t>
            </a:r>
            <a:r>
              <a:rPr lang="en-US" altLang="zh-CN" dirty="0"/>
              <a:t> as np</a:t>
            </a:r>
            <a:endParaRPr lang="zh-CN" altLang="zh-CN" dirty="0"/>
          </a:p>
          <a:p>
            <a:pPr marL="912813" lvl="2" indent="0">
              <a:buNone/>
            </a:pPr>
            <a:r>
              <a:rPr lang="en-US" altLang="zh-CN" dirty="0"/>
              <a:t>&gt;&gt;&gt; </a:t>
            </a:r>
            <a:r>
              <a:rPr lang="en-US" altLang="zh-CN" dirty="0" err="1"/>
              <a:t>np.random.seed</a:t>
            </a:r>
            <a:r>
              <a:rPr lang="en-US" altLang="zh-CN" dirty="0"/>
              <a:t>(1000)</a:t>
            </a:r>
            <a:endParaRPr lang="zh-CN" altLang="zh-CN" dirty="0"/>
          </a:p>
          <a:p>
            <a:pPr marL="912813" lvl="2" indent="0">
              <a:buNone/>
            </a:pPr>
            <a:r>
              <a:rPr lang="en-US" altLang="zh-CN" dirty="0"/>
              <a:t>&gt;&gt;&gt; a=</a:t>
            </a:r>
            <a:r>
              <a:rPr lang="en-US" altLang="zh-CN" dirty="0" err="1"/>
              <a:t>np.random.randint</a:t>
            </a:r>
            <a:r>
              <a:rPr lang="en-US" altLang="zh-CN" dirty="0"/>
              <a:t>(1,100,10)</a:t>
            </a:r>
            <a:endParaRPr lang="zh-CN" altLang="zh-CN" dirty="0"/>
          </a:p>
          <a:p>
            <a:pPr marL="912813" lvl="2" indent="0">
              <a:buNone/>
            </a:pPr>
            <a:r>
              <a:rPr lang="en-US" altLang="zh-CN" dirty="0"/>
              <a:t>&gt;&gt;&gt; a</a:t>
            </a:r>
            <a:endParaRPr lang="zh-CN" altLang="zh-CN" dirty="0"/>
          </a:p>
          <a:p>
            <a:pPr marL="912813" lvl="2" indent="0">
              <a:buNone/>
            </a:pPr>
            <a:r>
              <a:rPr lang="en-US" altLang="zh-CN" dirty="0"/>
              <a:t>array([52, 88, 72, 65, 95, 93,  2, 62,  1, 90])</a:t>
            </a:r>
            <a:endParaRPr lang="zh-CN" altLang="zh-CN" dirty="0"/>
          </a:p>
          <a:p>
            <a:pPr lvl="1"/>
            <a:endParaRPr lang="zh-CN" altLang="en-US" dirty="0"/>
          </a:p>
        </p:txBody>
      </p:sp>
      <p:sp>
        <p:nvSpPr>
          <p:cNvPr id="6" name="内容占位符 5"/>
          <p:cNvSpPr>
            <a:spLocks noGrp="1"/>
          </p:cNvSpPr>
          <p:nvPr>
            <p:ph sz="half" idx="2"/>
          </p:nvPr>
        </p:nvSpPr>
        <p:spPr>
          <a:xfrm>
            <a:off x="6023992" y="1124744"/>
            <a:ext cx="6048672" cy="5328592"/>
          </a:xfrm>
          <a:ln>
            <a:solidFill>
              <a:srgbClr val="9900FF"/>
            </a:solidFill>
          </a:ln>
        </p:spPr>
        <p:txBody>
          <a:bodyPr>
            <a:normAutofit lnSpcReduction="10000"/>
          </a:bodyPr>
          <a:lstStyle/>
          <a:p>
            <a:pPr marL="912813" lvl="2" indent="0">
              <a:buNone/>
            </a:pPr>
            <a:r>
              <a:rPr lang="en-US" altLang="zh-CN" dirty="0"/>
              <a:t>&gt;&gt;&gt; a1=a[2:6]</a:t>
            </a:r>
            <a:endParaRPr lang="zh-CN" altLang="zh-CN" dirty="0"/>
          </a:p>
          <a:p>
            <a:pPr marL="912813" lvl="2" indent="0">
              <a:buNone/>
            </a:pPr>
            <a:r>
              <a:rPr lang="en-US" altLang="zh-CN" dirty="0"/>
              <a:t>&gt;&gt;&gt; a1</a:t>
            </a:r>
            <a:endParaRPr lang="zh-CN" altLang="zh-CN" dirty="0"/>
          </a:p>
          <a:p>
            <a:pPr marL="912813" lvl="2" indent="0">
              <a:buNone/>
            </a:pPr>
            <a:r>
              <a:rPr lang="en-US" altLang="zh-CN" dirty="0"/>
              <a:t>array([72, 65, 95, 93])</a:t>
            </a:r>
            <a:endParaRPr lang="zh-CN" altLang="zh-CN" dirty="0"/>
          </a:p>
          <a:p>
            <a:pPr marL="912813" lvl="2" indent="0">
              <a:buNone/>
            </a:pPr>
            <a:r>
              <a:rPr lang="en-US" altLang="zh-CN" dirty="0"/>
              <a:t>&gt;&gt;&gt; a2=a[1:8:3]</a:t>
            </a:r>
            <a:endParaRPr lang="zh-CN" altLang="zh-CN" dirty="0"/>
          </a:p>
          <a:p>
            <a:pPr marL="912813" lvl="2" indent="0">
              <a:buNone/>
            </a:pPr>
            <a:r>
              <a:rPr lang="en-US" altLang="zh-CN" dirty="0"/>
              <a:t>&gt;&gt;&gt; a2</a:t>
            </a:r>
            <a:endParaRPr lang="zh-CN" altLang="zh-CN" dirty="0"/>
          </a:p>
          <a:p>
            <a:pPr marL="912813" lvl="2" indent="0">
              <a:buNone/>
            </a:pPr>
            <a:r>
              <a:rPr lang="en-US" altLang="zh-CN" dirty="0"/>
              <a:t>array([88, 95, 62])</a:t>
            </a:r>
            <a:endParaRPr lang="zh-CN" altLang="zh-CN" dirty="0"/>
          </a:p>
          <a:p>
            <a:pPr marL="912813" lvl="2" indent="0">
              <a:buNone/>
            </a:pPr>
            <a:r>
              <a:rPr lang="en-US" altLang="zh-CN" dirty="0"/>
              <a:t>&gt;&gt;&gt; a2[1]=99	  # </a:t>
            </a:r>
            <a:r>
              <a:rPr lang="zh-CN" altLang="zh-CN" dirty="0"/>
              <a:t>在</a:t>
            </a:r>
            <a:r>
              <a:rPr lang="en-US" altLang="zh-CN" dirty="0"/>
              <a:t>a2</a:t>
            </a:r>
            <a:r>
              <a:rPr lang="zh-CN" altLang="zh-CN" dirty="0"/>
              <a:t>中修改某位置上的值</a:t>
            </a:r>
          </a:p>
          <a:p>
            <a:pPr marL="912813" lvl="2" indent="0">
              <a:buNone/>
            </a:pPr>
            <a:r>
              <a:rPr lang="en-US" altLang="zh-CN" dirty="0"/>
              <a:t>&gt;&gt;&gt; a2</a:t>
            </a:r>
            <a:endParaRPr lang="zh-CN" altLang="zh-CN" dirty="0"/>
          </a:p>
          <a:p>
            <a:pPr marL="912813" lvl="2" indent="0">
              <a:buNone/>
            </a:pPr>
            <a:r>
              <a:rPr lang="en-US" altLang="zh-CN" dirty="0"/>
              <a:t>array([88, </a:t>
            </a:r>
            <a:r>
              <a:rPr lang="en-US" altLang="zh-CN" dirty="0">
                <a:solidFill>
                  <a:srgbClr val="FF0000"/>
                </a:solidFill>
              </a:rPr>
              <a:t>99</a:t>
            </a:r>
            <a:r>
              <a:rPr lang="en-US" altLang="zh-CN" dirty="0"/>
              <a:t>, 62])</a:t>
            </a:r>
            <a:endParaRPr lang="zh-CN" altLang="zh-CN" dirty="0"/>
          </a:p>
          <a:p>
            <a:pPr marL="912813" lvl="2" indent="0">
              <a:buNone/>
            </a:pPr>
            <a:r>
              <a:rPr lang="en-US" altLang="zh-CN" dirty="0"/>
              <a:t>&gt;&gt;&gt; a1	  # a1</a:t>
            </a:r>
            <a:r>
              <a:rPr lang="zh-CN" altLang="zh-CN" dirty="0"/>
              <a:t>中体现出了修改后的结果</a:t>
            </a:r>
          </a:p>
          <a:p>
            <a:pPr marL="912813" lvl="2" indent="0">
              <a:buNone/>
            </a:pPr>
            <a:r>
              <a:rPr lang="en-US" altLang="zh-CN" dirty="0"/>
              <a:t>array([72, 65, </a:t>
            </a:r>
            <a:r>
              <a:rPr lang="en-US" altLang="zh-CN" b="1" dirty="0">
                <a:solidFill>
                  <a:srgbClr val="FF0000"/>
                </a:solidFill>
              </a:rPr>
              <a:t>99</a:t>
            </a:r>
            <a:r>
              <a:rPr lang="en-US" altLang="zh-CN" dirty="0"/>
              <a:t>, 93])</a:t>
            </a:r>
            <a:endParaRPr lang="zh-CN" altLang="zh-CN" dirty="0"/>
          </a:p>
          <a:p>
            <a:pPr marL="912813" lvl="2" indent="0">
              <a:buNone/>
            </a:pPr>
            <a:r>
              <a:rPr lang="en-US" altLang="zh-CN" dirty="0"/>
              <a:t>&gt;&gt;&gt; a	  # </a:t>
            </a:r>
            <a:r>
              <a:rPr lang="zh-CN" altLang="zh-CN" dirty="0"/>
              <a:t>原数组</a:t>
            </a:r>
            <a:r>
              <a:rPr lang="en-US" altLang="zh-CN" dirty="0"/>
              <a:t>a</a:t>
            </a:r>
            <a:r>
              <a:rPr lang="zh-CN" altLang="zh-CN" dirty="0"/>
              <a:t>中体现出了修改后的结果</a:t>
            </a:r>
          </a:p>
          <a:p>
            <a:pPr marL="912813" lvl="2" indent="0">
              <a:buNone/>
            </a:pPr>
            <a:r>
              <a:rPr lang="en-US" altLang="zh-CN" dirty="0"/>
              <a:t>array([52, 88, 72, 65, </a:t>
            </a:r>
            <a:r>
              <a:rPr lang="en-US" altLang="zh-CN" b="1" dirty="0">
                <a:solidFill>
                  <a:srgbClr val="FF0000"/>
                </a:solidFill>
              </a:rPr>
              <a:t>99</a:t>
            </a:r>
            <a:r>
              <a:rPr lang="en-US" altLang="zh-CN" dirty="0"/>
              <a:t>, 93,  2, 62,  1, 90])</a:t>
            </a:r>
            <a:endParaRPr lang="zh-CN" altLang="zh-CN" dirty="0"/>
          </a:p>
          <a:p>
            <a:pPr marL="912813" lvl="2" indent="0">
              <a:buNone/>
            </a:pPr>
            <a:r>
              <a:rPr lang="en-US" altLang="zh-CN" dirty="0"/>
              <a:t>&gt;&gt;&gt; </a:t>
            </a:r>
            <a:endParaRPr lang="zh-CN" altLang="zh-CN" dirty="0"/>
          </a:p>
        </p:txBody>
      </p:sp>
    </p:spTree>
    <p:extLst>
      <p:ext uri="{BB962C8B-B14F-4D97-AF65-F5344CB8AC3E}">
        <p14:creationId xmlns:p14="http://schemas.microsoft.com/office/powerpoint/2010/main" val="46521681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p:txBody>
          <a:bodyPr/>
          <a:lstStyle/>
          <a:p>
            <a:r>
              <a:rPr lang="en-US" altLang="zh-CN" dirty="0"/>
              <a:t>2</a:t>
            </a:r>
            <a:r>
              <a:rPr lang="zh-CN" altLang="zh-CN" dirty="0"/>
              <a:t>、二维数组的切片</a:t>
            </a:r>
          </a:p>
          <a:p>
            <a:pPr lvl="1"/>
            <a:r>
              <a:rPr lang="zh-CN" altLang="zh-CN" dirty="0"/>
              <a:t>数组名</a:t>
            </a:r>
            <a:r>
              <a:rPr lang="en-US" altLang="zh-CN" dirty="0"/>
              <a:t>[start1:end1:step1, start2:end2:step2]</a:t>
            </a:r>
            <a:r>
              <a:rPr lang="zh-CN" altLang="zh-CN" dirty="0"/>
              <a:t>用来进行二维数组的切片。其中</a:t>
            </a:r>
            <a:r>
              <a:rPr lang="en-US" altLang="zh-CN" dirty="0"/>
              <a:t>start1</a:t>
            </a:r>
            <a:r>
              <a:rPr lang="zh-CN" altLang="zh-CN" dirty="0"/>
              <a:t>、</a:t>
            </a:r>
            <a:r>
              <a:rPr lang="en-US" altLang="zh-CN" dirty="0"/>
              <a:t>end1</a:t>
            </a:r>
            <a:r>
              <a:rPr lang="zh-CN" altLang="zh-CN" dirty="0"/>
              <a:t>和</a:t>
            </a:r>
            <a:r>
              <a:rPr lang="en-US" altLang="zh-CN" dirty="0"/>
              <a:t>step1</a:t>
            </a:r>
            <a:r>
              <a:rPr lang="zh-CN" altLang="zh-CN" dirty="0"/>
              <a:t>分别表示数组第</a:t>
            </a:r>
            <a:r>
              <a:rPr lang="en-US" altLang="zh-CN" dirty="0"/>
              <a:t>1</a:t>
            </a:r>
            <a:r>
              <a:rPr lang="zh-CN" altLang="zh-CN" dirty="0"/>
              <a:t>维切片开始位置、结束位置和增长的步长。</a:t>
            </a:r>
            <a:r>
              <a:rPr lang="en-US" altLang="zh-CN" dirty="0"/>
              <a:t>start2</a:t>
            </a:r>
            <a:r>
              <a:rPr lang="zh-CN" altLang="zh-CN" dirty="0"/>
              <a:t>、</a:t>
            </a:r>
            <a:r>
              <a:rPr lang="en-US" altLang="zh-CN" dirty="0"/>
              <a:t>end2</a:t>
            </a:r>
            <a:r>
              <a:rPr lang="zh-CN" altLang="zh-CN" dirty="0"/>
              <a:t>和</a:t>
            </a:r>
            <a:r>
              <a:rPr lang="en-US" altLang="zh-CN" dirty="0"/>
              <a:t>step2</a:t>
            </a:r>
            <a:r>
              <a:rPr lang="zh-CN" altLang="zh-CN" dirty="0"/>
              <a:t>分别表示数组第</a:t>
            </a:r>
            <a:r>
              <a:rPr lang="en-US" altLang="zh-CN" dirty="0"/>
              <a:t>2</a:t>
            </a:r>
            <a:r>
              <a:rPr lang="zh-CN" altLang="zh-CN" dirty="0"/>
              <a:t>维切片开始位置、结束位置和增长的步长。</a:t>
            </a:r>
            <a:r>
              <a:rPr lang="en-US" altLang="zh-CN" dirty="0"/>
              <a:t>end1</a:t>
            </a:r>
            <a:r>
              <a:rPr lang="zh-CN" altLang="zh-CN" dirty="0"/>
              <a:t>和</a:t>
            </a:r>
            <a:r>
              <a:rPr lang="en-US" altLang="zh-CN" dirty="0"/>
              <a:t>end2</a:t>
            </a:r>
            <a:r>
              <a:rPr lang="zh-CN" altLang="zh-CN" dirty="0"/>
              <a:t>位置的元素均不包含在切片结果中。</a:t>
            </a:r>
          </a:p>
        </p:txBody>
      </p:sp>
    </p:spTree>
    <p:extLst>
      <p:ext uri="{BB962C8B-B14F-4D97-AF65-F5344CB8AC3E}">
        <p14:creationId xmlns:p14="http://schemas.microsoft.com/office/powerpoint/2010/main" val="118150765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内容占位符 4"/>
          <p:cNvSpPr>
            <a:spLocks noGrp="1"/>
          </p:cNvSpPr>
          <p:nvPr>
            <p:ph sz="half" idx="1"/>
          </p:nvPr>
        </p:nvSpPr>
        <p:spPr>
          <a:xfrm>
            <a:off x="263353" y="1124744"/>
            <a:ext cx="4248471" cy="5328592"/>
          </a:xfrm>
          <a:ln>
            <a:solidFill>
              <a:srgbClr val="9900FF"/>
            </a:solidFill>
          </a:ln>
        </p:spPr>
        <p:txBody>
          <a:bodyPr>
            <a:noAutofit/>
          </a:bodyPr>
          <a:lstStyle/>
          <a:p>
            <a:pPr marL="0" indent="0">
              <a:buNone/>
            </a:pPr>
            <a:r>
              <a:rPr lang="en-US" altLang="zh-CN" sz="1800" dirty="0"/>
              <a:t>&gt;&gt;&gt; import </a:t>
            </a:r>
            <a:r>
              <a:rPr lang="en-US" altLang="zh-CN" sz="1800" dirty="0" err="1"/>
              <a:t>numpy</a:t>
            </a:r>
            <a:r>
              <a:rPr lang="en-US" altLang="zh-CN" sz="1800" dirty="0"/>
              <a:t> as np</a:t>
            </a:r>
            <a:endParaRPr lang="zh-CN" altLang="zh-CN" sz="1800" dirty="0"/>
          </a:p>
          <a:p>
            <a:pPr marL="0" indent="0">
              <a:buNone/>
            </a:pPr>
            <a:r>
              <a:rPr lang="en-US" altLang="zh-CN" sz="1800" dirty="0"/>
              <a:t>&gt;&gt;&gt; </a:t>
            </a:r>
            <a:r>
              <a:rPr lang="en-US" altLang="zh-CN" sz="1800" dirty="0" err="1"/>
              <a:t>np.random.seed</a:t>
            </a:r>
            <a:r>
              <a:rPr lang="en-US" altLang="zh-CN" sz="1800" dirty="0"/>
              <a:t>(1000)</a:t>
            </a:r>
            <a:endParaRPr lang="zh-CN" altLang="zh-CN" sz="1800" dirty="0"/>
          </a:p>
          <a:p>
            <a:pPr marL="0" indent="0">
              <a:buNone/>
            </a:pPr>
            <a:r>
              <a:rPr lang="en-US" altLang="zh-CN" sz="1800" dirty="0"/>
              <a:t>&gt;&gt;&gt; x=</a:t>
            </a:r>
            <a:r>
              <a:rPr lang="en-US" altLang="zh-CN" sz="1800" dirty="0" err="1"/>
              <a:t>np.random.randint</a:t>
            </a:r>
            <a:r>
              <a:rPr lang="en-US" altLang="zh-CN" sz="1800" dirty="0"/>
              <a:t>(1,100,size=(5,6))</a:t>
            </a:r>
            <a:endParaRPr lang="zh-CN" altLang="zh-CN" sz="1800" dirty="0"/>
          </a:p>
          <a:p>
            <a:pPr marL="0" indent="0">
              <a:buNone/>
            </a:pPr>
            <a:r>
              <a:rPr lang="en-US" altLang="zh-CN" sz="1800" dirty="0"/>
              <a:t>&gt;&gt;&gt; x</a:t>
            </a:r>
            <a:endParaRPr lang="zh-CN" altLang="zh-CN" sz="1800" dirty="0"/>
          </a:p>
          <a:p>
            <a:pPr marL="0" indent="0">
              <a:buNone/>
            </a:pPr>
            <a:r>
              <a:rPr lang="en-US" altLang="zh-CN" sz="1800" dirty="0"/>
              <a:t>array([[52, 88, 72, 65, 95, 93],</a:t>
            </a:r>
            <a:endParaRPr lang="zh-CN" altLang="zh-CN" sz="1800" dirty="0"/>
          </a:p>
          <a:p>
            <a:pPr marL="0" indent="0">
              <a:buNone/>
            </a:pPr>
            <a:r>
              <a:rPr lang="en-US" altLang="zh-CN" sz="1800" dirty="0"/>
              <a:t>       [ 2, 62,  1, 90, 46, 41],</a:t>
            </a:r>
            <a:endParaRPr lang="zh-CN" altLang="zh-CN" sz="1800" dirty="0"/>
          </a:p>
          <a:p>
            <a:pPr marL="0" indent="0">
              <a:buNone/>
            </a:pPr>
            <a:r>
              <a:rPr lang="en-US" altLang="zh-CN" sz="1800" dirty="0"/>
              <a:t>       [93, 92, 37, 61, 43, 59],</a:t>
            </a:r>
            <a:endParaRPr lang="zh-CN" altLang="zh-CN" sz="1800" dirty="0"/>
          </a:p>
          <a:p>
            <a:pPr marL="0" indent="0">
              <a:buNone/>
            </a:pPr>
            <a:r>
              <a:rPr lang="en-US" altLang="zh-CN" sz="1800" dirty="0"/>
              <a:t>       [42, 21, 31, 89, 31, 29],</a:t>
            </a:r>
            <a:endParaRPr lang="zh-CN" altLang="zh-CN" sz="1800" dirty="0"/>
          </a:p>
          <a:p>
            <a:pPr marL="0" indent="0">
              <a:buNone/>
            </a:pPr>
            <a:r>
              <a:rPr lang="en-US" altLang="zh-CN" sz="1800" dirty="0"/>
              <a:t>       [31, 78, 83, 29, 86, 94]])</a:t>
            </a:r>
            <a:endParaRPr lang="zh-CN" altLang="zh-CN" sz="1800" dirty="0"/>
          </a:p>
          <a:p>
            <a:pPr marL="0" indent="0">
              <a:buNone/>
            </a:pPr>
            <a:r>
              <a:rPr lang="en-US" altLang="zh-CN" sz="1800" dirty="0"/>
              <a:t>&gt;&gt;&gt; x1=x[1:4, 2:5]</a:t>
            </a:r>
            <a:endParaRPr lang="zh-CN" altLang="zh-CN" sz="1800" dirty="0"/>
          </a:p>
          <a:p>
            <a:pPr marL="0" indent="0">
              <a:buNone/>
            </a:pPr>
            <a:r>
              <a:rPr lang="en-US" altLang="zh-CN" sz="1800" dirty="0"/>
              <a:t>&gt;&gt;&gt; x1</a:t>
            </a:r>
            <a:endParaRPr lang="zh-CN" altLang="zh-CN" sz="1800" dirty="0"/>
          </a:p>
          <a:p>
            <a:pPr marL="0" indent="0">
              <a:buNone/>
            </a:pPr>
            <a:r>
              <a:rPr lang="en-US" altLang="zh-CN" sz="1800" dirty="0"/>
              <a:t>array([[ 1, 90, 46],</a:t>
            </a:r>
            <a:endParaRPr lang="zh-CN" altLang="zh-CN" sz="1800" dirty="0"/>
          </a:p>
          <a:p>
            <a:pPr marL="0" indent="0">
              <a:buNone/>
            </a:pPr>
            <a:r>
              <a:rPr lang="en-US" altLang="zh-CN" sz="1800" dirty="0"/>
              <a:t>       [37, 61, 43],</a:t>
            </a:r>
            <a:endParaRPr lang="zh-CN" altLang="zh-CN" sz="1800" dirty="0"/>
          </a:p>
          <a:p>
            <a:pPr marL="0" indent="0">
              <a:buNone/>
            </a:pPr>
            <a:r>
              <a:rPr lang="en-US" altLang="zh-CN" sz="1800" dirty="0"/>
              <a:t>       [31, 89, 31]])</a:t>
            </a:r>
            <a:endParaRPr lang="zh-CN" altLang="zh-CN" sz="1800" dirty="0"/>
          </a:p>
        </p:txBody>
      </p:sp>
      <p:sp>
        <p:nvSpPr>
          <p:cNvPr id="6" name="内容占位符 5"/>
          <p:cNvSpPr>
            <a:spLocks noGrp="1"/>
          </p:cNvSpPr>
          <p:nvPr>
            <p:ph sz="half" idx="2"/>
          </p:nvPr>
        </p:nvSpPr>
        <p:spPr>
          <a:xfrm>
            <a:off x="4655840" y="1124744"/>
            <a:ext cx="3024336" cy="5328592"/>
          </a:xfrm>
          <a:ln>
            <a:solidFill>
              <a:srgbClr val="9900FF"/>
            </a:solidFill>
          </a:ln>
        </p:spPr>
        <p:txBody>
          <a:bodyPr>
            <a:noAutofit/>
          </a:bodyPr>
          <a:lstStyle/>
          <a:p>
            <a:pPr marL="0" indent="0">
              <a:lnSpc>
                <a:spcPct val="100000"/>
              </a:lnSpc>
              <a:spcBef>
                <a:spcPts val="200"/>
              </a:spcBef>
              <a:buNone/>
            </a:pPr>
            <a:r>
              <a:rPr lang="en-US" altLang="zh-CN" sz="1800" dirty="0"/>
              <a:t>&gt;&gt;&gt; x2=x[1:4:2, : ]</a:t>
            </a:r>
            <a:endParaRPr lang="zh-CN" altLang="zh-CN" sz="1800" dirty="0"/>
          </a:p>
          <a:p>
            <a:pPr marL="0" indent="0">
              <a:lnSpc>
                <a:spcPct val="100000"/>
              </a:lnSpc>
              <a:spcBef>
                <a:spcPts val="200"/>
              </a:spcBef>
              <a:buNone/>
            </a:pPr>
            <a:r>
              <a:rPr lang="en-US" altLang="zh-CN" sz="1800" dirty="0"/>
              <a:t>&gt;&gt;&gt; x2</a:t>
            </a:r>
            <a:endParaRPr lang="zh-CN" altLang="zh-CN" sz="1800" dirty="0"/>
          </a:p>
          <a:p>
            <a:pPr marL="0" indent="0">
              <a:lnSpc>
                <a:spcPct val="100000"/>
              </a:lnSpc>
              <a:spcBef>
                <a:spcPts val="200"/>
              </a:spcBef>
              <a:buNone/>
            </a:pPr>
            <a:r>
              <a:rPr lang="en-US" altLang="zh-CN" sz="1800" dirty="0"/>
              <a:t>array([[ 2, 62,  1, 90, 46, 41],</a:t>
            </a:r>
            <a:endParaRPr lang="zh-CN" altLang="zh-CN" sz="1800" dirty="0"/>
          </a:p>
          <a:p>
            <a:pPr marL="0" indent="0">
              <a:lnSpc>
                <a:spcPct val="100000"/>
              </a:lnSpc>
              <a:spcBef>
                <a:spcPts val="200"/>
              </a:spcBef>
              <a:buNone/>
            </a:pPr>
            <a:r>
              <a:rPr lang="en-US" altLang="zh-CN" sz="1800" dirty="0"/>
              <a:t>       [42, 21, 31, 89, 31, 29]])</a:t>
            </a:r>
            <a:endParaRPr lang="zh-CN" altLang="zh-CN" sz="1800" dirty="0"/>
          </a:p>
          <a:p>
            <a:pPr marL="0" indent="0">
              <a:lnSpc>
                <a:spcPct val="100000"/>
              </a:lnSpc>
              <a:spcBef>
                <a:spcPts val="200"/>
              </a:spcBef>
              <a:buNone/>
            </a:pPr>
            <a:r>
              <a:rPr lang="en-US" altLang="zh-CN" sz="1800" dirty="0"/>
              <a:t>&gt;&gt;&gt; # </a:t>
            </a:r>
            <a:r>
              <a:rPr lang="zh-CN" altLang="zh-CN" sz="1800" dirty="0"/>
              <a:t>修改</a:t>
            </a:r>
            <a:r>
              <a:rPr lang="en-US" altLang="zh-CN" sz="1800" dirty="0"/>
              <a:t>x1</a:t>
            </a:r>
            <a:r>
              <a:rPr lang="zh-CN" altLang="zh-CN" sz="1800" dirty="0"/>
              <a:t>中的元素值</a:t>
            </a:r>
            <a:endParaRPr lang="en-US" altLang="zh-CN" sz="1800" dirty="0"/>
          </a:p>
          <a:p>
            <a:pPr marL="0" indent="0">
              <a:lnSpc>
                <a:spcPct val="100000"/>
              </a:lnSpc>
              <a:spcBef>
                <a:spcPts val="200"/>
              </a:spcBef>
              <a:buNone/>
            </a:pPr>
            <a:r>
              <a:rPr lang="en-US" altLang="zh-CN" sz="1800" dirty="0"/>
              <a:t>&gt;&gt;&gt; x1[2,0]=999 	</a:t>
            </a:r>
            <a:endParaRPr lang="zh-CN" altLang="zh-CN" sz="1800" dirty="0"/>
          </a:p>
          <a:p>
            <a:pPr marL="0" indent="0">
              <a:lnSpc>
                <a:spcPct val="100000"/>
              </a:lnSpc>
              <a:spcBef>
                <a:spcPts val="200"/>
              </a:spcBef>
              <a:buNone/>
            </a:pPr>
            <a:r>
              <a:rPr lang="en-US" altLang="zh-CN" sz="1800" dirty="0"/>
              <a:t>&gt;&gt;&gt; x1</a:t>
            </a:r>
            <a:endParaRPr lang="zh-CN" altLang="zh-CN" sz="1800" dirty="0"/>
          </a:p>
          <a:p>
            <a:pPr marL="0" indent="0">
              <a:lnSpc>
                <a:spcPct val="100000"/>
              </a:lnSpc>
              <a:spcBef>
                <a:spcPts val="200"/>
              </a:spcBef>
              <a:buNone/>
            </a:pPr>
            <a:r>
              <a:rPr lang="en-US" altLang="zh-CN" sz="1800" dirty="0"/>
              <a:t>array([[  1,  90,  46],</a:t>
            </a:r>
            <a:endParaRPr lang="zh-CN" altLang="zh-CN" sz="1800" dirty="0"/>
          </a:p>
          <a:p>
            <a:pPr marL="0" indent="0">
              <a:lnSpc>
                <a:spcPct val="100000"/>
              </a:lnSpc>
              <a:spcBef>
                <a:spcPts val="200"/>
              </a:spcBef>
              <a:buNone/>
            </a:pPr>
            <a:r>
              <a:rPr lang="en-US" altLang="zh-CN" sz="1800" dirty="0"/>
              <a:t>       [ 37,  61,  43],</a:t>
            </a:r>
            <a:endParaRPr lang="zh-CN" altLang="zh-CN" sz="1800" dirty="0"/>
          </a:p>
          <a:p>
            <a:pPr marL="0" indent="0">
              <a:lnSpc>
                <a:spcPct val="100000"/>
              </a:lnSpc>
              <a:spcBef>
                <a:spcPts val="200"/>
              </a:spcBef>
              <a:buNone/>
            </a:pPr>
            <a:r>
              <a:rPr lang="en-US" altLang="zh-CN" sz="1800" dirty="0"/>
              <a:t>       [</a:t>
            </a:r>
            <a:r>
              <a:rPr lang="en-US" altLang="zh-CN" sz="1800" dirty="0">
                <a:solidFill>
                  <a:srgbClr val="FF0000"/>
                </a:solidFill>
              </a:rPr>
              <a:t>999</a:t>
            </a:r>
            <a:r>
              <a:rPr lang="en-US" altLang="zh-CN" sz="1800" dirty="0"/>
              <a:t>,  89,  31]])</a:t>
            </a:r>
            <a:endParaRPr lang="zh-CN" altLang="zh-CN" sz="1800" dirty="0"/>
          </a:p>
        </p:txBody>
      </p:sp>
      <p:sp>
        <p:nvSpPr>
          <p:cNvPr id="7" name="内容占位符 5"/>
          <p:cNvSpPr txBox="1">
            <a:spLocks/>
          </p:cNvSpPr>
          <p:nvPr/>
        </p:nvSpPr>
        <p:spPr bwMode="auto">
          <a:xfrm>
            <a:off x="7824192" y="1115280"/>
            <a:ext cx="4176464" cy="5328592"/>
          </a:xfrm>
          <a:prstGeom prst="rect">
            <a:avLst/>
          </a:prstGeom>
          <a:noFill/>
          <a:ln>
            <a:solidFill>
              <a:srgbClr val="9900FF"/>
            </a:solidFill>
          </a:ln>
          <a:extLst>
            <a:ext uri="{909E8E84-426E-40DD-AFC4-6F175D3DCCD1}">
              <a14:hiddenFill xmlns:a14="http://schemas.microsoft.com/office/drawing/2010/main">
                <a:solidFill>
                  <a:srgbClr val="FFFFFF"/>
                </a:solidFill>
              </a14:hiddenFill>
            </a:ext>
          </a:extLst>
        </p:spPr>
        <p:txBody>
          <a:bodyPr vert="horz" wrap="square" lIns="92075" tIns="46038" rIns="92075" bIns="46038" numCol="1" anchor="t" anchorCtr="0" compatLnSpc="1">
            <a:prstTxWarp prst="textNoShape">
              <a:avLst/>
            </a:prstTxWarp>
            <a:normAutofit/>
          </a:bodyPr>
          <a:lstStyle>
            <a:lvl1pPr marL="234950" indent="-234950" algn="l" rtl="0" eaLnBrk="1" fontAlgn="base" hangingPunct="1">
              <a:lnSpc>
                <a:spcPct val="110000"/>
              </a:lnSpc>
              <a:spcBef>
                <a:spcPts val="300"/>
              </a:spcBef>
              <a:spcAft>
                <a:spcPts val="100"/>
              </a:spcAft>
              <a:buClr>
                <a:schemeClr val="accent1"/>
              </a:buClr>
              <a:buSzPct val="90000"/>
              <a:buFont typeface="Wingdings" panose="05000000000000000000" pitchFamily="2" charset="2"/>
              <a:buChar char="n"/>
              <a:defRPr sz="2800" b="0">
                <a:solidFill>
                  <a:schemeClr val="tx1"/>
                </a:solidFill>
                <a:latin typeface="+mn-lt"/>
                <a:ea typeface="+mn-ea"/>
                <a:cs typeface="+mn-cs"/>
              </a:defRPr>
            </a:lvl1pPr>
            <a:lvl2pPr marL="681038" indent="-234950" algn="l" rtl="0" eaLnBrk="1" fontAlgn="base" hangingPunct="1">
              <a:lnSpc>
                <a:spcPct val="110000"/>
              </a:lnSpc>
              <a:spcBef>
                <a:spcPts val="300"/>
              </a:spcBef>
              <a:spcAft>
                <a:spcPts val="100"/>
              </a:spcAft>
              <a:buClr>
                <a:schemeClr val="accent1"/>
              </a:buClr>
              <a:buSzPct val="75000"/>
              <a:buFont typeface="Wingdings" panose="05000000000000000000" pitchFamily="2" charset="2"/>
              <a:buChar char="u"/>
              <a:defRPr sz="2400" b="0">
                <a:solidFill>
                  <a:schemeClr val="tx1"/>
                </a:solidFill>
                <a:latin typeface="+mn-lt"/>
                <a:ea typeface="+mn-ea"/>
              </a:defRPr>
            </a:lvl2pPr>
            <a:lvl3pPr marL="1147763" indent="-234950" algn="l" rtl="0" eaLnBrk="1" fontAlgn="base" hangingPunct="1">
              <a:lnSpc>
                <a:spcPct val="110000"/>
              </a:lnSpc>
              <a:spcBef>
                <a:spcPts val="300"/>
              </a:spcBef>
              <a:spcAft>
                <a:spcPts val="100"/>
              </a:spcAft>
              <a:buClr>
                <a:schemeClr val="accent1"/>
              </a:buClr>
              <a:buSzPct val="65000"/>
              <a:buFont typeface="Wingdings" panose="05000000000000000000" pitchFamily="2" charset="2"/>
              <a:buChar char="Ø"/>
              <a:defRPr sz="2000">
                <a:solidFill>
                  <a:schemeClr val="tx1"/>
                </a:solidFill>
                <a:latin typeface="+mn-lt"/>
                <a:ea typeface="+mn-ea"/>
              </a:defRPr>
            </a:lvl3pPr>
            <a:lvl4pPr marL="1604963" indent="-234950" algn="l" rtl="0" eaLnBrk="1" fontAlgn="base" hangingPunct="1">
              <a:lnSpc>
                <a:spcPct val="110000"/>
              </a:lnSpc>
              <a:spcBef>
                <a:spcPts val="300"/>
              </a:spcBef>
              <a:spcAft>
                <a:spcPts val="100"/>
              </a:spcAft>
              <a:buClr>
                <a:schemeClr val="accent1"/>
              </a:buClr>
              <a:buSzPct val="75000"/>
              <a:buChar char="•"/>
              <a:defRPr sz="1800">
                <a:solidFill>
                  <a:schemeClr val="tx1"/>
                </a:solidFill>
                <a:latin typeface="+mn-lt"/>
                <a:ea typeface="+mn-ea"/>
              </a:defRPr>
            </a:lvl4pPr>
            <a:lvl5pPr marL="1947863" indent="-228600" algn="l" rtl="0" eaLnBrk="1" fontAlgn="base" hangingPunct="1">
              <a:lnSpc>
                <a:spcPct val="110000"/>
              </a:lnSpc>
              <a:spcBef>
                <a:spcPts val="300"/>
              </a:spcBef>
              <a:spcAft>
                <a:spcPts val="100"/>
              </a:spcAft>
              <a:buClr>
                <a:schemeClr val="accent1"/>
              </a:buClr>
              <a:buSzPct val="75000"/>
              <a:buChar char="–"/>
              <a:defRPr sz="1800">
                <a:solidFill>
                  <a:schemeClr val="tx1"/>
                </a:solidFill>
                <a:latin typeface="+mn-lt"/>
                <a:ea typeface="+mn-ea"/>
              </a:defRPr>
            </a:lvl5pPr>
            <a:lvl6pPr marL="2405063" indent="-228600" algn="l" rtl="0" eaLnBrk="1" fontAlgn="base" hangingPunct="1">
              <a:spcBef>
                <a:spcPct val="5000"/>
              </a:spcBef>
              <a:spcAft>
                <a:spcPct val="0"/>
              </a:spcAft>
              <a:buClr>
                <a:schemeClr val="accent1"/>
              </a:buClr>
              <a:buSzPct val="75000"/>
              <a:buChar char="–"/>
              <a:defRPr sz="1800">
                <a:solidFill>
                  <a:schemeClr val="tx1"/>
                </a:solidFill>
                <a:latin typeface="+mn-lt"/>
                <a:ea typeface="+mn-ea"/>
              </a:defRPr>
            </a:lvl6pPr>
            <a:lvl7pPr marL="2862263" indent="-228600" algn="l" rtl="0" eaLnBrk="1" fontAlgn="base" hangingPunct="1">
              <a:spcBef>
                <a:spcPct val="5000"/>
              </a:spcBef>
              <a:spcAft>
                <a:spcPct val="0"/>
              </a:spcAft>
              <a:buClr>
                <a:schemeClr val="accent1"/>
              </a:buClr>
              <a:buSzPct val="75000"/>
              <a:buChar char="–"/>
              <a:defRPr sz="1800">
                <a:solidFill>
                  <a:schemeClr val="tx1"/>
                </a:solidFill>
                <a:latin typeface="+mn-lt"/>
                <a:ea typeface="+mn-ea"/>
              </a:defRPr>
            </a:lvl7pPr>
            <a:lvl8pPr marL="3319463" indent="-228600" algn="l" rtl="0" eaLnBrk="1" fontAlgn="base" hangingPunct="1">
              <a:spcBef>
                <a:spcPct val="5000"/>
              </a:spcBef>
              <a:spcAft>
                <a:spcPct val="0"/>
              </a:spcAft>
              <a:buClr>
                <a:schemeClr val="accent1"/>
              </a:buClr>
              <a:buSzPct val="75000"/>
              <a:buChar char="–"/>
              <a:defRPr sz="1800">
                <a:solidFill>
                  <a:schemeClr val="tx1"/>
                </a:solidFill>
                <a:latin typeface="+mn-lt"/>
                <a:ea typeface="+mn-ea"/>
              </a:defRPr>
            </a:lvl8pPr>
            <a:lvl9pPr marL="3776663" indent="-228600" algn="l" rtl="0" eaLnBrk="1" fontAlgn="base" hangingPunct="1">
              <a:spcBef>
                <a:spcPct val="5000"/>
              </a:spcBef>
              <a:spcAft>
                <a:spcPct val="0"/>
              </a:spcAft>
              <a:buClr>
                <a:schemeClr val="accent1"/>
              </a:buClr>
              <a:buSzPct val="75000"/>
              <a:buChar char="–"/>
              <a:defRPr sz="1800">
                <a:solidFill>
                  <a:schemeClr val="tx1"/>
                </a:solidFill>
                <a:latin typeface="+mn-lt"/>
                <a:ea typeface="+mn-ea"/>
              </a:defRPr>
            </a:lvl9pPr>
          </a:lstStyle>
          <a:p>
            <a:pPr marL="0" indent="0">
              <a:buNone/>
            </a:pPr>
            <a:r>
              <a:rPr lang="en-US" altLang="zh-CN" sz="1800" dirty="0"/>
              <a:t>&gt;&gt;&gt; #x2</a:t>
            </a:r>
            <a:r>
              <a:rPr lang="zh-CN" altLang="zh-CN" sz="1800" dirty="0"/>
              <a:t>中直接体现了修改的结果</a:t>
            </a:r>
            <a:endParaRPr lang="en-US" altLang="zh-CN" sz="1800" dirty="0"/>
          </a:p>
          <a:p>
            <a:pPr marL="0" indent="0">
              <a:buNone/>
            </a:pPr>
            <a:r>
              <a:rPr lang="en-US" altLang="zh-CN" sz="1800" dirty="0"/>
              <a:t>&gt;&gt;&gt; x2	</a:t>
            </a:r>
            <a:endParaRPr lang="zh-CN" altLang="zh-CN" sz="1800" dirty="0"/>
          </a:p>
          <a:p>
            <a:pPr marL="0" indent="0">
              <a:buNone/>
            </a:pPr>
            <a:r>
              <a:rPr lang="en-US" altLang="zh-CN" sz="1800" dirty="0"/>
              <a:t>array([[  2,  62,   1,  90,  46,  41],</a:t>
            </a:r>
            <a:endParaRPr lang="zh-CN" altLang="zh-CN" sz="1800" dirty="0"/>
          </a:p>
          <a:p>
            <a:pPr marL="0" indent="0">
              <a:buNone/>
            </a:pPr>
            <a:r>
              <a:rPr lang="en-US" altLang="zh-CN" sz="1800" dirty="0"/>
              <a:t>       [ 42,  21, </a:t>
            </a:r>
            <a:r>
              <a:rPr lang="en-US" altLang="zh-CN" sz="1800" b="1" dirty="0">
                <a:solidFill>
                  <a:srgbClr val="FF0000"/>
                </a:solidFill>
              </a:rPr>
              <a:t>999</a:t>
            </a:r>
            <a:r>
              <a:rPr lang="en-US" altLang="zh-CN" sz="1800" dirty="0"/>
              <a:t>,  89,  31,  29]])</a:t>
            </a:r>
            <a:endParaRPr lang="zh-CN" altLang="zh-CN" sz="1800" dirty="0"/>
          </a:p>
          <a:p>
            <a:pPr marL="0" indent="0">
              <a:buNone/>
            </a:pPr>
            <a:r>
              <a:rPr lang="en-US" altLang="zh-CN" sz="1800" dirty="0"/>
              <a:t>&gt;&gt;&gt; #</a:t>
            </a:r>
            <a:r>
              <a:rPr lang="zh-CN" altLang="zh-CN" sz="1800" dirty="0"/>
              <a:t>原数组</a:t>
            </a:r>
            <a:r>
              <a:rPr lang="en-US" altLang="zh-CN" sz="1800" dirty="0"/>
              <a:t>x</a:t>
            </a:r>
            <a:r>
              <a:rPr lang="zh-CN" altLang="zh-CN" sz="1800" dirty="0"/>
              <a:t>中直接体现了修改的结果</a:t>
            </a:r>
            <a:endParaRPr lang="en-US" altLang="zh-CN" sz="1800" dirty="0"/>
          </a:p>
          <a:p>
            <a:pPr marL="0" indent="0">
              <a:buNone/>
            </a:pPr>
            <a:r>
              <a:rPr lang="en-US" altLang="zh-CN" sz="1800" dirty="0"/>
              <a:t>&gt;&gt;&gt; x	</a:t>
            </a:r>
            <a:endParaRPr lang="zh-CN" altLang="zh-CN" sz="1800" dirty="0"/>
          </a:p>
          <a:p>
            <a:pPr marL="0" indent="0">
              <a:buNone/>
            </a:pPr>
            <a:r>
              <a:rPr lang="en-US" altLang="zh-CN" sz="1800" dirty="0"/>
              <a:t>array([[ 52,  88,  72,  65,  95,  93],</a:t>
            </a:r>
            <a:endParaRPr lang="zh-CN" altLang="zh-CN" sz="1800" dirty="0"/>
          </a:p>
          <a:p>
            <a:pPr marL="0" indent="0">
              <a:buNone/>
            </a:pPr>
            <a:r>
              <a:rPr lang="en-US" altLang="zh-CN" sz="1800" dirty="0"/>
              <a:t>       [  2,  62,   1,  90,  46,  41],</a:t>
            </a:r>
            <a:endParaRPr lang="zh-CN" altLang="zh-CN" sz="1800" dirty="0"/>
          </a:p>
          <a:p>
            <a:pPr marL="0" indent="0">
              <a:buNone/>
            </a:pPr>
            <a:r>
              <a:rPr lang="en-US" altLang="zh-CN" sz="1800" dirty="0"/>
              <a:t>       [ 93,  92,  37,  61,  43,  59],</a:t>
            </a:r>
            <a:endParaRPr lang="zh-CN" altLang="zh-CN" sz="1800" dirty="0"/>
          </a:p>
          <a:p>
            <a:pPr marL="0" indent="0">
              <a:buNone/>
            </a:pPr>
            <a:r>
              <a:rPr lang="en-US" altLang="zh-CN" sz="1800" dirty="0"/>
              <a:t>       [ 42,  21, </a:t>
            </a:r>
            <a:r>
              <a:rPr lang="en-US" altLang="zh-CN" sz="1800" b="1" dirty="0">
                <a:solidFill>
                  <a:srgbClr val="FF0000"/>
                </a:solidFill>
              </a:rPr>
              <a:t>999</a:t>
            </a:r>
            <a:r>
              <a:rPr lang="en-US" altLang="zh-CN" sz="1800" dirty="0"/>
              <a:t>,  89,  31,  29],</a:t>
            </a:r>
            <a:endParaRPr lang="zh-CN" altLang="zh-CN" sz="1800" dirty="0"/>
          </a:p>
          <a:p>
            <a:pPr marL="0" indent="0">
              <a:buNone/>
            </a:pPr>
            <a:r>
              <a:rPr lang="en-US" altLang="zh-CN" sz="1800" dirty="0"/>
              <a:t>       [ 31,  78,  83,  29,  86,  94]])</a:t>
            </a:r>
            <a:endParaRPr lang="zh-CN" altLang="zh-CN" sz="1800" dirty="0"/>
          </a:p>
          <a:p>
            <a:pPr marL="0" indent="0">
              <a:buNone/>
            </a:pPr>
            <a:r>
              <a:rPr lang="en-US" altLang="zh-CN" sz="1800" dirty="0"/>
              <a:t>&gt;&gt;&gt; </a:t>
            </a:r>
            <a:endParaRPr lang="zh-CN" altLang="zh-CN" sz="1800" dirty="0"/>
          </a:p>
        </p:txBody>
      </p:sp>
    </p:spTree>
    <p:extLst>
      <p:ext uri="{BB962C8B-B14F-4D97-AF65-F5344CB8AC3E}">
        <p14:creationId xmlns:p14="http://schemas.microsoft.com/office/powerpoint/2010/main" val="306598269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endParaRPr lang="zh-CN" altLang="en-US"/>
          </a:p>
        </p:txBody>
      </p:sp>
      <p:sp>
        <p:nvSpPr>
          <p:cNvPr id="10" name="内容占位符 9"/>
          <p:cNvSpPr>
            <a:spLocks noGrp="1"/>
          </p:cNvSpPr>
          <p:nvPr>
            <p:ph idx="1"/>
          </p:nvPr>
        </p:nvSpPr>
        <p:spPr/>
        <p:txBody>
          <a:bodyPr>
            <a:normAutofit/>
          </a:bodyPr>
          <a:lstStyle/>
          <a:p>
            <a:r>
              <a:rPr lang="zh-CN" altLang="zh-CN" i="1" dirty="0"/>
              <a:t>数组名</a:t>
            </a:r>
            <a:r>
              <a:rPr lang="en-US" altLang="zh-CN" i="1" dirty="0"/>
              <a:t>[</a:t>
            </a:r>
            <a:r>
              <a:rPr lang="en-US" altLang="zh-CN" i="1" dirty="0" err="1"/>
              <a:t>i</a:t>
            </a:r>
            <a:r>
              <a:rPr lang="en-US" altLang="zh-CN" i="1" dirty="0"/>
              <a:t>]</a:t>
            </a:r>
            <a:r>
              <a:rPr lang="zh-CN" altLang="zh-CN" dirty="0"/>
              <a:t>可以用来获取第</a:t>
            </a:r>
            <a:r>
              <a:rPr lang="en-US" altLang="zh-CN" dirty="0" err="1"/>
              <a:t>i</a:t>
            </a:r>
            <a:r>
              <a:rPr lang="zh-CN" altLang="zh-CN" dirty="0"/>
              <a:t>行所有元素</a:t>
            </a:r>
            <a:r>
              <a:rPr lang="zh-CN" altLang="en-US" dirty="0"/>
              <a:t>构成新的数组，维数比原数组减</a:t>
            </a:r>
            <a:r>
              <a:rPr lang="en-US" altLang="zh-CN" dirty="0"/>
              <a:t>1</a:t>
            </a:r>
            <a:r>
              <a:rPr lang="zh-CN" altLang="zh-CN" dirty="0"/>
              <a:t>。</a:t>
            </a:r>
            <a:endParaRPr lang="en-US" altLang="zh-CN" dirty="0"/>
          </a:p>
          <a:p>
            <a:r>
              <a:rPr lang="zh-CN" altLang="zh-CN" i="1" dirty="0"/>
              <a:t>数组名</a:t>
            </a:r>
            <a:r>
              <a:rPr lang="en-US" altLang="zh-CN" i="1" dirty="0"/>
              <a:t>[:, j]</a:t>
            </a:r>
            <a:r>
              <a:rPr lang="zh-CN" altLang="zh-CN" dirty="0"/>
              <a:t>可以用来获取第</a:t>
            </a:r>
            <a:r>
              <a:rPr lang="en-US" altLang="zh-CN" dirty="0"/>
              <a:t>j</a:t>
            </a:r>
            <a:r>
              <a:rPr lang="zh-CN" altLang="zh-CN" dirty="0"/>
              <a:t>列所有元素</a:t>
            </a:r>
            <a:r>
              <a:rPr lang="zh-CN" altLang="en-US" dirty="0"/>
              <a:t>构成新数组，维数比原数组减</a:t>
            </a:r>
            <a:r>
              <a:rPr lang="en-US" altLang="zh-CN" dirty="0"/>
              <a:t>1</a:t>
            </a:r>
            <a:r>
              <a:rPr lang="zh-CN" altLang="en-US" dirty="0"/>
              <a:t>。</a:t>
            </a:r>
          </a:p>
          <a:p>
            <a:endParaRPr lang="en-US" altLang="zh-CN" dirty="0"/>
          </a:p>
          <a:p>
            <a:pPr marL="446088" lvl="1" indent="0">
              <a:lnSpc>
                <a:spcPct val="100000"/>
              </a:lnSpc>
              <a:spcBef>
                <a:spcPts val="200"/>
              </a:spcBef>
              <a:buNone/>
            </a:pPr>
            <a:r>
              <a:rPr lang="en-US" altLang="zh-CN" dirty="0"/>
              <a:t>&gt;&gt;&gt; x3=x[1]    	# </a:t>
            </a:r>
            <a:r>
              <a:rPr lang="zh-CN" altLang="en-US" dirty="0"/>
              <a:t>取</a:t>
            </a:r>
            <a:r>
              <a:rPr lang="en-US" altLang="zh-CN" dirty="0"/>
              <a:t>x</a:t>
            </a:r>
            <a:r>
              <a:rPr lang="zh-CN" altLang="zh-CN" dirty="0"/>
              <a:t>中的第</a:t>
            </a:r>
            <a:r>
              <a:rPr lang="en-US" altLang="zh-CN" dirty="0"/>
              <a:t>1</a:t>
            </a:r>
            <a:r>
              <a:rPr lang="zh-CN" altLang="zh-CN" dirty="0"/>
              <a:t>行</a:t>
            </a:r>
            <a:r>
              <a:rPr lang="zh-CN" altLang="en-US" dirty="0"/>
              <a:t>，得到一维数组</a:t>
            </a:r>
            <a:endParaRPr lang="zh-CN" altLang="zh-CN" dirty="0"/>
          </a:p>
          <a:p>
            <a:pPr marL="446088" lvl="1" indent="0">
              <a:lnSpc>
                <a:spcPct val="100000"/>
              </a:lnSpc>
              <a:spcBef>
                <a:spcPts val="200"/>
              </a:spcBef>
              <a:buNone/>
            </a:pPr>
            <a:r>
              <a:rPr lang="en-US" altLang="zh-CN" dirty="0"/>
              <a:t>&gt;&gt;&gt; x3</a:t>
            </a:r>
            <a:endParaRPr lang="zh-CN" altLang="zh-CN" dirty="0"/>
          </a:p>
          <a:p>
            <a:pPr marL="446088" lvl="1" indent="0">
              <a:lnSpc>
                <a:spcPct val="100000"/>
              </a:lnSpc>
              <a:spcBef>
                <a:spcPts val="200"/>
              </a:spcBef>
              <a:buNone/>
            </a:pPr>
            <a:r>
              <a:rPr lang="en-US" altLang="zh-CN" dirty="0"/>
              <a:t>array([ 2, 62,  1, 90, 46, 41])</a:t>
            </a:r>
            <a:endParaRPr lang="zh-CN" altLang="zh-CN" dirty="0"/>
          </a:p>
          <a:p>
            <a:pPr marL="446088" lvl="1" indent="0">
              <a:lnSpc>
                <a:spcPct val="100000"/>
              </a:lnSpc>
              <a:spcBef>
                <a:spcPts val="200"/>
              </a:spcBef>
              <a:buNone/>
            </a:pPr>
            <a:r>
              <a:rPr lang="en-US" altLang="zh-CN" dirty="0"/>
              <a:t>&gt;&gt;&gt; x4=x[:,3]  	# </a:t>
            </a:r>
            <a:r>
              <a:rPr lang="zh-CN" altLang="en-US" dirty="0"/>
              <a:t>取</a:t>
            </a:r>
            <a:r>
              <a:rPr lang="en-US" altLang="zh-CN" dirty="0"/>
              <a:t>x</a:t>
            </a:r>
            <a:r>
              <a:rPr lang="zh-CN" altLang="zh-CN" dirty="0"/>
              <a:t>中的第</a:t>
            </a:r>
            <a:r>
              <a:rPr lang="en-US" altLang="zh-CN" dirty="0"/>
              <a:t>3</a:t>
            </a:r>
            <a:r>
              <a:rPr lang="zh-CN" altLang="zh-CN"/>
              <a:t>列</a:t>
            </a:r>
            <a:r>
              <a:rPr lang="zh-CN" altLang="en-US"/>
              <a:t>，得到一维数组</a:t>
            </a:r>
            <a:endParaRPr lang="zh-CN" altLang="zh-CN" dirty="0"/>
          </a:p>
          <a:p>
            <a:pPr marL="446088" lvl="1" indent="0">
              <a:lnSpc>
                <a:spcPct val="100000"/>
              </a:lnSpc>
              <a:spcBef>
                <a:spcPts val="200"/>
              </a:spcBef>
              <a:buNone/>
            </a:pPr>
            <a:r>
              <a:rPr lang="en-US" altLang="zh-CN" dirty="0"/>
              <a:t>&gt;&gt;&gt; x4</a:t>
            </a:r>
            <a:endParaRPr lang="zh-CN" altLang="zh-CN" dirty="0"/>
          </a:p>
          <a:p>
            <a:pPr marL="446088" lvl="1" indent="0">
              <a:lnSpc>
                <a:spcPct val="100000"/>
              </a:lnSpc>
              <a:spcBef>
                <a:spcPts val="200"/>
              </a:spcBef>
              <a:buNone/>
            </a:pPr>
            <a:r>
              <a:rPr lang="en-US" altLang="zh-CN" dirty="0"/>
              <a:t>array([65, 90, 61, 89, 29])</a:t>
            </a:r>
            <a:endParaRPr lang="zh-CN" altLang="zh-CN" dirty="0"/>
          </a:p>
          <a:p>
            <a:endParaRPr lang="zh-CN" altLang="en-US" dirty="0"/>
          </a:p>
        </p:txBody>
      </p:sp>
    </p:spTree>
    <p:extLst>
      <p:ext uri="{BB962C8B-B14F-4D97-AF65-F5344CB8AC3E}">
        <p14:creationId xmlns:p14="http://schemas.microsoft.com/office/powerpoint/2010/main" val="40866126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2"/>
          </p:nvPr>
        </p:nvSpPr>
        <p:spPr>
          <a:xfrm>
            <a:off x="334435" y="2564904"/>
            <a:ext cx="4537429" cy="3888431"/>
          </a:xfrm>
          <a:ln>
            <a:solidFill>
              <a:srgbClr val="9900FF"/>
            </a:solidFill>
          </a:ln>
        </p:spPr>
        <p:txBody>
          <a:bodyPr>
            <a:normAutofit fontScale="92500" lnSpcReduction="10000"/>
          </a:bodyPr>
          <a:lstStyle/>
          <a:p>
            <a:pPr marL="0" indent="0">
              <a:buNone/>
            </a:pPr>
            <a:r>
              <a:rPr lang="en-US" altLang="zh-CN" dirty="0"/>
              <a:t>&gt;&gt;&gt; import </a:t>
            </a:r>
            <a:r>
              <a:rPr lang="en-US" altLang="zh-CN" dirty="0" err="1"/>
              <a:t>numpy</a:t>
            </a:r>
            <a:r>
              <a:rPr lang="en-US" altLang="zh-CN" dirty="0"/>
              <a:t> as np</a:t>
            </a:r>
            <a:endParaRPr lang="zh-CN" altLang="zh-CN" dirty="0"/>
          </a:p>
          <a:p>
            <a:pPr marL="0" indent="0">
              <a:buNone/>
            </a:pPr>
            <a:r>
              <a:rPr lang="en-US" altLang="zh-CN" dirty="0"/>
              <a:t>&gt;&gt;&gt; a=</a:t>
            </a:r>
            <a:r>
              <a:rPr lang="en-US" altLang="zh-CN" dirty="0" err="1"/>
              <a:t>np.arange</a:t>
            </a:r>
            <a:r>
              <a:rPr lang="en-US" altLang="zh-CN" dirty="0"/>
              <a:t>(1,16)</a:t>
            </a:r>
            <a:endParaRPr lang="zh-CN" altLang="zh-CN" dirty="0"/>
          </a:p>
          <a:p>
            <a:pPr marL="0" indent="0">
              <a:buNone/>
            </a:pPr>
            <a:r>
              <a:rPr lang="en-US" altLang="zh-CN" dirty="0"/>
              <a:t>&gt;&gt;&gt; a</a:t>
            </a:r>
            <a:endParaRPr lang="zh-CN" altLang="zh-CN" dirty="0"/>
          </a:p>
          <a:p>
            <a:pPr marL="0" indent="0">
              <a:buNone/>
            </a:pPr>
            <a:r>
              <a:rPr lang="en-US" altLang="zh-CN" dirty="0"/>
              <a:t>array([ 1,  2,  3,  4,  5,  6,  7,  8,  9, 10, 11, 12, 13, 14, 15])</a:t>
            </a:r>
            <a:endParaRPr lang="zh-CN" altLang="zh-CN" dirty="0"/>
          </a:p>
          <a:p>
            <a:pPr marL="0" indent="0">
              <a:buNone/>
            </a:pPr>
            <a:r>
              <a:rPr lang="en-US" altLang="zh-CN" dirty="0"/>
              <a:t>&gt;&gt;&gt; b=</a:t>
            </a:r>
            <a:r>
              <a:rPr lang="en-US" altLang="zh-CN" dirty="0" err="1"/>
              <a:t>a.reshape</a:t>
            </a:r>
            <a:r>
              <a:rPr lang="en-US" altLang="zh-CN" dirty="0"/>
              <a:t>(3,5)</a:t>
            </a:r>
            <a:endParaRPr lang="zh-CN" altLang="zh-CN" dirty="0"/>
          </a:p>
          <a:p>
            <a:pPr marL="0" indent="0">
              <a:buNone/>
            </a:pPr>
            <a:r>
              <a:rPr lang="en-US" altLang="zh-CN" dirty="0"/>
              <a:t>&gt;&gt;&gt; b</a:t>
            </a:r>
            <a:endParaRPr lang="zh-CN" altLang="zh-CN" dirty="0"/>
          </a:p>
          <a:p>
            <a:pPr marL="0" indent="0">
              <a:buNone/>
            </a:pPr>
            <a:r>
              <a:rPr lang="en-US" altLang="zh-CN" dirty="0"/>
              <a:t>array([[ 1,  2,  3,  4,  5],</a:t>
            </a:r>
            <a:endParaRPr lang="zh-CN" altLang="zh-CN" dirty="0"/>
          </a:p>
          <a:p>
            <a:pPr marL="0" indent="0">
              <a:buNone/>
            </a:pPr>
            <a:r>
              <a:rPr lang="en-US" altLang="zh-CN" dirty="0"/>
              <a:t>       [ 6,  7,  8,  9, 10],</a:t>
            </a:r>
            <a:endParaRPr lang="zh-CN" altLang="zh-CN" dirty="0"/>
          </a:p>
          <a:p>
            <a:pPr marL="0" indent="0">
              <a:buNone/>
            </a:pPr>
            <a:r>
              <a:rPr lang="en-US" altLang="zh-CN" dirty="0"/>
              <a:t>       [11, 12, 13, 14, 15]])</a:t>
            </a:r>
            <a:endParaRPr lang="zh-CN" altLang="zh-CN" dirty="0"/>
          </a:p>
          <a:p>
            <a:pPr marL="0" indent="0">
              <a:buNone/>
            </a:pPr>
            <a:endParaRPr lang="zh-CN" altLang="en-US" dirty="0"/>
          </a:p>
        </p:txBody>
      </p:sp>
      <p:sp>
        <p:nvSpPr>
          <p:cNvPr id="6" name="内容占位符 5"/>
          <p:cNvSpPr>
            <a:spLocks noGrp="1"/>
          </p:cNvSpPr>
          <p:nvPr>
            <p:ph sz="quarter" idx="4"/>
          </p:nvPr>
        </p:nvSpPr>
        <p:spPr>
          <a:xfrm>
            <a:off x="5231904" y="2564904"/>
            <a:ext cx="6624736" cy="3888430"/>
          </a:xfrm>
          <a:ln>
            <a:solidFill>
              <a:srgbClr val="9900FF"/>
            </a:solidFill>
          </a:ln>
        </p:spPr>
        <p:txBody>
          <a:bodyPr>
            <a:normAutofit fontScale="85000" lnSpcReduction="10000"/>
          </a:bodyPr>
          <a:lstStyle/>
          <a:p>
            <a:pPr marL="0" indent="0">
              <a:buNone/>
            </a:pPr>
            <a:r>
              <a:rPr lang="en-US" altLang="zh-CN" dirty="0"/>
              <a:t>&gt;&gt;&gt; a			#</a:t>
            </a:r>
            <a:r>
              <a:rPr lang="zh-CN" altLang="zh-CN" dirty="0"/>
              <a:t>原数组保持不变</a:t>
            </a:r>
          </a:p>
          <a:p>
            <a:pPr marL="0" indent="0">
              <a:buNone/>
            </a:pPr>
            <a:r>
              <a:rPr lang="en-US" altLang="zh-CN" dirty="0"/>
              <a:t>array([ 1,  2,  3,  4,  5,  6,  7,  8,  9, 10, 11, 12, 13, 14, 15])</a:t>
            </a:r>
            <a:endParaRPr lang="zh-CN" altLang="zh-CN" dirty="0"/>
          </a:p>
          <a:p>
            <a:pPr marL="0" indent="0">
              <a:buNone/>
            </a:pPr>
            <a:r>
              <a:rPr lang="en-US" altLang="zh-CN" dirty="0"/>
              <a:t>&gt;&gt;&gt; b[0][0]=100		#</a:t>
            </a:r>
            <a:r>
              <a:rPr lang="zh-CN" altLang="zh-CN" dirty="0"/>
              <a:t>修改数组</a:t>
            </a:r>
            <a:r>
              <a:rPr lang="en-US" altLang="zh-CN" dirty="0"/>
              <a:t>b</a:t>
            </a:r>
            <a:r>
              <a:rPr lang="zh-CN" altLang="zh-CN" dirty="0"/>
              <a:t>中元素的值</a:t>
            </a:r>
          </a:p>
          <a:p>
            <a:pPr marL="0" indent="0">
              <a:buNone/>
            </a:pPr>
            <a:r>
              <a:rPr lang="en-US" altLang="zh-CN" dirty="0"/>
              <a:t>&gt;&gt;&gt; b</a:t>
            </a:r>
            <a:endParaRPr lang="zh-CN" altLang="zh-CN" dirty="0"/>
          </a:p>
          <a:p>
            <a:pPr marL="0" indent="0">
              <a:buNone/>
            </a:pPr>
            <a:r>
              <a:rPr lang="en-US" altLang="zh-CN" dirty="0"/>
              <a:t>array([[100,   2,   3,   4,   5],</a:t>
            </a:r>
            <a:endParaRPr lang="zh-CN" altLang="zh-CN" dirty="0"/>
          </a:p>
          <a:p>
            <a:pPr marL="0" indent="0">
              <a:buNone/>
            </a:pPr>
            <a:r>
              <a:rPr lang="en-US" altLang="zh-CN" dirty="0"/>
              <a:t>       [  6,   7,   8,   9,  10],</a:t>
            </a:r>
            <a:endParaRPr lang="zh-CN" altLang="zh-CN" dirty="0"/>
          </a:p>
          <a:p>
            <a:pPr marL="0" indent="0">
              <a:buNone/>
            </a:pPr>
            <a:r>
              <a:rPr lang="en-US" altLang="zh-CN" dirty="0"/>
              <a:t>       [ 11,  12,  13,  14,  15]])</a:t>
            </a:r>
            <a:endParaRPr lang="zh-CN" altLang="zh-CN" dirty="0"/>
          </a:p>
          <a:p>
            <a:pPr marL="0" indent="0">
              <a:buNone/>
            </a:pPr>
            <a:r>
              <a:rPr lang="en-US" altLang="zh-CN" dirty="0"/>
              <a:t>&gt;&gt;&gt; a	  		#</a:t>
            </a:r>
            <a:r>
              <a:rPr lang="zh-CN" altLang="zh-CN" dirty="0"/>
              <a:t>数组</a:t>
            </a:r>
            <a:r>
              <a:rPr lang="en-US" altLang="zh-CN" dirty="0"/>
              <a:t>a</a:t>
            </a:r>
            <a:r>
              <a:rPr lang="zh-CN" altLang="zh-CN" dirty="0"/>
              <a:t>中也看到了修改的结果</a:t>
            </a:r>
          </a:p>
          <a:p>
            <a:pPr marL="0" indent="0">
              <a:buNone/>
            </a:pPr>
            <a:r>
              <a:rPr lang="en-US" altLang="zh-CN" dirty="0"/>
              <a:t>array([100,   2,   3,   4,   5,   6,   7,   8,   9,  10,  11,  12,  13,</a:t>
            </a:r>
            <a:endParaRPr lang="zh-CN" altLang="zh-CN" dirty="0"/>
          </a:p>
          <a:p>
            <a:pPr marL="0" indent="0">
              <a:buNone/>
            </a:pPr>
            <a:r>
              <a:rPr lang="en-US" altLang="zh-CN" dirty="0"/>
              <a:t>        14,  15])</a:t>
            </a:r>
            <a:endParaRPr lang="zh-CN" altLang="zh-CN" dirty="0"/>
          </a:p>
        </p:txBody>
      </p:sp>
      <p:sp>
        <p:nvSpPr>
          <p:cNvPr id="2" name="标题 1"/>
          <p:cNvSpPr>
            <a:spLocks noGrp="1"/>
          </p:cNvSpPr>
          <p:nvPr>
            <p:ph type="title"/>
          </p:nvPr>
        </p:nvSpPr>
        <p:spPr/>
        <p:txBody>
          <a:bodyPr/>
          <a:lstStyle/>
          <a:p>
            <a:r>
              <a:rPr lang="en-US" altLang="zh-CN" dirty="0"/>
              <a:t>4.3.3 </a:t>
            </a:r>
            <a:r>
              <a:rPr lang="zh-CN" altLang="zh-CN" dirty="0"/>
              <a:t>改变数组的</a:t>
            </a:r>
            <a:r>
              <a:rPr lang="zh-CN" altLang="en-US" dirty="0"/>
              <a:t>形状</a:t>
            </a:r>
          </a:p>
        </p:txBody>
      </p:sp>
      <p:sp>
        <p:nvSpPr>
          <p:cNvPr id="7" name="内容占位符 6"/>
          <p:cNvSpPr>
            <a:spLocks noGrp="1"/>
          </p:cNvSpPr>
          <p:nvPr>
            <p:ph sz="half" idx="10"/>
          </p:nvPr>
        </p:nvSpPr>
        <p:spPr/>
        <p:txBody>
          <a:bodyPr>
            <a:normAutofit fontScale="92500" lnSpcReduction="20000"/>
          </a:bodyPr>
          <a:lstStyle/>
          <a:p>
            <a:r>
              <a:rPr lang="en-US" altLang="zh-CN" dirty="0"/>
              <a:t>1</a:t>
            </a:r>
            <a:r>
              <a:rPr lang="zh-CN" altLang="zh-CN" dirty="0"/>
              <a:t>、</a:t>
            </a:r>
            <a:r>
              <a:rPr lang="en-US" altLang="zh-CN" dirty="0"/>
              <a:t>reshape()</a:t>
            </a:r>
            <a:r>
              <a:rPr lang="zh-CN" altLang="zh-CN" dirty="0"/>
              <a:t>方法生成指定</a:t>
            </a:r>
            <a:r>
              <a:rPr lang="zh-CN" altLang="en-US" dirty="0"/>
              <a:t>形状</a:t>
            </a:r>
            <a:r>
              <a:rPr lang="zh-CN" altLang="zh-CN" dirty="0"/>
              <a:t>的数组</a:t>
            </a:r>
            <a:r>
              <a:rPr lang="zh-CN" altLang="zh-CN" dirty="0">
                <a:solidFill>
                  <a:srgbClr val="0000FF"/>
                </a:solidFill>
              </a:rPr>
              <a:t>视图</a:t>
            </a:r>
          </a:p>
          <a:p>
            <a:pPr lvl="1"/>
            <a:r>
              <a:rPr lang="en-US" altLang="zh-CN" dirty="0"/>
              <a:t>reshape()</a:t>
            </a:r>
            <a:r>
              <a:rPr lang="zh-CN" altLang="zh-CN" dirty="0"/>
              <a:t>方法在不改变数组数据的情况下，改变数组形状。</a:t>
            </a:r>
          </a:p>
          <a:p>
            <a:pPr lvl="1"/>
            <a:r>
              <a:rPr lang="zh-CN" altLang="zh-CN" dirty="0"/>
              <a:t>其参数</a:t>
            </a:r>
            <a:r>
              <a:rPr lang="zh-CN" altLang="en-US" dirty="0"/>
              <a:t>用序列</a:t>
            </a:r>
            <a:r>
              <a:rPr lang="zh-CN" altLang="zh-CN" dirty="0"/>
              <a:t>指定</a:t>
            </a:r>
            <a:r>
              <a:rPr lang="zh-CN" altLang="en-US" dirty="0"/>
              <a:t>形状</a:t>
            </a:r>
            <a:r>
              <a:rPr lang="zh-CN" altLang="zh-CN" dirty="0"/>
              <a:t>。</a:t>
            </a:r>
            <a:r>
              <a:rPr lang="en-US" altLang="zh-CN" dirty="0"/>
              <a:t>reshape()</a:t>
            </a:r>
            <a:r>
              <a:rPr lang="zh-CN" altLang="zh-CN" dirty="0"/>
              <a:t>方法不产生新的数据，只返回数组的一个视图，原数组的</a:t>
            </a:r>
            <a:r>
              <a:rPr lang="zh-CN" altLang="en-US" dirty="0"/>
              <a:t>形状</a:t>
            </a:r>
            <a:r>
              <a:rPr lang="zh-CN" altLang="zh-CN" dirty="0"/>
              <a:t>保持不变。</a:t>
            </a:r>
          </a:p>
          <a:p>
            <a:endParaRPr lang="zh-CN" altLang="en-US" dirty="0"/>
          </a:p>
        </p:txBody>
      </p:sp>
    </p:spTree>
    <p:extLst>
      <p:ext uri="{BB962C8B-B14F-4D97-AF65-F5344CB8AC3E}">
        <p14:creationId xmlns:p14="http://schemas.microsoft.com/office/powerpoint/2010/main" val="82537293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endParaRPr lang="zh-CN" altLang="en-US"/>
          </a:p>
        </p:txBody>
      </p:sp>
      <p:sp>
        <p:nvSpPr>
          <p:cNvPr id="7" name="内容占位符 6"/>
          <p:cNvSpPr>
            <a:spLocks noGrp="1"/>
          </p:cNvSpPr>
          <p:nvPr>
            <p:ph idx="1"/>
          </p:nvPr>
        </p:nvSpPr>
        <p:spPr/>
        <p:txBody>
          <a:bodyPr>
            <a:normAutofit/>
          </a:bodyPr>
          <a:lstStyle/>
          <a:p>
            <a:r>
              <a:rPr lang="en-US" altLang="zh-CN" dirty="0"/>
              <a:t>2</a:t>
            </a:r>
            <a:r>
              <a:rPr lang="zh-CN" altLang="zh-CN" dirty="0"/>
              <a:t>、用</a:t>
            </a:r>
            <a:r>
              <a:rPr lang="en-US" altLang="zh-CN" dirty="0"/>
              <a:t>resize()</a:t>
            </a:r>
            <a:r>
              <a:rPr lang="zh-CN" altLang="zh-CN" dirty="0"/>
              <a:t>方法直接修改原数组的</a:t>
            </a:r>
            <a:r>
              <a:rPr lang="zh-CN" altLang="en-US" dirty="0"/>
              <a:t>形状</a:t>
            </a:r>
            <a:endParaRPr lang="zh-CN" altLang="zh-CN" dirty="0"/>
          </a:p>
          <a:p>
            <a:pPr lvl="1"/>
            <a:r>
              <a:rPr lang="en-US" altLang="zh-CN" dirty="0"/>
              <a:t>resize()</a:t>
            </a:r>
            <a:r>
              <a:rPr lang="zh-CN" altLang="zh-CN" dirty="0"/>
              <a:t>方法也可以修改数组</a:t>
            </a:r>
            <a:r>
              <a:rPr lang="zh-CN" altLang="en-US" dirty="0"/>
              <a:t>的形状</a:t>
            </a:r>
            <a:r>
              <a:rPr lang="zh-CN" altLang="zh-CN" dirty="0"/>
              <a:t>。与</a:t>
            </a:r>
            <a:r>
              <a:rPr lang="en-US" altLang="zh-CN" dirty="0"/>
              <a:t>reshape</a:t>
            </a:r>
            <a:r>
              <a:rPr lang="zh-CN" altLang="zh-CN" dirty="0"/>
              <a:t>不同，</a:t>
            </a:r>
            <a:r>
              <a:rPr lang="en-US" altLang="zh-CN" dirty="0"/>
              <a:t>resize</a:t>
            </a:r>
            <a:r>
              <a:rPr lang="zh-CN" altLang="zh-CN" dirty="0"/>
              <a:t>会直接修改原</a:t>
            </a:r>
            <a:r>
              <a:rPr lang="zh-CN" altLang="zh-CN"/>
              <a:t>数组的</a:t>
            </a:r>
            <a:r>
              <a:rPr lang="zh-CN" altLang="en-US"/>
              <a:t>形状</a:t>
            </a:r>
            <a:r>
              <a:rPr lang="zh-CN" altLang="zh-CN"/>
              <a:t>。</a:t>
            </a:r>
            <a:endParaRPr lang="zh-CN" altLang="zh-CN" dirty="0"/>
          </a:p>
          <a:p>
            <a:pPr marL="912813" lvl="2" indent="0">
              <a:buNone/>
            </a:pPr>
            <a:r>
              <a:rPr lang="en-US" altLang="zh-CN" dirty="0"/>
              <a:t>&gt;&gt;&gt; import </a:t>
            </a:r>
            <a:r>
              <a:rPr lang="en-US" altLang="zh-CN" dirty="0" err="1"/>
              <a:t>numpy</a:t>
            </a:r>
            <a:r>
              <a:rPr lang="en-US" altLang="zh-CN" dirty="0"/>
              <a:t> as np</a:t>
            </a:r>
            <a:endParaRPr lang="zh-CN" altLang="zh-CN" dirty="0"/>
          </a:p>
          <a:p>
            <a:pPr marL="912813" lvl="2" indent="0">
              <a:buNone/>
            </a:pPr>
            <a:r>
              <a:rPr lang="en-US" altLang="zh-CN" dirty="0"/>
              <a:t>&gt;&gt;&gt; a=</a:t>
            </a:r>
            <a:r>
              <a:rPr lang="en-US" altLang="zh-CN" dirty="0" err="1"/>
              <a:t>np.arange</a:t>
            </a:r>
            <a:r>
              <a:rPr lang="en-US" altLang="zh-CN" dirty="0"/>
              <a:t>(1,16)</a:t>
            </a:r>
            <a:endParaRPr lang="zh-CN" altLang="zh-CN" dirty="0"/>
          </a:p>
          <a:p>
            <a:pPr marL="912813" lvl="2" indent="0">
              <a:buNone/>
            </a:pPr>
            <a:r>
              <a:rPr lang="en-US" altLang="zh-CN" dirty="0"/>
              <a:t>&gt;&gt;&gt; a</a:t>
            </a:r>
            <a:endParaRPr lang="zh-CN" altLang="zh-CN" dirty="0"/>
          </a:p>
          <a:p>
            <a:pPr marL="912813" lvl="2" indent="0">
              <a:buNone/>
            </a:pPr>
            <a:r>
              <a:rPr lang="en-US" altLang="zh-CN" dirty="0"/>
              <a:t>array([ 1,  2,  3,  4,  5,  6,  7,  8,  9, 10, 11, 12, 13, 14, 15])</a:t>
            </a:r>
            <a:endParaRPr lang="zh-CN" altLang="zh-CN" dirty="0"/>
          </a:p>
          <a:p>
            <a:pPr marL="912813" lvl="2" indent="0">
              <a:buNone/>
            </a:pPr>
            <a:r>
              <a:rPr lang="en-US" altLang="zh-CN" dirty="0"/>
              <a:t>&gt;&gt;&gt; </a:t>
            </a:r>
            <a:r>
              <a:rPr lang="en-US" altLang="zh-CN" dirty="0" err="1"/>
              <a:t>a.resize</a:t>
            </a:r>
            <a:r>
              <a:rPr lang="en-US" altLang="zh-CN" dirty="0"/>
              <a:t>(3,5)</a:t>
            </a:r>
            <a:endParaRPr lang="zh-CN" altLang="zh-CN" dirty="0"/>
          </a:p>
          <a:p>
            <a:pPr marL="912813" lvl="2" indent="0">
              <a:buNone/>
            </a:pPr>
            <a:r>
              <a:rPr lang="en-US" altLang="zh-CN" dirty="0"/>
              <a:t>&gt;&gt;&gt; a</a:t>
            </a:r>
            <a:endParaRPr lang="zh-CN" altLang="zh-CN" dirty="0"/>
          </a:p>
          <a:p>
            <a:pPr marL="912813" lvl="2" indent="0">
              <a:buNone/>
            </a:pPr>
            <a:r>
              <a:rPr lang="en-US" altLang="zh-CN" dirty="0"/>
              <a:t>array([[ 1,  2,  3,  4,  5],</a:t>
            </a:r>
            <a:endParaRPr lang="zh-CN" altLang="zh-CN" dirty="0"/>
          </a:p>
          <a:p>
            <a:pPr marL="912813" lvl="2" indent="0">
              <a:buNone/>
            </a:pPr>
            <a:r>
              <a:rPr lang="en-US" altLang="zh-CN" dirty="0"/>
              <a:t>       [ 6,  7,  8,  9, 10],</a:t>
            </a:r>
            <a:endParaRPr lang="zh-CN" altLang="zh-CN" dirty="0"/>
          </a:p>
          <a:p>
            <a:pPr marL="912813" lvl="2" indent="0">
              <a:buNone/>
            </a:pPr>
            <a:r>
              <a:rPr lang="en-US" altLang="zh-CN" dirty="0"/>
              <a:t>       [11, 12, 13, 14, 15]])</a:t>
            </a:r>
            <a:endParaRPr lang="zh-CN" altLang="zh-CN" dirty="0"/>
          </a:p>
          <a:p>
            <a:endParaRPr lang="zh-CN" altLang="en-US" dirty="0"/>
          </a:p>
        </p:txBody>
      </p:sp>
    </p:spTree>
    <p:extLst>
      <p:ext uri="{BB962C8B-B14F-4D97-AF65-F5344CB8AC3E}">
        <p14:creationId xmlns:p14="http://schemas.microsoft.com/office/powerpoint/2010/main" val="176587211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en-US" altLang="zh-CN" dirty="0"/>
              <a:t>3</a:t>
            </a:r>
            <a:r>
              <a:rPr lang="zh-CN" altLang="zh-CN" dirty="0"/>
              <a:t>、通过设置数组的</a:t>
            </a:r>
            <a:r>
              <a:rPr lang="en-US" altLang="zh-CN" dirty="0"/>
              <a:t>shape</a:t>
            </a:r>
            <a:r>
              <a:rPr lang="zh-CN" altLang="zh-CN" dirty="0"/>
              <a:t>属性值直接修改原数组的</a:t>
            </a:r>
            <a:r>
              <a:rPr lang="zh-CN" altLang="en-US" dirty="0"/>
              <a:t>形状</a:t>
            </a:r>
            <a:endParaRPr lang="zh-CN" altLang="zh-CN" dirty="0"/>
          </a:p>
          <a:p>
            <a:pPr lvl="1"/>
            <a:r>
              <a:rPr lang="zh-CN" altLang="zh-CN" dirty="0"/>
              <a:t>也可以</a:t>
            </a:r>
            <a:r>
              <a:rPr lang="zh-CN" altLang="zh-CN"/>
              <a:t>通过</a:t>
            </a:r>
            <a:r>
              <a:rPr lang="zh-CN" altLang="en-US"/>
              <a:t>设置数组的</a:t>
            </a:r>
            <a:r>
              <a:rPr lang="en-US" altLang="zh-CN" dirty="0"/>
              <a:t>shape</a:t>
            </a:r>
            <a:r>
              <a:rPr lang="zh-CN" altLang="zh-CN" dirty="0"/>
              <a:t>属性值达到修改数组</a:t>
            </a:r>
            <a:r>
              <a:rPr lang="zh-CN" altLang="en-US" dirty="0"/>
              <a:t>形状</a:t>
            </a:r>
            <a:r>
              <a:rPr lang="zh-CN" altLang="zh-CN" dirty="0"/>
              <a:t>的目的。该方法也是直接改变现有数组的</a:t>
            </a:r>
            <a:r>
              <a:rPr lang="zh-CN" altLang="en-US" dirty="0"/>
              <a:t>形状</a:t>
            </a:r>
            <a:r>
              <a:rPr lang="zh-CN" altLang="zh-CN" dirty="0"/>
              <a:t>。</a:t>
            </a:r>
          </a:p>
          <a:p>
            <a:pPr marL="912813" lvl="2" indent="0">
              <a:buNone/>
            </a:pPr>
            <a:r>
              <a:rPr lang="en-US" altLang="zh-CN" dirty="0"/>
              <a:t>&gt;&gt;&gt; import </a:t>
            </a:r>
            <a:r>
              <a:rPr lang="en-US" altLang="zh-CN" dirty="0" err="1"/>
              <a:t>numpy</a:t>
            </a:r>
            <a:r>
              <a:rPr lang="en-US" altLang="zh-CN" dirty="0"/>
              <a:t> as np</a:t>
            </a:r>
            <a:endParaRPr lang="zh-CN" altLang="zh-CN" dirty="0"/>
          </a:p>
          <a:p>
            <a:pPr marL="912813" lvl="2" indent="0">
              <a:buNone/>
            </a:pPr>
            <a:r>
              <a:rPr lang="en-US" altLang="zh-CN" dirty="0"/>
              <a:t>&gt;&gt;&gt; a=</a:t>
            </a:r>
            <a:r>
              <a:rPr lang="en-US" altLang="zh-CN" dirty="0" err="1"/>
              <a:t>np.arange</a:t>
            </a:r>
            <a:r>
              <a:rPr lang="en-US" altLang="zh-CN" dirty="0"/>
              <a:t>(1,16)</a:t>
            </a:r>
            <a:endParaRPr lang="zh-CN" altLang="zh-CN" dirty="0"/>
          </a:p>
          <a:p>
            <a:pPr marL="912813" lvl="2" indent="0">
              <a:buNone/>
            </a:pPr>
            <a:r>
              <a:rPr lang="en-US" altLang="zh-CN" dirty="0"/>
              <a:t>&gt;&gt;&gt; a</a:t>
            </a:r>
            <a:endParaRPr lang="zh-CN" altLang="zh-CN" dirty="0"/>
          </a:p>
          <a:p>
            <a:pPr marL="912813" lvl="2" indent="0">
              <a:buNone/>
            </a:pPr>
            <a:r>
              <a:rPr lang="en-US" altLang="zh-CN" dirty="0"/>
              <a:t>array([ 1,  2,  3,  4,  5,  6,  7,  8,  9, 10, 11, 12, 13, 14, 15])</a:t>
            </a:r>
            <a:endParaRPr lang="zh-CN" altLang="zh-CN" dirty="0"/>
          </a:p>
          <a:p>
            <a:pPr marL="912813" lvl="2" indent="0">
              <a:buNone/>
            </a:pPr>
            <a:r>
              <a:rPr lang="en-US" altLang="zh-CN" dirty="0"/>
              <a:t>&gt;&gt;&gt; </a:t>
            </a:r>
            <a:r>
              <a:rPr lang="en-US" altLang="zh-CN" dirty="0" err="1"/>
              <a:t>a.shape</a:t>
            </a:r>
            <a:r>
              <a:rPr lang="en-US" altLang="zh-CN" dirty="0"/>
              <a:t>=(3,5)</a:t>
            </a:r>
            <a:endParaRPr lang="zh-CN" altLang="zh-CN" dirty="0"/>
          </a:p>
          <a:p>
            <a:pPr marL="912813" lvl="2" indent="0">
              <a:buNone/>
            </a:pPr>
            <a:r>
              <a:rPr lang="en-US" altLang="zh-CN" dirty="0"/>
              <a:t>&gt;&gt;&gt; a</a:t>
            </a:r>
            <a:endParaRPr lang="zh-CN" altLang="zh-CN" dirty="0"/>
          </a:p>
          <a:p>
            <a:pPr marL="912813" lvl="2" indent="0">
              <a:buNone/>
            </a:pPr>
            <a:r>
              <a:rPr lang="en-US" altLang="zh-CN" dirty="0"/>
              <a:t>array([[ 1,  2,  3,  4,  5],</a:t>
            </a:r>
            <a:endParaRPr lang="zh-CN" altLang="zh-CN" dirty="0"/>
          </a:p>
          <a:p>
            <a:pPr marL="912813" lvl="2" indent="0">
              <a:buNone/>
            </a:pPr>
            <a:r>
              <a:rPr lang="en-US" altLang="zh-CN" dirty="0"/>
              <a:t>       [ 6,  7,  8,  9, 10],</a:t>
            </a:r>
            <a:endParaRPr lang="zh-CN" altLang="zh-CN" dirty="0"/>
          </a:p>
          <a:p>
            <a:pPr marL="912813" lvl="2" indent="0">
              <a:buNone/>
            </a:pPr>
            <a:r>
              <a:rPr lang="en-US" altLang="zh-CN" dirty="0"/>
              <a:t>       [11, 12, 13, 14, 15]])</a:t>
            </a:r>
            <a:endParaRPr lang="zh-CN" altLang="zh-CN" dirty="0"/>
          </a:p>
          <a:p>
            <a:pPr marL="912813" lvl="2" indent="0">
              <a:buNone/>
            </a:pPr>
            <a:r>
              <a:rPr lang="en-US" altLang="zh-CN" dirty="0"/>
              <a:t>&gt;&gt;&gt; </a:t>
            </a:r>
            <a:endParaRPr lang="zh-CN" altLang="zh-CN" dirty="0"/>
          </a:p>
          <a:p>
            <a:endParaRPr lang="zh-CN" altLang="en-US" dirty="0"/>
          </a:p>
        </p:txBody>
      </p:sp>
    </p:spTree>
    <p:extLst>
      <p:ext uri="{BB962C8B-B14F-4D97-AF65-F5344CB8AC3E}">
        <p14:creationId xmlns:p14="http://schemas.microsoft.com/office/powerpoint/2010/main" val="304866836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4.3.6 </a:t>
            </a:r>
            <a:r>
              <a:rPr lang="zh-CN" altLang="zh-CN" dirty="0"/>
              <a:t>数组的基本运算</a:t>
            </a:r>
            <a:endParaRPr lang="zh-CN" altLang="en-US" dirty="0"/>
          </a:p>
        </p:txBody>
      </p:sp>
      <p:sp>
        <p:nvSpPr>
          <p:cNvPr id="4" name="内容占位符 3"/>
          <p:cNvSpPr>
            <a:spLocks noGrp="1"/>
          </p:cNvSpPr>
          <p:nvPr>
            <p:ph sz="half" idx="1"/>
          </p:nvPr>
        </p:nvSpPr>
        <p:spPr>
          <a:ln>
            <a:solidFill>
              <a:srgbClr val="9900FF"/>
            </a:solidFill>
          </a:ln>
        </p:spPr>
        <p:txBody>
          <a:bodyPr>
            <a:normAutofit fontScale="85000" lnSpcReduction="20000"/>
          </a:bodyPr>
          <a:lstStyle/>
          <a:p>
            <a:r>
              <a:rPr lang="en-US" altLang="zh-CN" dirty="0"/>
              <a:t>1</a:t>
            </a:r>
            <a:r>
              <a:rPr lang="zh-CN" altLang="zh-CN" dirty="0"/>
              <a:t>、数组与标量之间的运算</a:t>
            </a:r>
          </a:p>
          <a:p>
            <a:pPr lvl="1"/>
            <a:r>
              <a:rPr lang="zh-CN" altLang="zh-CN" dirty="0"/>
              <a:t>数组与标量之间的运算将直接作用到每一个元素。</a:t>
            </a:r>
          </a:p>
          <a:p>
            <a:pPr marL="446088" lvl="1" indent="0">
              <a:buNone/>
            </a:pPr>
            <a:r>
              <a:rPr lang="en-US" altLang="zh-CN" dirty="0"/>
              <a:t>&gt;&gt;&gt; import </a:t>
            </a:r>
            <a:r>
              <a:rPr lang="en-US" altLang="zh-CN" dirty="0" err="1"/>
              <a:t>numpy</a:t>
            </a:r>
            <a:r>
              <a:rPr lang="en-US" altLang="zh-CN" dirty="0"/>
              <a:t> as np</a:t>
            </a:r>
            <a:endParaRPr lang="zh-CN" altLang="zh-CN" dirty="0"/>
          </a:p>
          <a:p>
            <a:pPr marL="446088" lvl="1" indent="0">
              <a:buNone/>
            </a:pPr>
            <a:r>
              <a:rPr lang="en-US" altLang="zh-CN" dirty="0"/>
              <a:t>&gt;&gt;&gt; </a:t>
            </a:r>
            <a:r>
              <a:rPr lang="en-US" altLang="zh-CN" dirty="0" err="1"/>
              <a:t>np.random.seed</a:t>
            </a:r>
            <a:r>
              <a:rPr lang="en-US" altLang="zh-CN" dirty="0"/>
              <a:t>(500)</a:t>
            </a:r>
            <a:endParaRPr lang="zh-CN" altLang="zh-CN" dirty="0"/>
          </a:p>
          <a:p>
            <a:pPr marL="446088" lvl="1" indent="0">
              <a:buNone/>
            </a:pPr>
            <a:r>
              <a:rPr lang="en-US" altLang="zh-CN" dirty="0"/>
              <a:t>&gt;&gt;&gt; a1=</a:t>
            </a:r>
            <a:r>
              <a:rPr lang="en-US" altLang="zh-CN" dirty="0" err="1"/>
              <a:t>np.random.randint</a:t>
            </a:r>
            <a:r>
              <a:rPr lang="en-US" altLang="zh-CN" dirty="0"/>
              <a:t>(1,10,size=(3,4))</a:t>
            </a:r>
            <a:endParaRPr lang="zh-CN" altLang="zh-CN" dirty="0"/>
          </a:p>
          <a:p>
            <a:pPr marL="446088" lvl="1" indent="0">
              <a:buNone/>
            </a:pPr>
            <a:r>
              <a:rPr lang="en-US" altLang="zh-CN" dirty="0"/>
              <a:t>&gt;&gt;&gt; </a:t>
            </a:r>
            <a:r>
              <a:rPr lang="en-US" altLang="zh-CN" dirty="0" err="1"/>
              <a:t>np.random.seed</a:t>
            </a:r>
            <a:r>
              <a:rPr lang="en-US" altLang="zh-CN" dirty="0"/>
              <a:t>(1000)</a:t>
            </a:r>
            <a:endParaRPr lang="zh-CN" altLang="zh-CN" dirty="0"/>
          </a:p>
          <a:p>
            <a:pPr marL="446088" lvl="1" indent="0">
              <a:buNone/>
            </a:pPr>
            <a:r>
              <a:rPr lang="en-US" altLang="zh-CN" dirty="0"/>
              <a:t>&gt;&gt;&gt; a2=</a:t>
            </a:r>
            <a:r>
              <a:rPr lang="en-US" altLang="zh-CN" dirty="0" err="1"/>
              <a:t>np.random.randint</a:t>
            </a:r>
            <a:r>
              <a:rPr lang="en-US" altLang="zh-CN" dirty="0"/>
              <a:t>(1,10,size=(3,4))</a:t>
            </a:r>
            <a:endParaRPr lang="zh-CN" altLang="zh-CN" dirty="0"/>
          </a:p>
          <a:p>
            <a:pPr marL="446088" lvl="1" indent="0">
              <a:buNone/>
            </a:pPr>
            <a:r>
              <a:rPr lang="en-US" altLang="zh-CN" dirty="0"/>
              <a:t>&gt;&gt;&gt; a1</a:t>
            </a:r>
            <a:endParaRPr lang="zh-CN" altLang="zh-CN" dirty="0"/>
          </a:p>
          <a:p>
            <a:pPr marL="446088" lvl="1" indent="0">
              <a:buNone/>
            </a:pPr>
            <a:r>
              <a:rPr lang="en-US" altLang="zh-CN" dirty="0"/>
              <a:t>array([[8, 2, 2, 9],</a:t>
            </a:r>
            <a:endParaRPr lang="zh-CN" altLang="zh-CN" dirty="0"/>
          </a:p>
          <a:p>
            <a:pPr marL="446088" lvl="1" indent="0">
              <a:buNone/>
            </a:pPr>
            <a:r>
              <a:rPr lang="en-US" altLang="zh-CN" dirty="0"/>
              <a:t>       [8, 2, 2, 6],</a:t>
            </a:r>
            <a:endParaRPr lang="zh-CN" altLang="zh-CN" dirty="0"/>
          </a:p>
          <a:p>
            <a:pPr marL="446088" lvl="1" indent="0">
              <a:buNone/>
            </a:pPr>
            <a:r>
              <a:rPr lang="en-US" altLang="zh-CN" dirty="0"/>
              <a:t>       [3, 3, 4, 7]])</a:t>
            </a:r>
            <a:endParaRPr lang="zh-CN" altLang="zh-CN" dirty="0"/>
          </a:p>
          <a:p>
            <a:pPr marL="446088" lvl="1" indent="0">
              <a:buNone/>
            </a:pPr>
            <a:r>
              <a:rPr lang="en-US" altLang="zh-CN" dirty="0"/>
              <a:t>&gt;&gt;&gt; a2</a:t>
            </a:r>
            <a:endParaRPr lang="zh-CN" altLang="zh-CN" dirty="0"/>
          </a:p>
          <a:p>
            <a:pPr marL="446088" lvl="1" indent="0">
              <a:buNone/>
            </a:pPr>
            <a:r>
              <a:rPr lang="en-US" altLang="zh-CN" dirty="0"/>
              <a:t>array([[4, 8, 8, 1],</a:t>
            </a:r>
            <a:endParaRPr lang="zh-CN" altLang="zh-CN" dirty="0"/>
          </a:p>
          <a:p>
            <a:pPr marL="446088" lvl="1" indent="0">
              <a:buNone/>
            </a:pPr>
            <a:r>
              <a:rPr lang="en-US" altLang="zh-CN" dirty="0"/>
              <a:t>       [2, 1, 9, 5],</a:t>
            </a:r>
            <a:endParaRPr lang="zh-CN" altLang="zh-CN" dirty="0"/>
          </a:p>
          <a:p>
            <a:pPr marL="446088" lvl="1" indent="0">
              <a:buNone/>
            </a:pPr>
            <a:r>
              <a:rPr lang="en-US" altLang="zh-CN" dirty="0"/>
              <a:t>       [5, 5, 3, 9]])</a:t>
            </a:r>
            <a:endParaRPr lang="zh-CN" altLang="zh-CN" dirty="0"/>
          </a:p>
          <a:p>
            <a:endParaRPr lang="zh-CN" altLang="en-US" dirty="0"/>
          </a:p>
        </p:txBody>
      </p:sp>
      <p:sp>
        <p:nvSpPr>
          <p:cNvPr id="5" name="内容占位符 4"/>
          <p:cNvSpPr>
            <a:spLocks noGrp="1"/>
          </p:cNvSpPr>
          <p:nvPr>
            <p:ph sz="half" idx="2"/>
          </p:nvPr>
        </p:nvSpPr>
        <p:spPr>
          <a:ln>
            <a:solidFill>
              <a:srgbClr val="9900FF"/>
            </a:solidFill>
          </a:ln>
        </p:spPr>
        <p:txBody>
          <a:bodyPr>
            <a:normAutofit fontScale="85000" lnSpcReduction="20000"/>
          </a:bodyPr>
          <a:lstStyle/>
          <a:p>
            <a:pPr marL="446088" lvl="1" indent="0">
              <a:buNone/>
            </a:pPr>
            <a:r>
              <a:rPr lang="en-US" altLang="zh-CN" dirty="0"/>
              <a:t>&gt;&gt;&gt; a1*2</a:t>
            </a:r>
            <a:endParaRPr lang="zh-CN" altLang="zh-CN" dirty="0"/>
          </a:p>
          <a:p>
            <a:pPr marL="446088" lvl="1" indent="0">
              <a:buNone/>
            </a:pPr>
            <a:r>
              <a:rPr lang="en-US" altLang="zh-CN" dirty="0"/>
              <a:t>array([[16,  4,  4, 18],</a:t>
            </a:r>
            <a:endParaRPr lang="zh-CN" altLang="zh-CN" dirty="0"/>
          </a:p>
          <a:p>
            <a:pPr marL="446088" lvl="1" indent="0">
              <a:buNone/>
            </a:pPr>
            <a:r>
              <a:rPr lang="en-US" altLang="zh-CN" dirty="0"/>
              <a:t>       [16,  4,  4, 12],</a:t>
            </a:r>
            <a:endParaRPr lang="zh-CN" altLang="zh-CN" dirty="0"/>
          </a:p>
          <a:p>
            <a:pPr marL="446088" lvl="1" indent="0">
              <a:buNone/>
            </a:pPr>
            <a:r>
              <a:rPr lang="en-US" altLang="zh-CN" dirty="0"/>
              <a:t>       [ 6,  6,  8, 14]])</a:t>
            </a:r>
            <a:endParaRPr lang="zh-CN" altLang="zh-CN" dirty="0"/>
          </a:p>
          <a:p>
            <a:pPr marL="446088" lvl="1" indent="0">
              <a:buNone/>
            </a:pPr>
            <a:r>
              <a:rPr lang="en-US" altLang="zh-CN" dirty="0"/>
              <a:t>&gt;&gt;&gt; a1</a:t>
            </a:r>
            <a:endParaRPr lang="zh-CN" altLang="zh-CN" dirty="0"/>
          </a:p>
          <a:p>
            <a:pPr marL="446088" lvl="1" indent="0">
              <a:buNone/>
            </a:pPr>
            <a:r>
              <a:rPr lang="en-US" altLang="zh-CN" dirty="0"/>
              <a:t>array([[8, 2, 2, 9],</a:t>
            </a:r>
            <a:endParaRPr lang="zh-CN" altLang="zh-CN" dirty="0"/>
          </a:p>
          <a:p>
            <a:pPr marL="446088" lvl="1" indent="0">
              <a:buNone/>
            </a:pPr>
            <a:r>
              <a:rPr lang="en-US" altLang="zh-CN" dirty="0"/>
              <a:t>       [8, 2, 2, 6],</a:t>
            </a:r>
            <a:endParaRPr lang="zh-CN" altLang="zh-CN" dirty="0"/>
          </a:p>
          <a:p>
            <a:pPr marL="446088" lvl="1" indent="0">
              <a:buNone/>
            </a:pPr>
            <a:r>
              <a:rPr lang="en-US" altLang="zh-CN" dirty="0"/>
              <a:t>       [3, 3, 4, 7]])</a:t>
            </a:r>
            <a:endParaRPr lang="zh-CN" altLang="zh-CN" dirty="0"/>
          </a:p>
          <a:p>
            <a:pPr marL="446088" lvl="1" indent="0">
              <a:buNone/>
            </a:pPr>
            <a:r>
              <a:rPr lang="en-US" altLang="zh-CN" dirty="0"/>
              <a:t>&gt;&gt;&gt; a1/2</a:t>
            </a:r>
            <a:endParaRPr lang="zh-CN" altLang="zh-CN" dirty="0"/>
          </a:p>
          <a:p>
            <a:pPr marL="446088" lvl="1" indent="0">
              <a:buNone/>
            </a:pPr>
            <a:r>
              <a:rPr lang="en-US" altLang="zh-CN" dirty="0"/>
              <a:t>array([[4. , 1. , 1. , 4.5],</a:t>
            </a:r>
            <a:endParaRPr lang="zh-CN" altLang="zh-CN" dirty="0"/>
          </a:p>
          <a:p>
            <a:pPr marL="446088" lvl="1" indent="0">
              <a:buNone/>
            </a:pPr>
            <a:r>
              <a:rPr lang="en-US" altLang="zh-CN" dirty="0"/>
              <a:t>       [4. , 1. , 1. , 3. ],</a:t>
            </a:r>
            <a:endParaRPr lang="zh-CN" altLang="zh-CN" dirty="0"/>
          </a:p>
          <a:p>
            <a:pPr marL="446088" lvl="1" indent="0">
              <a:buNone/>
            </a:pPr>
            <a:r>
              <a:rPr lang="en-US" altLang="zh-CN" dirty="0"/>
              <a:t>       [1.5, 1.5, 2. , 3.5]])</a:t>
            </a:r>
            <a:endParaRPr lang="zh-CN" altLang="zh-CN" dirty="0"/>
          </a:p>
          <a:p>
            <a:endParaRPr lang="zh-CN" altLang="en-US" dirty="0"/>
          </a:p>
        </p:txBody>
      </p:sp>
    </p:spTree>
    <p:extLst>
      <p:ext uri="{BB962C8B-B14F-4D97-AF65-F5344CB8AC3E}">
        <p14:creationId xmlns:p14="http://schemas.microsoft.com/office/powerpoint/2010/main" val="158547944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half" idx="1"/>
          </p:nvPr>
        </p:nvSpPr>
        <p:spPr>
          <a:xfrm>
            <a:off x="334434" y="1124744"/>
            <a:ext cx="5905582" cy="5328592"/>
          </a:xfrm>
          <a:ln>
            <a:solidFill>
              <a:srgbClr val="9900FF"/>
            </a:solidFill>
          </a:ln>
        </p:spPr>
        <p:txBody>
          <a:bodyPr>
            <a:normAutofit lnSpcReduction="10000"/>
          </a:bodyPr>
          <a:lstStyle/>
          <a:p>
            <a:r>
              <a:rPr lang="en-US" altLang="zh-CN" dirty="0"/>
              <a:t>2</a:t>
            </a:r>
            <a:r>
              <a:rPr lang="zh-CN" altLang="zh-CN" dirty="0"/>
              <a:t>、大小相等的数组之间算术运算</a:t>
            </a:r>
          </a:p>
          <a:p>
            <a:pPr lvl="1"/>
            <a:r>
              <a:rPr lang="zh-CN" altLang="zh-CN" dirty="0"/>
              <a:t>大小相等的数组之间的任何算术运算也会应用到元素级。</a:t>
            </a:r>
          </a:p>
          <a:p>
            <a:pPr marL="446088" lvl="1" indent="0">
              <a:buNone/>
            </a:pPr>
            <a:r>
              <a:rPr lang="en-US" altLang="zh-CN" dirty="0"/>
              <a:t>&gt;&gt;&gt; a1+a2</a:t>
            </a:r>
            <a:endParaRPr lang="zh-CN" altLang="zh-CN" dirty="0"/>
          </a:p>
          <a:p>
            <a:pPr marL="446088" lvl="1" indent="0">
              <a:buNone/>
            </a:pPr>
            <a:r>
              <a:rPr lang="en-US" altLang="zh-CN" dirty="0"/>
              <a:t>array([[12, 10, 10, 10],</a:t>
            </a:r>
            <a:endParaRPr lang="zh-CN" altLang="zh-CN" dirty="0"/>
          </a:p>
          <a:p>
            <a:pPr marL="446088" lvl="1" indent="0">
              <a:buNone/>
            </a:pPr>
            <a:r>
              <a:rPr lang="en-US" altLang="zh-CN" dirty="0"/>
              <a:t>       [10,  3, 11, 11],</a:t>
            </a:r>
            <a:endParaRPr lang="zh-CN" altLang="zh-CN" dirty="0"/>
          </a:p>
          <a:p>
            <a:pPr marL="446088" lvl="1" indent="0">
              <a:buNone/>
            </a:pPr>
            <a:r>
              <a:rPr lang="en-US" altLang="zh-CN" dirty="0"/>
              <a:t>       [ 8,  8,  7, 16]])</a:t>
            </a:r>
            <a:endParaRPr lang="zh-CN" altLang="zh-CN" dirty="0"/>
          </a:p>
          <a:p>
            <a:pPr marL="446088" lvl="1" indent="0">
              <a:buNone/>
            </a:pPr>
            <a:r>
              <a:rPr lang="en-US" altLang="zh-CN" dirty="0"/>
              <a:t>&gt;&gt;&gt; </a:t>
            </a:r>
            <a:endParaRPr lang="zh-CN" altLang="zh-CN" dirty="0"/>
          </a:p>
          <a:p>
            <a:pPr marL="446088" lvl="1" indent="0">
              <a:buNone/>
            </a:pPr>
            <a:r>
              <a:rPr lang="en-US" altLang="zh-CN" dirty="0"/>
              <a:t>&gt;&gt;&gt; </a:t>
            </a:r>
            <a:r>
              <a:rPr lang="en-US" altLang="zh-CN" dirty="0" err="1"/>
              <a:t>np.add</a:t>
            </a:r>
            <a:r>
              <a:rPr lang="en-US" altLang="zh-CN" dirty="0"/>
              <a:t>(a1,a2)	   #</a:t>
            </a:r>
            <a:r>
              <a:rPr lang="zh-CN" altLang="zh-CN" dirty="0"/>
              <a:t>通过函数进行计算</a:t>
            </a:r>
          </a:p>
          <a:p>
            <a:pPr marL="446088" lvl="1" indent="0">
              <a:buNone/>
            </a:pPr>
            <a:r>
              <a:rPr lang="en-US" altLang="zh-CN" dirty="0"/>
              <a:t>array([[12, 10, 10, 10],</a:t>
            </a:r>
            <a:endParaRPr lang="zh-CN" altLang="zh-CN" dirty="0"/>
          </a:p>
          <a:p>
            <a:pPr marL="446088" lvl="1" indent="0">
              <a:buNone/>
            </a:pPr>
            <a:r>
              <a:rPr lang="en-US" altLang="zh-CN" dirty="0"/>
              <a:t>       [10,  3, 11, 11],</a:t>
            </a:r>
            <a:endParaRPr lang="zh-CN" altLang="zh-CN" dirty="0"/>
          </a:p>
          <a:p>
            <a:pPr marL="446088" lvl="1" indent="0">
              <a:buNone/>
            </a:pPr>
            <a:r>
              <a:rPr lang="en-US" altLang="zh-CN" dirty="0"/>
              <a:t>       [ 8,  8,  7, 16]])</a:t>
            </a:r>
            <a:endParaRPr lang="zh-CN" altLang="zh-CN" dirty="0"/>
          </a:p>
          <a:p>
            <a:endParaRPr lang="zh-CN" altLang="en-US" dirty="0"/>
          </a:p>
        </p:txBody>
      </p:sp>
      <p:sp>
        <p:nvSpPr>
          <p:cNvPr id="4" name="内容占位符 3"/>
          <p:cNvSpPr>
            <a:spLocks noGrp="1"/>
          </p:cNvSpPr>
          <p:nvPr>
            <p:ph sz="half" idx="2"/>
          </p:nvPr>
        </p:nvSpPr>
        <p:spPr>
          <a:xfrm>
            <a:off x="6456040" y="1124744"/>
            <a:ext cx="5401527" cy="5328592"/>
          </a:xfrm>
          <a:ln>
            <a:solidFill>
              <a:srgbClr val="9900FF"/>
            </a:solidFill>
          </a:ln>
        </p:spPr>
        <p:txBody>
          <a:bodyPr>
            <a:normAutofit lnSpcReduction="10000"/>
          </a:bodyPr>
          <a:lstStyle/>
          <a:p>
            <a:pPr marL="446088" lvl="1" indent="0">
              <a:buNone/>
            </a:pPr>
            <a:r>
              <a:rPr lang="en-US" altLang="zh-CN" dirty="0"/>
              <a:t>&gt;&gt;&gt; a1		#</a:t>
            </a:r>
            <a:r>
              <a:rPr lang="zh-CN" altLang="zh-CN" dirty="0"/>
              <a:t>原数组保持不变</a:t>
            </a:r>
          </a:p>
          <a:p>
            <a:pPr marL="446088" lvl="1" indent="0">
              <a:buNone/>
            </a:pPr>
            <a:r>
              <a:rPr lang="en-US" altLang="zh-CN" dirty="0"/>
              <a:t>array([[8, 2, 2, 9],</a:t>
            </a:r>
            <a:endParaRPr lang="zh-CN" altLang="zh-CN" dirty="0"/>
          </a:p>
          <a:p>
            <a:pPr marL="446088" lvl="1" indent="0">
              <a:buNone/>
            </a:pPr>
            <a:r>
              <a:rPr lang="en-US" altLang="zh-CN" dirty="0"/>
              <a:t>       [8, 2, 2, 6],</a:t>
            </a:r>
            <a:endParaRPr lang="zh-CN" altLang="zh-CN" dirty="0"/>
          </a:p>
          <a:p>
            <a:pPr marL="446088" lvl="1" indent="0">
              <a:buNone/>
            </a:pPr>
            <a:r>
              <a:rPr lang="en-US" altLang="zh-CN" dirty="0"/>
              <a:t>       [3, 3, 4, 7]])</a:t>
            </a:r>
            <a:endParaRPr lang="zh-CN" altLang="zh-CN" dirty="0"/>
          </a:p>
          <a:p>
            <a:pPr marL="446088" lvl="1" indent="0">
              <a:buNone/>
            </a:pPr>
            <a:r>
              <a:rPr lang="en-US" altLang="zh-CN" dirty="0"/>
              <a:t>&gt;&gt;&gt; a2		#</a:t>
            </a:r>
            <a:r>
              <a:rPr lang="zh-CN" altLang="zh-CN" dirty="0"/>
              <a:t>原数组保持不变</a:t>
            </a:r>
          </a:p>
          <a:p>
            <a:pPr marL="446088" lvl="1" indent="0">
              <a:buNone/>
            </a:pPr>
            <a:r>
              <a:rPr lang="en-US" altLang="zh-CN" dirty="0"/>
              <a:t>array([[4, 8, 8, 1],</a:t>
            </a:r>
            <a:endParaRPr lang="zh-CN" altLang="zh-CN" dirty="0"/>
          </a:p>
          <a:p>
            <a:pPr marL="446088" lvl="1" indent="0">
              <a:buNone/>
            </a:pPr>
            <a:r>
              <a:rPr lang="en-US" altLang="zh-CN" dirty="0"/>
              <a:t>       [2, 1, 9, 5],</a:t>
            </a:r>
            <a:endParaRPr lang="zh-CN" altLang="zh-CN" dirty="0"/>
          </a:p>
          <a:p>
            <a:pPr marL="446088" lvl="1" indent="0">
              <a:buNone/>
            </a:pPr>
            <a:r>
              <a:rPr lang="en-US" altLang="zh-CN" dirty="0"/>
              <a:t>       [5, 5, 3, 9]])</a:t>
            </a:r>
            <a:endParaRPr lang="zh-CN" altLang="zh-CN" dirty="0"/>
          </a:p>
          <a:p>
            <a:endParaRPr lang="zh-CN" altLang="en-US" dirty="0"/>
          </a:p>
        </p:txBody>
      </p:sp>
    </p:spTree>
    <p:extLst>
      <p:ext uri="{BB962C8B-B14F-4D97-AF65-F5344CB8AC3E}">
        <p14:creationId xmlns:p14="http://schemas.microsoft.com/office/powerpoint/2010/main" val="321935983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a:xfrm>
            <a:off x="334434" y="1124745"/>
            <a:ext cx="11523135" cy="1152128"/>
          </a:xfrm>
        </p:spPr>
        <p:txBody>
          <a:bodyPr/>
          <a:lstStyle/>
          <a:p>
            <a:r>
              <a:rPr lang="en-US" altLang="zh-CN" dirty="0"/>
              <a:t>4</a:t>
            </a:r>
            <a:r>
              <a:rPr lang="zh-CN" altLang="zh-CN" dirty="0"/>
              <a:t>、</a:t>
            </a:r>
            <a:r>
              <a:rPr lang="en-US" altLang="zh-CN" dirty="0" err="1"/>
              <a:t>Numpy</a:t>
            </a:r>
            <a:r>
              <a:rPr lang="zh-CN" altLang="zh-CN" dirty="0"/>
              <a:t>数组常用计算函数</a:t>
            </a:r>
          </a:p>
          <a:p>
            <a:pPr lvl="1"/>
            <a:r>
              <a:rPr lang="en-US" altLang="zh-CN" dirty="0" err="1"/>
              <a:t>Numpy</a:t>
            </a:r>
            <a:r>
              <a:rPr lang="zh-CN" altLang="zh-CN" dirty="0"/>
              <a:t>数组常用计算函数及其说明如表</a:t>
            </a:r>
            <a:r>
              <a:rPr lang="en-US" altLang="zh-CN" dirty="0"/>
              <a:t>4.1</a:t>
            </a:r>
            <a:r>
              <a:rPr lang="zh-CN" altLang="zh-CN" dirty="0"/>
              <a:t>所示。</a:t>
            </a:r>
          </a:p>
          <a:p>
            <a:endParaRPr lang="zh-CN" altLang="en-US" dirty="0"/>
          </a:p>
        </p:txBody>
      </p:sp>
      <p:pic>
        <p:nvPicPr>
          <p:cNvPr id="2" name="20 1"/>
          <p:cNvPicPr>
            <a:picLocks noChangeAspect="1"/>
          </p:cNvPicPr>
          <p:nvPr/>
        </p:nvPicPr>
        <p:blipFill rotWithShape="1">
          <a:blip r:embed="rId2"/>
          <a:srcRect l="4615"/>
          <a:stretch/>
        </p:blipFill>
        <p:spPr>
          <a:xfrm>
            <a:off x="2423592" y="2162067"/>
            <a:ext cx="7344817" cy="4147253"/>
          </a:xfrm>
          <a:prstGeom prst="rect">
            <a:avLst/>
          </a:prstGeom>
          <a:ln>
            <a:solidFill>
              <a:srgbClr val="0000FF"/>
            </a:solidFill>
          </a:ln>
        </p:spPr>
      </p:pic>
    </p:spTree>
    <p:extLst>
      <p:ext uri="{BB962C8B-B14F-4D97-AF65-F5344CB8AC3E}">
        <p14:creationId xmlns:p14="http://schemas.microsoft.com/office/powerpoint/2010/main" val="3177177367"/>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2"/>
          </p:nvPr>
        </p:nvSpPr>
        <p:spPr>
          <a:xfrm>
            <a:off x="334435" y="2564904"/>
            <a:ext cx="5473534" cy="3888431"/>
          </a:xfrm>
          <a:ln>
            <a:solidFill>
              <a:srgbClr val="9900FF"/>
            </a:solidFill>
          </a:ln>
        </p:spPr>
        <p:txBody>
          <a:bodyPr>
            <a:normAutofit lnSpcReduction="10000"/>
          </a:bodyPr>
          <a:lstStyle/>
          <a:p>
            <a:pPr marL="0" indent="0">
              <a:buNone/>
            </a:pPr>
            <a:r>
              <a:rPr lang="en-US" altLang="zh-CN" dirty="0"/>
              <a:t>&gt;&gt;&gt; import </a:t>
            </a:r>
            <a:r>
              <a:rPr lang="en-US" altLang="zh-CN" dirty="0" err="1"/>
              <a:t>numpy</a:t>
            </a:r>
            <a:r>
              <a:rPr lang="en-US" altLang="zh-CN" dirty="0"/>
              <a:t> as np</a:t>
            </a:r>
            <a:endParaRPr lang="zh-CN" altLang="zh-CN" dirty="0"/>
          </a:p>
          <a:p>
            <a:pPr marL="0" indent="0">
              <a:buNone/>
            </a:pPr>
            <a:r>
              <a:rPr lang="en-US" altLang="zh-CN" dirty="0"/>
              <a:t>&gt;&gt;&gt; </a:t>
            </a:r>
            <a:r>
              <a:rPr lang="en-US" altLang="zh-CN" dirty="0" err="1"/>
              <a:t>np.random.seed</a:t>
            </a:r>
            <a:r>
              <a:rPr lang="en-US" altLang="zh-CN" dirty="0"/>
              <a:t>(1000)</a:t>
            </a:r>
            <a:endParaRPr lang="zh-CN" altLang="zh-CN" dirty="0"/>
          </a:p>
          <a:p>
            <a:pPr marL="0" indent="0">
              <a:buNone/>
            </a:pPr>
            <a:r>
              <a:rPr lang="en-US" altLang="zh-CN" dirty="0"/>
              <a:t>&gt;&gt;&gt; x=</a:t>
            </a:r>
            <a:r>
              <a:rPr lang="en-US" altLang="zh-CN" dirty="0" err="1"/>
              <a:t>np.random.randint</a:t>
            </a:r>
            <a:r>
              <a:rPr lang="en-US" altLang="zh-CN" dirty="0"/>
              <a:t>(1,10,size=(3,4))</a:t>
            </a:r>
            <a:endParaRPr lang="zh-CN" altLang="zh-CN" dirty="0"/>
          </a:p>
          <a:p>
            <a:pPr marL="0" indent="0">
              <a:buNone/>
            </a:pPr>
            <a:r>
              <a:rPr lang="en-US" altLang="zh-CN" dirty="0"/>
              <a:t>&gt;&gt;&gt; x</a:t>
            </a:r>
            <a:endParaRPr lang="zh-CN" altLang="zh-CN" dirty="0"/>
          </a:p>
          <a:p>
            <a:pPr marL="0" indent="0">
              <a:buNone/>
            </a:pPr>
            <a:r>
              <a:rPr lang="en-US" altLang="zh-CN" dirty="0"/>
              <a:t>array([[2, 8, 2, 6],</a:t>
            </a:r>
            <a:endParaRPr lang="zh-CN" altLang="zh-CN" dirty="0"/>
          </a:p>
          <a:p>
            <a:pPr marL="0" indent="0">
              <a:buNone/>
            </a:pPr>
            <a:r>
              <a:rPr lang="en-US" altLang="zh-CN" dirty="0"/>
              <a:t>       [7, 6, 8, 9],</a:t>
            </a:r>
            <a:endParaRPr lang="zh-CN" altLang="zh-CN" dirty="0"/>
          </a:p>
          <a:p>
            <a:pPr marL="0" indent="0">
              <a:buNone/>
            </a:pPr>
            <a:r>
              <a:rPr lang="en-US" altLang="zh-CN" dirty="0"/>
              <a:t>       [9, 3, 3, 7]])</a:t>
            </a:r>
            <a:endParaRPr lang="zh-CN" altLang="zh-CN" dirty="0"/>
          </a:p>
          <a:p>
            <a:pPr marL="0" indent="0">
              <a:buNone/>
            </a:pPr>
            <a:r>
              <a:rPr lang="en-US" altLang="zh-CN" dirty="0"/>
              <a:t>&gt;&gt;&gt; </a:t>
            </a:r>
            <a:r>
              <a:rPr lang="en-US" altLang="zh-CN" dirty="0" err="1"/>
              <a:t>np.sum</a:t>
            </a:r>
            <a:r>
              <a:rPr lang="en-US" altLang="zh-CN" dirty="0"/>
              <a:t>(x)</a:t>
            </a:r>
            <a:endParaRPr lang="zh-CN" altLang="zh-CN" dirty="0"/>
          </a:p>
          <a:p>
            <a:pPr marL="0" indent="0">
              <a:buNone/>
            </a:pPr>
            <a:r>
              <a:rPr lang="en-US" altLang="zh-CN" dirty="0"/>
              <a:t>70</a:t>
            </a:r>
            <a:endParaRPr lang="zh-CN" altLang="zh-CN" dirty="0"/>
          </a:p>
          <a:p>
            <a:endParaRPr lang="zh-CN" altLang="en-US" dirty="0"/>
          </a:p>
        </p:txBody>
      </p:sp>
      <p:sp>
        <p:nvSpPr>
          <p:cNvPr id="6" name="内容占位符 5"/>
          <p:cNvSpPr>
            <a:spLocks noGrp="1"/>
          </p:cNvSpPr>
          <p:nvPr>
            <p:ph sz="quarter" idx="4"/>
          </p:nvPr>
        </p:nvSpPr>
        <p:spPr>
          <a:ln>
            <a:solidFill>
              <a:srgbClr val="9900FF"/>
            </a:solidFill>
          </a:ln>
        </p:spPr>
        <p:txBody>
          <a:bodyPr>
            <a:normAutofit fontScale="92500" lnSpcReduction="20000"/>
          </a:bodyPr>
          <a:lstStyle/>
          <a:p>
            <a:pPr marL="0" indent="0">
              <a:buNone/>
            </a:pPr>
            <a:r>
              <a:rPr lang="en-US" altLang="zh-CN" dirty="0"/>
              <a:t>&gt;&gt;&gt; </a:t>
            </a:r>
            <a:r>
              <a:rPr lang="en-US" altLang="zh-CN" dirty="0" err="1"/>
              <a:t>np.sum</a:t>
            </a:r>
            <a:r>
              <a:rPr lang="en-US" altLang="zh-CN" dirty="0"/>
              <a:t>(</a:t>
            </a:r>
            <a:r>
              <a:rPr lang="en-US" altLang="zh-CN" dirty="0" err="1"/>
              <a:t>x,axis</a:t>
            </a:r>
            <a:r>
              <a:rPr lang="en-US" altLang="zh-CN" dirty="0"/>
              <a:t>=0)  #</a:t>
            </a:r>
            <a:r>
              <a:rPr lang="zh-CN" altLang="zh-CN" dirty="0"/>
              <a:t>每一列相加</a:t>
            </a:r>
          </a:p>
          <a:p>
            <a:pPr marL="0" indent="0">
              <a:buNone/>
            </a:pPr>
            <a:r>
              <a:rPr lang="en-US" altLang="zh-CN" dirty="0"/>
              <a:t>array([18, 17, 13, 22])</a:t>
            </a:r>
            <a:endParaRPr lang="zh-CN" altLang="zh-CN" dirty="0"/>
          </a:p>
          <a:p>
            <a:pPr marL="0" indent="0">
              <a:buNone/>
            </a:pPr>
            <a:r>
              <a:rPr lang="en-US" altLang="zh-CN" dirty="0"/>
              <a:t>&gt;&gt;&gt; </a:t>
            </a:r>
            <a:r>
              <a:rPr lang="en-US" altLang="zh-CN" dirty="0" err="1"/>
              <a:t>np.sum</a:t>
            </a:r>
            <a:r>
              <a:rPr lang="en-US" altLang="zh-CN" dirty="0"/>
              <a:t>(</a:t>
            </a:r>
            <a:r>
              <a:rPr lang="en-US" altLang="zh-CN" dirty="0" err="1"/>
              <a:t>x,axis</a:t>
            </a:r>
            <a:r>
              <a:rPr lang="en-US" altLang="zh-CN" dirty="0"/>
              <a:t>=1)  #</a:t>
            </a:r>
            <a:r>
              <a:rPr lang="zh-CN" altLang="zh-CN" dirty="0"/>
              <a:t>每一行相加</a:t>
            </a:r>
          </a:p>
          <a:p>
            <a:pPr marL="0" indent="0">
              <a:buNone/>
            </a:pPr>
            <a:r>
              <a:rPr lang="en-US" altLang="zh-CN" dirty="0"/>
              <a:t>array([18, 30, 22])</a:t>
            </a:r>
            <a:endParaRPr lang="zh-CN" altLang="zh-CN" dirty="0"/>
          </a:p>
          <a:p>
            <a:pPr marL="0" indent="0">
              <a:buNone/>
            </a:pPr>
            <a:r>
              <a:rPr lang="en-US" altLang="zh-CN" dirty="0"/>
              <a:t>&gt;&gt;&gt; </a:t>
            </a:r>
            <a:r>
              <a:rPr lang="en-US" altLang="zh-CN" dirty="0" err="1"/>
              <a:t>np.average</a:t>
            </a:r>
            <a:r>
              <a:rPr lang="en-US" altLang="zh-CN" dirty="0"/>
              <a:t>(x)</a:t>
            </a:r>
            <a:endParaRPr lang="zh-CN" altLang="zh-CN" dirty="0"/>
          </a:p>
          <a:p>
            <a:pPr marL="0" indent="0">
              <a:buNone/>
            </a:pPr>
            <a:r>
              <a:rPr lang="en-US" altLang="zh-CN" dirty="0"/>
              <a:t>5.833333333333333</a:t>
            </a:r>
            <a:endParaRPr lang="zh-CN" altLang="zh-CN" dirty="0"/>
          </a:p>
          <a:p>
            <a:pPr marL="0" indent="0">
              <a:buNone/>
            </a:pPr>
            <a:r>
              <a:rPr lang="en-US" altLang="zh-CN" dirty="0"/>
              <a:t>&gt;&gt;&gt; </a:t>
            </a:r>
            <a:r>
              <a:rPr lang="en-US" altLang="zh-CN" dirty="0" err="1"/>
              <a:t>np.average</a:t>
            </a:r>
            <a:r>
              <a:rPr lang="en-US" altLang="zh-CN" dirty="0"/>
              <a:t>(</a:t>
            </a:r>
            <a:r>
              <a:rPr lang="en-US" altLang="zh-CN" dirty="0" err="1"/>
              <a:t>x,axis</a:t>
            </a:r>
            <a:r>
              <a:rPr lang="en-US" altLang="zh-CN" dirty="0"/>
              <a:t>=0)  #</a:t>
            </a:r>
            <a:r>
              <a:rPr lang="zh-CN" altLang="zh-CN" dirty="0"/>
              <a:t>每一列求均值</a:t>
            </a:r>
          </a:p>
          <a:p>
            <a:pPr marL="0" indent="0">
              <a:buNone/>
            </a:pPr>
            <a:r>
              <a:rPr lang="en-US" altLang="zh-CN" dirty="0"/>
              <a:t>array([6.        , 5.66666667, 4.33333333, 7.33333333])</a:t>
            </a:r>
            <a:endParaRPr lang="zh-CN" altLang="zh-CN" dirty="0"/>
          </a:p>
          <a:p>
            <a:pPr marL="0" indent="0">
              <a:buNone/>
            </a:pPr>
            <a:r>
              <a:rPr lang="en-US" altLang="zh-CN" dirty="0"/>
              <a:t>&gt;&gt;&gt; </a:t>
            </a:r>
            <a:r>
              <a:rPr lang="en-US" altLang="zh-CN" dirty="0" err="1"/>
              <a:t>np.average</a:t>
            </a:r>
            <a:r>
              <a:rPr lang="en-US" altLang="zh-CN" dirty="0"/>
              <a:t>(</a:t>
            </a:r>
            <a:r>
              <a:rPr lang="en-US" altLang="zh-CN" dirty="0" err="1"/>
              <a:t>x,axis</a:t>
            </a:r>
            <a:r>
              <a:rPr lang="en-US" altLang="zh-CN" dirty="0"/>
              <a:t>=1)  #</a:t>
            </a:r>
            <a:r>
              <a:rPr lang="zh-CN" altLang="zh-CN" dirty="0"/>
              <a:t>每一行求均值</a:t>
            </a:r>
          </a:p>
          <a:p>
            <a:pPr marL="0" indent="0">
              <a:buNone/>
            </a:pPr>
            <a:r>
              <a:rPr lang="en-US" altLang="zh-CN" dirty="0"/>
              <a:t>array([4.5, 7.5, 5.5])</a:t>
            </a:r>
            <a:endParaRPr lang="zh-CN" altLang="zh-CN" dirty="0"/>
          </a:p>
          <a:p>
            <a:pPr marL="0" indent="0">
              <a:buNone/>
            </a:pPr>
            <a:endParaRPr lang="zh-CN" altLang="en-US" dirty="0"/>
          </a:p>
        </p:txBody>
      </p:sp>
      <p:sp>
        <p:nvSpPr>
          <p:cNvPr id="4" name="标题 3"/>
          <p:cNvSpPr>
            <a:spLocks noGrp="1"/>
          </p:cNvSpPr>
          <p:nvPr>
            <p:ph type="title"/>
          </p:nvPr>
        </p:nvSpPr>
        <p:spPr/>
        <p:txBody>
          <a:bodyPr/>
          <a:lstStyle/>
          <a:p>
            <a:endParaRPr lang="zh-CN" altLang="en-US"/>
          </a:p>
        </p:txBody>
      </p:sp>
      <p:sp>
        <p:nvSpPr>
          <p:cNvPr id="7" name="内容占位符 6"/>
          <p:cNvSpPr>
            <a:spLocks noGrp="1"/>
          </p:cNvSpPr>
          <p:nvPr>
            <p:ph sz="half" idx="10"/>
          </p:nvPr>
        </p:nvSpPr>
        <p:spPr/>
        <p:txBody>
          <a:bodyPr/>
          <a:lstStyle/>
          <a:p>
            <a:r>
              <a:rPr lang="en-US" altLang="zh-CN" dirty="0" err="1"/>
              <a:t>numpy.sum</a:t>
            </a:r>
            <a:r>
              <a:rPr lang="en-US" altLang="zh-CN" dirty="0"/>
              <a:t>()</a:t>
            </a:r>
            <a:r>
              <a:rPr lang="zh-CN" altLang="zh-CN" dirty="0"/>
              <a:t>和</a:t>
            </a:r>
            <a:r>
              <a:rPr lang="en-US" altLang="zh-CN" dirty="0" err="1"/>
              <a:t>numpy.average</a:t>
            </a:r>
            <a:r>
              <a:rPr lang="en-US" altLang="zh-CN" dirty="0"/>
              <a:t>()</a:t>
            </a:r>
            <a:r>
              <a:rPr lang="zh-CN" altLang="zh-CN" dirty="0"/>
              <a:t>可以分别求得数组元素的和与均值。</a:t>
            </a:r>
            <a:r>
              <a:rPr lang="en-US" altLang="zh-CN" dirty="0" err="1"/>
              <a:t>numpy.std</a:t>
            </a:r>
            <a:r>
              <a:rPr lang="en-US" altLang="zh-CN" dirty="0"/>
              <a:t>()</a:t>
            </a:r>
            <a:r>
              <a:rPr lang="zh-CN" altLang="zh-CN" dirty="0"/>
              <a:t>和</a:t>
            </a:r>
            <a:r>
              <a:rPr lang="en-US" altLang="zh-CN" dirty="0" err="1"/>
              <a:t>numpy.var</a:t>
            </a:r>
            <a:r>
              <a:rPr lang="en-US" altLang="zh-CN" dirty="0"/>
              <a:t>()</a:t>
            </a:r>
            <a:r>
              <a:rPr lang="zh-CN" altLang="zh-CN" dirty="0"/>
              <a:t>分别用于求数组的标准差和方差。</a:t>
            </a:r>
            <a:r>
              <a:rPr lang="en-US" altLang="zh-CN" dirty="0" err="1"/>
              <a:t>numpy.max</a:t>
            </a:r>
            <a:r>
              <a:rPr lang="en-US" altLang="zh-CN" dirty="0"/>
              <a:t>()</a:t>
            </a:r>
            <a:r>
              <a:rPr lang="zh-CN" altLang="zh-CN" dirty="0"/>
              <a:t>和</a:t>
            </a:r>
            <a:r>
              <a:rPr lang="en-US" altLang="zh-CN" dirty="0" err="1"/>
              <a:t>numpy.min</a:t>
            </a:r>
            <a:r>
              <a:rPr lang="en-US" altLang="zh-CN" dirty="0"/>
              <a:t>()</a:t>
            </a:r>
            <a:r>
              <a:rPr lang="zh-CN" altLang="zh-CN" dirty="0"/>
              <a:t>用于求得最大值和最小值。</a:t>
            </a:r>
            <a:r>
              <a:rPr lang="en-US" altLang="zh-CN" dirty="0" err="1"/>
              <a:t>numpy.sort</a:t>
            </a:r>
            <a:r>
              <a:rPr lang="en-US" altLang="zh-CN" dirty="0"/>
              <a:t>()</a:t>
            </a:r>
            <a:r>
              <a:rPr lang="zh-CN" altLang="zh-CN" dirty="0"/>
              <a:t>用于对数组进行排序。</a:t>
            </a:r>
            <a:endParaRPr lang="zh-CN" altLang="en-US" dirty="0"/>
          </a:p>
        </p:txBody>
      </p:sp>
    </p:spTree>
    <p:extLst>
      <p:ext uri="{BB962C8B-B14F-4D97-AF65-F5344CB8AC3E}">
        <p14:creationId xmlns:p14="http://schemas.microsoft.com/office/powerpoint/2010/main" val="902461959"/>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endParaRPr lang="zh-CN" altLang="en-US"/>
          </a:p>
        </p:txBody>
      </p:sp>
      <p:sp>
        <p:nvSpPr>
          <p:cNvPr id="7" name="内容占位符 6"/>
          <p:cNvSpPr>
            <a:spLocks noGrp="1"/>
          </p:cNvSpPr>
          <p:nvPr>
            <p:ph sz="half" idx="1"/>
          </p:nvPr>
        </p:nvSpPr>
        <p:spPr>
          <a:ln>
            <a:solidFill>
              <a:srgbClr val="9900FF"/>
            </a:solidFill>
          </a:ln>
        </p:spPr>
        <p:txBody>
          <a:bodyPr>
            <a:normAutofit/>
          </a:bodyPr>
          <a:lstStyle/>
          <a:p>
            <a:pPr marL="0" indent="0">
              <a:buNone/>
            </a:pPr>
            <a:r>
              <a:rPr lang="en-US" altLang="zh-CN" sz="2400" dirty="0"/>
              <a:t>&gt;&gt;&gt; </a:t>
            </a:r>
            <a:r>
              <a:rPr lang="en-US" altLang="zh-CN" sz="2400" dirty="0" err="1"/>
              <a:t>np.var</a:t>
            </a:r>
            <a:r>
              <a:rPr lang="en-US" altLang="zh-CN" sz="2400" dirty="0"/>
              <a:t>(x)</a:t>
            </a:r>
            <a:endParaRPr lang="zh-CN" altLang="zh-CN" sz="2400" dirty="0"/>
          </a:p>
          <a:p>
            <a:pPr marL="0" indent="0">
              <a:buNone/>
            </a:pPr>
            <a:r>
              <a:rPr lang="en-US" altLang="zh-CN" sz="2400" dirty="0"/>
              <a:t>6.472222222222222</a:t>
            </a:r>
            <a:endParaRPr lang="zh-CN" altLang="zh-CN" sz="2400" dirty="0"/>
          </a:p>
          <a:p>
            <a:pPr marL="0" indent="0">
              <a:buNone/>
            </a:pPr>
            <a:r>
              <a:rPr lang="en-US" altLang="zh-CN" sz="2400" dirty="0"/>
              <a:t>&gt;&gt;&gt; #</a:t>
            </a:r>
            <a:r>
              <a:rPr lang="zh-CN" altLang="zh-CN" sz="2400" dirty="0"/>
              <a:t>对每一列上的元素求方差</a:t>
            </a:r>
            <a:endParaRPr lang="en-US" altLang="zh-CN" sz="2400" dirty="0"/>
          </a:p>
          <a:p>
            <a:pPr marL="0" indent="0">
              <a:buNone/>
            </a:pPr>
            <a:r>
              <a:rPr lang="en-US" altLang="zh-CN" sz="2400" dirty="0"/>
              <a:t>&gt;&gt;&gt; </a:t>
            </a:r>
            <a:r>
              <a:rPr lang="en-US" altLang="zh-CN" sz="2400" dirty="0" err="1"/>
              <a:t>np.var</a:t>
            </a:r>
            <a:r>
              <a:rPr lang="en-US" altLang="zh-CN" sz="2400" dirty="0"/>
              <a:t>(</a:t>
            </a:r>
            <a:r>
              <a:rPr lang="en-US" altLang="zh-CN" sz="2400" dirty="0" err="1"/>
              <a:t>x,axis</a:t>
            </a:r>
            <a:r>
              <a:rPr lang="en-US" altLang="zh-CN" sz="2400" dirty="0"/>
              <a:t>=0)	</a:t>
            </a:r>
            <a:endParaRPr lang="zh-CN" altLang="zh-CN" sz="2400" dirty="0"/>
          </a:p>
          <a:p>
            <a:pPr marL="0" indent="0">
              <a:buNone/>
            </a:pPr>
            <a:r>
              <a:rPr lang="en-US" altLang="zh-CN" sz="2400" dirty="0"/>
              <a:t>array([8.66666667, 4.22222222, 6.88888889, 1.55555556])</a:t>
            </a:r>
            <a:endParaRPr lang="zh-CN" altLang="zh-CN" sz="2400" dirty="0"/>
          </a:p>
          <a:p>
            <a:pPr marL="0" indent="0">
              <a:buNone/>
            </a:pPr>
            <a:r>
              <a:rPr lang="en-US" altLang="zh-CN" sz="2400" dirty="0"/>
              <a:t>&gt;&gt;&gt; #</a:t>
            </a:r>
            <a:r>
              <a:rPr lang="zh-CN" altLang="zh-CN" sz="2400" dirty="0"/>
              <a:t>对每一行上的元素求方差</a:t>
            </a:r>
            <a:endParaRPr lang="en-US" altLang="zh-CN" sz="2400" dirty="0"/>
          </a:p>
          <a:p>
            <a:pPr marL="0" indent="0">
              <a:buNone/>
            </a:pPr>
            <a:r>
              <a:rPr lang="en-US" altLang="zh-CN" sz="2400" dirty="0"/>
              <a:t>&gt;&gt;&gt; </a:t>
            </a:r>
            <a:r>
              <a:rPr lang="en-US" altLang="zh-CN" sz="2400" dirty="0" err="1"/>
              <a:t>np.var</a:t>
            </a:r>
            <a:r>
              <a:rPr lang="en-US" altLang="zh-CN" sz="2400" dirty="0"/>
              <a:t>(</a:t>
            </a:r>
            <a:r>
              <a:rPr lang="en-US" altLang="zh-CN" sz="2400" dirty="0" err="1"/>
              <a:t>x,axis</a:t>
            </a:r>
            <a:r>
              <a:rPr lang="en-US" altLang="zh-CN" sz="2400" dirty="0"/>
              <a:t>=1)	</a:t>
            </a:r>
            <a:endParaRPr lang="zh-CN" altLang="zh-CN" sz="2400" dirty="0"/>
          </a:p>
          <a:p>
            <a:pPr marL="0" indent="0">
              <a:buNone/>
            </a:pPr>
            <a:r>
              <a:rPr lang="en-US" altLang="zh-CN" sz="2400" dirty="0"/>
              <a:t>array([6.75, 1.25, 6.75])</a:t>
            </a:r>
            <a:endParaRPr lang="zh-CN" altLang="zh-CN" sz="2400" dirty="0"/>
          </a:p>
          <a:p>
            <a:pPr marL="0" indent="0">
              <a:buNone/>
            </a:pPr>
            <a:endParaRPr lang="zh-CN" altLang="en-US" sz="2400" dirty="0"/>
          </a:p>
        </p:txBody>
      </p:sp>
      <p:sp>
        <p:nvSpPr>
          <p:cNvPr id="8" name="内容占位符 7"/>
          <p:cNvSpPr>
            <a:spLocks noGrp="1"/>
          </p:cNvSpPr>
          <p:nvPr>
            <p:ph sz="half" idx="2"/>
          </p:nvPr>
        </p:nvSpPr>
        <p:spPr>
          <a:ln>
            <a:solidFill>
              <a:srgbClr val="9900FF"/>
            </a:solidFill>
          </a:ln>
        </p:spPr>
        <p:txBody>
          <a:bodyPr>
            <a:normAutofit/>
          </a:bodyPr>
          <a:lstStyle/>
          <a:p>
            <a:pPr marL="0" indent="0">
              <a:buNone/>
            </a:pPr>
            <a:r>
              <a:rPr lang="en-US" altLang="zh-CN" sz="2400" dirty="0"/>
              <a:t>&gt;&gt;&gt; </a:t>
            </a:r>
            <a:r>
              <a:rPr lang="en-US" altLang="zh-CN" sz="2400" dirty="0" err="1"/>
              <a:t>np.std</a:t>
            </a:r>
            <a:r>
              <a:rPr lang="en-US" altLang="zh-CN" sz="2400" dirty="0"/>
              <a:t>(x)</a:t>
            </a:r>
            <a:endParaRPr lang="zh-CN" altLang="zh-CN" sz="2400" dirty="0"/>
          </a:p>
          <a:p>
            <a:pPr marL="0" indent="0">
              <a:buNone/>
            </a:pPr>
            <a:r>
              <a:rPr lang="en-US" altLang="zh-CN" sz="2400" dirty="0"/>
              <a:t>2.544056253745625</a:t>
            </a:r>
            <a:endParaRPr lang="zh-CN" altLang="zh-CN" sz="2400" dirty="0"/>
          </a:p>
          <a:p>
            <a:pPr marL="0" indent="0">
              <a:buNone/>
            </a:pPr>
            <a:r>
              <a:rPr lang="en-US" altLang="zh-CN" sz="2400" dirty="0"/>
              <a:t>&gt;&gt;&gt; #</a:t>
            </a:r>
            <a:r>
              <a:rPr lang="zh-CN" altLang="zh-CN" sz="2400" dirty="0"/>
              <a:t>对每一列上的元素求标准差</a:t>
            </a:r>
            <a:endParaRPr lang="en-US" altLang="zh-CN" sz="2400" dirty="0"/>
          </a:p>
          <a:p>
            <a:pPr marL="0" indent="0">
              <a:buNone/>
            </a:pPr>
            <a:r>
              <a:rPr lang="en-US" altLang="zh-CN" sz="2400" dirty="0"/>
              <a:t>&gt;&gt;&gt; </a:t>
            </a:r>
            <a:r>
              <a:rPr lang="en-US" altLang="zh-CN" sz="2400" dirty="0" err="1"/>
              <a:t>np.std</a:t>
            </a:r>
            <a:r>
              <a:rPr lang="en-US" altLang="zh-CN" sz="2400" dirty="0"/>
              <a:t>(</a:t>
            </a:r>
            <a:r>
              <a:rPr lang="en-US" altLang="zh-CN" sz="2400" dirty="0" err="1"/>
              <a:t>x,axis</a:t>
            </a:r>
            <a:r>
              <a:rPr lang="en-US" altLang="zh-CN" sz="2400" dirty="0"/>
              <a:t>=0)	</a:t>
            </a:r>
            <a:endParaRPr lang="zh-CN" altLang="zh-CN" sz="2400" dirty="0"/>
          </a:p>
          <a:p>
            <a:pPr marL="0" indent="0">
              <a:buNone/>
            </a:pPr>
            <a:r>
              <a:rPr lang="en-US" altLang="zh-CN" sz="2400" dirty="0"/>
              <a:t>array([2.94392029, 2.05480467, 2.62466929, 1.24721913])</a:t>
            </a:r>
            <a:endParaRPr lang="zh-CN" altLang="zh-CN" sz="2400" dirty="0"/>
          </a:p>
          <a:p>
            <a:pPr marL="0" indent="0">
              <a:buNone/>
            </a:pPr>
            <a:r>
              <a:rPr lang="en-US" altLang="zh-CN" sz="2400" dirty="0"/>
              <a:t>&gt;&gt;&gt; #</a:t>
            </a:r>
            <a:r>
              <a:rPr lang="zh-CN" altLang="zh-CN" sz="2400" dirty="0"/>
              <a:t>对每一行上的元素求标准差</a:t>
            </a:r>
            <a:endParaRPr lang="en-US" altLang="zh-CN" sz="2400" dirty="0"/>
          </a:p>
          <a:p>
            <a:pPr marL="0" indent="0">
              <a:buNone/>
            </a:pPr>
            <a:r>
              <a:rPr lang="en-US" altLang="zh-CN" sz="2400" dirty="0"/>
              <a:t>&gt;&gt;&gt; </a:t>
            </a:r>
            <a:r>
              <a:rPr lang="en-US" altLang="zh-CN" sz="2400" dirty="0" err="1"/>
              <a:t>np.std</a:t>
            </a:r>
            <a:r>
              <a:rPr lang="en-US" altLang="zh-CN" sz="2400" dirty="0"/>
              <a:t>(</a:t>
            </a:r>
            <a:r>
              <a:rPr lang="en-US" altLang="zh-CN" sz="2400" dirty="0" err="1"/>
              <a:t>x,axis</a:t>
            </a:r>
            <a:r>
              <a:rPr lang="en-US" altLang="zh-CN" sz="2400" dirty="0"/>
              <a:t>=1)	</a:t>
            </a:r>
            <a:endParaRPr lang="zh-CN" altLang="zh-CN" sz="2400" dirty="0"/>
          </a:p>
          <a:p>
            <a:pPr marL="0" indent="0">
              <a:buNone/>
            </a:pPr>
            <a:r>
              <a:rPr lang="en-US" altLang="zh-CN" sz="2400" dirty="0"/>
              <a:t>array([2.59807621, 1.11803399, 2.59807621])</a:t>
            </a:r>
            <a:endParaRPr lang="zh-CN" altLang="zh-CN" sz="2400" dirty="0"/>
          </a:p>
          <a:p>
            <a:pPr marL="0" indent="0">
              <a:buNone/>
            </a:pPr>
            <a:endParaRPr lang="zh-CN" altLang="en-US" sz="2400" dirty="0"/>
          </a:p>
        </p:txBody>
      </p:sp>
    </p:spTree>
    <p:extLst>
      <p:ext uri="{BB962C8B-B14F-4D97-AF65-F5344CB8AC3E}">
        <p14:creationId xmlns:p14="http://schemas.microsoft.com/office/powerpoint/2010/main" val="13812268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2"/>
          </p:nvPr>
        </p:nvSpPr>
        <p:spPr>
          <a:xfrm>
            <a:off x="334434" y="1556792"/>
            <a:ext cx="5662083" cy="5112568"/>
          </a:xfrm>
          <a:ln>
            <a:solidFill>
              <a:srgbClr val="9900FF"/>
            </a:solidFill>
          </a:ln>
        </p:spPr>
        <p:txBody>
          <a:bodyPr>
            <a:normAutofit fontScale="85000" lnSpcReduction="20000"/>
          </a:bodyPr>
          <a:lstStyle/>
          <a:p>
            <a:pPr marL="0" indent="0">
              <a:buNone/>
            </a:pPr>
            <a:r>
              <a:rPr lang="en-US" altLang="zh-CN" dirty="0"/>
              <a:t>&gt;&gt;&gt; import </a:t>
            </a:r>
            <a:r>
              <a:rPr lang="en-US" altLang="zh-CN" dirty="0" err="1"/>
              <a:t>numpy</a:t>
            </a:r>
            <a:r>
              <a:rPr lang="en-US" altLang="zh-CN" dirty="0"/>
              <a:t> as np</a:t>
            </a:r>
            <a:endParaRPr lang="zh-CN" altLang="zh-CN" dirty="0"/>
          </a:p>
          <a:p>
            <a:pPr marL="0" indent="0">
              <a:buNone/>
            </a:pPr>
            <a:r>
              <a:rPr lang="en-US" altLang="zh-CN" dirty="0"/>
              <a:t>&gt;&gt;&gt; </a:t>
            </a:r>
            <a:r>
              <a:rPr lang="en-US" altLang="zh-CN" dirty="0" err="1"/>
              <a:t>np.random.seed</a:t>
            </a:r>
            <a:r>
              <a:rPr lang="en-US" altLang="zh-CN" dirty="0"/>
              <a:t>(1000)</a:t>
            </a:r>
            <a:endParaRPr lang="zh-CN" altLang="zh-CN" dirty="0"/>
          </a:p>
          <a:p>
            <a:pPr marL="0" indent="0">
              <a:buNone/>
            </a:pPr>
            <a:r>
              <a:rPr lang="en-US" altLang="zh-CN" dirty="0"/>
              <a:t>&gt;&gt;&gt; x=</a:t>
            </a:r>
            <a:r>
              <a:rPr lang="en-US" altLang="zh-CN" dirty="0" err="1"/>
              <a:t>np.random.randint</a:t>
            </a:r>
            <a:r>
              <a:rPr lang="en-US" altLang="zh-CN" dirty="0"/>
              <a:t>(1,10,size=(3,4))</a:t>
            </a:r>
            <a:endParaRPr lang="zh-CN" altLang="zh-CN" dirty="0"/>
          </a:p>
          <a:p>
            <a:pPr marL="0" indent="0">
              <a:buNone/>
            </a:pPr>
            <a:r>
              <a:rPr lang="en-US" altLang="zh-CN" dirty="0"/>
              <a:t>&gt;&gt;&gt; x</a:t>
            </a:r>
            <a:endParaRPr lang="zh-CN" altLang="zh-CN" dirty="0"/>
          </a:p>
          <a:p>
            <a:pPr marL="0" indent="0">
              <a:buNone/>
            </a:pPr>
            <a:r>
              <a:rPr lang="en-US" altLang="zh-CN" dirty="0"/>
              <a:t>array([[4, 8, 8, 1],</a:t>
            </a:r>
            <a:endParaRPr lang="zh-CN" altLang="zh-CN" dirty="0"/>
          </a:p>
          <a:p>
            <a:pPr marL="0" indent="0">
              <a:buNone/>
            </a:pPr>
            <a:r>
              <a:rPr lang="en-US" altLang="zh-CN" dirty="0"/>
              <a:t>       [2, 1, 9, 5],</a:t>
            </a:r>
            <a:endParaRPr lang="zh-CN" altLang="zh-CN" dirty="0"/>
          </a:p>
          <a:p>
            <a:pPr marL="0" indent="0">
              <a:buNone/>
            </a:pPr>
            <a:r>
              <a:rPr lang="en-US" altLang="zh-CN" dirty="0"/>
              <a:t>       [5, 5, 3, 9]])</a:t>
            </a:r>
            <a:endParaRPr lang="zh-CN" altLang="zh-CN" dirty="0"/>
          </a:p>
          <a:p>
            <a:pPr marL="0" indent="0">
              <a:buNone/>
            </a:pPr>
            <a:r>
              <a:rPr lang="en-US" altLang="zh-CN" dirty="0"/>
              <a:t>&gt;&gt;&gt; </a:t>
            </a:r>
            <a:r>
              <a:rPr lang="en-US" altLang="zh-CN" dirty="0" err="1"/>
              <a:t>np.sort</a:t>
            </a:r>
            <a:r>
              <a:rPr lang="en-US" altLang="zh-CN" dirty="0"/>
              <a:t>(x)	#</a:t>
            </a:r>
            <a:r>
              <a:rPr lang="zh-CN" altLang="zh-CN" dirty="0"/>
              <a:t>默认按各行分别排序</a:t>
            </a:r>
          </a:p>
          <a:p>
            <a:pPr marL="0" indent="0">
              <a:buNone/>
            </a:pPr>
            <a:r>
              <a:rPr lang="en-US" altLang="zh-CN" dirty="0"/>
              <a:t>array([[1, 4, 8, 8],</a:t>
            </a:r>
            <a:endParaRPr lang="zh-CN" altLang="zh-CN" dirty="0"/>
          </a:p>
          <a:p>
            <a:pPr marL="0" indent="0">
              <a:buNone/>
            </a:pPr>
            <a:r>
              <a:rPr lang="en-US" altLang="zh-CN" dirty="0"/>
              <a:t>       [1, 2, 5, 9],</a:t>
            </a:r>
            <a:endParaRPr lang="zh-CN" altLang="zh-CN" dirty="0"/>
          </a:p>
          <a:p>
            <a:pPr marL="0" indent="0">
              <a:buNone/>
            </a:pPr>
            <a:r>
              <a:rPr lang="en-US" altLang="zh-CN" dirty="0"/>
              <a:t>       [3, 5, 5, 9]])</a:t>
            </a:r>
            <a:endParaRPr lang="zh-CN" altLang="zh-CN" dirty="0"/>
          </a:p>
          <a:p>
            <a:pPr marL="0" indent="0">
              <a:buNone/>
            </a:pPr>
            <a:r>
              <a:rPr lang="en-US" altLang="zh-CN" dirty="0"/>
              <a:t>&gt;&gt;&gt; x		#</a:t>
            </a:r>
            <a:r>
              <a:rPr lang="zh-CN" altLang="zh-CN" dirty="0"/>
              <a:t>原数组保持不变</a:t>
            </a:r>
          </a:p>
          <a:p>
            <a:pPr marL="0" indent="0">
              <a:buNone/>
            </a:pPr>
            <a:r>
              <a:rPr lang="en-US" altLang="zh-CN" dirty="0"/>
              <a:t>array([[4, 8, 8, 1],</a:t>
            </a:r>
            <a:endParaRPr lang="zh-CN" altLang="zh-CN" dirty="0"/>
          </a:p>
          <a:p>
            <a:pPr marL="0" indent="0">
              <a:buNone/>
            </a:pPr>
            <a:r>
              <a:rPr lang="en-US" altLang="zh-CN" dirty="0"/>
              <a:t>       [2, 1, 9, 5],</a:t>
            </a:r>
            <a:endParaRPr lang="zh-CN" altLang="zh-CN" dirty="0"/>
          </a:p>
          <a:p>
            <a:pPr marL="0" indent="0">
              <a:buNone/>
            </a:pPr>
            <a:r>
              <a:rPr lang="en-US" altLang="zh-CN" dirty="0"/>
              <a:t>       [5, 5, 3, 9]])</a:t>
            </a:r>
            <a:endParaRPr lang="zh-CN" altLang="zh-CN" dirty="0"/>
          </a:p>
          <a:p>
            <a:pPr marL="0" indent="0">
              <a:buNone/>
            </a:pPr>
            <a:endParaRPr lang="zh-CN" altLang="en-US" dirty="0"/>
          </a:p>
        </p:txBody>
      </p:sp>
      <p:sp>
        <p:nvSpPr>
          <p:cNvPr id="6" name="内容占位符 5"/>
          <p:cNvSpPr>
            <a:spLocks noGrp="1"/>
          </p:cNvSpPr>
          <p:nvPr>
            <p:ph sz="quarter" idx="4"/>
          </p:nvPr>
        </p:nvSpPr>
        <p:spPr>
          <a:xfrm>
            <a:off x="6193368" y="1556792"/>
            <a:ext cx="5663272" cy="5112568"/>
          </a:xfrm>
          <a:ln>
            <a:solidFill>
              <a:srgbClr val="9900FF"/>
            </a:solidFill>
          </a:ln>
        </p:spPr>
        <p:txBody>
          <a:bodyPr>
            <a:normAutofit fontScale="77500" lnSpcReduction="20000"/>
          </a:bodyPr>
          <a:lstStyle/>
          <a:p>
            <a:pPr marL="0" indent="0">
              <a:buNone/>
            </a:pPr>
            <a:r>
              <a:rPr lang="en-US" altLang="zh-CN" dirty="0"/>
              <a:t>&gt;&gt;&gt; </a:t>
            </a:r>
            <a:r>
              <a:rPr lang="en-US" altLang="zh-CN" dirty="0" err="1"/>
              <a:t>np.sort</a:t>
            </a:r>
            <a:r>
              <a:rPr lang="en-US" altLang="zh-CN" dirty="0"/>
              <a:t>(</a:t>
            </a:r>
            <a:r>
              <a:rPr lang="en-US" altLang="zh-CN" dirty="0" err="1"/>
              <a:t>x,axis</a:t>
            </a:r>
            <a:r>
              <a:rPr lang="en-US" altLang="zh-CN" dirty="0"/>
              <a:t>=1)	#</a:t>
            </a:r>
            <a:r>
              <a:rPr lang="zh-CN" altLang="zh-CN" dirty="0"/>
              <a:t>按行排序</a:t>
            </a:r>
          </a:p>
          <a:p>
            <a:pPr marL="0" indent="0">
              <a:buNone/>
            </a:pPr>
            <a:r>
              <a:rPr lang="en-US" altLang="zh-CN" dirty="0"/>
              <a:t>array([[1, 4, 8, 8],</a:t>
            </a:r>
            <a:endParaRPr lang="zh-CN" altLang="zh-CN" dirty="0"/>
          </a:p>
          <a:p>
            <a:pPr marL="0" indent="0">
              <a:buNone/>
            </a:pPr>
            <a:r>
              <a:rPr lang="en-US" altLang="zh-CN" dirty="0"/>
              <a:t>       [1, 2, 5, 9],</a:t>
            </a:r>
            <a:endParaRPr lang="zh-CN" altLang="zh-CN" dirty="0"/>
          </a:p>
          <a:p>
            <a:pPr marL="0" indent="0">
              <a:buNone/>
            </a:pPr>
            <a:r>
              <a:rPr lang="en-US" altLang="zh-CN" dirty="0"/>
              <a:t>       [3, 5, 5, 9]])</a:t>
            </a:r>
            <a:endParaRPr lang="zh-CN" altLang="zh-CN" dirty="0"/>
          </a:p>
          <a:p>
            <a:pPr marL="0" indent="0">
              <a:buNone/>
            </a:pPr>
            <a:r>
              <a:rPr lang="en-US" altLang="zh-CN" dirty="0"/>
              <a:t>&gt;&gt;&gt; x			#</a:t>
            </a:r>
            <a:r>
              <a:rPr lang="zh-CN" altLang="zh-CN" dirty="0"/>
              <a:t>原数组保持不变</a:t>
            </a:r>
          </a:p>
          <a:p>
            <a:pPr marL="0" indent="0">
              <a:buNone/>
            </a:pPr>
            <a:r>
              <a:rPr lang="en-US" altLang="zh-CN" dirty="0"/>
              <a:t>array([[4, 8, 8, 1],</a:t>
            </a:r>
            <a:endParaRPr lang="zh-CN" altLang="zh-CN" dirty="0"/>
          </a:p>
          <a:p>
            <a:pPr marL="0" indent="0">
              <a:buNone/>
            </a:pPr>
            <a:r>
              <a:rPr lang="en-US" altLang="zh-CN" dirty="0"/>
              <a:t>       [2, 1, 9, 5],</a:t>
            </a:r>
            <a:endParaRPr lang="zh-CN" altLang="zh-CN" dirty="0"/>
          </a:p>
          <a:p>
            <a:pPr marL="0" indent="0">
              <a:buNone/>
            </a:pPr>
            <a:r>
              <a:rPr lang="en-US" altLang="zh-CN" dirty="0"/>
              <a:t>       [5, 5, 3, 9]])</a:t>
            </a:r>
            <a:endParaRPr lang="zh-CN" altLang="zh-CN" dirty="0"/>
          </a:p>
          <a:p>
            <a:pPr marL="0" indent="0">
              <a:buNone/>
            </a:pPr>
            <a:r>
              <a:rPr lang="en-US" altLang="zh-CN" dirty="0"/>
              <a:t>&gt;&gt;&gt; </a:t>
            </a:r>
            <a:r>
              <a:rPr lang="en-US" altLang="zh-CN" dirty="0" err="1"/>
              <a:t>np.sort</a:t>
            </a:r>
            <a:r>
              <a:rPr lang="en-US" altLang="zh-CN" dirty="0"/>
              <a:t>(</a:t>
            </a:r>
            <a:r>
              <a:rPr lang="en-US" altLang="zh-CN" dirty="0" err="1"/>
              <a:t>x,axis</a:t>
            </a:r>
            <a:r>
              <a:rPr lang="en-US" altLang="zh-CN" dirty="0"/>
              <a:t>=0)	#</a:t>
            </a:r>
            <a:r>
              <a:rPr lang="zh-CN" altLang="zh-CN" dirty="0"/>
              <a:t>按列排序</a:t>
            </a:r>
          </a:p>
          <a:p>
            <a:pPr marL="0" indent="0">
              <a:buNone/>
            </a:pPr>
            <a:r>
              <a:rPr lang="en-US" altLang="zh-CN" dirty="0"/>
              <a:t>array([[2, 1, 3, 1],</a:t>
            </a:r>
            <a:endParaRPr lang="zh-CN" altLang="zh-CN" dirty="0"/>
          </a:p>
          <a:p>
            <a:pPr marL="0" indent="0">
              <a:buNone/>
            </a:pPr>
            <a:r>
              <a:rPr lang="en-US" altLang="zh-CN" dirty="0"/>
              <a:t>       [4, 5, 8, 5],</a:t>
            </a:r>
            <a:endParaRPr lang="zh-CN" altLang="zh-CN" dirty="0"/>
          </a:p>
          <a:p>
            <a:pPr marL="0" indent="0">
              <a:buNone/>
            </a:pPr>
            <a:r>
              <a:rPr lang="en-US" altLang="zh-CN" dirty="0"/>
              <a:t>       [5, 8, 9, 9]])</a:t>
            </a:r>
            <a:endParaRPr lang="zh-CN" altLang="zh-CN" dirty="0"/>
          </a:p>
          <a:p>
            <a:pPr marL="0" indent="0">
              <a:buNone/>
            </a:pPr>
            <a:r>
              <a:rPr lang="en-US" altLang="zh-CN" dirty="0"/>
              <a:t>&gt;&gt;&gt; #axis=None</a:t>
            </a:r>
            <a:r>
              <a:rPr lang="zh-CN" altLang="zh-CN" dirty="0"/>
              <a:t>时，按数组展开的元素排序</a:t>
            </a:r>
            <a:endParaRPr lang="en-US" altLang="zh-CN" dirty="0"/>
          </a:p>
          <a:p>
            <a:pPr marL="0" indent="0">
              <a:buNone/>
            </a:pPr>
            <a:r>
              <a:rPr lang="en-US" altLang="zh-CN" dirty="0"/>
              <a:t>&gt;&gt;&gt; </a:t>
            </a:r>
            <a:r>
              <a:rPr lang="en-US" altLang="zh-CN" dirty="0" err="1"/>
              <a:t>np.sort</a:t>
            </a:r>
            <a:r>
              <a:rPr lang="en-US" altLang="zh-CN" dirty="0"/>
              <a:t>(</a:t>
            </a:r>
            <a:r>
              <a:rPr lang="en-US" altLang="zh-CN" dirty="0" err="1"/>
              <a:t>x,axis</a:t>
            </a:r>
            <a:r>
              <a:rPr lang="en-US" altLang="zh-CN" dirty="0"/>
              <a:t>=None)</a:t>
            </a:r>
            <a:endParaRPr lang="zh-CN" altLang="zh-CN" dirty="0"/>
          </a:p>
          <a:p>
            <a:pPr marL="0" indent="0">
              <a:buNone/>
            </a:pPr>
            <a:r>
              <a:rPr lang="en-US" altLang="zh-CN" dirty="0"/>
              <a:t>array([1, 1, 2, 3, 4, 5, 5, 5, 8, 8, 9, 9])</a:t>
            </a:r>
            <a:endParaRPr lang="zh-CN" altLang="zh-CN" dirty="0"/>
          </a:p>
          <a:p>
            <a:pPr marL="0" indent="0">
              <a:buNone/>
            </a:pPr>
            <a:r>
              <a:rPr lang="en-US" altLang="zh-CN" dirty="0"/>
              <a:t>&gt;&gt;&gt; </a:t>
            </a:r>
            <a:endParaRPr lang="zh-CN" altLang="zh-CN" dirty="0"/>
          </a:p>
          <a:p>
            <a:pPr marL="0" indent="0">
              <a:buNone/>
            </a:pPr>
            <a:endParaRPr lang="zh-CN" altLang="en-US" dirty="0"/>
          </a:p>
        </p:txBody>
      </p:sp>
      <p:sp>
        <p:nvSpPr>
          <p:cNvPr id="2" name="标题 1"/>
          <p:cNvSpPr>
            <a:spLocks noGrp="1"/>
          </p:cNvSpPr>
          <p:nvPr>
            <p:ph type="title"/>
          </p:nvPr>
        </p:nvSpPr>
        <p:spPr/>
        <p:txBody>
          <a:bodyPr/>
          <a:lstStyle/>
          <a:p>
            <a:r>
              <a:rPr lang="en-US" altLang="zh-CN" dirty="0"/>
              <a:t>4.3.7 </a:t>
            </a:r>
            <a:r>
              <a:rPr lang="zh-CN" altLang="zh-CN" dirty="0"/>
              <a:t>数组排序</a:t>
            </a:r>
            <a:endParaRPr lang="zh-CN" altLang="en-US" dirty="0"/>
          </a:p>
        </p:txBody>
      </p:sp>
      <p:sp>
        <p:nvSpPr>
          <p:cNvPr id="7" name="内容占位符 6"/>
          <p:cNvSpPr>
            <a:spLocks noGrp="1"/>
          </p:cNvSpPr>
          <p:nvPr>
            <p:ph sz="half" idx="10"/>
          </p:nvPr>
        </p:nvSpPr>
        <p:spPr>
          <a:xfrm>
            <a:off x="335360" y="1094755"/>
            <a:ext cx="11521280" cy="462037"/>
          </a:xfrm>
        </p:spPr>
        <p:txBody>
          <a:bodyPr>
            <a:normAutofit fontScale="85000" lnSpcReduction="10000"/>
          </a:bodyPr>
          <a:lstStyle/>
          <a:p>
            <a:r>
              <a:rPr lang="zh-CN" altLang="zh-CN" dirty="0"/>
              <a:t>利用</a:t>
            </a:r>
            <a:r>
              <a:rPr lang="en-US" altLang="zh-CN" dirty="0" err="1"/>
              <a:t>np.sort</a:t>
            </a:r>
            <a:r>
              <a:rPr lang="en-US" altLang="zh-CN" dirty="0"/>
              <a:t>()</a:t>
            </a:r>
            <a:r>
              <a:rPr lang="zh-CN" altLang="zh-CN" dirty="0"/>
              <a:t>函数可以对数组进行排序，根据原数组生成一个排序后的数组，原数组保持不变。</a:t>
            </a:r>
          </a:p>
          <a:p>
            <a:endParaRPr lang="zh-CN" altLang="en-US" dirty="0"/>
          </a:p>
        </p:txBody>
      </p:sp>
    </p:spTree>
    <p:extLst>
      <p:ext uri="{BB962C8B-B14F-4D97-AF65-F5344CB8AC3E}">
        <p14:creationId xmlns:p14="http://schemas.microsoft.com/office/powerpoint/2010/main" val="255623591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4.4 </a:t>
            </a:r>
            <a:r>
              <a:rPr lang="zh-CN" altLang="zh-CN" dirty="0"/>
              <a:t>使用</a:t>
            </a:r>
            <a:r>
              <a:rPr lang="en-US" altLang="zh-CN" dirty="0" err="1"/>
              <a:t>numpy</a:t>
            </a:r>
            <a:r>
              <a:rPr lang="zh-CN" altLang="zh-CN" dirty="0"/>
              <a:t>进行简单统计分析</a:t>
            </a:r>
            <a:endParaRPr lang="zh-CN" altLang="en-US" dirty="0"/>
          </a:p>
        </p:txBody>
      </p:sp>
      <p:sp>
        <p:nvSpPr>
          <p:cNvPr id="6" name="内容占位符 5"/>
          <p:cNvSpPr>
            <a:spLocks noGrp="1"/>
          </p:cNvSpPr>
          <p:nvPr>
            <p:ph idx="1"/>
          </p:nvPr>
        </p:nvSpPr>
        <p:spPr>
          <a:xfrm>
            <a:off x="334435" y="1124744"/>
            <a:ext cx="3961366" cy="5344319"/>
          </a:xfrm>
        </p:spPr>
        <p:txBody>
          <a:bodyPr/>
          <a:lstStyle/>
          <a:p>
            <a:r>
              <a:rPr lang="en-US" altLang="zh-CN" dirty="0" err="1"/>
              <a:t>numpy</a:t>
            </a:r>
            <a:r>
              <a:rPr lang="zh-CN" altLang="zh-CN" dirty="0"/>
              <a:t>数组的基本统计分析函数及其说明见表</a:t>
            </a:r>
            <a:r>
              <a:rPr lang="en-US" altLang="zh-CN" dirty="0"/>
              <a:t>5.2</a:t>
            </a:r>
            <a:r>
              <a:rPr lang="zh-CN" altLang="zh-CN" dirty="0"/>
              <a:t>。函数中参数的用法请参考帮助文档。</a:t>
            </a:r>
          </a:p>
          <a:p>
            <a:endParaRPr lang="zh-CN" altLang="en-US" dirty="0"/>
          </a:p>
        </p:txBody>
      </p:sp>
      <p:pic>
        <p:nvPicPr>
          <p:cNvPr id="2" name="20 1"/>
          <p:cNvPicPr>
            <a:picLocks noChangeAspect="1"/>
          </p:cNvPicPr>
          <p:nvPr/>
        </p:nvPicPr>
        <p:blipFill>
          <a:blip r:embed="rId2"/>
          <a:stretch>
            <a:fillRect/>
          </a:stretch>
        </p:blipFill>
        <p:spPr>
          <a:xfrm>
            <a:off x="4583832" y="733835"/>
            <a:ext cx="6902016" cy="6097897"/>
          </a:xfrm>
          <a:prstGeom prst="rect">
            <a:avLst/>
          </a:prstGeom>
          <a:ln>
            <a:solidFill>
              <a:srgbClr val="9900FF"/>
            </a:solidFill>
          </a:ln>
        </p:spPr>
      </p:pic>
    </p:spTree>
    <p:extLst>
      <p:ext uri="{BB962C8B-B14F-4D97-AF65-F5344CB8AC3E}">
        <p14:creationId xmlns:p14="http://schemas.microsoft.com/office/powerpoint/2010/main" val="31601790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20 2"/>
          <p:cNvPicPr>
            <a:picLocks noChangeAspect="1"/>
          </p:cNvPicPr>
          <p:nvPr/>
        </p:nvPicPr>
        <p:blipFill>
          <a:blip r:embed="rId2"/>
          <a:stretch>
            <a:fillRect/>
          </a:stretch>
        </p:blipFill>
        <p:spPr>
          <a:xfrm>
            <a:off x="2639616" y="1052736"/>
            <a:ext cx="7239460" cy="5328592"/>
          </a:xfrm>
          <a:prstGeom prst="rect">
            <a:avLst/>
          </a:prstGeom>
          <a:ln>
            <a:solidFill>
              <a:srgbClr val="9900FF"/>
            </a:solidFill>
          </a:ln>
        </p:spPr>
      </p:pic>
    </p:spTree>
    <p:extLst>
      <p:ext uri="{BB962C8B-B14F-4D97-AF65-F5344CB8AC3E}">
        <p14:creationId xmlns:p14="http://schemas.microsoft.com/office/powerpoint/2010/main" val="36849631"/>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2"/>
          </p:nvPr>
        </p:nvSpPr>
        <p:spPr>
          <a:xfrm>
            <a:off x="334434" y="2276872"/>
            <a:ext cx="5977590" cy="4464496"/>
          </a:xfrm>
          <a:ln>
            <a:solidFill>
              <a:srgbClr val="9900FF"/>
            </a:solidFill>
          </a:ln>
        </p:spPr>
        <p:txBody>
          <a:bodyPr>
            <a:normAutofit fontScale="62500" lnSpcReduction="20000"/>
          </a:bodyPr>
          <a:lstStyle/>
          <a:p>
            <a:pPr marL="0" indent="0">
              <a:buNone/>
            </a:pPr>
            <a:r>
              <a:rPr lang="en-US" altLang="zh-CN" dirty="0"/>
              <a:t>#example5_3.py</a:t>
            </a:r>
            <a:endParaRPr lang="zh-CN" altLang="zh-CN" dirty="0"/>
          </a:p>
          <a:p>
            <a:pPr marL="0" indent="0">
              <a:buNone/>
            </a:pPr>
            <a:r>
              <a:rPr lang="en-US" altLang="zh-CN" dirty="0"/>
              <a:t>import </a:t>
            </a:r>
            <a:r>
              <a:rPr lang="en-US" altLang="zh-CN" dirty="0" err="1"/>
              <a:t>numpy</a:t>
            </a:r>
            <a:r>
              <a:rPr lang="en-US" altLang="zh-CN" dirty="0"/>
              <a:t> as np</a:t>
            </a:r>
            <a:endParaRPr lang="zh-CN" altLang="zh-CN" dirty="0"/>
          </a:p>
          <a:p>
            <a:pPr marL="0" indent="0">
              <a:buNone/>
            </a:pPr>
            <a:r>
              <a:rPr lang="en-US" altLang="zh-CN" dirty="0" err="1"/>
              <a:t>close_price,change_volume</a:t>
            </a:r>
            <a:r>
              <a:rPr lang="en-US" altLang="zh-CN" dirty="0"/>
              <a:t>=</a:t>
            </a:r>
            <a:r>
              <a:rPr lang="en-US" altLang="zh-CN" dirty="0" err="1"/>
              <a:t>np.loadtxt</a:t>
            </a:r>
            <a:r>
              <a:rPr lang="en-US" altLang="zh-CN" dirty="0"/>
              <a:t>('</a:t>
            </a:r>
            <a:r>
              <a:rPr lang="en-US" altLang="zh-CN" dirty="0" err="1"/>
              <a:t>stock.csv',delimiter</a:t>
            </a:r>
            <a:r>
              <a:rPr lang="en-US" altLang="zh-CN" dirty="0"/>
              <a:t>=',',</a:t>
            </a:r>
            <a:endParaRPr lang="zh-CN" altLang="zh-CN" dirty="0"/>
          </a:p>
          <a:p>
            <a:pPr marL="0" indent="0">
              <a:buNone/>
            </a:pPr>
            <a:r>
              <a:rPr lang="en-US" altLang="zh-CN" dirty="0"/>
              <a:t>                                     </a:t>
            </a:r>
            <a:r>
              <a:rPr lang="en-US" altLang="zh-CN" dirty="0" err="1"/>
              <a:t>usecols</a:t>
            </a:r>
            <a:r>
              <a:rPr lang="en-US" altLang="zh-CN" dirty="0"/>
              <a:t>=(4,6),unpack=True,</a:t>
            </a:r>
            <a:endParaRPr lang="zh-CN" altLang="zh-CN" dirty="0"/>
          </a:p>
          <a:p>
            <a:pPr marL="0" indent="0">
              <a:buNone/>
            </a:pPr>
            <a:r>
              <a:rPr lang="en-US" altLang="zh-CN" dirty="0"/>
              <a:t>                                     </a:t>
            </a:r>
            <a:r>
              <a:rPr lang="en-US" altLang="zh-CN" dirty="0" err="1"/>
              <a:t>skiprows</a:t>
            </a:r>
            <a:r>
              <a:rPr lang="en-US" altLang="zh-CN" dirty="0"/>
              <a:t>=1)</a:t>
            </a:r>
            <a:endParaRPr lang="zh-CN" altLang="zh-CN" dirty="0"/>
          </a:p>
          <a:p>
            <a:pPr marL="0" indent="0">
              <a:buNone/>
            </a:pPr>
            <a:r>
              <a:rPr lang="en-US" altLang="zh-CN" dirty="0"/>
              <a:t>meanS1=</a:t>
            </a:r>
            <a:r>
              <a:rPr lang="en-US" altLang="zh-CN" dirty="0" err="1"/>
              <a:t>np.mean</a:t>
            </a:r>
            <a:r>
              <a:rPr lang="en-US" altLang="zh-CN" dirty="0"/>
              <a:t>(</a:t>
            </a:r>
            <a:r>
              <a:rPr lang="en-US" altLang="zh-CN" dirty="0" err="1"/>
              <a:t>close_price</a:t>
            </a:r>
            <a:r>
              <a:rPr lang="en-US" altLang="zh-CN" dirty="0"/>
              <a:t>)</a:t>
            </a:r>
            <a:endParaRPr lang="zh-CN" altLang="zh-CN" dirty="0"/>
          </a:p>
          <a:p>
            <a:pPr marL="0" indent="0">
              <a:buNone/>
            </a:pPr>
            <a:r>
              <a:rPr lang="en-US" altLang="zh-CN" dirty="0"/>
              <a:t>print('</a:t>
            </a:r>
            <a:r>
              <a:rPr lang="zh-CN" altLang="zh-CN" dirty="0"/>
              <a:t>收盘价算术平均值</a:t>
            </a:r>
            <a:r>
              <a:rPr lang="en-US" altLang="zh-CN" dirty="0"/>
              <a:t>:',meanS1)</a:t>
            </a:r>
            <a:endParaRPr lang="zh-CN" altLang="zh-CN" dirty="0"/>
          </a:p>
          <a:p>
            <a:pPr marL="0" indent="0">
              <a:buNone/>
            </a:pPr>
            <a:r>
              <a:rPr lang="en-US" altLang="zh-CN" dirty="0"/>
              <a:t>wavgS1=</a:t>
            </a:r>
            <a:r>
              <a:rPr lang="en-US" altLang="zh-CN" dirty="0" err="1"/>
              <a:t>np.average</a:t>
            </a:r>
            <a:r>
              <a:rPr lang="en-US" altLang="zh-CN" dirty="0"/>
              <a:t>(</a:t>
            </a:r>
            <a:r>
              <a:rPr lang="en-US" altLang="zh-CN" dirty="0" err="1"/>
              <a:t>close_price,weights</a:t>
            </a:r>
            <a:r>
              <a:rPr lang="en-US" altLang="zh-CN" dirty="0"/>
              <a:t>=</a:t>
            </a:r>
            <a:r>
              <a:rPr lang="en-US" altLang="zh-CN" dirty="0" err="1"/>
              <a:t>change_volume</a:t>
            </a:r>
            <a:r>
              <a:rPr lang="en-US" altLang="zh-CN" dirty="0"/>
              <a:t>)</a:t>
            </a:r>
            <a:endParaRPr lang="zh-CN" altLang="zh-CN" dirty="0"/>
          </a:p>
          <a:p>
            <a:pPr marL="0" indent="0">
              <a:buNone/>
            </a:pPr>
            <a:r>
              <a:rPr lang="en-US" altLang="zh-CN" dirty="0"/>
              <a:t>print('</a:t>
            </a:r>
            <a:r>
              <a:rPr lang="zh-CN" altLang="zh-CN" dirty="0"/>
              <a:t>收盘价的加权平均值</a:t>
            </a:r>
            <a:r>
              <a:rPr lang="en-US" altLang="zh-CN" dirty="0"/>
              <a:t>:',wavgS1)</a:t>
            </a:r>
            <a:endParaRPr lang="zh-CN" altLang="zh-CN" dirty="0"/>
          </a:p>
          <a:p>
            <a:pPr marL="0" indent="0">
              <a:buNone/>
            </a:pPr>
            <a:r>
              <a:rPr lang="en-US" altLang="zh-CN" dirty="0"/>
              <a:t>varS1=</a:t>
            </a:r>
            <a:r>
              <a:rPr lang="en-US" altLang="zh-CN" dirty="0" err="1"/>
              <a:t>np.var</a:t>
            </a:r>
            <a:r>
              <a:rPr lang="en-US" altLang="zh-CN" dirty="0"/>
              <a:t>(</a:t>
            </a:r>
            <a:r>
              <a:rPr lang="en-US" altLang="zh-CN" dirty="0" err="1"/>
              <a:t>close_price</a:t>
            </a:r>
            <a:r>
              <a:rPr lang="en-US" altLang="zh-CN" dirty="0"/>
              <a:t>)</a:t>
            </a:r>
            <a:endParaRPr lang="zh-CN" altLang="zh-CN" dirty="0"/>
          </a:p>
          <a:p>
            <a:pPr marL="0" indent="0">
              <a:buNone/>
            </a:pPr>
            <a:r>
              <a:rPr lang="en-US" altLang="zh-CN" dirty="0"/>
              <a:t>print('</a:t>
            </a:r>
            <a:r>
              <a:rPr lang="zh-CN" altLang="zh-CN" dirty="0"/>
              <a:t>收盘价的方差</a:t>
            </a:r>
            <a:r>
              <a:rPr lang="en-US" altLang="zh-CN" dirty="0"/>
              <a:t>:',varS1)</a:t>
            </a:r>
            <a:endParaRPr lang="zh-CN" altLang="zh-CN" dirty="0"/>
          </a:p>
          <a:p>
            <a:pPr marL="0" indent="0">
              <a:buNone/>
            </a:pPr>
            <a:r>
              <a:rPr lang="en-US" altLang="zh-CN" dirty="0"/>
              <a:t>medianS1=</a:t>
            </a:r>
            <a:r>
              <a:rPr lang="en-US" altLang="zh-CN" dirty="0" err="1"/>
              <a:t>np.median</a:t>
            </a:r>
            <a:r>
              <a:rPr lang="en-US" altLang="zh-CN" dirty="0"/>
              <a:t>(</a:t>
            </a:r>
            <a:r>
              <a:rPr lang="en-US" altLang="zh-CN" dirty="0" err="1"/>
              <a:t>close_price</a:t>
            </a:r>
            <a:r>
              <a:rPr lang="en-US" altLang="zh-CN" dirty="0"/>
              <a:t>)</a:t>
            </a:r>
            <a:endParaRPr lang="zh-CN" altLang="zh-CN" dirty="0"/>
          </a:p>
          <a:p>
            <a:pPr marL="0" indent="0">
              <a:buNone/>
            </a:pPr>
            <a:r>
              <a:rPr lang="en-US" altLang="zh-CN" dirty="0"/>
              <a:t>print('</a:t>
            </a:r>
            <a:r>
              <a:rPr lang="zh-CN" altLang="zh-CN" dirty="0"/>
              <a:t>收盘价的中位数</a:t>
            </a:r>
            <a:r>
              <a:rPr lang="en-US" altLang="zh-CN" dirty="0"/>
              <a:t>:',medianS1)</a:t>
            </a:r>
            <a:endParaRPr lang="zh-CN" altLang="zh-CN" dirty="0"/>
          </a:p>
          <a:p>
            <a:pPr marL="0" indent="0">
              <a:buNone/>
            </a:pPr>
            <a:r>
              <a:rPr lang="en-US" altLang="zh-CN" dirty="0"/>
              <a:t>minS1=</a:t>
            </a:r>
            <a:r>
              <a:rPr lang="en-US" altLang="zh-CN" dirty="0" err="1"/>
              <a:t>np.min</a:t>
            </a:r>
            <a:r>
              <a:rPr lang="en-US" altLang="zh-CN" dirty="0"/>
              <a:t>(</a:t>
            </a:r>
            <a:r>
              <a:rPr lang="en-US" altLang="zh-CN" dirty="0" err="1"/>
              <a:t>close_price</a:t>
            </a:r>
            <a:r>
              <a:rPr lang="en-US" altLang="zh-CN" dirty="0"/>
              <a:t>)</a:t>
            </a:r>
            <a:endParaRPr lang="zh-CN" altLang="zh-CN" dirty="0"/>
          </a:p>
          <a:p>
            <a:pPr marL="0" indent="0">
              <a:buNone/>
            </a:pPr>
            <a:r>
              <a:rPr lang="en-US" altLang="zh-CN" dirty="0"/>
              <a:t>print('</a:t>
            </a:r>
            <a:r>
              <a:rPr lang="zh-CN" altLang="zh-CN" dirty="0"/>
              <a:t>收盘价的最小值</a:t>
            </a:r>
            <a:r>
              <a:rPr lang="en-US" altLang="zh-CN" dirty="0"/>
              <a:t>:',minS1)</a:t>
            </a:r>
            <a:endParaRPr lang="zh-CN" altLang="zh-CN" dirty="0"/>
          </a:p>
          <a:p>
            <a:pPr marL="0" indent="0">
              <a:buNone/>
            </a:pPr>
            <a:r>
              <a:rPr lang="en-US" altLang="zh-CN" dirty="0"/>
              <a:t>maxS1=</a:t>
            </a:r>
            <a:r>
              <a:rPr lang="en-US" altLang="zh-CN" dirty="0" err="1"/>
              <a:t>np.max</a:t>
            </a:r>
            <a:r>
              <a:rPr lang="en-US" altLang="zh-CN" dirty="0"/>
              <a:t>(</a:t>
            </a:r>
            <a:r>
              <a:rPr lang="en-US" altLang="zh-CN" dirty="0" err="1"/>
              <a:t>close_price</a:t>
            </a:r>
            <a:r>
              <a:rPr lang="en-US" altLang="zh-CN" dirty="0"/>
              <a:t>)</a:t>
            </a:r>
            <a:endParaRPr lang="zh-CN" altLang="zh-CN" dirty="0"/>
          </a:p>
          <a:p>
            <a:pPr marL="0" indent="0">
              <a:buNone/>
            </a:pPr>
            <a:r>
              <a:rPr lang="en-US" altLang="zh-CN" dirty="0"/>
              <a:t>print('</a:t>
            </a:r>
            <a:r>
              <a:rPr lang="zh-CN" altLang="zh-CN" dirty="0"/>
              <a:t>收盘价的最大值</a:t>
            </a:r>
            <a:r>
              <a:rPr lang="en-US" altLang="zh-CN" dirty="0"/>
              <a:t>:',maxS1)</a:t>
            </a:r>
            <a:endParaRPr lang="zh-CN" altLang="zh-CN" dirty="0"/>
          </a:p>
          <a:p>
            <a:pPr marL="0" indent="0">
              <a:buNone/>
            </a:pPr>
            <a:endParaRPr lang="zh-CN" altLang="en-US" dirty="0"/>
          </a:p>
        </p:txBody>
      </p:sp>
      <p:sp>
        <p:nvSpPr>
          <p:cNvPr id="6" name="内容占位符 5"/>
          <p:cNvSpPr>
            <a:spLocks noGrp="1"/>
          </p:cNvSpPr>
          <p:nvPr>
            <p:ph sz="quarter" idx="4"/>
          </p:nvPr>
        </p:nvSpPr>
        <p:spPr>
          <a:xfrm>
            <a:off x="6528048" y="2564904"/>
            <a:ext cx="5328592" cy="3888430"/>
          </a:xfrm>
          <a:ln>
            <a:solidFill>
              <a:srgbClr val="9900FF"/>
            </a:solidFill>
          </a:ln>
        </p:spPr>
        <p:txBody>
          <a:bodyPr/>
          <a:lstStyle/>
          <a:p>
            <a:r>
              <a:rPr lang="zh-CN" altLang="zh-CN" dirty="0"/>
              <a:t>程序运行结果如下：</a:t>
            </a:r>
          </a:p>
          <a:p>
            <a:pPr marL="446088" lvl="1" indent="0">
              <a:buNone/>
            </a:pPr>
            <a:r>
              <a:rPr lang="zh-CN" altLang="zh-CN" dirty="0"/>
              <a:t>收盘价算术平均值</a:t>
            </a:r>
            <a:r>
              <a:rPr lang="en-US" altLang="zh-CN" dirty="0"/>
              <a:t>: 11.116</a:t>
            </a:r>
            <a:endParaRPr lang="zh-CN" altLang="zh-CN" dirty="0"/>
          </a:p>
          <a:p>
            <a:pPr marL="446088" lvl="1" indent="0">
              <a:buNone/>
            </a:pPr>
            <a:r>
              <a:rPr lang="zh-CN" altLang="zh-CN" dirty="0"/>
              <a:t>收盘价的加权平均值</a:t>
            </a:r>
            <a:r>
              <a:rPr lang="en-US" altLang="zh-CN" dirty="0"/>
              <a:t>: 11.09117588266202</a:t>
            </a:r>
            <a:endParaRPr lang="zh-CN" altLang="zh-CN" dirty="0"/>
          </a:p>
          <a:p>
            <a:pPr marL="446088" lvl="1" indent="0">
              <a:buNone/>
            </a:pPr>
            <a:r>
              <a:rPr lang="zh-CN" altLang="zh-CN" dirty="0"/>
              <a:t>收盘价的方差</a:t>
            </a:r>
            <a:r>
              <a:rPr lang="en-US" altLang="zh-CN" dirty="0"/>
              <a:t>: 1.603284</a:t>
            </a:r>
            <a:endParaRPr lang="zh-CN" altLang="zh-CN" dirty="0"/>
          </a:p>
          <a:p>
            <a:pPr marL="446088" lvl="1" indent="0">
              <a:buNone/>
            </a:pPr>
            <a:r>
              <a:rPr lang="zh-CN" altLang="zh-CN" dirty="0"/>
              <a:t>收盘价的中位数</a:t>
            </a:r>
            <a:r>
              <a:rPr lang="en-US" altLang="zh-CN" dirty="0"/>
              <a:t>: 10.95</a:t>
            </a:r>
            <a:endParaRPr lang="zh-CN" altLang="zh-CN" dirty="0"/>
          </a:p>
          <a:p>
            <a:pPr marL="446088" lvl="1" indent="0">
              <a:buNone/>
            </a:pPr>
            <a:r>
              <a:rPr lang="zh-CN" altLang="zh-CN" dirty="0"/>
              <a:t>收盘价的最小值</a:t>
            </a:r>
            <a:r>
              <a:rPr lang="en-US" altLang="zh-CN" dirty="0"/>
              <a:t>: 9.53</a:t>
            </a:r>
            <a:endParaRPr lang="zh-CN" altLang="zh-CN" dirty="0"/>
          </a:p>
          <a:p>
            <a:pPr marL="446088" lvl="1" indent="0">
              <a:buNone/>
            </a:pPr>
            <a:r>
              <a:rPr lang="zh-CN" altLang="zh-CN" dirty="0"/>
              <a:t>收盘价的最大值</a:t>
            </a:r>
            <a:r>
              <a:rPr lang="en-US" altLang="zh-CN" dirty="0"/>
              <a:t>: 13.54</a:t>
            </a:r>
            <a:endParaRPr lang="zh-CN" altLang="zh-CN" dirty="0"/>
          </a:p>
          <a:p>
            <a:endParaRPr lang="zh-CN" altLang="en-US" dirty="0"/>
          </a:p>
        </p:txBody>
      </p:sp>
      <p:sp>
        <p:nvSpPr>
          <p:cNvPr id="4" name="标题 3"/>
          <p:cNvSpPr>
            <a:spLocks noGrp="1"/>
          </p:cNvSpPr>
          <p:nvPr>
            <p:ph type="title"/>
          </p:nvPr>
        </p:nvSpPr>
        <p:spPr/>
        <p:txBody>
          <a:bodyPr/>
          <a:lstStyle/>
          <a:p>
            <a:endParaRPr lang="zh-CN" altLang="en-US"/>
          </a:p>
        </p:txBody>
      </p:sp>
      <p:sp>
        <p:nvSpPr>
          <p:cNvPr id="7" name="内容占位符 6"/>
          <p:cNvSpPr>
            <a:spLocks noGrp="1"/>
          </p:cNvSpPr>
          <p:nvPr>
            <p:ph sz="half" idx="10"/>
          </p:nvPr>
        </p:nvSpPr>
        <p:spPr/>
        <p:txBody>
          <a:bodyPr>
            <a:normAutofit fontScale="92500"/>
          </a:bodyPr>
          <a:lstStyle/>
          <a:p>
            <a:r>
              <a:rPr lang="zh-CN" altLang="zh-CN" dirty="0"/>
              <a:t>【例</a:t>
            </a:r>
            <a:r>
              <a:rPr lang="en-US" altLang="zh-CN" dirty="0"/>
              <a:t>5-3</a:t>
            </a:r>
            <a:r>
              <a:rPr lang="zh-CN" altLang="zh-CN" dirty="0"/>
              <a:t>】</a:t>
            </a:r>
            <a:r>
              <a:rPr lang="en-US" altLang="zh-CN" dirty="0"/>
              <a:t>stock.csv</a:t>
            </a:r>
            <a:r>
              <a:rPr lang="zh-CN" altLang="zh-CN" dirty="0"/>
              <a:t>中存储某股票一段时间的交易信息。</a:t>
            </a:r>
            <a:r>
              <a:rPr lang="en-US" altLang="zh-CN" dirty="0"/>
              <a:t>B</a:t>
            </a:r>
            <a:r>
              <a:rPr lang="zh-CN" altLang="zh-CN" dirty="0"/>
              <a:t>、</a:t>
            </a:r>
            <a:r>
              <a:rPr lang="en-US" altLang="zh-CN" dirty="0"/>
              <a:t>C</a:t>
            </a:r>
            <a:r>
              <a:rPr lang="zh-CN" altLang="zh-CN" dirty="0"/>
              <a:t>、</a:t>
            </a:r>
            <a:r>
              <a:rPr lang="en-US" altLang="zh-CN" dirty="0"/>
              <a:t>D</a:t>
            </a:r>
            <a:r>
              <a:rPr lang="zh-CN" altLang="zh-CN" dirty="0"/>
              <a:t>和</a:t>
            </a:r>
            <a:r>
              <a:rPr lang="en-US" altLang="zh-CN" dirty="0"/>
              <a:t>E</a:t>
            </a:r>
            <a:r>
              <a:rPr lang="zh-CN" altLang="zh-CN" dirty="0"/>
              <a:t>列数据分别是开盘价、最高价、最低价、收盘价。</a:t>
            </a:r>
            <a:r>
              <a:rPr lang="en-US" altLang="zh-CN" dirty="0"/>
              <a:t>G</a:t>
            </a:r>
            <a:r>
              <a:rPr lang="zh-CN" altLang="zh-CN" dirty="0"/>
              <a:t>列是交易量。读取收盘价和交易量数据，统计收盘价的算术平均数、加权平均值（权值为交易量）、方差、中位数、最小值和最大值。</a:t>
            </a:r>
          </a:p>
          <a:p>
            <a:endParaRPr lang="zh-CN" altLang="en-US" dirty="0"/>
          </a:p>
        </p:txBody>
      </p:sp>
    </p:spTree>
    <p:extLst>
      <p:ext uri="{BB962C8B-B14F-4D97-AF65-F5344CB8AC3E}">
        <p14:creationId xmlns:p14="http://schemas.microsoft.com/office/powerpoint/2010/main" val="62397160"/>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2"/>
          </p:nvPr>
        </p:nvSpPr>
        <p:spPr>
          <a:ln>
            <a:solidFill>
              <a:srgbClr val="9900FF"/>
            </a:solidFill>
          </a:ln>
        </p:spPr>
        <p:txBody>
          <a:bodyPr>
            <a:normAutofit fontScale="85000" lnSpcReduction="20000"/>
          </a:bodyPr>
          <a:lstStyle/>
          <a:p>
            <a:r>
              <a:rPr lang="zh-CN" altLang="zh-CN" dirty="0"/>
              <a:t>程序代码：</a:t>
            </a:r>
          </a:p>
          <a:p>
            <a:pPr marL="0" indent="0">
              <a:buNone/>
            </a:pPr>
            <a:r>
              <a:rPr lang="en-US" altLang="zh-CN" dirty="0"/>
              <a:t>#example5_4.py</a:t>
            </a:r>
            <a:endParaRPr lang="zh-CN" altLang="zh-CN" dirty="0"/>
          </a:p>
          <a:p>
            <a:pPr marL="0" indent="0">
              <a:buNone/>
            </a:pPr>
            <a:r>
              <a:rPr lang="en-US" altLang="zh-CN" dirty="0"/>
              <a:t>import </a:t>
            </a:r>
            <a:r>
              <a:rPr lang="en-US" altLang="zh-CN" dirty="0" err="1"/>
              <a:t>numpy</a:t>
            </a:r>
            <a:r>
              <a:rPr lang="en-US" altLang="zh-CN" dirty="0"/>
              <a:t> as np</a:t>
            </a:r>
            <a:endParaRPr lang="zh-CN" altLang="zh-CN" dirty="0"/>
          </a:p>
          <a:p>
            <a:pPr marL="0" indent="0">
              <a:buNone/>
            </a:pPr>
            <a:r>
              <a:rPr lang="en-US" altLang="zh-CN" dirty="0" err="1"/>
              <a:t>c,d,m</a:t>
            </a:r>
            <a:r>
              <a:rPr lang="en-US" altLang="zh-CN" dirty="0"/>
              <a:t>=</a:t>
            </a:r>
            <a:r>
              <a:rPr lang="en-US" altLang="zh-CN" dirty="0" err="1"/>
              <a:t>np.loadtxt</a:t>
            </a:r>
            <a:r>
              <a:rPr lang="en-US" altLang="zh-CN" dirty="0"/>
              <a:t>('</a:t>
            </a:r>
            <a:r>
              <a:rPr lang="en-US" altLang="zh-CN" dirty="0" err="1"/>
              <a:t>multi_stock.csv',delimiter</a:t>
            </a:r>
            <a:r>
              <a:rPr lang="en-US" altLang="zh-CN" dirty="0"/>
              <a:t>=',',</a:t>
            </a:r>
            <a:endParaRPr lang="zh-CN" altLang="zh-CN" dirty="0"/>
          </a:p>
          <a:p>
            <a:pPr marL="0" indent="0">
              <a:buNone/>
            </a:pPr>
            <a:r>
              <a:rPr lang="en-US" altLang="zh-CN" dirty="0"/>
              <a:t>                 </a:t>
            </a:r>
            <a:r>
              <a:rPr lang="en-US" altLang="zh-CN" dirty="0" err="1"/>
              <a:t>usecols</a:t>
            </a:r>
            <a:r>
              <a:rPr lang="en-US" altLang="zh-CN" dirty="0"/>
              <a:t>=(1,2,3),unpack=</a:t>
            </a:r>
            <a:r>
              <a:rPr lang="en-US" altLang="zh-CN" dirty="0" err="1"/>
              <a:t>True,skiprows</a:t>
            </a:r>
            <a:r>
              <a:rPr lang="en-US" altLang="zh-CN" dirty="0"/>
              <a:t>=1)</a:t>
            </a:r>
            <a:endParaRPr lang="zh-CN" altLang="zh-CN" dirty="0"/>
          </a:p>
          <a:p>
            <a:pPr marL="0" indent="0">
              <a:buNone/>
            </a:pPr>
            <a:r>
              <a:rPr lang="en-US" altLang="zh-CN" dirty="0" err="1"/>
              <a:t>covCDM</a:t>
            </a:r>
            <a:r>
              <a:rPr lang="en-US" altLang="zh-CN" dirty="0"/>
              <a:t>=</a:t>
            </a:r>
            <a:r>
              <a:rPr lang="en-US" altLang="zh-CN" dirty="0" err="1"/>
              <a:t>np.cov</a:t>
            </a:r>
            <a:r>
              <a:rPr lang="en-US" altLang="zh-CN" dirty="0"/>
              <a:t>([</a:t>
            </a:r>
            <a:r>
              <a:rPr lang="en-US" altLang="zh-CN" dirty="0" err="1"/>
              <a:t>c,d,m</a:t>
            </a:r>
            <a:r>
              <a:rPr lang="en-US" altLang="zh-CN" dirty="0"/>
              <a:t>])</a:t>
            </a:r>
            <a:endParaRPr lang="zh-CN" altLang="zh-CN" dirty="0"/>
          </a:p>
          <a:p>
            <a:pPr marL="0" indent="0">
              <a:buNone/>
            </a:pPr>
            <a:r>
              <a:rPr lang="en-US" altLang="zh-CN" dirty="0" err="1"/>
              <a:t>relCDM</a:t>
            </a:r>
            <a:r>
              <a:rPr lang="en-US" altLang="zh-CN" dirty="0"/>
              <a:t>=</a:t>
            </a:r>
            <a:r>
              <a:rPr lang="en-US" altLang="zh-CN" dirty="0" err="1"/>
              <a:t>np.corrcoef</a:t>
            </a:r>
            <a:r>
              <a:rPr lang="en-US" altLang="zh-CN" dirty="0"/>
              <a:t>([</a:t>
            </a:r>
            <a:r>
              <a:rPr lang="en-US" altLang="zh-CN" dirty="0" err="1"/>
              <a:t>c,d,m</a:t>
            </a:r>
            <a:r>
              <a:rPr lang="en-US" altLang="zh-CN" dirty="0"/>
              <a:t>])</a:t>
            </a:r>
            <a:endParaRPr lang="zh-CN" altLang="zh-CN" dirty="0"/>
          </a:p>
          <a:p>
            <a:pPr marL="0" indent="0">
              <a:buNone/>
            </a:pPr>
            <a:r>
              <a:rPr lang="en-US" altLang="zh-CN" dirty="0"/>
              <a:t>print('C,D,M</a:t>
            </a:r>
            <a:r>
              <a:rPr lang="zh-CN" altLang="zh-CN" dirty="0"/>
              <a:t>三家公司股票收盘价的协方差为：</a:t>
            </a:r>
            <a:r>
              <a:rPr lang="en-US" altLang="zh-CN" dirty="0"/>
              <a:t>')</a:t>
            </a:r>
            <a:endParaRPr lang="zh-CN" altLang="zh-CN" dirty="0"/>
          </a:p>
          <a:p>
            <a:pPr marL="0" indent="0">
              <a:buNone/>
            </a:pPr>
            <a:r>
              <a:rPr lang="en-US" altLang="zh-CN" dirty="0"/>
              <a:t>print(</a:t>
            </a:r>
            <a:r>
              <a:rPr lang="en-US" altLang="zh-CN" dirty="0" err="1"/>
              <a:t>covCDM</a:t>
            </a:r>
            <a:r>
              <a:rPr lang="en-US" altLang="zh-CN" dirty="0"/>
              <a:t>)</a:t>
            </a:r>
            <a:endParaRPr lang="zh-CN" altLang="zh-CN" dirty="0"/>
          </a:p>
          <a:p>
            <a:pPr marL="0" indent="0">
              <a:buNone/>
            </a:pPr>
            <a:r>
              <a:rPr lang="en-US" altLang="zh-CN" dirty="0"/>
              <a:t>print('C,D,M</a:t>
            </a:r>
            <a:r>
              <a:rPr lang="zh-CN" altLang="zh-CN" dirty="0"/>
              <a:t>三家公司股票收盘价的相关系数为：</a:t>
            </a:r>
            <a:r>
              <a:rPr lang="en-US" altLang="zh-CN" dirty="0"/>
              <a:t>')</a:t>
            </a:r>
            <a:endParaRPr lang="zh-CN" altLang="zh-CN" dirty="0"/>
          </a:p>
          <a:p>
            <a:pPr marL="0" indent="0">
              <a:buNone/>
            </a:pPr>
            <a:r>
              <a:rPr lang="en-US" altLang="zh-CN" dirty="0"/>
              <a:t>print(</a:t>
            </a:r>
            <a:r>
              <a:rPr lang="en-US" altLang="zh-CN" dirty="0" err="1"/>
              <a:t>relCDM</a:t>
            </a:r>
            <a:r>
              <a:rPr lang="en-US" altLang="zh-CN" dirty="0"/>
              <a:t>)</a:t>
            </a:r>
            <a:endParaRPr lang="zh-CN" altLang="zh-CN" dirty="0"/>
          </a:p>
          <a:p>
            <a:endParaRPr lang="zh-CN" altLang="en-US" dirty="0"/>
          </a:p>
        </p:txBody>
      </p:sp>
      <p:sp>
        <p:nvSpPr>
          <p:cNvPr id="3" name="内容占位符 2"/>
          <p:cNvSpPr>
            <a:spLocks noGrp="1"/>
          </p:cNvSpPr>
          <p:nvPr>
            <p:ph sz="quarter" idx="4"/>
          </p:nvPr>
        </p:nvSpPr>
        <p:spPr>
          <a:ln>
            <a:solidFill>
              <a:srgbClr val="9900FF"/>
            </a:solidFill>
          </a:ln>
        </p:spPr>
        <p:txBody>
          <a:bodyPr>
            <a:normAutofit/>
          </a:bodyPr>
          <a:lstStyle/>
          <a:p>
            <a:r>
              <a:rPr lang="zh-CN" altLang="zh-CN" dirty="0"/>
              <a:t>程序运行结果：</a:t>
            </a:r>
          </a:p>
          <a:p>
            <a:pPr marL="446088" lvl="1" indent="0">
              <a:buNone/>
            </a:pPr>
            <a:r>
              <a:rPr lang="en-US" altLang="zh-CN" dirty="0"/>
              <a:t>C,D,M</a:t>
            </a:r>
            <a:r>
              <a:rPr lang="zh-CN" altLang="zh-CN" dirty="0"/>
              <a:t>三家公司股票收盘价的协方差为：</a:t>
            </a:r>
          </a:p>
          <a:p>
            <a:pPr marL="446088" lvl="1" indent="0">
              <a:buNone/>
            </a:pPr>
            <a:r>
              <a:rPr lang="en-US" altLang="zh-CN" dirty="0"/>
              <a:t>[[ 212.53933623   31.95173298  645.19695107]</a:t>
            </a:r>
            <a:endParaRPr lang="zh-CN" altLang="zh-CN" dirty="0"/>
          </a:p>
          <a:p>
            <a:pPr marL="446088" lvl="1" indent="0">
              <a:buNone/>
            </a:pPr>
            <a:r>
              <a:rPr lang="en-US" altLang="zh-CN" dirty="0"/>
              <a:t> [  31.95173298   50.28885268  -38.44185581]</a:t>
            </a:r>
            <a:endParaRPr lang="zh-CN" altLang="zh-CN" dirty="0"/>
          </a:p>
          <a:p>
            <a:pPr marL="446088" lvl="1" indent="0">
              <a:buNone/>
            </a:pPr>
            <a:r>
              <a:rPr lang="en-US" altLang="zh-CN" dirty="0"/>
              <a:t> [ 645.19695107  -38.44185581 3332.0614872 ]]</a:t>
            </a:r>
            <a:endParaRPr lang="zh-CN" altLang="zh-CN" dirty="0"/>
          </a:p>
          <a:p>
            <a:pPr marL="446088" lvl="1" indent="0">
              <a:buNone/>
            </a:pPr>
            <a:r>
              <a:rPr lang="en-US" altLang="zh-CN" dirty="0"/>
              <a:t>C,D,M</a:t>
            </a:r>
            <a:r>
              <a:rPr lang="zh-CN" altLang="zh-CN" dirty="0"/>
              <a:t>三家公司股票收盘价的相关系数为：</a:t>
            </a:r>
          </a:p>
          <a:p>
            <a:pPr marL="446088" lvl="1" indent="0">
              <a:buNone/>
            </a:pPr>
            <a:r>
              <a:rPr lang="en-US" altLang="zh-CN" dirty="0"/>
              <a:t>[[ 1.          0.30905722  0.76668355]</a:t>
            </a:r>
            <a:endParaRPr lang="zh-CN" altLang="zh-CN" dirty="0"/>
          </a:p>
          <a:p>
            <a:pPr marL="446088" lvl="1" indent="0">
              <a:buNone/>
            </a:pPr>
            <a:r>
              <a:rPr lang="en-US" altLang="zh-CN" dirty="0"/>
              <a:t> [ 0.30905722  1.         -0.09391003]</a:t>
            </a:r>
            <a:endParaRPr lang="zh-CN" altLang="zh-CN" dirty="0"/>
          </a:p>
          <a:p>
            <a:pPr marL="446088" lvl="1" indent="0">
              <a:buNone/>
            </a:pPr>
            <a:r>
              <a:rPr lang="en-US" altLang="zh-CN" dirty="0"/>
              <a:t> [ 0.76668355 -0.09391003  1.        ]]</a:t>
            </a:r>
            <a:endParaRPr lang="zh-CN" altLang="zh-CN" dirty="0"/>
          </a:p>
        </p:txBody>
      </p:sp>
      <p:sp>
        <p:nvSpPr>
          <p:cNvPr id="4" name="标题 3"/>
          <p:cNvSpPr>
            <a:spLocks noGrp="1"/>
          </p:cNvSpPr>
          <p:nvPr>
            <p:ph type="title"/>
          </p:nvPr>
        </p:nvSpPr>
        <p:spPr/>
        <p:txBody>
          <a:bodyPr/>
          <a:lstStyle/>
          <a:p>
            <a:endParaRPr lang="zh-CN" altLang="en-US"/>
          </a:p>
        </p:txBody>
      </p:sp>
      <p:sp>
        <p:nvSpPr>
          <p:cNvPr id="5" name="内容占位符 4"/>
          <p:cNvSpPr>
            <a:spLocks noGrp="1"/>
          </p:cNvSpPr>
          <p:nvPr>
            <p:ph sz="half" idx="10"/>
          </p:nvPr>
        </p:nvSpPr>
        <p:spPr/>
        <p:txBody>
          <a:bodyPr/>
          <a:lstStyle/>
          <a:p>
            <a:r>
              <a:rPr lang="zh-CN" altLang="zh-CN" dirty="0"/>
              <a:t>【例</a:t>
            </a:r>
            <a:r>
              <a:rPr lang="en-US" altLang="zh-CN" dirty="0"/>
              <a:t>5-4</a:t>
            </a:r>
            <a:r>
              <a:rPr lang="zh-CN" altLang="zh-CN" dirty="0"/>
              <a:t>】</a:t>
            </a:r>
            <a:r>
              <a:rPr lang="en-US" altLang="zh-CN" dirty="0"/>
              <a:t>multi_stock.csv</a:t>
            </a:r>
            <a:r>
              <a:rPr lang="zh-CN" altLang="zh-CN" dirty="0"/>
              <a:t>文件中的</a:t>
            </a:r>
            <a:r>
              <a:rPr lang="en-US" altLang="zh-CN" dirty="0"/>
              <a:t>A</a:t>
            </a:r>
            <a:r>
              <a:rPr lang="zh-CN" altLang="zh-CN" dirty="0"/>
              <a:t>、</a:t>
            </a:r>
            <a:r>
              <a:rPr lang="en-US" altLang="zh-CN" dirty="0"/>
              <a:t>B</a:t>
            </a:r>
            <a:r>
              <a:rPr lang="zh-CN" altLang="zh-CN" dirty="0"/>
              <a:t>、</a:t>
            </a:r>
            <a:r>
              <a:rPr lang="en-US" altLang="zh-CN" dirty="0"/>
              <a:t>C</a:t>
            </a:r>
            <a:r>
              <a:rPr lang="zh-CN" altLang="zh-CN" dirty="0"/>
              <a:t>和</a:t>
            </a:r>
            <a:r>
              <a:rPr lang="en-US" altLang="zh-CN" dirty="0"/>
              <a:t>D</a:t>
            </a:r>
            <a:r>
              <a:rPr lang="zh-CN" altLang="zh-CN" dirty="0"/>
              <a:t>列分别保存日期和三家企业从</a:t>
            </a:r>
            <a:r>
              <a:rPr lang="en-US" altLang="zh-CN" dirty="0"/>
              <a:t>1981</a:t>
            </a:r>
            <a:r>
              <a:rPr lang="zh-CN" altLang="zh-CN" dirty="0"/>
              <a:t>年第一个交易日到</a:t>
            </a:r>
            <a:r>
              <a:rPr lang="en-US" altLang="zh-CN" dirty="0"/>
              <a:t>2018</a:t>
            </a:r>
            <a:r>
              <a:rPr lang="zh-CN" altLang="zh-CN" dirty="0"/>
              <a:t>年</a:t>
            </a:r>
            <a:r>
              <a:rPr lang="en-US" altLang="zh-CN" dirty="0"/>
              <a:t>6</a:t>
            </a:r>
            <a:r>
              <a:rPr lang="zh-CN" altLang="zh-CN" dirty="0"/>
              <a:t>月</a:t>
            </a:r>
            <a:r>
              <a:rPr lang="en-US" altLang="zh-CN" dirty="0"/>
              <a:t>1</a:t>
            </a:r>
            <a:r>
              <a:rPr lang="zh-CN" altLang="zh-CN" dirty="0"/>
              <a:t>日各天的收盘价。读取这三家企业的股票收盘价，并计算这些收盘价的协方差矩阵和相关系数矩阵。</a:t>
            </a:r>
            <a:endParaRPr lang="zh-CN" altLang="en-US" dirty="0"/>
          </a:p>
        </p:txBody>
      </p:sp>
    </p:spTree>
    <p:extLst>
      <p:ext uri="{BB962C8B-B14F-4D97-AF65-F5344CB8AC3E}">
        <p14:creationId xmlns:p14="http://schemas.microsoft.com/office/powerpoint/2010/main" val="226550029"/>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endParaRPr lang="zh-CN" altLang="en-US"/>
          </a:p>
        </p:txBody>
      </p:sp>
      <p:sp>
        <p:nvSpPr>
          <p:cNvPr id="7" name="内容占位符 6"/>
          <p:cNvSpPr>
            <a:spLocks noGrp="1"/>
          </p:cNvSpPr>
          <p:nvPr>
            <p:ph idx="1"/>
          </p:nvPr>
        </p:nvSpPr>
        <p:spPr/>
        <p:txBody>
          <a:bodyPr>
            <a:normAutofit fontScale="92500" lnSpcReduction="10000"/>
          </a:bodyPr>
          <a:lstStyle/>
          <a:p>
            <a:r>
              <a:rPr lang="zh-CN" altLang="zh-CN" dirty="0"/>
              <a:t>可以利用</a:t>
            </a:r>
            <a:r>
              <a:rPr lang="en-US" altLang="zh-CN" dirty="0" err="1"/>
              <a:t>argsort</a:t>
            </a:r>
            <a:r>
              <a:rPr lang="en-US" altLang="zh-CN" dirty="0"/>
              <a:t>()</a:t>
            </a:r>
            <a:r>
              <a:rPr lang="zh-CN" altLang="zh-CN" dirty="0"/>
              <a:t>函数或数组对象的</a:t>
            </a:r>
            <a:r>
              <a:rPr lang="en-US" altLang="zh-CN" dirty="0" err="1"/>
              <a:t>argsort</a:t>
            </a:r>
            <a:r>
              <a:rPr lang="en-US" altLang="zh-CN" dirty="0"/>
              <a:t>()</a:t>
            </a:r>
            <a:r>
              <a:rPr lang="zh-CN" altLang="zh-CN" dirty="0"/>
              <a:t>方法返回数组中元素按照某种规则从小到大排序后的索引值所构成的新数组。语法格式如下：</a:t>
            </a:r>
          </a:p>
          <a:p>
            <a:r>
              <a:rPr lang="en-US" altLang="zh-CN" dirty="0" err="1"/>
              <a:t>numpy.argsort</a:t>
            </a:r>
            <a:r>
              <a:rPr lang="en-US" altLang="zh-CN" dirty="0"/>
              <a:t>(a, axis=-1, kind='quicksort', order=None)</a:t>
            </a:r>
            <a:endParaRPr lang="zh-CN" altLang="zh-CN" dirty="0"/>
          </a:p>
          <a:p>
            <a:r>
              <a:rPr lang="zh-CN" altLang="zh-CN" dirty="0"/>
              <a:t>参数</a:t>
            </a:r>
            <a:r>
              <a:rPr lang="en-US" altLang="zh-CN" dirty="0"/>
              <a:t>a</a:t>
            </a:r>
            <a:r>
              <a:rPr lang="zh-CN" altLang="zh-CN" dirty="0"/>
              <a:t>表示要排序的数组。参数</a:t>
            </a:r>
            <a:r>
              <a:rPr lang="en-US" altLang="zh-CN" dirty="0"/>
              <a:t>axis</a:t>
            </a:r>
            <a:r>
              <a:rPr lang="zh-CN" altLang="zh-CN" dirty="0"/>
              <a:t>表示排序的轴向，默认</a:t>
            </a:r>
            <a:r>
              <a:rPr lang="en-US" altLang="zh-CN" dirty="0"/>
              <a:t>-1</a:t>
            </a:r>
            <a:r>
              <a:rPr lang="zh-CN" altLang="zh-CN" dirty="0"/>
              <a:t>表示按照数组的最后一个轴来排序（通常用于多维数组），</a:t>
            </a:r>
            <a:r>
              <a:rPr lang="en-US" altLang="zh-CN" dirty="0"/>
              <a:t>axis=0</a:t>
            </a:r>
            <a:r>
              <a:rPr lang="zh-CN" altLang="zh-CN" dirty="0"/>
              <a:t>表示按列排序，</a:t>
            </a:r>
            <a:r>
              <a:rPr lang="en-US" altLang="zh-CN" dirty="0"/>
              <a:t>axis=1</a:t>
            </a:r>
            <a:r>
              <a:rPr lang="zh-CN" altLang="zh-CN" dirty="0"/>
              <a:t>表示按行排序，</a:t>
            </a:r>
            <a:r>
              <a:rPr lang="en-US" altLang="zh-CN" dirty="0"/>
              <a:t>axis=None</a:t>
            </a:r>
            <a:r>
              <a:rPr lang="zh-CN" altLang="zh-CN" dirty="0"/>
              <a:t>表示将数组扁平化后排序。参数</a:t>
            </a:r>
            <a:r>
              <a:rPr lang="en-US" altLang="zh-CN" dirty="0"/>
              <a:t>kind</a:t>
            </a:r>
            <a:r>
              <a:rPr lang="zh-CN" altLang="zh-CN" dirty="0"/>
              <a:t>表示排序算法，有四种算法（</a:t>
            </a:r>
            <a:r>
              <a:rPr lang="en-US" altLang="zh-CN" dirty="0"/>
              <a:t>quicksort</a:t>
            </a:r>
            <a:r>
              <a:rPr lang="zh-CN" altLang="zh-CN" dirty="0"/>
              <a:t>、</a:t>
            </a:r>
            <a:r>
              <a:rPr lang="en-US" altLang="zh-CN" dirty="0" err="1"/>
              <a:t>mergesort</a:t>
            </a:r>
            <a:r>
              <a:rPr lang="zh-CN" altLang="zh-CN" dirty="0"/>
              <a:t>、</a:t>
            </a:r>
            <a:r>
              <a:rPr lang="en-US" altLang="zh-CN" dirty="0"/>
              <a:t>heapsort</a:t>
            </a:r>
            <a:r>
              <a:rPr lang="zh-CN" altLang="zh-CN" dirty="0"/>
              <a:t>、</a:t>
            </a:r>
            <a:r>
              <a:rPr lang="en-US" altLang="zh-CN" dirty="0"/>
              <a:t>stable</a:t>
            </a:r>
            <a:r>
              <a:rPr lang="zh-CN" altLang="zh-CN" dirty="0"/>
              <a:t>）可选，默认为</a:t>
            </a:r>
            <a:r>
              <a:rPr lang="en-US" altLang="zh-CN" dirty="0"/>
              <a:t>quicksort</a:t>
            </a:r>
            <a:r>
              <a:rPr lang="zh-CN" altLang="zh-CN" dirty="0"/>
              <a:t>。参数</a:t>
            </a:r>
            <a:r>
              <a:rPr lang="en-US" altLang="zh-CN" dirty="0" err="1"/>
              <a:t>ord</a:t>
            </a:r>
            <a:r>
              <a:rPr lang="zh-CN" altLang="zh-CN" dirty="0"/>
              <a:t>给出排序的字段参考顺序，当数组</a:t>
            </a:r>
            <a:r>
              <a:rPr lang="en-US" altLang="zh-CN" dirty="0"/>
              <a:t>a</a:t>
            </a:r>
            <a:r>
              <a:rPr lang="zh-CN" altLang="zh-CN" dirty="0"/>
              <a:t>是一个定义了字段名的数组时，该参数用一个序列指定首先比较哪个字段，然后比较哪个字段，等等。其中每个字段名可以用字符串表示。并不是所有字段都需要指定。即使某些字段没有出现在</a:t>
            </a:r>
            <a:r>
              <a:rPr lang="en-US" altLang="zh-CN" dirty="0" err="1"/>
              <a:t>ord</a:t>
            </a:r>
            <a:r>
              <a:rPr lang="zh-CN" altLang="zh-CN" dirty="0"/>
              <a:t>序列中，排序时仍将可能使用未指定的字段，按照它们在</a:t>
            </a:r>
            <a:r>
              <a:rPr lang="en-US" altLang="zh-CN" dirty="0" err="1"/>
              <a:t>dtype</a:t>
            </a:r>
            <a:r>
              <a:rPr lang="zh-CN" altLang="zh-CN" dirty="0"/>
              <a:t>中出现的顺序作为排序依据，以打破排序时的并列值。</a:t>
            </a:r>
          </a:p>
          <a:p>
            <a:endParaRPr lang="zh-CN" altLang="en-US" dirty="0"/>
          </a:p>
        </p:txBody>
      </p:sp>
    </p:spTree>
    <p:extLst>
      <p:ext uri="{BB962C8B-B14F-4D97-AF65-F5344CB8AC3E}">
        <p14:creationId xmlns:p14="http://schemas.microsoft.com/office/powerpoint/2010/main" val="105135853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pPr marL="446088" lvl="1" indent="0">
              <a:buNone/>
            </a:pPr>
            <a:r>
              <a:rPr lang="en-US" altLang="zh-CN" dirty="0"/>
              <a:t>&gt;&gt;&gt; import </a:t>
            </a:r>
            <a:r>
              <a:rPr lang="en-US" altLang="zh-CN" dirty="0" err="1"/>
              <a:t>numpy</a:t>
            </a:r>
            <a:r>
              <a:rPr lang="en-US" altLang="zh-CN" dirty="0"/>
              <a:t> as np</a:t>
            </a:r>
            <a:endParaRPr lang="zh-CN" altLang="zh-CN" dirty="0"/>
          </a:p>
          <a:p>
            <a:pPr marL="446088" lvl="1" indent="0">
              <a:buNone/>
            </a:pPr>
            <a:r>
              <a:rPr lang="en-US" altLang="zh-CN" dirty="0"/>
              <a:t>&gt;&gt;&gt; x=</a:t>
            </a:r>
            <a:r>
              <a:rPr lang="en-US" altLang="zh-CN" dirty="0" err="1"/>
              <a:t>np.array</a:t>
            </a:r>
            <a:r>
              <a:rPr lang="en-US" altLang="zh-CN" dirty="0"/>
              <a:t>([5,3,1,2])		#</a:t>
            </a:r>
            <a:r>
              <a:rPr lang="zh-CN" altLang="zh-CN" dirty="0"/>
              <a:t>创建数组</a:t>
            </a:r>
          </a:p>
          <a:p>
            <a:pPr marL="446088" lvl="1" indent="0">
              <a:buNone/>
            </a:pPr>
            <a:r>
              <a:rPr lang="zh-CN" altLang="zh-CN" dirty="0"/>
              <a:t>这时，数组</a:t>
            </a:r>
            <a:r>
              <a:rPr lang="en-US" altLang="zh-CN" dirty="0"/>
              <a:t>x</a:t>
            </a:r>
            <a:r>
              <a:rPr lang="zh-CN" altLang="zh-CN" dirty="0"/>
              <a:t>中，元素</a:t>
            </a:r>
            <a:r>
              <a:rPr lang="en-US" altLang="zh-CN" dirty="0"/>
              <a:t>5</a:t>
            </a:r>
            <a:r>
              <a:rPr lang="zh-CN" altLang="zh-CN" dirty="0"/>
              <a:t>、</a:t>
            </a:r>
            <a:r>
              <a:rPr lang="en-US" altLang="zh-CN" dirty="0"/>
              <a:t>3</a:t>
            </a:r>
            <a:r>
              <a:rPr lang="zh-CN" altLang="zh-CN" dirty="0"/>
              <a:t>、</a:t>
            </a:r>
            <a:r>
              <a:rPr lang="en-US" altLang="zh-CN" dirty="0"/>
              <a:t>1</a:t>
            </a:r>
            <a:r>
              <a:rPr lang="zh-CN" altLang="zh-CN" dirty="0"/>
              <a:t>、</a:t>
            </a:r>
            <a:r>
              <a:rPr lang="en-US" altLang="zh-CN" dirty="0"/>
              <a:t>2</a:t>
            </a:r>
            <a:r>
              <a:rPr lang="zh-CN" altLang="zh-CN" dirty="0"/>
              <a:t>的索引分别为</a:t>
            </a:r>
            <a:r>
              <a:rPr lang="en-US" altLang="zh-CN" dirty="0"/>
              <a:t>0</a:t>
            </a:r>
            <a:r>
              <a:rPr lang="zh-CN" altLang="zh-CN" dirty="0"/>
              <a:t>、</a:t>
            </a:r>
            <a:r>
              <a:rPr lang="en-US" altLang="zh-CN" dirty="0"/>
              <a:t>1</a:t>
            </a:r>
            <a:r>
              <a:rPr lang="zh-CN" altLang="zh-CN" dirty="0"/>
              <a:t>、</a:t>
            </a:r>
            <a:r>
              <a:rPr lang="en-US" altLang="zh-CN" dirty="0"/>
              <a:t>2</a:t>
            </a:r>
            <a:r>
              <a:rPr lang="zh-CN" altLang="zh-CN" dirty="0"/>
              <a:t>、</a:t>
            </a:r>
            <a:r>
              <a:rPr lang="en-US" altLang="zh-CN" dirty="0"/>
              <a:t>3</a:t>
            </a:r>
            <a:r>
              <a:rPr lang="zh-CN" altLang="zh-CN" dirty="0"/>
              <a:t>。</a:t>
            </a:r>
          </a:p>
          <a:p>
            <a:pPr marL="446088" lvl="1" indent="0">
              <a:buNone/>
            </a:pPr>
            <a:r>
              <a:rPr lang="en-US" altLang="zh-CN" dirty="0"/>
              <a:t>&gt;&gt;&gt; </a:t>
            </a:r>
            <a:r>
              <a:rPr lang="en-US" altLang="zh-CN" dirty="0" err="1"/>
              <a:t>np.argsort</a:t>
            </a:r>
            <a:r>
              <a:rPr lang="en-US" altLang="zh-CN" dirty="0"/>
              <a:t>(x)			#</a:t>
            </a:r>
            <a:r>
              <a:rPr lang="zh-CN" altLang="zh-CN" dirty="0"/>
              <a:t>对数组按照升序排列</a:t>
            </a:r>
          </a:p>
          <a:p>
            <a:pPr marL="446088" lvl="1" indent="0">
              <a:buNone/>
            </a:pPr>
            <a:r>
              <a:rPr lang="en-US" altLang="zh-CN" dirty="0"/>
              <a:t>array([2, 3, 1, 0], </a:t>
            </a:r>
            <a:r>
              <a:rPr lang="en-US" altLang="zh-CN" dirty="0" err="1"/>
              <a:t>dtype</a:t>
            </a:r>
            <a:r>
              <a:rPr lang="en-US" altLang="zh-CN" dirty="0"/>
              <a:t>=int64)	</a:t>
            </a:r>
            <a:endParaRPr lang="zh-CN" altLang="zh-CN" dirty="0"/>
          </a:p>
          <a:p>
            <a:r>
              <a:rPr lang="zh-CN" altLang="zh-CN" dirty="0"/>
              <a:t>排序后的结果为索引为</a:t>
            </a:r>
            <a:r>
              <a:rPr lang="en-US" altLang="zh-CN" dirty="0"/>
              <a:t>2</a:t>
            </a:r>
            <a:r>
              <a:rPr lang="zh-CN" altLang="zh-CN" dirty="0"/>
              <a:t>的元素</a:t>
            </a:r>
            <a:r>
              <a:rPr lang="en-US" altLang="zh-CN" dirty="0"/>
              <a:t>1</a:t>
            </a:r>
            <a:r>
              <a:rPr lang="zh-CN" altLang="zh-CN" dirty="0"/>
              <a:t>放在第一个位置，索引为</a:t>
            </a:r>
            <a:r>
              <a:rPr lang="en-US" altLang="zh-CN" dirty="0"/>
              <a:t>3</a:t>
            </a:r>
            <a:r>
              <a:rPr lang="zh-CN" altLang="zh-CN" dirty="0"/>
              <a:t>的元素</a:t>
            </a:r>
            <a:r>
              <a:rPr lang="en-US" altLang="zh-CN" dirty="0"/>
              <a:t>2</a:t>
            </a:r>
            <a:r>
              <a:rPr lang="zh-CN" altLang="zh-CN" dirty="0"/>
              <a:t>放在第二个位置，索引为</a:t>
            </a:r>
            <a:r>
              <a:rPr lang="en-US" altLang="zh-CN" dirty="0"/>
              <a:t>1</a:t>
            </a:r>
            <a:r>
              <a:rPr lang="zh-CN" altLang="zh-CN" dirty="0"/>
              <a:t>的元素</a:t>
            </a:r>
            <a:r>
              <a:rPr lang="en-US" altLang="zh-CN" dirty="0"/>
              <a:t>3</a:t>
            </a:r>
            <a:r>
              <a:rPr lang="zh-CN" altLang="zh-CN" dirty="0"/>
              <a:t>放在第三个位置，索引为</a:t>
            </a:r>
            <a:r>
              <a:rPr lang="en-US" altLang="zh-CN" dirty="0"/>
              <a:t>0</a:t>
            </a:r>
            <a:r>
              <a:rPr lang="zh-CN" altLang="zh-CN" dirty="0"/>
              <a:t>的元素</a:t>
            </a:r>
            <a:r>
              <a:rPr lang="en-US" altLang="zh-CN" dirty="0"/>
              <a:t>5</a:t>
            </a:r>
            <a:r>
              <a:rPr lang="zh-CN" altLang="zh-CN" dirty="0"/>
              <a:t>放在第四个位置。因此得到结果为</a:t>
            </a:r>
            <a:r>
              <a:rPr lang="en-US" altLang="zh-CN" dirty="0"/>
              <a:t>[2,3,1,0]</a:t>
            </a:r>
            <a:r>
              <a:rPr lang="zh-CN" altLang="zh-CN" dirty="0"/>
              <a:t>构成的数组，表示依次放置原数组中的第</a:t>
            </a:r>
            <a:r>
              <a:rPr lang="en-US" altLang="zh-CN" dirty="0"/>
              <a:t>2</a:t>
            </a:r>
            <a:r>
              <a:rPr lang="zh-CN" altLang="zh-CN" dirty="0"/>
              <a:t>、</a:t>
            </a:r>
            <a:r>
              <a:rPr lang="en-US" altLang="zh-CN" dirty="0"/>
              <a:t>3</a:t>
            </a:r>
            <a:r>
              <a:rPr lang="zh-CN" altLang="zh-CN" dirty="0"/>
              <a:t>、</a:t>
            </a:r>
            <a:r>
              <a:rPr lang="en-US" altLang="zh-CN" dirty="0"/>
              <a:t>1</a:t>
            </a:r>
            <a:r>
              <a:rPr lang="zh-CN" altLang="zh-CN" dirty="0"/>
              <a:t>、</a:t>
            </a:r>
            <a:r>
              <a:rPr lang="en-US" altLang="zh-CN" dirty="0"/>
              <a:t>0</a:t>
            </a:r>
            <a:r>
              <a:rPr lang="zh-CN" altLang="zh-CN" dirty="0"/>
              <a:t>位置上的元素将构成一个升序排列的数组。</a:t>
            </a:r>
          </a:p>
          <a:p>
            <a:r>
              <a:rPr lang="en-US" altLang="zh-CN" dirty="0" err="1"/>
              <a:t>argsort</a:t>
            </a:r>
            <a:r>
              <a:rPr lang="en-US" altLang="zh-CN" dirty="0"/>
              <a:t>()</a:t>
            </a:r>
            <a:r>
              <a:rPr lang="zh-CN" altLang="zh-CN" dirty="0"/>
              <a:t>函数执行完后，元数组</a:t>
            </a:r>
            <a:r>
              <a:rPr lang="en-US" altLang="zh-CN" dirty="0"/>
              <a:t>x</a:t>
            </a:r>
            <a:r>
              <a:rPr lang="zh-CN" altLang="zh-CN" dirty="0"/>
              <a:t>保持不变</a:t>
            </a:r>
          </a:p>
          <a:p>
            <a:pPr marL="446088" lvl="1" indent="0">
              <a:buNone/>
            </a:pPr>
            <a:r>
              <a:rPr lang="en-US" altLang="zh-CN" dirty="0"/>
              <a:t>&gt;&gt;&gt; x</a:t>
            </a:r>
            <a:endParaRPr lang="zh-CN" altLang="zh-CN" dirty="0"/>
          </a:p>
          <a:p>
            <a:pPr marL="446088" lvl="1" indent="0">
              <a:buNone/>
            </a:pPr>
            <a:r>
              <a:rPr lang="en-US" altLang="zh-CN" dirty="0"/>
              <a:t>array([5, 3, 1, 2])</a:t>
            </a:r>
            <a:endParaRPr lang="zh-CN" altLang="zh-CN" dirty="0"/>
          </a:p>
          <a:p>
            <a:endParaRPr lang="zh-CN" altLang="en-US" dirty="0"/>
          </a:p>
        </p:txBody>
      </p:sp>
    </p:spTree>
    <p:extLst>
      <p:ext uri="{BB962C8B-B14F-4D97-AF65-F5344CB8AC3E}">
        <p14:creationId xmlns:p14="http://schemas.microsoft.com/office/powerpoint/2010/main" val="2516673062"/>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内容占位符 4"/>
          <p:cNvSpPr>
            <a:spLocks noGrp="1"/>
          </p:cNvSpPr>
          <p:nvPr>
            <p:ph sz="half" idx="1"/>
          </p:nvPr>
        </p:nvSpPr>
        <p:spPr>
          <a:xfrm>
            <a:off x="334434" y="1124744"/>
            <a:ext cx="5041485" cy="5328592"/>
          </a:xfrm>
          <a:ln>
            <a:solidFill>
              <a:srgbClr val="9900FF"/>
            </a:solidFill>
          </a:ln>
        </p:spPr>
        <p:txBody>
          <a:bodyPr>
            <a:normAutofit fontScale="62500" lnSpcReduction="20000"/>
          </a:bodyPr>
          <a:lstStyle/>
          <a:p>
            <a:r>
              <a:rPr lang="zh-CN" altLang="zh-CN" dirty="0"/>
              <a:t>也可以利用数组对象</a:t>
            </a:r>
            <a:r>
              <a:rPr lang="en-US" altLang="zh-CN" dirty="0"/>
              <a:t>x</a:t>
            </a:r>
            <a:r>
              <a:rPr lang="zh-CN" altLang="zh-CN" dirty="0"/>
              <a:t>的</a:t>
            </a:r>
            <a:r>
              <a:rPr lang="en-US" altLang="zh-CN" dirty="0" err="1"/>
              <a:t>argsort</a:t>
            </a:r>
            <a:r>
              <a:rPr lang="en-US" altLang="zh-CN" dirty="0"/>
              <a:t>()</a:t>
            </a:r>
            <a:r>
              <a:rPr lang="zh-CN" altLang="zh-CN" dirty="0"/>
              <a:t>方法来完成相同的功能。</a:t>
            </a:r>
          </a:p>
          <a:p>
            <a:pPr marL="446088" lvl="1" indent="0">
              <a:buNone/>
            </a:pPr>
            <a:r>
              <a:rPr lang="en-US" altLang="zh-CN" dirty="0"/>
              <a:t>&gt;&gt;&gt; </a:t>
            </a:r>
            <a:r>
              <a:rPr lang="en-US" altLang="zh-CN" dirty="0" err="1"/>
              <a:t>x.argsort</a:t>
            </a:r>
            <a:r>
              <a:rPr lang="en-US" altLang="zh-CN" dirty="0"/>
              <a:t>()</a:t>
            </a:r>
            <a:endParaRPr lang="zh-CN" altLang="zh-CN" dirty="0"/>
          </a:p>
          <a:p>
            <a:pPr marL="446088" lvl="1" indent="0">
              <a:buNone/>
            </a:pPr>
            <a:r>
              <a:rPr lang="en-US" altLang="zh-CN" dirty="0"/>
              <a:t>array([2, 3, 1, 0], </a:t>
            </a:r>
            <a:r>
              <a:rPr lang="en-US" altLang="zh-CN" dirty="0" err="1"/>
              <a:t>dtype</a:t>
            </a:r>
            <a:r>
              <a:rPr lang="en-US" altLang="zh-CN" dirty="0"/>
              <a:t>=int64)</a:t>
            </a:r>
            <a:endParaRPr lang="zh-CN" altLang="zh-CN" dirty="0"/>
          </a:p>
          <a:p>
            <a:r>
              <a:rPr lang="zh-CN" altLang="zh-CN" dirty="0"/>
              <a:t>同样地，执行完数组对象的</a:t>
            </a:r>
            <a:r>
              <a:rPr lang="en-US" altLang="zh-CN" dirty="0" err="1"/>
              <a:t>argsort</a:t>
            </a:r>
            <a:r>
              <a:rPr lang="en-US" altLang="zh-CN" dirty="0"/>
              <a:t>()</a:t>
            </a:r>
            <a:r>
              <a:rPr lang="zh-CN" altLang="zh-CN" dirty="0"/>
              <a:t>方法后，原数组保持不变。</a:t>
            </a:r>
          </a:p>
          <a:p>
            <a:pPr marL="446088" lvl="1" indent="0">
              <a:buNone/>
            </a:pPr>
            <a:r>
              <a:rPr lang="en-US" altLang="zh-CN" dirty="0"/>
              <a:t>&gt;&gt;&gt; x</a:t>
            </a:r>
            <a:endParaRPr lang="zh-CN" altLang="zh-CN" dirty="0"/>
          </a:p>
          <a:p>
            <a:pPr marL="446088" lvl="1" indent="0">
              <a:buNone/>
            </a:pPr>
            <a:r>
              <a:rPr lang="en-US" altLang="zh-CN" dirty="0"/>
              <a:t>array([5, 3, 1, 2])</a:t>
            </a:r>
            <a:endParaRPr lang="zh-CN" altLang="zh-CN" dirty="0"/>
          </a:p>
          <a:p>
            <a:r>
              <a:rPr lang="en-US" altLang="zh-CN" dirty="0" err="1"/>
              <a:t>argsort</a:t>
            </a:r>
            <a:r>
              <a:rPr lang="en-US" altLang="zh-CN" dirty="0"/>
              <a:t>()</a:t>
            </a:r>
            <a:r>
              <a:rPr lang="zh-CN" altLang="zh-CN" dirty="0"/>
              <a:t>函数或方法也可以用于多维数组中。</a:t>
            </a:r>
          </a:p>
          <a:p>
            <a:pPr marL="446088" lvl="1" indent="0">
              <a:buNone/>
            </a:pPr>
            <a:r>
              <a:rPr lang="en-US" altLang="zh-CN" dirty="0"/>
              <a:t>&gt;&gt;&gt; x = </a:t>
            </a:r>
            <a:r>
              <a:rPr lang="en-US" altLang="zh-CN" dirty="0" err="1"/>
              <a:t>np.array</a:t>
            </a:r>
            <a:r>
              <a:rPr lang="en-US" altLang="zh-CN" dirty="0"/>
              <a:t>([[0, 3, 5], [6, 2, 1], [2, 1, 3]])</a:t>
            </a:r>
            <a:endParaRPr lang="zh-CN" altLang="zh-CN" dirty="0"/>
          </a:p>
          <a:p>
            <a:pPr marL="446088" lvl="1" indent="0">
              <a:buNone/>
            </a:pPr>
            <a:r>
              <a:rPr lang="en-US" altLang="zh-CN" dirty="0"/>
              <a:t>&gt;&gt;&gt; x</a:t>
            </a:r>
            <a:endParaRPr lang="zh-CN" altLang="zh-CN" dirty="0"/>
          </a:p>
          <a:p>
            <a:pPr marL="446088" lvl="1" indent="0">
              <a:buNone/>
            </a:pPr>
            <a:r>
              <a:rPr lang="en-US" altLang="zh-CN" dirty="0"/>
              <a:t>array([[0, 3, 5],</a:t>
            </a:r>
            <a:endParaRPr lang="zh-CN" altLang="zh-CN" dirty="0"/>
          </a:p>
          <a:p>
            <a:pPr marL="446088" lvl="1" indent="0">
              <a:buNone/>
            </a:pPr>
            <a:r>
              <a:rPr lang="en-US" altLang="zh-CN" dirty="0"/>
              <a:t>       [6, 2, 1],</a:t>
            </a:r>
            <a:endParaRPr lang="zh-CN" altLang="zh-CN" dirty="0"/>
          </a:p>
          <a:p>
            <a:pPr marL="446088" lvl="1" indent="0">
              <a:buNone/>
            </a:pPr>
            <a:r>
              <a:rPr lang="en-US" altLang="zh-CN" dirty="0"/>
              <a:t>       [2, 1, 3]])</a:t>
            </a:r>
            <a:endParaRPr lang="zh-CN" altLang="zh-CN" dirty="0"/>
          </a:p>
          <a:p>
            <a:pPr marL="446088" lvl="1" indent="0">
              <a:buNone/>
            </a:pPr>
            <a:r>
              <a:rPr lang="en-US" altLang="zh-CN" dirty="0"/>
              <a:t>&gt;&gt;&gt; </a:t>
            </a:r>
            <a:r>
              <a:rPr lang="en-US" altLang="zh-CN" dirty="0" err="1"/>
              <a:t>np.argsort</a:t>
            </a:r>
            <a:r>
              <a:rPr lang="en-US" altLang="zh-CN" dirty="0"/>
              <a:t>(</a:t>
            </a:r>
            <a:r>
              <a:rPr lang="en-US" altLang="zh-CN" dirty="0" err="1"/>
              <a:t>x,axis</a:t>
            </a:r>
            <a:r>
              <a:rPr lang="en-US" altLang="zh-CN" dirty="0"/>
              <a:t>=0)	#</a:t>
            </a:r>
            <a:r>
              <a:rPr lang="zh-CN" altLang="zh-CN" dirty="0"/>
              <a:t>按列排序</a:t>
            </a:r>
          </a:p>
          <a:p>
            <a:pPr marL="446088" lvl="1" indent="0">
              <a:buNone/>
            </a:pPr>
            <a:r>
              <a:rPr lang="en-US" altLang="zh-CN" dirty="0"/>
              <a:t>array([[0, 2, 1],</a:t>
            </a:r>
            <a:endParaRPr lang="zh-CN" altLang="zh-CN" dirty="0"/>
          </a:p>
          <a:p>
            <a:pPr marL="446088" lvl="1" indent="0">
              <a:buNone/>
            </a:pPr>
            <a:r>
              <a:rPr lang="en-US" altLang="zh-CN" dirty="0"/>
              <a:t>       [2, 1, 2],</a:t>
            </a:r>
            <a:endParaRPr lang="zh-CN" altLang="zh-CN" dirty="0"/>
          </a:p>
          <a:p>
            <a:pPr marL="446088" lvl="1" indent="0">
              <a:buNone/>
            </a:pPr>
            <a:r>
              <a:rPr lang="en-US" altLang="zh-CN" dirty="0"/>
              <a:t>       [1, 0, 0]], </a:t>
            </a:r>
            <a:r>
              <a:rPr lang="en-US" altLang="zh-CN" dirty="0" err="1"/>
              <a:t>dtype</a:t>
            </a:r>
            <a:r>
              <a:rPr lang="en-US" altLang="zh-CN" dirty="0"/>
              <a:t>=int64)</a:t>
            </a:r>
            <a:endParaRPr lang="zh-CN" altLang="zh-CN" dirty="0"/>
          </a:p>
          <a:p>
            <a:endParaRPr lang="zh-CN" altLang="en-US" dirty="0"/>
          </a:p>
        </p:txBody>
      </p:sp>
      <p:sp>
        <p:nvSpPr>
          <p:cNvPr id="6" name="内容占位符 5"/>
          <p:cNvSpPr>
            <a:spLocks noGrp="1"/>
          </p:cNvSpPr>
          <p:nvPr>
            <p:ph sz="half" idx="2"/>
          </p:nvPr>
        </p:nvSpPr>
        <p:spPr>
          <a:xfrm>
            <a:off x="5519936" y="1124744"/>
            <a:ext cx="6337631" cy="5328592"/>
          </a:xfrm>
          <a:ln>
            <a:solidFill>
              <a:srgbClr val="9900FF"/>
            </a:solidFill>
          </a:ln>
        </p:spPr>
        <p:txBody>
          <a:bodyPr>
            <a:normAutofit fontScale="62500" lnSpcReduction="20000"/>
          </a:bodyPr>
          <a:lstStyle/>
          <a:p>
            <a:r>
              <a:rPr lang="zh-CN" altLang="zh-CN" dirty="0"/>
              <a:t>以上述结果的最后一列为例，表示依次放置原数组中最后一列的第</a:t>
            </a:r>
            <a:r>
              <a:rPr lang="en-US" altLang="zh-CN" dirty="0"/>
              <a:t>1</a:t>
            </a:r>
            <a:r>
              <a:rPr lang="zh-CN" altLang="zh-CN" dirty="0"/>
              <a:t>、</a:t>
            </a:r>
            <a:r>
              <a:rPr lang="en-US" altLang="zh-CN" dirty="0"/>
              <a:t>2</a:t>
            </a:r>
            <a:r>
              <a:rPr lang="zh-CN" altLang="zh-CN" dirty="0"/>
              <a:t>、</a:t>
            </a:r>
            <a:r>
              <a:rPr lang="en-US" altLang="zh-CN" dirty="0"/>
              <a:t>0</a:t>
            </a:r>
            <a:r>
              <a:rPr lang="zh-CN" altLang="zh-CN" dirty="0"/>
              <a:t>行元素将构成升序排列的数组。</a:t>
            </a:r>
          </a:p>
          <a:p>
            <a:pPr marL="446088" lvl="1" indent="0">
              <a:buNone/>
            </a:pPr>
            <a:r>
              <a:rPr lang="en-US" altLang="zh-CN" sz="2600" dirty="0"/>
              <a:t>&gt;&gt;&gt; </a:t>
            </a:r>
            <a:r>
              <a:rPr lang="en-US" altLang="zh-CN" sz="2600" dirty="0" err="1"/>
              <a:t>np.argsort</a:t>
            </a:r>
            <a:r>
              <a:rPr lang="en-US" altLang="zh-CN" sz="2600" dirty="0"/>
              <a:t>(</a:t>
            </a:r>
            <a:r>
              <a:rPr lang="en-US" altLang="zh-CN" sz="2600" dirty="0" err="1"/>
              <a:t>x,axis</a:t>
            </a:r>
            <a:r>
              <a:rPr lang="en-US" altLang="zh-CN" sz="2600" dirty="0"/>
              <a:t>=1)	#</a:t>
            </a:r>
            <a:r>
              <a:rPr lang="zh-CN" altLang="zh-CN" sz="2600" dirty="0"/>
              <a:t>按行排序</a:t>
            </a:r>
          </a:p>
          <a:p>
            <a:pPr marL="446088" lvl="1" indent="0">
              <a:buNone/>
            </a:pPr>
            <a:r>
              <a:rPr lang="en-US" altLang="zh-CN" sz="2600" dirty="0"/>
              <a:t>array([[0, 1, 2],</a:t>
            </a:r>
            <a:endParaRPr lang="zh-CN" altLang="zh-CN" sz="2600" dirty="0"/>
          </a:p>
          <a:p>
            <a:pPr marL="446088" lvl="1" indent="0">
              <a:buNone/>
            </a:pPr>
            <a:r>
              <a:rPr lang="en-US" altLang="zh-CN" sz="2600" dirty="0"/>
              <a:t>       [2, 1, 0],</a:t>
            </a:r>
            <a:endParaRPr lang="zh-CN" altLang="zh-CN" sz="2600" dirty="0"/>
          </a:p>
          <a:p>
            <a:pPr marL="446088" lvl="1" indent="0">
              <a:buNone/>
            </a:pPr>
            <a:r>
              <a:rPr lang="en-US" altLang="zh-CN" sz="2600" dirty="0"/>
              <a:t>       [1, 0, 2]], </a:t>
            </a:r>
            <a:r>
              <a:rPr lang="en-US" altLang="zh-CN" sz="2600" dirty="0" err="1"/>
              <a:t>dtype</a:t>
            </a:r>
            <a:r>
              <a:rPr lang="en-US" altLang="zh-CN" sz="2600" dirty="0"/>
              <a:t>=int64)</a:t>
            </a:r>
            <a:endParaRPr lang="zh-CN" altLang="zh-CN" sz="2600" dirty="0"/>
          </a:p>
          <a:p>
            <a:r>
              <a:rPr lang="en-US" altLang="zh-CN" dirty="0"/>
              <a:t>axis</a:t>
            </a:r>
            <a:r>
              <a:rPr lang="zh-CN" altLang="zh-CN" dirty="0"/>
              <a:t>不赋值，默认为</a:t>
            </a:r>
            <a:r>
              <a:rPr lang="en-US" altLang="zh-CN" dirty="0"/>
              <a:t>-1</a:t>
            </a:r>
            <a:r>
              <a:rPr lang="zh-CN" altLang="zh-CN" dirty="0"/>
              <a:t>，按照最后一个轴（这里为行）排序</a:t>
            </a:r>
            <a:endParaRPr lang="en-US" altLang="zh-CN" dirty="0"/>
          </a:p>
          <a:p>
            <a:pPr marL="446088" lvl="1" indent="0">
              <a:buNone/>
            </a:pPr>
            <a:r>
              <a:rPr lang="en-US" altLang="zh-CN" sz="2600" dirty="0"/>
              <a:t>&gt;&gt;&gt; </a:t>
            </a:r>
            <a:r>
              <a:rPr lang="en-US" altLang="zh-CN" sz="2600" dirty="0" err="1"/>
              <a:t>np.argsort</a:t>
            </a:r>
            <a:r>
              <a:rPr lang="en-US" altLang="zh-CN" sz="2600" dirty="0"/>
              <a:t>(x)</a:t>
            </a:r>
            <a:endParaRPr lang="zh-CN" altLang="zh-CN" sz="2600" dirty="0"/>
          </a:p>
          <a:p>
            <a:pPr marL="446088" lvl="1" indent="0">
              <a:buNone/>
            </a:pPr>
            <a:r>
              <a:rPr lang="en-US" altLang="zh-CN" sz="2600" dirty="0"/>
              <a:t>array([[0, 1, 2],</a:t>
            </a:r>
            <a:endParaRPr lang="zh-CN" altLang="zh-CN" sz="2600" dirty="0"/>
          </a:p>
          <a:p>
            <a:pPr marL="446088" lvl="1" indent="0">
              <a:buNone/>
            </a:pPr>
            <a:r>
              <a:rPr lang="en-US" altLang="zh-CN" sz="2600" dirty="0"/>
              <a:t>       [2, 1, 0],</a:t>
            </a:r>
            <a:endParaRPr lang="zh-CN" altLang="zh-CN" sz="2600" dirty="0"/>
          </a:p>
          <a:p>
            <a:pPr marL="446088" lvl="1" indent="0">
              <a:buNone/>
            </a:pPr>
            <a:r>
              <a:rPr lang="en-US" altLang="zh-CN" sz="2600" dirty="0"/>
              <a:t>       [1, 0, 2]], </a:t>
            </a:r>
            <a:r>
              <a:rPr lang="en-US" altLang="zh-CN" sz="2600" dirty="0" err="1"/>
              <a:t>dtype</a:t>
            </a:r>
            <a:r>
              <a:rPr lang="en-US" altLang="zh-CN" sz="2600" dirty="0"/>
              <a:t>=int64)</a:t>
            </a:r>
            <a:endParaRPr lang="zh-CN" altLang="zh-CN" sz="2600" dirty="0"/>
          </a:p>
          <a:p>
            <a:r>
              <a:rPr lang="en-US" altLang="zh-CN" dirty="0"/>
              <a:t>axis</a:t>
            </a:r>
            <a:r>
              <a:rPr lang="zh-CN" altLang="zh-CN" dirty="0"/>
              <a:t>为</a:t>
            </a:r>
            <a:r>
              <a:rPr lang="en-US" altLang="zh-CN" dirty="0"/>
              <a:t>-1</a:t>
            </a:r>
            <a:r>
              <a:rPr lang="zh-CN" altLang="zh-CN" dirty="0"/>
              <a:t>，按照最后一个轴（这里为行）排序</a:t>
            </a:r>
            <a:endParaRPr lang="en-US" altLang="zh-CN" dirty="0"/>
          </a:p>
          <a:p>
            <a:pPr marL="446088" lvl="1" indent="0">
              <a:buNone/>
            </a:pPr>
            <a:r>
              <a:rPr lang="en-US" altLang="zh-CN" sz="2600" dirty="0"/>
              <a:t>&gt;&gt;&gt; </a:t>
            </a:r>
            <a:r>
              <a:rPr lang="en-US" altLang="zh-CN" sz="2600" dirty="0" err="1"/>
              <a:t>np.argsort</a:t>
            </a:r>
            <a:r>
              <a:rPr lang="en-US" altLang="zh-CN" sz="2600" dirty="0"/>
              <a:t>(</a:t>
            </a:r>
            <a:r>
              <a:rPr lang="en-US" altLang="zh-CN" sz="2600" dirty="0" err="1"/>
              <a:t>x,axis</a:t>
            </a:r>
            <a:r>
              <a:rPr lang="en-US" altLang="zh-CN" sz="2600" dirty="0"/>
              <a:t>=-1)	</a:t>
            </a:r>
            <a:endParaRPr lang="zh-CN" altLang="zh-CN" sz="2600" dirty="0"/>
          </a:p>
          <a:p>
            <a:pPr marL="446088" lvl="1" indent="0">
              <a:buNone/>
            </a:pPr>
            <a:r>
              <a:rPr lang="en-US" altLang="zh-CN" sz="2600" dirty="0"/>
              <a:t>array([[0, 1, 2],</a:t>
            </a:r>
            <a:endParaRPr lang="zh-CN" altLang="zh-CN" sz="2600" dirty="0"/>
          </a:p>
          <a:p>
            <a:pPr marL="446088" lvl="1" indent="0">
              <a:buNone/>
            </a:pPr>
            <a:r>
              <a:rPr lang="en-US" altLang="zh-CN" sz="2600" dirty="0"/>
              <a:t>       [2, 1, 0],</a:t>
            </a:r>
            <a:endParaRPr lang="zh-CN" altLang="zh-CN" sz="2600" dirty="0"/>
          </a:p>
          <a:p>
            <a:pPr marL="446088" lvl="1" indent="0">
              <a:buNone/>
            </a:pPr>
            <a:r>
              <a:rPr lang="en-US" altLang="zh-CN" sz="2600" dirty="0"/>
              <a:t>       [1, 0, 2]], </a:t>
            </a:r>
            <a:r>
              <a:rPr lang="en-US" altLang="zh-CN" sz="2600" dirty="0" err="1"/>
              <a:t>dtype</a:t>
            </a:r>
            <a:r>
              <a:rPr lang="en-US" altLang="zh-CN" sz="2600" dirty="0"/>
              <a:t>=int64)</a:t>
            </a:r>
            <a:endParaRPr lang="zh-CN" altLang="zh-CN" sz="2600" dirty="0"/>
          </a:p>
          <a:p>
            <a:endParaRPr lang="zh-CN" altLang="en-US" dirty="0"/>
          </a:p>
        </p:txBody>
      </p:sp>
    </p:spTree>
    <p:extLst>
      <p:ext uri="{BB962C8B-B14F-4D97-AF65-F5344CB8AC3E}">
        <p14:creationId xmlns:p14="http://schemas.microsoft.com/office/powerpoint/2010/main" val="321544429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p:txBody>
          <a:bodyPr>
            <a:normAutofit fontScale="77500" lnSpcReduction="20000"/>
          </a:bodyPr>
          <a:lstStyle/>
          <a:p>
            <a:r>
              <a:rPr lang="zh-CN" altLang="zh-CN" dirty="0"/>
              <a:t>对于具有字段名的数组，可以定义排序的字段参考顺序。</a:t>
            </a:r>
          </a:p>
          <a:p>
            <a:pPr marL="446088" lvl="1" indent="0">
              <a:buNone/>
            </a:pPr>
            <a:r>
              <a:rPr lang="en-US" altLang="zh-CN" dirty="0"/>
              <a:t>&gt;&gt;&gt; x=</a:t>
            </a:r>
            <a:r>
              <a:rPr lang="en-US" altLang="zh-CN" dirty="0" err="1"/>
              <a:t>np.array</a:t>
            </a:r>
            <a:r>
              <a:rPr lang="en-US" altLang="zh-CN" dirty="0"/>
              <a:t>([(3,1,5),(2,6,4),(3,4,5)], \</a:t>
            </a:r>
            <a:endParaRPr lang="zh-CN" altLang="zh-CN" dirty="0"/>
          </a:p>
          <a:p>
            <a:pPr marL="446088" lvl="1" indent="0">
              <a:buNone/>
            </a:pPr>
            <a:r>
              <a:rPr lang="en-US" altLang="zh-CN" dirty="0"/>
              <a:t>	   </a:t>
            </a:r>
            <a:r>
              <a:rPr lang="en-US" altLang="zh-CN" dirty="0" err="1"/>
              <a:t>dtype</a:t>
            </a:r>
            <a:r>
              <a:rPr lang="en-US" altLang="zh-CN" dirty="0"/>
              <a:t>=[("x",np.int32),("y",np.int32),("z",np.int32)])</a:t>
            </a:r>
            <a:endParaRPr lang="zh-CN" altLang="zh-CN" dirty="0"/>
          </a:p>
          <a:p>
            <a:r>
              <a:rPr lang="zh-CN" altLang="zh-CN" dirty="0"/>
              <a:t>上述操作定义了一个数组，数组中共有三列，字段名分别为</a:t>
            </a:r>
            <a:r>
              <a:rPr lang="en-US" altLang="zh-CN" dirty="0"/>
              <a:t>x</a:t>
            </a:r>
            <a:r>
              <a:rPr lang="zh-CN" altLang="zh-CN" dirty="0"/>
              <a:t>、</a:t>
            </a:r>
            <a:r>
              <a:rPr lang="en-US" altLang="zh-CN" dirty="0"/>
              <a:t>y</a:t>
            </a:r>
            <a:r>
              <a:rPr lang="zh-CN" altLang="zh-CN" dirty="0"/>
              <a:t>、</a:t>
            </a:r>
            <a:r>
              <a:rPr lang="en-US" altLang="zh-CN" dirty="0"/>
              <a:t>z</a:t>
            </a:r>
            <a:r>
              <a:rPr lang="zh-CN" altLang="zh-CN" dirty="0"/>
              <a:t>。</a:t>
            </a:r>
          </a:p>
          <a:p>
            <a:pPr marL="446088" lvl="1" indent="0">
              <a:buNone/>
            </a:pPr>
            <a:r>
              <a:rPr lang="en-US" altLang="zh-CN" dirty="0"/>
              <a:t>&gt;&gt;&gt; x</a:t>
            </a:r>
            <a:endParaRPr lang="zh-CN" altLang="zh-CN" dirty="0"/>
          </a:p>
          <a:p>
            <a:pPr marL="446088" lvl="1" indent="0">
              <a:buNone/>
            </a:pPr>
            <a:r>
              <a:rPr lang="en-US" altLang="zh-CN" dirty="0"/>
              <a:t>array([(3, 1, 5), (2, 6, 4), (3, 4, 5)],</a:t>
            </a:r>
            <a:endParaRPr lang="zh-CN" altLang="zh-CN" dirty="0"/>
          </a:p>
          <a:p>
            <a:pPr marL="446088" lvl="1" indent="0">
              <a:buNone/>
            </a:pPr>
            <a:r>
              <a:rPr lang="en-US" altLang="zh-CN" dirty="0"/>
              <a:t>      </a:t>
            </a:r>
            <a:r>
              <a:rPr lang="en-US" altLang="zh-CN" dirty="0" err="1"/>
              <a:t>dtype</a:t>
            </a:r>
            <a:r>
              <a:rPr lang="en-US" altLang="zh-CN" dirty="0"/>
              <a:t>=[('x', '&lt;i4'), ('y', '&lt;i4'), ('z', '&lt;i4')])</a:t>
            </a:r>
            <a:endParaRPr lang="zh-CN" altLang="zh-CN" dirty="0"/>
          </a:p>
          <a:p>
            <a:pPr marL="446088" lvl="1" indent="0">
              <a:buNone/>
            </a:pPr>
            <a:r>
              <a:rPr lang="en-US" altLang="zh-CN" dirty="0"/>
              <a:t>&gt;&gt;&gt; </a:t>
            </a:r>
            <a:r>
              <a:rPr lang="en-US" altLang="zh-CN" dirty="0" err="1"/>
              <a:t>np.argsort</a:t>
            </a:r>
            <a:r>
              <a:rPr lang="en-US" altLang="zh-CN" dirty="0"/>
              <a:t>(x, order=('</a:t>
            </a:r>
            <a:r>
              <a:rPr lang="en-US" altLang="zh-CN" dirty="0" err="1"/>
              <a:t>x','z','y</a:t>
            </a:r>
            <a:r>
              <a:rPr lang="en-US" altLang="zh-CN" dirty="0"/>
              <a:t>'))</a:t>
            </a:r>
            <a:endParaRPr lang="zh-CN" altLang="zh-CN" dirty="0"/>
          </a:p>
          <a:p>
            <a:pPr marL="446088" lvl="1" indent="0">
              <a:buNone/>
            </a:pPr>
            <a:r>
              <a:rPr lang="en-US" altLang="zh-CN" dirty="0"/>
              <a:t>array([1, 0, 2], </a:t>
            </a:r>
            <a:r>
              <a:rPr lang="en-US" altLang="zh-CN" dirty="0" err="1"/>
              <a:t>dtype</a:t>
            </a:r>
            <a:r>
              <a:rPr lang="en-US" altLang="zh-CN" dirty="0"/>
              <a:t>=int64)</a:t>
            </a:r>
            <a:endParaRPr lang="zh-CN" altLang="zh-CN" dirty="0"/>
          </a:p>
          <a:p>
            <a:r>
              <a:rPr lang="zh-CN" altLang="zh-CN" dirty="0"/>
              <a:t>参数</a:t>
            </a:r>
            <a:r>
              <a:rPr lang="en-US" altLang="zh-CN" dirty="0"/>
              <a:t>order=('</a:t>
            </a:r>
            <a:r>
              <a:rPr lang="en-US" altLang="zh-CN" dirty="0" err="1"/>
              <a:t>x','z','y</a:t>
            </a:r>
            <a:r>
              <a:rPr lang="en-US" altLang="zh-CN" dirty="0"/>
              <a:t>')</a:t>
            </a:r>
            <a:r>
              <a:rPr lang="zh-CN" altLang="zh-CN" dirty="0"/>
              <a:t>表示对数组先按照字段</a:t>
            </a:r>
            <a:r>
              <a:rPr lang="en-US" altLang="zh-CN" dirty="0"/>
              <a:t>'x'</a:t>
            </a:r>
            <a:r>
              <a:rPr lang="zh-CN" altLang="zh-CN" dirty="0"/>
              <a:t>的升序进行排列；如果在字段</a:t>
            </a:r>
            <a:r>
              <a:rPr lang="en-US" altLang="zh-CN" dirty="0"/>
              <a:t>'x'</a:t>
            </a:r>
            <a:r>
              <a:rPr lang="zh-CN" altLang="zh-CN" dirty="0"/>
              <a:t>上的值相同，再按照字段</a:t>
            </a:r>
            <a:r>
              <a:rPr lang="en-US" altLang="zh-CN" dirty="0"/>
              <a:t>'z'</a:t>
            </a:r>
            <a:r>
              <a:rPr lang="zh-CN" altLang="zh-CN" dirty="0"/>
              <a:t>的值升序排列；如果字段</a:t>
            </a:r>
            <a:r>
              <a:rPr lang="en-US" altLang="zh-CN" dirty="0"/>
              <a:t>'z'</a:t>
            </a:r>
            <a:r>
              <a:rPr lang="zh-CN" altLang="zh-CN" dirty="0"/>
              <a:t>的值也相同，则按照字段</a:t>
            </a:r>
            <a:r>
              <a:rPr lang="en-US" altLang="zh-CN" dirty="0"/>
              <a:t>'y'</a:t>
            </a:r>
            <a:r>
              <a:rPr lang="zh-CN" altLang="zh-CN" dirty="0"/>
              <a:t>的值升序排列。</a:t>
            </a:r>
          </a:p>
          <a:p>
            <a:pPr marL="446088" lvl="1" indent="0">
              <a:buNone/>
            </a:pPr>
            <a:r>
              <a:rPr lang="en-US" altLang="zh-CN" dirty="0"/>
              <a:t>&gt;&gt;&gt; </a:t>
            </a:r>
            <a:r>
              <a:rPr lang="en-US" altLang="zh-CN" dirty="0" err="1"/>
              <a:t>np.argsort</a:t>
            </a:r>
            <a:r>
              <a:rPr lang="en-US" altLang="zh-CN" dirty="0"/>
              <a:t>(x, order=('</a:t>
            </a:r>
            <a:r>
              <a:rPr lang="en-US" altLang="zh-CN" dirty="0" err="1"/>
              <a:t>z','y','x</a:t>
            </a:r>
            <a:r>
              <a:rPr lang="en-US" altLang="zh-CN" dirty="0"/>
              <a:t>'))</a:t>
            </a:r>
            <a:endParaRPr lang="zh-CN" altLang="zh-CN" dirty="0"/>
          </a:p>
          <a:p>
            <a:pPr marL="446088" lvl="1" indent="0">
              <a:buNone/>
            </a:pPr>
            <a:r>
              <a:rPr lang="en-US" altLang="zh-CN" dirty="0"/>
              <a:t>array([1, 0, 2], </a:t>
            </a:r>
            <a:r>
              <a:rPr lang="en-US" altLang="zh-CN" dirty="0" err="1"/>
              <a:t>dtype</a:t>
            </a:r>
            <a:r>
              <a:rPr lang="en-US" altLang="zh-CN" dirty="0"/>
              <a:t>=int64)</a:t>
            </a:r>
            <a:endParaRPr lang="zh-CN" altLang="zh-CN" dirty="0"/>
          </a:p>
          <a:p>
            <a:r>
              <a:rPr lang="zh-CN" altLang="zh-CN" dirty="0"/>
              <a:t>参数</a:t>
            </a:r>
            <a:r>
              <a:rPr lang="en-US" altLang="zh-CN" dirty="0"/>
              <a:t>order=('</a:t>
            </a:r>
            <a:r>
              <a:rPr lang="en-US" altLang="zh-CN" dirty="0" err="1"/>
              <a:t>z','y</a:t>
            </a:r>
            <a:r>
              <a:rPr lang="en-US" altLang="zh-CN" dirty="0"/>
              <a:t>', 'x')</a:t>
            </a:r>
            <a:r>
              <a:rPr lang="zh-CN" altLang="zh-CN" dirty="0"/>
              <a:t>表示对数组先按照字段</a:t>
            </a:r>
            <a:r>
              <a:rPr lang="en-US" altLang="zh-CN" dirty="0"/>
              <a:t>'z'</a:t>
            </a:r>
            <a:r>
              <a:rPr lang="zh-CN" altLang="zh-CN" dirty="0"/>
              <a:t>的升序进行排列；如果在字段</a:t>
            </a:r>
            <a:r>
              <a:rPr lang="en-US" altLang="zh-CN" dirty="0"/>
              <a:t>'z'</a:t>
            </a:r>
            <a:r>
              <a:rPr lang="zh-CN" altLang="zh-CN" dirty="0"/>
              <a:t>上的值相同，再按照字段</a:t>
            </a:r>
            <a:r>
              <a:rPr lang="en-US" altLang="zh-CN" dirty="0"/>
              <a:t>'y'</a:t>
            </a:r>
            <a:r>
              <a:rPr lang="zh-CN" altLang="zh-CN" dirty="0"/>
              <a:t>的值升序排列；如果字段</a:t>
            </a:r>
            <a:r>
              <a:rPr lang="en-US" altLang="zh-CN" dirty="0"/>
              <a:t>'y'</a:t>
            </a:r>
            <a:r>
              <a:rPr lang="zh-CN" altLang="zh-CN" dirty="0"/>
              <a:t>的值也相同，则按照字段</a:t>
            </a:r>
            <a:r>
              <a:rPr lang="en-US" altLang="zh-CN" dirty="0"/>
              <a:t>'x'</a:t>
            </a:r>
            <a:r>
              <a:rPr lang="zh-CN" altLang="zh-CN" dirty="0"/>
              <a:t>的值升序排列。</a:t>
            </a:r>
          </a:p>
        </p:txBody>
      </p:sp>
    </p:spTree>
    <p:extLst>
      <p:ext uri="{BB962C8B-B14F-4D97-AF65-F5344CB8AC3E}">
        <p14:creationId xmlns:p14="http://schemas.microsoft.com/office/powerpoint/2010/main" val="308802565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2"/>
          </p:nvPr>
        </p:nvSpPr>
        <p:spPr>
          <a:xfrm>
            <a:off x="191344" y="2822600"/>
            <a:ext cx="5185501" cy="3630735"/>
          </a:xfrm>
          <a:ln>
            <a:solidFill>
              <a:srgbClr val="9900FF"/>
            </a:solidFill>
          </a:ln>
        </p:spPr>
        <p:txBody>
          <a:bodyPr>
            <a:normAutofit fontScale="92500"/>
          </a:bodyPr>
          <a:lstStyle/>
          <a:p>
            <a:pPr marL="446088" lvl="1" indent="0">
              <a:buNone/>
            </a:pPr>
            <a:r>
              <a:rPr lang="en-US" altLang="zh-CN" dirty="0"/>
              <a:t>&gt;&gt;&gt; import </a:t>
            </a:r>
            <a:r>
              <a:rPr lang="en-US" altLang="zh-CN" dirty="0" err="1"/>
              <a:t>numpy</a:t>
            </a:r>
            <a:r>
              <a:rPr lang="en-US" altLang="zh-CN" dirty="0"/>
              <a:t> as np</a:t>
            </a:r>
            <a:endParaRPr lang="zh-CN" altLang="zh-CN" dirty="0"/>
          </a:p>
          <a:p>
            <a:pPr marL="446088" lvl="1" indent="0">
              <a:buNone/>
            </a:pPr>
            <a:r>
              <a:rPr lang="en-US" altLang="zh-CN" dirty="0"/>
              <a:t>&gt;&gt;&gt; x=</a:t>
            </a:r>
            <a:r>
              <a:rPr lang="en-US" altLang="zh-CN" dirty="0" err="1"/>
              <a:t>np.random.randint</a:t>
            </a:r>
            <a:r>
              <a:rPr lang="en-US" altLang="zh-CN" dirty="0"/>
              <a:t>(1,6,size=5)</a:t>
            </a:r>
            <a:endParaRPr lang="zh-CN" altLang="zh-CN" dirty="0"/>
          </a:p>
          <a:p>
            <a:pPr marL="446088" lvl="1" indent="0">
              <a:buNone/>
            </a:pPr>
            <a:r>
              <a:rPr lang="en-US" altLang="zh-CN" dirty="0"/>
              <a:t>&gt;&gt;&gt; x</a:t>
            </a:r>
            <a:endParaRPr lang="zh-CN" altLang="zh-CN" dirty="0"/>
          </a:p>
          <a:p>
            <a:pPr marL="446088" lvl="1" indent="0">
              <a:buNone/>
            </a:pPr>
            <a:r>
              <a:rPr lang="en-US" altLang="zh-CN" dirty="0"/>
              <a:t>array([3, 4, 5, 5, 2])	</a:t>
            </a:r>
            <a:endParaRPr lang="zh-CN" altLang="zh-CN" dirty="0"/>
          </a:p>
          <a:p>
            <a:pPr marL="446088" lvl="1" indent="0">
              <a:buNone/>
            </a:pPr>
            <a:r>
              <a:rPr lang="en-US" altLang="zh-CN" dirty="0"/>
              <a:t>&gt;&gt;&gt; </a:t>
            </a:r>
            <a:r>
              <a:rPr lang="en-US" altLang="zh-CN" dirty="0" err="1"/>
              <a:t>np.bincount</a:t>
            </a:r>
            <a:r>
              <a:rPr lang="en-US" altLang="zh-CN" dirty="0"/>
              <a:t>(x)</a:t>
            </a:r>
            <a:endParaRPr lang="zh-CN" altLang="zh-CN" dirty="0"/>
          </a:p>
          <a:p>
            <a:pPr marL="446088" lvl="1" indent="0">
              <a:buNone/>
            </a:pPr>
            <a:r>
              <a:rPr lang="en-US" altLang="zh-CN" dirty="0"/>
              <a:t>array([0, 0, 1, 1, 1, 2], </a:t>
            </a:r>
            <a:r>
              <a:rPr lang="en-US" altLang="zh-CN" dirty="0" err="1"/>
              <a:t>dtype</a:t>
            </a:r>
            <a:r>
              <a:rPr lang="en-US" altLang="zh-CN" dirty="0"/>
              <a:t>=int64)</a:t>
            </a:r>
            <a:endParaRPr lang="zh-CN" altLang="zh-CN" dirty="0"/>
          </a:p>
          <a:p>
            <a:pPr marL="446088" lvl="1" indent="0">
              <a:buNone/>
            </a:pPr>
            <a:r>
              <a:rPr lang="en-US" altLang="zh-CN" dirty="0"/>
              <a:t>&gt;&gt;&gt; </a:t>
            </a:r>
            <a:endParaRPr lang="zh-CN" altLang="zh-CN" dirty="0"/>
          </a:p>
          <a:p>
            <a:r>
              <a:rPr lang="zh-CN" altLang="zh-CN" dirty="0"/>
              <a:t>数组</a:t>
            </a:r>
            <a:r>
              <a:rPr lang="en-US" altLang="zh-CN" dirty="0"/>
              <a:t>x</a:t>
            </a:r>
            <a:r>
              <a:rPr lang="zh-CN" altLang="zh-CN" dirty="0"/>
              <a:t>中元素的最大值为</a:t>
            </a:r>
            <a:r>
              <a:rPr lang="en-US" altLang="zh-CN" dirty="0"/>
              <a:t>5</a:t>
            </a:r>
            <a:r>
              <a:rPr lang="zh-CN" altLang="zh-CN" dirty="0"/>
              <a:t>，因此产生数组依次表示</a:t>
            </a:r>
            <a:r>
              <a:rPr lang="en-US" altLang="zh-CN" dirty="0"/>
              <a:t>0-5</a:t>
            </a:r>
            <a:r>
              <a:rPr lang="zh-CN" altLang="zh-CN" dirty="0"/>
              <a:t>这</a:t>
            </a:r>
            <a:r>
              <a:rPr lang="en-US" altLang="zh-CN" dirty="0"/>
              <a:t>6</a:t>
            </a:r>
            <a:r>
              <a:rPr lang="zh-CN" altLang="zh-CN" dirty="0"/>
              <a:t>个整数各自的个数。</a:t>
            </a:r>
          </a:p>
          <a:p>
            <a:endParaRPr lang="zh-CN" altLang="en-US" dirty="0"/>
          </a:p>
        </p:txBody>
      </p:sp>
      <p:sp>
        <p:nvSpPr>
          <p:cNvPr id="6" name="内容占位符 5"/>
          <p:cNvSpPr>
            <a:spLocks noGrp="1"/>
          </p:cNvSpPr>
          <p:nvPr>
            <p:ph sz="quarter" idx="4"/>
          </p:nvPr>
        </p:nvSpPr>
        <p:spPr>
          <a:xfrm>
            <a:off x="5519936" y="2420888"/>
            <a:ext cx="6552728" cy="4320480"/>
          </a:xfrm>
          <a:ln>
            <a:solidFill>
              <a:srgbClr val="9900FF"/>
            </a:solidFill>
          </a:ln>
        </p:spPr>
        <p:txBody>
          <a:bodyPr>
            <a:normAutofit fontScale="85000" lnSpcReduction="20000"/>
          </a:bodyPr>
          <a:lstStyle/>
          <a:p>
            <a:pPr marL="446088" lvl="1" indent="0">
              <a:buNone/>
            </a:pPr>
            <a:r>
              <a:rPr lang="en-US" altLang="zh-CN" dirty="0"/>
              <a:t>&gt;&gt;&gt; </a:t>
            </a:r>
            <a:r>
              <a:rPr lang="en-US" altLang="zh-CN" dirty="0" err="1"/>
              <a:t>np.bincount</a:t>
            </a:r>
            <a:r>
              <a:rPr lang="en-US" altLang="zh-CN" dirty="0"/>
              <a:t>(x).size==</a:t>
            </a:r>
            <a:r>
              <a:rPr lang="en-US" altLang="zh-CN" dirty="0" err="1"/>
              <a:t>np.max</a:t>
            </a:r>
            <a:r>
              <a:rPr lang="en-US" altLang="zh-CN" dirty="0"/>
              <a:t>(x)+1    #</a:t>
            </a:r>
            <a:r>
              <a:rPr lang="zh-CN" altLang="zh-CN" dirty="0"/>
              <a:t>测试输出数组的长度</a:t>
            </a:r>
          </a:p>
          <a:p>
            <a:pPr marL="446088" lvl="1" indent="0">
              <a:buNone/>
            </a:pPr>
            <a:r>
              <a:rPr lang="en-US" altLang="zh-CN" dirty="0"/>
              <a:t>True</a:t>
            </a:r>
            <a:endParaRPr lang="zh-CN" altLang="zh-CN" dirty="0"/>
          </a:p>
          <a:p>
            <a:pPr marL="446088" lvl="1" indent="0">
              <a:buNone/>
            </a:pPr>
            <a:r>
              <a:rPr lang="en-US" altLang="zh-CN" dirty="0"/>
              <a:t>&gt;&gt;&gt; </a:t>
            </a:r>
            <a:endParaRPr lang="zh-CN" altLang="zh-CN" dirty="0"/>
          </a:p>
          <a:p>
            <a:r>
              <a:rPr lang="zh-CN" altLang="zh-CN" dirty="0"/>
              <a:t>如果有权值参数</a:t>
            </a:r>
            <a:r>
              <a:rPr lang="en-US" altLang="zh-CN" dirty="0"/>
              <a:t>weights</a:t>
            </a:r>
            <a:r>
              <a:rPr lang="zh-CN" altLang="zh-CN" dirty="0"/>
              <a:t>数组，则计算输出时，累加数组</a:t>
            </a:r>
            <a:r>
              <a:rPr lang="en-US" altLang="zh-CN" dirty="0"/>
              <a:t>x</a:t>
            </a:r>
            <a:r>
              <a:rPr lang="zh-CN" altLang="zh-CN" dirty="0"/>
              <a:t>对应位置的权重值，而不是累加个数。其中</a:t>
            </a:r>
            <a:r>
              <a:rPr lang="en-US" altLang="zh-CN" dirty="0"/>
              <a:t>weights</a:t>
            </a:r>
            <a:r>
              <a:rPr lang="zh-CN" altLang="zh-CN" dirty="0"/>
              <a:t>数组的元素个数与数组</a:t>
            </a:r>
            <a:r>
              <a:rPr lang="en-US" altLang="zh-CN" dirty="0"/>
              <a:t>x</a:t>
            </a:r>
            <a:r>
              <a:rPr lang="zh-CN" altLang="zh-CN" dirty="0"/>
              <a:t>的元素个数相同。</a:t>
            </a:r>
          </a:p>
          <a:p>
            <a:pPr marL="446088" lvl="1" indent="0">
              <a:buNone/>
            </a:pPr>
            <a:r>
              <a:rPr lang="en-US" altLang="zh-CN" dirty="0"/>
              <a:t>&gt;&gt;&gt; x</a:t>
            </a:r>
            <a:endParaRPr lang="zh-CN" altLang="zh-CN" dirty="0"/>
          </a:p>
          <a:p>
            <a:pPr marL="446088" lvl="1" indent="0">
              <a:buNone/>
            </a:pPr>
            <a:r>
              <a:rPr lang="en-US" altLang="zh-CN" dirty="0"/>
              <a:t>array([3, 4, 5, 5, 2])</a:t>
            </a:r>
            <a:endParaRPr lang="zh-CN" altLang="zh-CN" dirty="0"/>
          </a:p>
          <a:p>
            <a:pPr marL="446088" lvl="1" indent="0">
              <a:buNone/>
            </a:pPr>
            <a:r>
              <a:rPr lang="en-US" altLang="zh-CN" dirty="0"/>
              <a:t>&gt;&gt;&gt; w=</a:t>
            </a:r>
            <a:r>
              <a:rPr lang="en-US" altLang="zh-CN" dirty="0" err="1"/>
              <a:t>np.array</a:t>
            </a:r>
            <a:r>
              <a:rPr lang="en-US" altLang="zh-CN" dirty="0"/>
              <a:t>([0.3,0.6,0.2,0.5,-0.1])</a:t>
            </a:r>
            <a:endParaRPr lang="zh-CN" altLang="zh-CN" dirty="0"/>
          </a:p>
          <a:p>
            <a:pPr marL="446088" lvl="1" indent="0">
              <a:buNone/>
            </a:pPr>
            <a:r>
              <a:rPr lang="en-US" altLang="zh-CN" dirty="0"/>
              <a:t>&gt;&gt;&gt; </a:t>
            </a:r>
            <a:r>
              <a:rPr lang="en-US" altLang="zh-CN" dirty="0" err="1"/>
              <a:t>np.bincount</a:t>
            </a:r>
            <a:r>
              <a:rPr lang="en-US" altLang="zh-CN" dirty="0"/>
              <a:t>(</a:t>
            </a:r>
            <a:r>
              <a:rPr lang="en-US" altLang="zh-CN" dirty="0" err="1"/>
              <a:t>x,weights</a:t>
            </a:r>
            <a:r>
              <a:rPr lang="en-US" altLang="zh-CN" dirty="0"/>
              <a:t>=w)</a:t>
            </a:r>
            <a:endParaRPr lang="zh-CN" altLang="zh-CN" dirty="0"/>
          </a:p>
          <a:p>
            <a:pPr marL="446088" lvl="1" indent="0">
              <a:buNone/>
            </a:pPr>
            <a:r>
              <a:rPr lang="en-US" altLang="zh-CN" dirty="0"/>
              <a:t>array([ 0. ,  0. , -0.1,  0.3,  0.6,  0.7])</a:t>
            </a:r>
            <a:endParaRPr lang="zh-CN" altLang="zh-CN" dirty="0"/>
          </a:p>
          <a:p>
            <a:pPr marL="446088" lvl="1" indent="0">
              <a:buNone/>
            </a:pPr>
            <a:r>
              <a:rPr lang="en-US" altLang="zh-CN" dirty="0"/>
              <a:t>&gt;&gt;&gt; </a:t>
            </a:r>
            <a:endParaRPr lang="zh-CN" altLang="zh-CN" dirty="0"/>
          </a:p>
          <a:p>
            <a:r>
              <a:rPr lang="zh-CN" altLang="zh-CN" dirty="0"/>
              <a:t>上述结果中最后一个位置上的</a:t>
            </a:r>
            <a:r>
              <a:rPr lang="en-US" altLang="zh-CN" dirty="0"/>
              <a:t>0.7</a:t>
            </a:r>
            <a:r>
              <a:rPr lang="zh-CN" altLang="zh-CN" dirty="0"/>
              <a:t>由两个</a:t>
            </a:r>
            <a:r>
              <a:rPr lang="en-US" altLang="zh-CN" dirty="0"/>
              <a:t>5</a:t>
            </a:r>
            <a:r>
              <a:rPr lang="zh-CN" altLang="zh-CN" dirty="0"/>
              <a:t>对应位置上的权重之和构成。</a:t>
            </a:r>
          </a:p>
        </p:txBody>
      </p:sp>
      <p:sp>
        <p:nvSpPr>
          <p:cNvPr id="4" name="标题 3"/>
          <p:cNvSpPr>
            <a:spLocks noGrp="1"/>
          </p:cNvSpPr>
          <p:nvPr>
            <p:ph type="title"/>
          </p:nvPr>
        </p:nvSpPr>
        <p:spPr/>
        <p:txBody>
          <a:bodyPr/>
          <a:lstStyle/>
          <a:p>
            <a:endParaRPr lang="zh-CN" altLang="en-US"/>
          </a:p>
        </p:txBody>
      </p:sp>
      <p:sp>
        <p:nvSpPr>
          <p:cNvPr id="7" name="内容占位符 6"/>
          <p:cNvSpPr>
            <a:spLocks noGrp="1"/>
          </p:cNvSpPr>
          <p:nvPr>
            <p:ph sz="half" idx="10"/>
          </p:nvPr>
        </p:nvSpPr>
        <p:spPr>
          <a:xfrm>
            <a:off x="335360" y="1094755"/>
            <a:ext cx="11521280" cy="1614165"/>
          </a:xfrm>
        </p:spPr>
        <p:txBody>
          <a:bodyPr>
            <a:normAutofit fontScale="85000" lnSpcReduction="20000"/>
          </a:bodyPr>
          <a:lstStyle/>
          <a:p>
            <a:r>
              <a:rPr lang="zh-CN" altLang="zh-CN" dirty="0"/>
              <a:t>可以利用</a:t>
            </a:r>
            <a:r>
              <a:rPr lang="en-US" altLang="zh-CN" dirty="0" err="1"/>
              <a:t>bincount</a:t>
            </a:r>
            <a:r>
              <a:rPr lang="zh-CN" altLang="zh-CN" dirty="0"/>
              <a:t>函数统计一个非负整数数组中从</a:t>
            </a:r>
            <a:r>
              <a:rPr lang="en-US" altLang="zh-CN" dirty="0"/>
              <a:t>0</a:t>
            </a:r>
            <a:r>
              <a:rPr lang="zh-CN" altLang="zh-CN" dirty="0"/>
              <a:t>到元素最大值</a:t>
            </a:r>
            <a:r>
              <a:rPr lang="en-US" altLang="zh-CN" dirty="0"/>
              <a:t>n</a:t>
            </a:r>
            <a:r>
              <a:rPr lang="zh-CN" altLang="zh-CN" dirty="0"/>
              <a:t>的</a:t>
            </a:r>
            <a:r>
              <a:rPr lang="en-US" altLang="zh-CN" dirty="0"/>
              <a:t>n+1</a:t>
            </a:r>
            <a:r>
              <a:rPr lang="zh-CN" altLang="zh-CN" dirty="0"/>
              <a:t>个元素分别出现的次数。语法格式如下：</a:t>
            </a:r>
          </a:p>
          <a:p>
            <a:r>
              <a:rPr lang="en-US" altLang="zh-CN" dirty="0" err="1"/>
              <a:t>numpy.bincount</a:t>
            </a:r>
            <a:r>
              <a:rPr lang="en-US" altLang="zh-CN" dirty="0"/>
              <a:t>(x, weights=None, </a:t>
            </a:r>
            <a:r>
              <a:rPr lang="en-US" altLang="zh-CN" dirty="0" err="1"/>
              <a:t>minlength</a:t>
            </a:r>
            <a:r>
              <a:rPr lang="en-US" altLang="zh-CN" dirty="0"/>
              <a:t>=0)</a:t>
            </a:r>
            <a:endParaRPr lang="zh-CN" altLang="zh-CN" dirty="0"/>
          </a:p>
          <a:p>
            <a:r>
              <a:rPr lang="zh-CN" altLang="zh-CN" dirty="0"/>
              <a:t>其中</a:t>
            </a:r>
            <a:r>
              <a:rPr lang="en-US" altLang="zh-CN" dirty="0"/>
              <a:t>x</a:t>
            </a:r>
            <a:r>
              <a:rPr lang="zh-CN" altLang="zh-CN" dirty="0"/>
              <a:t>是待统计的非负整数数组；</a:t>
            </a:r>
            <a:r>
              <a:rPr lang="en-US" altLang="zh-CN" dirty="0"/>
              <a:t>weights</a:t>
            </a:r>
            <a:r>
              <a:rPr lang="zh-CN" altLang="zh-CN" dirty="0"/>
              <a:t>是一个加权数组，与</a:t>
            </a:r>
            <a:r>
              <a:rPr lang="en-US" altLang="zh-CN" dirty="0"/>
              <a:t>x</a:t>
            </a:r>
            <a:r>
              <a:rPr lang="zh-CN" altLang="zh-CN" dirty="0"/>
              <a:t>的形状相同；参数</a:t>
            </a:r>
            <a:r>
              <a:rPr lang="en-US" altLang="zh-CN" dirty="0" err="1"/>
              <a:t>minlength</a:t>
            </a:r>
            <a:r>
              <a:rPr lang="zh-CN" altLang="zh-CN" dirty="0"/>
              <a:t>表示输出数组的最小长度。</a:t>
            </a:r>
          </a:p>
        </p:txBody>
      </p:sp>
    </p:spTree>
    <p:extLst>
      <p:ext uri="{BB962C8B-B14F-4D97-AF65-F5344CB8AC3E}">
        <p14:creationId xmlns:p14="http://schemas.microsoft.com/office/powerpoint/2010/main" val="2257837388"/>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endParaRPr lang="zh-CN" altLang="en-US"/>
          </a:p>
        </p:txBody>
      </p:sp>
      <p:sp>
        <p:nvSpPr>
          <p:cNvPr id="7" name="内容占位符 6"/>
          <p:cNvSpPr>
            <a:spLocks noGrp="1"/>
          </p:cNvSpPr>
          <p:nvPr>
            <p:ph idx="1"/>
          </p:nvPr>
        </p:nvSpPr>
        <p:spPr/>
        <p:txBody>
          <a:bodyPr>
            <a:normAutofit lnSpcReduction="10000"/>
          </a:bodyPr>
          <a:lstStyle/>
          <a:p>
            <a:r>
              <a:rPr lang="zh-CN" altLang="zh-CN" dirty="0"/>
              <a:t>如果参数</a:t>
            </a:r>
            <a:r>
              <a:rPr lang="en-US" altLang="zh-CN" dirty="0" err="1"/>
              <a:t>minlength</a:t>
            </a:r>
            <a:r>
              <a:rPr lang="zh-CN" altLang="zh-CN" dirty="0"/>
              <a:t>被指定，那么输出数组中元素的数量至少为</a:t>
            </a:r>
            <a:r>
              <a:rPr lang="en-US" altLang="zh-CN" dirty="0" err="1"/>
              <a:t>minlength</a:t>
            </a:r>
            <a:r>
              <a:rPr lang="zh-CN" altLang="zh-CN" dirty="0"/>
              <a:t>指定的数。如果待计算数组</a:t>
            </a:r>
            <a:r>
              <a:rPr lang="en-US" altLang="zh-CN" dirty="0"/>
              <a:t>x</a:t>
            </a:r>
            <a:r>
              <a:rPr lang="zh-CN" altLang="zh-CN" dirty="0"/>
              <a:t>中元素最大值</a:t>
            </a:r>
            <a:r>
              <a:rPr lang="en-US" altLang="zh-CN" dirty="0"/>
              <a:t>n</a:t>
            </a:r>
            <a:r>
              <a:rPr lang="zh-CN" altLang="zh-CN" dirty="0"/>
              <a:t>所决定的元素个数</a:t>
            </a:r>
            <a:r>
              <a:rPr lang="en-US" altLang="zh-CN" dirty="0"/>
              <a:t>n+1</a:t>
            </a:r>
            <a:r>
              <a:rPr lang="zh-CN" altLang="zh-CN" dirty="0"/>
              <a:t>大于</a:t>
            </a:r>
            <a:r>
              <a:rPr lang="en-US" altLang="zh-CN" dirty="0" err="1"/>
              <a:t>minlength</a:t>
            </a:r>
            <a:r>
              <a:rPr lang="zh-CN" altLang="zh-CN" dirty="0"/>
              <a:t>，则输出</a:t>
            </a:r>
            <a:r>
              <a:rPr lang="en-US" altLang="zh-CN" dirty="0"/>
              <a:t>n+1</a:t>
            </a:r>
            <a:r>
              <a:rPr lang="zh-CN" altLang="zh-CN" dirty="0"/>
              <a:t>个元素。</a:t>
            </a:r>
          </a:p>
          <a:p>
            <a:pPr marL="446088" lvl="1" indent="0">
              <a:buNone/>
            </a:pPr>
            <a:r>
              <a:rPr lang="en-US" altLang="zh-CN" dirty="0"/>
              <a:t>&gt;&gt;&gt; x</a:t>
            </a:r>
            <a:endParaRPr lang="zh-CN" altLang="zh-CN" dirty="0"/>
          </a:p>
          <a:p>
            <a:pPr marL="446088" lvl="1" indent="0">
              <a:buNone/>
            </a:pPr>
            <a:r>
              <a:rPr lang="en-US" altLang="zh-CN" dirty="0"/>
              <a:t>array([3, 4, 5, 5, 2])</a:t>
            </a:r>
            <a:endParaRPr lang="zh-CN" altLang="zh-CN" dirty="0"/>
          </a:p>
          <a:p>
            <a:pPr marL="446088" lvl="1" indent="0">
              <a:buNone/>
            </a:pPr>
            <a:r>
              <a:rPr lang="en-US" altLang="zh-CN" dirty="0"/>
              <a:t>&gt;&gt;&gt; #</a:t>
            </a:r>
            <a:r>
              <a:rPr lang="zh-CN" altLang="zh-CN" dirty="0"/>
              <a:t>指定了</a:t>
            </a:r>
            <a:r>
              <a:rPr lang="en-US" altLang="zh-CN" dirty="0" err="1"/>
              <a:t>minlength</a:t>
            </a:r>
            <a:r>
              <a:rPr lang="en-US" altLang="zh-CN" dirty="0"/>
              <a:t>=8</a:t>
            </a:r>
            <a:r>
              <a:rPr lang="zh-CN" altLang="zh-CN" dirty="0"/>
              <a:t>，至少输出</a:t>
            </a:r>
            <a:r>
              <a:rPr lang="en-US" altLang="zh-CN" dirty="0"/>
              <a:t>0-7</a:t>
            </a:r>
            <a:r>
              <a:rPr lang="zh-CN" altLang="zh-CN" dirty="0"/>
              <a:t>的元素个数</a:t>
            </a:r>
          </a:p>
          <a:p>
            <a:pPr marL="446088" lvl="1" indent="0">
              <a:buNone/>
            </a:pPr>
            <a:r>
              <a:rPr lang="en-US" altLang="zh-CN" dirty="0"/>
              <a:t>&gt;&gt;&gt; </a:t>
            </a:r>
            <a:r>
              <a:rPr lang="en-US" altLang="zh-CN" dirty="0" err="1"/>
              <a:t>np.bincount</a:t>
            </a:r>
            <a:r>
              <a:rPr lang="en-US" altLang="zh-CN" dirty="0"/>
              <a:t>(x, </a:t>
            </a:r>
            <a:r>
              <a:rPr lang="en-US" altLang="zh-CN" dirty="0" err="1"/>
              <a:t>minlength</a:t>
            </a:r>
            <a:r>
              <a:rPr lang="en-US" altLang="zh-CN" dirty="0"/>
              <a:t>=8)	 </a:t>
            </a:r>
            <a:endParaRPr lang="zh-CN" altLang="zh-CN" dirty="0"/>
          </a:p>
          <a:p>
            <a:pPr marL="446088" lvl="1" indent="0">
              <a:buNone/>
            </a:pPr>
            <a:r>
              <a:rPr lang="en-US" altLang="zh-CN" dirty="0"/>
              <a:t>array([0, 0, 1, 1, 1, 2, 0, 0], </a:t>
            </a:r>
            <a:r>
              <a:rPr lang="en-US" altLang="zh-CN" dirty="0" err="1"/>
              <a:t>dtype</a:t>
            </a:r>
            <a:r>
              <a:rPr lang="en-US" altLang="zh-CN" dirty="0"/>
              <a:t>=int64)</a:t>
            </a:r>
            <a:endParaRPr lang="zh-CN" altLang="zh-CN" dirty="0"/>
          </a:p>
          <a:p>
            <a:pPr marL="446088" lvl="1" indent="0">
              <a:buNone/>
            </a:pPr>
            <a:r>
              <a:rPr lang="en-US" altLang="zh-CN" dirty="0"/>
              <a:t>&gt;&gt;&gt; #</a:t>
            </a:r>
            <a:r>
              <a:rPr lang="zh-CN" altLang="zh-CN" dirty="0"/>
              <a:t>虽然指定</a:t>
            </a:r>
            <a:r>
              <a:rPr lang="en-US" altLang="zh-CN" dirty="0" err="1"/>
              <a:t>minlength</a:t>
            </a:r>
            <a:r>
              <a:rPr lang="en-US" altLang="zh-CN" dirty="0"/>
              <a:t>=3</a:t>
            </a:r>
            <a:r>
              <a:rPr lang="zh-CN" altLang="zh-CN" dirty="0"/>
              <a:t>，但</a:t>
            </a:r>
            <a:r>
              <a:rPr lang="en-US" altLang="zh-CN" dirty="0"/>
              <a:t>x</a:t>
            </a:r>
            <a:r>
              <a:rPr lang="zh-CN" altLang="zh-CN" dirty="0"/>
              <a:t>中元素最大值为</a:t>
            </a:r>
            <a:r>
              <a:rPr lang="en-US" altLang="zh-CN" dirty="0"/>
              <a:t>5</a:t>
            </a:r>
            <a:r>
              <a:rPr lang="zh-CN" altLang="zh-CN" dirty="0"/>
              <a:t>，至少输出</a:t>
            </a:r>
            <a:r>
              <a:rPr lang="en-US" altLang="zh-CN" dirty="0"/>
              <a:t>0-5</a:t>
            </a:r>
            <a:r>
              <a:rPr lang="zh-CN" altLang="zh-CN" dirty="0"/>
              <a:t>这</a:t>
            </a:r>
            <a:r>
              <a:rPr lang="en-US" altLang="zh-CN" dirty="0"/>
              <a:t>6</a:t>
            </a:r>
            <a:r>
              <a:rPr lang="zh-CN" altLang="zh-CN" dirty="0"/>
              <a:t>个元素的个数</a:t>
            </a:r>
          </a:p>
          <a:p>
            <a:pPr marL="446088" lvl="1" indent="0">
              <a:buNone/>
            </a:pPr>
            <a:r>
              <a:rPr lang="en-US" altLang="zh-CN" dirty="0"/>
              <a:t>&gt;&gt;&gt; </a:t>
            </a:r>
            <a:r>
              <a:rPr lang="en-US" altLang="zh-CN" dirty="0" err="1"/>
              <a:t>np.bincount</a:t>
            </a:r>
            <a:r>
              <a:rPr lang="en-US" altLang="zh-CN" dirty="0"/>
              <a:t>(x, </a:t>
            </a:r>
            <a:r>
              <a:rPr lang="en-US" altLang="zh-CN" dirty="0" err="1"/>
              <a:t>minlength</a:t>
            </a:r>
            <a:r>
              <a:rPr lang="en-US" altLang="zh-CN" dirty="0"/>
              <a:t>=3)	</a:t>
            </a:r>
            <a:endParaRPr lang="zh-CN" altLang="zh-CN" dirty="0"/>
          </a:p>
          <a:p>
            <a:pPr marL="446088" lvl="1" indent="0">
              <a:buNone/>
            </a:pPr>
            <a:r>
              <a:rPr lang="en-US" altLang="zh-CN" dirty="0"/>
              <a:t>array([0, 0, 1, 1, 1, 2], </a:t>
            </a:r>
            <a:r>
              <a:rPr lang="en-US" altLang="zh-CN" dirty="0" err="1"/>
              <a:t>dtype</a:t>
            </a:r>
            <a:r>
              <a:rPr lang="en-US" altLang="zh-CN" dirty="0"/>
              <a:t>=int64)</a:t>
            </a:r>
            <a:endParaRPr lang="zh-CN" altLang="zh-CN" dirty="0"/>
          </a:p>
          <a:p>
            <a:pPr marL="446088" lvl="1" indent="0">
              <a:buNone/>
            </a:pPr>
            <a:r>
              <a:rPr lang="en-US" altLang="zh-CN" dirty="0"/>
              <a:t>&gt;&gt;&gt; </a:t>
            </a:r>
            <a:endParaRPr lang="zh-CN" altLang="zh-CN" dirty="0"/>
          </a:p>
        </p:txBody>
      </p:sp>
    </p:spTree>
    <p:extLst>
      <p:ext uri="{BB962C8B-B14F-4D97-AF65-F5344CB8AC3E}">
        <p14:creationId xmlns:p14="http://schemas.microsoft.com/office/powerpoint/2010/main" val="2489364139"/>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zh-CN" dirty="0"/>
              <a:t>可以利用</a:t>
            </a:r>
            <a:r>
              <a:rPr lang="en-US" altLang="zh-CN" dirty="0" err="1"/>
              <a:t>numpy.percentile</a:t>
            </a:r>
            <a:r>
              <a:rPr lang="en-US" altLang="zh-CN" dirty="0"/>
              <a:t>()</a:t>
            </a:r>
            <a:r>
              <a:rPr lang="zh-CN" altLang="zh-CN" dirty="0"/>
              <a:t>函数在多维数组中沿指定轴计算数据在指定分位上的值。可以计算</a:t>
            </a:r>
            <a:r>
              <a:rPr lang="en-US" altLang="zh-CN" dirty="0"/>
              <a:t>0</a:t>
            </a:r>
            <a:r>
              <a:rPr lang="zh-CN" altLang="zh-CN" dirty="0"/>
              <a:t>至</a:t>
            </a:r>
            <a:r>
              <a:rPr lang="en-US" altLang="zh-CN" dirty="0"/>
              <a:t>100</a:t>
            </a:r>
            <a:r>
              <a:rPr lang="zh-CN" altLang="zh-CN" dirty="0"/>
              <a:t>之间任意分位对应的值。其语法格式如下：</a:t>
            </a:r>
          </a:p>
          <a:p>
            <a:pPr lvl="1"/>
            <a:r>
              <a:rPr lang="en-US" altLang="zh-CN" dirty="0" err="1"/>
              <a:t>numpy.percentile</a:t>
            </a:r>
            <a:r>
              <a:rPr lang="en-US" altLang="zh-CN" dirty="0"/>
              <a:t>(a, q, axis=None, out=None, </a:t>
            </a:r>
            <a:r>
              <a:rPr lang="en-US" altLang="zh-CN" dirty="0" err="1"/>
              <a:t>overwrite_input</a:t>
            </a:r>
            <a:r>
              <a:rPr lang="en-US" altLang="zh-CN" dirty="0"/>
              <a:t>=False, interpolation='linear', </a:t>
            </a:r>
            <a:r>
              <a:rPr lang="en-US" altLang="zh-CN" dirty="0" err="1"/>
              <a:t>keepdims</a:t>
            </a:r>
            <a:r>
              <a:rPr lang="en-US" altLang="zh-CN" dirty="0"/>
              <a:t>=False)</a:t>
            </a:r>
            <a:endParaRPr lang="zh-CN" altLang="zh-CN" dirty="0"/>
          </a:p>
          <a:p>
            <a:pPr lvl="1"/>
            <a:r>
              <a:rPr lang="zh-CN" altLang="zh-CN" dirty="0"/>
              <a:t>参数</a:t>
            </a:r>
            <a:r>
              <a:rPr lang="en-US" altLang="zh-CN" dirty="0"/>
              <a:t>a</a:t>
            </a:r>
            <a:r>
              <a:rPr lang="zh-CN" altLang="zh-CN" dirty="0"/>
              <a:t>表示数组。参数</a:t>
            </a:r>
            <a:r>
              <a:rPr lang="en-US" altLang="zh-CN" dirty="0"/>
              <a:t>q</a:t>
            </a:r>
            <a:r>
              <a:rPr lang="zh-CN" altLang="zh-CN" dirty="0"/>
              <a:t>表示要计算的百分位数或百分位数序列，其值必须介于</a:t>
            </a:r>
            <a:r>
              <a:rPr lang="en-US" altLang="zh-CN" dirty="0"/>
              <a:t>0</a:t>
            </a:r>
            <a:r>
              <a:rPr lang="zh-CN" altLang="zh-CN" dirty="0"/>
              <a:t>到</a:t>
            </a:r>
            <a:r>
              <a:rPr lang="en-US" altLang="zh-CN" dirty="0"/>
              <a:t>100</a:t>
            </a:r>
            <a:r>
              <a:rPr lang="zh-CN" altLang="zh-CN" dirty="0"/>
              <a:t>之间。参数</a:t>
            </a:r>
            <a:r>
              <a:rPr lang="en-US" altLang="zh-CN" dirty="0"/>
              <a:t>axis</a:t>
            </a:r>
            <a:r>
              <a:rPr lang="zh-CN" altLang="zh-CN" dirty="0"/>
              <a:t>表示计算的轴向，</a:t>
            </a:r>
            <a:r>
              <a:rPr lang="en-US" altLang="zh-CN" dirty="0"/>
              <a:t>0</a:t>
            </a:r>
            <a:r>
              <a:rPr lang="zh-CN" altLang="zh-CN" dirty="0"/>
              <a:t>表示各列分别计算，</a:t>
            </a:r>
            <a:r>
              <a:rPr lang="en-US" altLang="zh-CN" dirty="0"/>
              <a:t>1</a:t>
            </a:r>
            <a:r>
              <a:rPr lang="zh-CN" altLang="zh-CN" dirty="0"/>
              <a:t>表示各行分别计算，默认值</a:t>
            </a:r>
            <a:r>
              <a:rPr lang="en-US" altLang="zh-CN" dirty="0"/>
              <a:t>None</a:t>
            </a:r>
            <a:r>
              <a:rPr lang="zh-CN" altLang="zh-CN" dirty="0"/>
              <a:t>表示将数组展平后计算对应的分位数。参数</a:t>
            </a:r>
            <a:r>
              <a:rPr lang="en-US" altLang="zh-CN" dirty="0"/>
              <a:t>out</a:t>
            </a:r>
            <a:r>
              <a:rPr lang="zh-CN" altLang="zh-CN" dirty="0"/>
              <a:t>表示用于放置结果的数组，必须具有与预期输出相同的形状和缓冲区长度。参数</a:t>
            </a:r>
            <a:r>
              <a:rPr lang="en-US" altLang="zh-CN" dirty="0"/>
              <a:t>interpolation</a:t>
            </a:r>
            <a:r>
              <a:rPr lang="zh-CN" altLang="zh-CN" dirty="0"/>
              <a:t>表示当所需的分位值位于两个数据点之间时使用的插值方法，可以从集合</a:t>
            </a:r>
            <a:r>
              <a:rPr lang="en-US" altLang="zh-CN" dirty="0"/>
              <a:t>{'linear', 'lower', 'higher', 'midpoint', 'nearest'}</a:t>
            </a:r>
            <a:r>
              <a:rPr lang="zh-CN" altLang="zh-CN" dirty="0"/>
              <a:t>中取值。具体可以查看帮助文档。参数</a:t>
            </a:r>
            <a:r>
              <a:rPr lang="en-US" altLang="zh-CN" dirty="0" err="1"/>
              <a:t>keepdims</a:t>
            </a:r>
            <a:r>
              <a:rPr lang="zh-CN" altLang="zh-CN" dirty="0"/>
              <a:t>为布尔值，如果为</a:t>
            </a:r>
            <a:r>
              <a:rPr lang="en-US" altLang="zh-CN" dirty="0"/>
              <a:t>True</a:t>
            </a:r>
            <a:r>
              <a:rPr lang="zh-CN" altLang="zh-CN" dirty="0"/>
              <a:t>，结果将保持与元素矩阵</a:t>
            </a:r>
            <a:r>
              <a:rPr lang="en-US" altLang="zh-CN" dirty="0"/>
              <a:t>a</a:t>
            </a:r>
            <a:r>
              <a:rPr lang="zh-CN" altLang="zh-CN" dirty="0"/>
              <a:t>相同的维度数；如果为默认值</a:t>
            </a:r>
            <a:r>
              <a:rPr lang="en-US" altLang="zh-CN" dirty="0"/>
              <a:t>False</a:t>
            </a:r>
            <a:r>
              <a:rPr lang="zh-CN" altLang="zh-CN" dirty="0"/>
              <a:t>，计算结果将被展开。</a:t>
            </a:r>
            <a:endParaRPr lang="zh-CN" altLang="en-US" dirty="0"/>
          </a:p>
        </p:txBody>
      </p:sp>
    </p:spTree>
    <p:extLst>
      <p:ext uri="{BB962C8B-B14F-4D97-AF65-F5344CB8AC3E}">
        <p14:creationId xmlns:p14="http://schemas.microsoft.com/office/powerpoint/2010/main" val="374692047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7500" lnSpcReduction="20000"/>
          </a:bodyPr>
          <a:lstStyle/>
          <a:p>
            <a:pPr marL="0" indent="0">
              <a:buNone/>
            </a:pPr>
            <a:r>
              <a:rPr lang="en-US" altLang="zh-CN" dirty="0"/>
              <a:t>&gt;&gt;&gt; x = </a:t>
            </a:r>
            <a:r>
              <a:rPr lang="en-US" altLang="zh-CN" dirty="0" err="1"/>
              <a:t>np.array</a:t>
            </a:r>
            <a:r>
              <a:rPr lang="en-US" altLang="zh-CN" dirty="0"/>
              <a:t>([[0, 3, 5], [6, 2, 1]])</a:t>
            </a:r>
            <a:endParaRPr lang="zh-CN" altLang="zh-CN" dirty="0"/>
          </a:p>
          <a:p>
            <a:pPr marL="0" indent="0">
              <a:buNone/>
            </a:pPr>
            <a:r>
              <a:rPr lang="en-US" altLang="zh-CN" dirty="0"/>
              <a:t>&gt;&gt;&gt; x</a:t>
            </a:r>
            <a:endParaRPr lang="zh-CN" altLang="zh-CN" dirty="0"/>
          </a:p>
          <a:p>
            <a:pPr marL="0" indent="0">
              <a:buNone/>
            </a:pPr>
            <a:r>
              <a:rPr lang="en-US" altLang="zh-CN" dirty="0"/>
              <a:t>array([[0, 3, 5],</a:t>
            </a:r>
            <a:endParaRPr lang="zh-CN" altLang="zh-CN" dirty="0"/>
          </a:p>
          <a:p>
            <a:pPr marL="0" indent="0">
              <a:buNone/>
            </a:pPr>
            <a:r>
              <a:rPr lang="en-US" altLang="zh-CN" dirty="0"/>
              <a:t>       [6, 2, 1]])</a:t>
            </a:r>
            <a:endParaRPr lang="zh-CN" altLang="zh-CN" dirty="0"/>
          </a:p>
          <a:p>
            <a:pPr marL="0" indent="0">
              <a:buNone/>
            </a:pPr>
            <a:r>
              <a:rPr lang="en-US" altLang="zh-CN" dirty="0"/>
              <a:t>&gt;&gt;&gt; </a:t>
            </a:r>
            <a:r>
              <a:rPr lang="en-US" altLang="zh-CN" dirty="0" err="1"/>
              <a:t>np.percentile</a:t>
            </a:r>
            <a:r>
              <a:rPr lang="en-US" altLang="zh-CN" dirty="0"/>
              <a:t>(x,50)</a:t>
            </a:r>
            <a:endParaRPr lang="zh-CN" altLang="zh-CN" dirty="0"/>
          </a:p>
          <a:p>
            <a:pPr marL="0" indent="0">
              <a:buNone/>
            </a:pPr>
            <a:r>
              <a:rPr lang="en-US" altLang="zh-CN" dirty="0"/>
              <a:t>2.5</a:t>
            </a:r>
            <a:endParaRPr lang="zh-CN" altLang="zh-CN" dirty="0"/>
          </a:p>
          <a:p>
            <a:pPr marL="0" indent="0">
              <a:buNone/>
            </a:pPr>
            <a:r>
              <a:rPr lang="en-US" altLang="zh-CN" dirty="0"/>
              <a:t>&gt;&gt;&gt; </a:t>
            </a:r>
            <a:r>
              <a:rPr lang="en-US" altLang="zh-CN" dirty="0" err="1"/>
              <a:t>np.percentile</a:t>
            </a:r>
            <a:r>
              <a:rPr lang="en-US" altLang="zh-CN" dirty="0"/>
              <a:t>(x,50,axis=0) # </a:t>
            </a:r>
            <a:r>
              <a:rPr lang="zh-CN" altLang="zh-CN" dirty="0"/>
              <a:t>各列分别计算</a:t>
            </a:r>
          </a:p>
          <a:p>
            <a:pPr marL="0" indent="0">
              <a:buNone/>
            </a:pPr>
            <a:r>
              <a:rPr lang="en-US" altLang="zh-CN" dirty="0"/>
              <a:t>array([3. , 2.5, 3. ])</a:t>
            </a:r>
            <a:endParaRPr lang="zh-CN" altLang="zh-CN" dirty="0"/>
          </a:p>
          <a:p>
            <a:pPr marL="0" indent="0">
              <a:buNone/>
            </a:pPr>
            <a:r>
              <a:rPr lang="en-US" altLang="zh-CN" dirty="0"/>
              <a:t>&gt;&gt;&gt; </a:t>
            </a:r>
            <a:r>
              <a:rPr lang="en-US" altLang="zh-CN" dirty="0" err="1"/>
              <a:t>np.percentile</a:t>
            </a:r>
            <a:r>
              <a:rPr lang="en-US" altLang="zh-CN" dirty="0"/>
              <a:t>(x,50,axis=1) # </a:t>
            </a:r>
            <a:r>
              <a:rPr lang="zh-CN" altLang="zh-CN" dirty="0"/>
              <a:t>各行分别计算</a:t>
            </a:r>
          </a:p>
          <a:p>
            <a:pPr marL="0" indent="0">
              <a:buNone/>
            </a:pPr>
            <a:r>
              <a:rPr lang="en-US" altLang="zh-CN" dirty="0"/>
              <a:t>array([3., 2.])</a:t>
            </a:r>
            <a:endParaRPr lang="zh-CN" altLang="zh-CN" dirty="0"/>
          </a:p>
          <a:p>
            <a:pPr marL="0" indent="0">
              <a:buNone/>
            </a:pPr>
            <a:r>
              <a:rPr lang="en-US" altLang="zh-CN" dirty="0"/>
              <a:t>&gt;&gt;&gt; </a:t>
            </a:r>
            <a:r>
              <a:rPr lang="en-US" altLang="zh-CN" dirty="0" err="1"/>
              <a:t>np.percentile</a:t>
            </a:r>
            <a:r>
              <a:rPr lang="en-US" altLang="zh-CN" dirty="0"/>
              <a:t>(x,50,axis=1,keepdims=True) # </a:t>
            </a:r>
            <a:r>
              <a:rPr lang="zh-CN" altLang="zh-CN" dirty="0"/>
              <a:t>保持维度</a:t>
            </a:r>
          </a:p>
          <a:p>
            <a:pPr marL="0" indent="0">
              <a:buNone/>
            </a:pPr>
            <a:r>
              <a:rPr lang="en-US" altLang="zh-CN" dirty="0"/>
              <a:t>array([[3.],</a:t>
            </a:r>
            <a:endParaRPr lang="zh-CN" altLang="zh-CN" dirty="0"/>
          </a:p>
          <a:p>
            <a:pPr marL="0" indent="0">
              <a:buNone/>
            </a:pPr>
            <a:r>
              <a:rPr lang="en-US" altLang="zh-CN" dirty="0"/>
              <a:t>       [2.]])</a:t>
            </a:r>
            <a:endParaRPr lang="zh-CN" altLang="zh-CN" dirty="0"/>
          </a:p>
          <a:p>
            <a:pPr marL="0" indent="0">
              <a:buNone/>
            </a:pPr>
            <a:r>
              <a:rPr lang="en-US" altLang="zh-CN" dirty="0"/>
              <a:t>&gt;&gt;&gt; </a:t>
            </a:r>
            <a:endParaRPr lang="zh-CN" altLang="zh-CN" dirty="0"/>
          </a:p>
          <a:p>
            <a:endParaRPr lang="zh-CN" altLang="en-US" dirty="0"/>
          </a:p>
        </p:txBody>
      </p:sp>
    </p:spTree>
    <p:extLst>
      <p:ext uri="{BB962C8B-B14F-4D97-AF65-F5344CB8AC3E}">
        <p14:creationId xmlns:p14="http://schemas.microsoft.com/office/powerpoint/2010/main" val="2552440872"/>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 </a:t>
            </a:r>
            <a:r>
              <a:rPr lang="zh-CN" altLang="zh-CN" dirty="0"/>
              <a:t>数组在其他文件中的存取</a:t>
            </a:r>
            <a:endParaRPr lang="zh-CN" altLang="en-US" dirty="0"/>
          </a:p>
        </p:txBody>
      </p:sp>
      <p:sp>
        <p:nvSpPr>
          <p:cNvPr id="3" name="内容占位符 2"/>
          <p:cNvSpPr>
            <a:spLocks noGrp="1"/>
          </p:cNvSpPr>
          <p:nvPr>
            <p:ph idx="1"/>
          </p:nvPr>
        </p:nvSpPr>
        <p:spPr/>
        <p:txBody>
          <a:bodyPr/>
          <a:lstStyle/>
          <a:p>
            <a:r>
              <a:rPr lang="zh-CN" altLang="zh-CN" dirty="0"/>
              <a:t>为了方便将来使用或数据的传递，可以将数组存储在文件中，使用时再取出。</a:t>
            </a:r>
            <a:r>
              <a:rPr lang="en-US" altLang="zh-CN" dirty="0"/>
              <a:t>4.2.2</a:t>
            </a:r>
            <a:r>
              <a:rPr lang="zh-CN" altLang="zh-CN" dirty="0"/>
              <a:t>节介绍了</a:t>
            </a:r>
            <a:r>
              <a:rPr lang="en-US" altLang="zh-CN" dirty="0" err="1"/>
              <a:t>numpy</a:t>
            </a:r>
            <a:r>
              <a:rPr lang="zh-CN" altLang="zh-CN" dirty="0"/>
              <a:t>数组在文本文件中的存取方法，本节介绍</a:t>
            </a:r>
            <a:r>
              <a:rPr lang="en-US" altLang="zh-CN" dirty="0" err="1"/>
              <a:t>numpy</a:t>
            </a:r>
            <a:r>
              <a:rPr lang="zh-CN" altLang="zh-CN" dirty="0"/>
              <a:t>数组在其他文件中的存取方法。</a:t>
            </a:r>
            <a:endParaRPr lang="zh-CN" altLang="en-US" dirty="0"/>
          </a:p>
        </p:txBody>
      </p:sp>
    </p:spTree>
    <p:extLst>
      <p:ext uri="{BB962C8B-B14F-4D97-AF65-F5344CB8AC3E}">
        <p14:creationId xmlns:p14="http://schemas.microsoft.com/office/powerpoint/2010/main" val="1684606439"/>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4.5.1 </a:t>
            </a:r>
            <a:r>
              <a:rPr lang="zh-CN" altLang="zh-CN" dirty="0"/>
              <a:t>数组在无格式二进制文件中存取</a:t>
            </a:r>
            <a:endParaRPr lang="zh-CN" altLang="en-US" dirty="0"/>
          </a:p>
        </p:txBody>
      </p:sp>
      <p:sp>
        <p:nvSpPr>
          <p:cNvPr id="4" name="内容占位符 3"/>
          <p:cNvSpPr>
            <a:spLocks noGrp="1"/>
          </p:cNvSpPr>
          <p:nvPr>
            <p:ph sz="half" idx="1"/>
          </p:nvPr>
        </p:nvSpPr>
        <p:spPr>
          <a:xfrm>
            <a:off x="334435" y="1124744"/>
            <a:ext cx="5329518" cy="5328592"/>
          </a:xfrm>
          <a:ln>
            <a:solidFill>
              <a:srgbClr val="9900FF"/>
            </a:solidFill>
          </a:ln>
        </p:spPr>
        <p:txBody>
          <a:bodyPr>
            <a:normAutofit/>
          </a:bodyPr>
          <a:lstStyle/>
          <a:p>
            <a:r>
              <a:rPr lang="zh-CN" altLang="zh-CN" dirty="0"/>
              <a:t>使用数组的</a:t>
            </a:r>
            <a:r>
              <a:rPr lang="en-US" altLang="zh-CN" dirty="0"/>
              <a:t> </a:t>
            </a:r>
            <a:r>
              <a:rPr lang="en-US" altLang="zh-CN" dirty="0" err="1"/>
              <a:t>tofile</a:t>
            </a:r>
            <a:r>
              <a:rPr lang="en-US" altLang="zh-CN" dirty="0"/>
              <a:t>()</a:t>
            </a:r>
            <a:r>
              <a:rPr lang="zh-CN" altLang="zh-CN" dirty="0"/>
              <a:t>方法可以将数组中的数据以二进制的格式写进文件。</a:t>
            </a:r>
            <a:r>
              <a:rPr lang="en-US" altLang="zh-CN" dirty="0" err="1"/>
              <a:t>tofile</a:t>
            </a:r>
            <a:r>
              <a:rPr lang="en-US" altLang="zh-CN" dirty="0"/>
              <a:t>()</a:t>
            </a:r>
            <a:r>
              <a:rPr lang="zh-CN" altLang="zh-CN" dirty="0"/>
              <a:t>方法写入文件的数据不保存数组形状和元素类型等信息。写入的文件后缀名没有特定要求。</a:t>
            </a:r>
          </a:p>
          <a:p>
            <a:pPr marL="446088" lvl="1" indent="0">
              <a:buNone/>
            </a:pPr>
            <a:r>
              <a:rPr lang="en-US" altLang="zh-CN" sz="2000" dirty="0"/>
              <a:t>&gt;&gt;&gt; x=</a:t>
            </a:r>
            <a:r>
              <a:rPr lang="en-US" altLang="zh-CN" sz="2000" dirty="0" err="1"/>
              <a:t>np.array</a:t>
            </a:r>
            <a:r>
              <a:rPr lang="en-US" altLang="zh-CN" sz="2000" dirty="0"/>
              <a:t>([[1,2],[3,4]],</a:t>
            </a:r>
            <a:r>
              <a:rPr lang="en-US" altLang="zh-CN" sz="2000" dirty="0" err="1"/>
              <a:t>dtype</a:t>
            </a:r>
            <a:r>
              <a:rPr lang="en-US" altLang="zh-CN" sz="2000" dirty="0"/>
              <a:t>=np.int32)</a:t>
            </a:r>
            <a:endParaRPr lang="zh-CN" altLang="zh-CN" sz="2000" dirty="0"/>
          </a:p>
          <a:p>
            <a:pPr marL="446088" lvl="1" indent="0">
              <a:buNone/>
            </a:pPr>
            <a:r>
              <a:rPr lang="en-US" altLang="zh-CN" sz="2000" dirty="0"/>
              <a:t>&gt;&gt;&gt; x</a:t>
            </a:r>
            <a:endParaRPr lang="zh-CN" altLang="zh-CN" sz="2000" dirty="0"/>
          </a:p>
          <a:p>
            <a:pPr marL="446088" lvl="1" indent="0">
              <a:buNone/>
            </a:pPr>
            <a:r>
              <a:rPr lang="en-US" altLang="zh-CN" sz="2000" dirty="0"/>
              <a:t>array([[1, 2],</a:t>
            </a:r>
            <a:endParaRPr lang="zh-CN" altLang="zh-CN" sz="2000" dirty="0"/>
          </a:p>
          <a:p>
            <a:pPr marL="446088" lvl="1" indent="0">
              <a:buNone/>
            </a:pPr>
            <a:r>
              <a:rPr lang="en-US" altLang="zh-CN" sz="2000" dirty="0"/>
              <a:t>       [3, 4]])</a:t>
            </a:r>
            <a:endParaRPr lang="zh-CN" altLang="zh-CN" sz="2000" dirty="0"/>
          </a:p>
          <a:p>
            <a:pPr marL="446088" lvl="1" indent="0">
              <a:buNone/>
            </a:pPr>
            <a:r>
              <a:rPr lang="en-US" altLang="zh-CN" sz="2000" dirty="0"/>
              <a:t>&gt;&gt;&gt; </a:t>
            </a:r>
            <a:r>
              <a:rPr lang="en-US" altLang="zh-CN" sz="2000" dirty="0" err="1"/>
              <a:t>x.tofile</a:t>
            </a:r>
            <a:r>
              <a:rPr lang="en-US" altLang="zh-CN" sz="2000" dirty="0"/>
              <a:t>("d:/test/array.bin")</a:t>
            </a:r>
            <a:endParaRPr lang="zh-CN" altLang="zh-CN" sz="2000" dirty="0"/>
          </a:p>
          <a:p>
            <a:endParaRPr lang="zh-CN" altLang="en-US" dirty="0"/>
          </a:p>
        </p:txBody>
      </p:sp>
      <p:sp>
        <p:nvSpPr>
          <p:cNvPr id="5" name="内容占位符 4"/>
          <p:cNvSpPr>
            <a:spLocks noGrp="1"/>
          </p:cNvSpPr>
          <p:nvPr>
            <p:ph sz="half" idx="2"/>
          </p:nvPr>
        </p:nvSpPr>
        <p:spPr>
          <a:xfrm>
            <a:off x="5807968" y="1124744"/>
            <a:ext cx="6049599" cy="5328592"/>
          </a:xfrm>
          <a:ln>
            <a:solidFill>
              <a:srgbClr val="9900FF"/>
            </a:solidFill>
          </a:ln>
        </p:spPr>
        <p:txBody>
          <a:bodyPr>
            <a:normAutofit/>
          </a:bodyPr>
          <a:lstStyle/>
          <a:p>
            <a:r>
              <a:rPr lang="zh-CN" altLang="zh-CN" dirty="0"/>
              <a:t>由于通过</a:t>
            </a:r>
            <a:r>
              <a:rPr lang="en-US" altLang="zh-CN" dirty="0" err="1"/>
              <a:t>tofile</a:t>
            </a:r>
            <a:r>
              <a:rPr lang="en-US" altLang="zh-CN" dirty="0"/>
              <a:t>()</a:t>
            </a:r>
            <a:r>
              <a:rPr lang="zh-CN" altLang="zh-CN" dirty="0"/>
              <a:t>方法写入的数组内容在文件中没有形状等信息，因此从该文件通过</a:t>
            </a:r>
            <a:r>
              <a:rPr lang="en-US" altLang="zh-CN" dirty="0" err="1"/>
              <a:t>np.fromfile</a:t>
            </a:r>
            <a:r>
              <a:rPr lang="en-US" altLang="zh-CN" dirty="0"/>
              <a:t>()</a:t>
            </a:r>
            <a:r>
              <a:rPr lang="zh-CN" altLang="zh-CN" dirty="0"/>
              <a:t>读取的都是一维数组。</a:t>
            </a:r>
          </a:p>
          <a:p>
            <a:pPr marL="446088" lvl="1" indent="0">
              <a:buNone/>
            </a:pPr>
            <a:r>
              <a:rPr lang="en-US" altLang="zh-CN" sz="2000" dirty="0"/>
              <a:t>&gt;&gt;&gt; y=</a:t>
            </a:r>
            <a:r>
              <a:rPr lang="en-US" altLang="zh-CN" sz="2000" dirty="0" err="1"/>
              <a:t>np.fromfile</a:t>
            </a:r>
            <a:r>
              <a:rPr lang="en-US" altLang="zh-CN" sz="2000" dirty="0"/>
              <a:t>("d:/test/array.bin",</a:t>
            </a:r>
            <a:r>
              <a:rPr lang="en-US" altLang="zh-CN" sz="2000" dirty="0" err="1"/>
              <a:t>dtype</a:t>
            </a:r>
            <a:r>
              <a:rPr lang="en-US" altLang="zh-CN" sz="2000" dirty="0"/>
              <a:t>=np.int32)</a:t>
            </a:r>
            <a:endParaRPr lang="zh-CN" altLang="zh-CN" sz="2000" dirty="0"/>
          </a:p>
          <a:p>
            <a:pPr marL="446088" lvl="1" indent="0">
              <a:buNone/>
            </a:pPr>
            <a:r>
              <a:rPr lang="en-US" altLang="zh-CN" sz="2000" dirty="0"/>
              <a:t>&gt;&gt;&gt; y</a:t>
            </a:r>
            <a:endParaRPr lang="zh-CN" altLang="zh-CN" sz="2000" dirty="0"/>
          </a:p>
          <a:p>
            <a:pPr marL="446088" lvl="1" indent="0">
              <a:buNone/>
            </a:pPr>
            <a:r>
              <a:rPr lang="en-US" altLang="zh-CN" sz="2000" dirty="0"/>
              <a:t>array([1, 2, 3, 4])</a:t>
            </a:r>
            <a:endParaRPr lang="zh-CN" altLang="zh-CN" sz="2000" dirty="0"/>
          </a:p>
          <a:p>
            <a:pPr marL="446088" lvl="1" indent="0">
              <a:buNone/>
            </a:pPr>
            <a:r>
              <a:rPr lang="en-US" altLang="zh-CN" sz="2000" dirty="0"/>
              <a:t>&gt;&gt;&gt; </a:t>
            </a:r>
            <a:endParaRPr lang="zh-CN" altLang="zh-CN" sz="2000" dirty="0"/>
          </a:p>
          <a:p>
            <a:endParaRPr lang="zh-CN" altLang="en-US" dirty="0"/>
          </a:p>
        </p:txBody>
      </p:sp>
    </p:spTree>
    <p:extLst>
      <p:ext uri="{BB962C8B-B14F-4D97-AF65-F5344CB8AC3E}">
        <p14:creationId xmlns:p14="http://schemas.microsoft.com/office/powerpoint/2010/main" val="3133486434"/>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5198635"/>
      </p:ext>
    </p:extLst>
  </p:cSld>
  <p:clrMapOvr>
    <a:masterClrMapping/>
  </p:clrMapOvr>
  <p:transition/>
</p:sld>
</file>

<file path=ppt/theme/theme1.xml><?xml version="1.0" encoding="utf-8"?>
<a:theme xmlns:a="http://schemas.openxmlformats.org/drawingml/2006/main" name="《Python程序设计教程》（第二版）">
  <a:themeElements>
    <a:clrScheme name="">
      <a:dk1>
        <a:srgbClr val="000000"/>
      </a:dk1>
      <a:lt1>
        <a:srgbClr val="FFFFFF"/>
      </a:lt1>
      <a:dk2>
        <a:srgbClr val="FFFFFF"/>
      </a:dk2>
      <a:lt2>
        <a:srgbClr val="000000"/>
      </a:lt2>
      <a:accent1>
        <a:srgbClr val="365AA8"/>
      </a:accent1>
      <a:accent2>
        <a:srgbClr val="EAEBE7"/>
      </a:accent2>
      <a:accent3>
        <a:srgbClr val="FFFFFF"/>
      </a:accent3>
      <a:accent4>
        <a:srgbClr val="000000"/>
      </a:accent4>
      <a:accent5>
        <a:srgbClr val="AEB5D1"/>
      </a:accent5>
      <a:accent6>
        <a:srgbClr val="D4D5D1"/>
      </a:accent6>
      <a:hlink>
        <a:srgbClr val="D1D7C7"/>
      </a:hlink>
      <a:folHlink>
        <a:srgbClr val="99CC00"/>
      </a:folHlink>
    </a:clrScheme>
    <a:fontScheme name="高教社MIS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6350" cap="flat" cmpd="sng" algn="ctr">
          <a:solidFill>
            <a:schemeClr val="tx1"/>
          </a:solidFill>
          <a:prstDash val="solid"/>
          <a:miter lim="800000"/>
          <a:headEnd type="none" w="med" len="med"/>
          <a:tailEnd type="triangle" w="med" len="med"/>
        </a:ln>
        <a:effectLst/>
      </a:spPr>
      <a:bodyPr vert="horz" wrap="none" lIns="45720" tIns="72009" rIns="45720" bIns="72009"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zh-CN" altLang="en-US" sz="1400" b="0" i="0" u="none" strike="noStrike" cap="none" normalizeH="0" baseline="0" smtClean="0">
            <a:ln>
              <a:noFill/>
            </a:ln>
            <a:solidFill>
              <a:schemeClr val="tx1"/>
            </a:solidFill>
            <a:effectLst/>
            <a:latin typeface="Times New Roman" pitchFamily="18" charset="0"/>
            <a:ea typeface="华文楷体" pitchFamily="2" charset="-122"/>
          </a:defRPr>
        </a:defPPr>
      </a:lstStyle>
    </a:spDef>
    <a:lnDef>
      <a:spPr bwMode="auto">
        <a:xfrm>
          <a:off x="0" y="0"/>
          <a:ext cx="1" cy="1"/>
        </a:xfrm>
        <a:custGeom>
          <a:avLst/>
          <a:gdLst/>
          <a:ahLst/>
          <a:cxnLst/>
          <a:rect l="0" t="0" r="0" b="0"/>
          <a:pathLst/>
        </a:custGeom>
        <a:solidFill>
          <a:schemeClr val="accent1"/>
        </a:solidFill>
        <a:ln w="6350" cap="flat" cmpd="sng" algn="ctr">
          <a:solidFill>
            <a:schemeClr val="tx1"/>
          </a:solidFill>
          <a:prstDash val="solid"/>
          <a:miter lim="800000"/>
          <a:headEnd type="none" w="med" len="med"/>
          <a:tailEnd type="triangle" w="med" len="med"/>
        </a:ln>
        <a:effectLst/>
      </a:spPr>
      <a:bodyPr vert="horz" wrap="none" lIns="45720" tIns="72009" rIns="45720" bIns="72009"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zh-CN" altLang="en-US" sz="1400" b="0" i="0" u="none" strike="noStrike" cap="none" normalizeH="0" baseline="0" smtClean="0">
            <a:ln>
              <a:noFill/>
            </a:ln>
            <a:solidFill>
              <a:schemeClr val="tx1"/>
            </a:solidFill>
            <a:effectLst/>
            <a:latin typeface="Times New Roman" pitchFamily="18" charset="0"/>
            <a:ea typeface="华文楷体" pitchFamily="2" charset="-122"/>
          </a:defRPr>
        </a:defPPr>
      </a:lstStyle>
    </a:lnDef>
  </a:objectDefaults>
  <a:extraClrSchemeLst>
    <a:extraClrScheme>
      <a:clrScheme name="高教社MIS模板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0033"/>
        </a:hlink>
        <a:folHlink>
          <a:srgbClr val="3366FF"/>
        </a:folHlink>
      </a:clrScheme>
      <a:clrMap bg1="dk2" tx1="lt1" bg2="dk1" tx2="lt2" accent1="accent1" accent2="accent2" accent3="accent3" accent4="accent4" accent5="accent5" accent6="accent6" hlink="hlink" folHlink="folHlink"/>
    </a:extraClrScheme>
    <a:extraClrScheme>
      <a:clrScheme name="高教社MIS模板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6666FF"/>
        </a:folHlink>
      </a:clrScheme>
      <a:clrMap bg1="lt1" tx1="dk1" bg2="lt2" tx2="dk2" accent1="accent1" accent2="accent2" accent3="accent3" accent4="accent4" accent5="accent5" accent6="accent6" hlink="hlink" folHlink="folHlink"/>
    </a:extraClrScheme>
    <a:extraClrScheme>
      <a:clrScheme name="高教社MIS模板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高教社MIS模板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00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演示文稿1" id="{DFC44305-AEEC-4D06-8099-844272C3000A}" vid="{A222684B-73DF-4F51-8223-11FE8147D2F0}"/>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《Python数据分析与机器学习》-课件模板</Template>
  <TotalTime>306</TotalTime>
  <Words>9240</Words>
  <Application>Microsoft Office PowerPoint</Application>
  <PresentationFormat>宽屏</PresentationFormat>
  <Paragraphs>718</Paragraphs>
  <Slides>55</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55</vt:i4>
      </vt:variant>
    </vt:vector>
  </HeadingPairs>
  <TitlesOfParts>
    <vt:vector size="59" baseType="lpstr">
      <vt:lpstr>华文中宋</vt:lpstr>
      <vt:lpstr>Times New Roman</vt:lpstr>
      <vt:lpstr>Wingdings</vt:lpstr>
      <vt:lpstr>《Python程序设计教程》（第二版）</vt:lpstr>
      <vt:lpstr>第4章（补充）  Numpy数据处理基础</vt:lpstr>
      <vt:lpstr>PowerPoint 演示文稿</vt:lpstr>
      <vt:lpstr>PowerPoint 演示文稿</vt:lpstr>
      <vt:lpstr>4.1 数据结构</vt:lpstr>
      <vt:lpstr>4.1.1 利用numpy.array()函数创建数组</vt:lpstr>
      <vt:lpstr>4.1.2 访问数组对象属性</vt:lpstr>
      <vt:lpstr>4.1.3 数组对象的类型</vt:lpstr>
      <vt:lpstr>4.1.4 创建常用数组</vt:lpstr>
      <vt:lpstr>PowerPoint 演示文稿</vt:lpstr>
      <vt:lpstr>PowerPoint 演示文稿</vt:lpstr>
      <vt:lpstr>4.2 数据准备</vt:lpstr>
      <vt:lpstr>生成[0.0, 1.0)之间的随机浮点数</vt:lpstr>
      <vt:lpstr>使用numpy.random.randn()生成一个具有标准正态分布的随机浮点数样本</vt:lpstr>
      <vt:lpstr>使用numpy.random.randint()函数生成随机整数</vt:lpstr>
      <vt:lpstr>使用np.random.uniform()生成一个均匀分布的随机采样</vt:lpstr>
      <vt:lpstr>使用np.random.choice()从数组中随机抽取元素</vt:lpstr>
      <vt:lpstr>PowerPoint 演示文稿</vt:lpstr>
      <vt:lpstr>随机数的种子值</vt:lpstr>
      <vt:lpstr>PowerPoint 演示文稿</vt:lpstr>
      <vt:lpstr>4.2.2 numpy数组在文本文件中的存取</vt:lpstr>
      <vt:lpstr>PowerPoint 演示文稿</vt:lpstr>
      <vt:lpstr>PowerPoint 演示文稿</vt:lpstr>
      <vt:lpstr>PowerPoint 演示文稿</vt:lpstr>
      <vt:lpstr>4.3 常用数组运算与函数</vt:lpstr>
      <vt:lpstr>4.3.1 数组的索引</vt:lpstr>
      <vt:lpstr>PowerPoint 演示文稿</vt:lpstr>
      <vt:lpstr>4.3.2 数组的切片</vt:lpstr>
      <vt:lpstr>PowerPoint 演示文稿</vt:lpstr>
      <vt:lpstr>PowerPoint 演示文稿</vt:lpstr>
      <vt:lpstr>PowerPoint 演示文稿</vt:lpstr>
      <vt:lpstr>PowerPoint 演示文稿</vt:lpstr>
      <vt:lpstr>4.3.3 改变数组的形状</vt:lpstr>
      <vt:lpstr>PowerPoint 演示文稿</vt:lpstr>
      <vt:lpstr>PowerPoint 演示文稿</vt:lpstr>
      <vt:lpstr>4.3.6 数组的基本运算</vt:lpstr>
      <vt:lpstr>PowerPoint 演示文稿</vt:lpstr>
      <vt:lpstr>PowerPoint 演示文稿</vt:lpstr>
      <vt:lpstr>PowerPoint 演示文稿</vt:lpstr>
      <vt:lpstr>PowerPoint 演示文稿</vt:lpstr>
      <vt:lpstr>4.3.7 数组排序</vt:lpstr>
      <vt:lpstr>4.4 使用numpy进行简单统计分析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4.5 数组在其他文件中的存取</vt:lpstr>
      <vt:lpstr>4.5.1 数组在无格式二进制文件中存取</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Numpy数据处理基础</dc:title>
  <dc:creator>ynh</dc:creator>
  <cp:lastModifiedBy>默 李</cp:lastModifiedBy>
  <cp:revision>235</cp:revision>
  <dcterms:created xsi:type="dcterms:W3CDTF">2022-02-27T03:48:37Z</dcterms:created>
  <dcterms:modified xsi:type="dcterms:W3CDTF">2025-03-23T16:26:54Z</dcterms:modified>
</cp:coreProperties>
</file>