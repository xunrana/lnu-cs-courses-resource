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5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862" b="0" i="0" u="none" strike="noStrike" baseline="0" dirty="0">
                <a:solidFill>
                  <a:schemeClr val="tx1"/>
                </a:solidFill>
              </a:rPr>
              <a:t>大数据技术标准的主要领域</a:t>
            </a:r>
            <a:r>
              <a:rPr lang="zh-CN" altLang="en-US" dirty="0">
                <a:solidFill>
                  <a:schemeClr val="tx1"/>
                </a:solidFill>
              </a:rPr>
              <a:t>占比</a:t>
            </a:r>
          </a:p>
        </c:rich>
      </c:tx>
      <c:layout>
        <c:manualLayout>
          <c:xMode val="edge"/>
          <c:yMode val="edge"/>
          <c:x val="0.49009374999999999"/>
          <c:y val="1.87499988465797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E7-49B1-82B9-A5455CC14B9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AE7-49B1-82B9-A5455CC14B9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AE7-49B1-82B9-A5455CC14B9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AE7-49B1-82B9-A5455CC14B9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AE7-49B1-82B9-A5455CC14B94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AE7-49B1-82B9-A5455CC14B94}"/>
              </c:ext>
            </c:extLst>
          </c:dPt>
          <c:cat>
            <c:strRef>
              <c:f>Sheet1!$A$2:$A$7</c:f>
              <c:strCache>
                <c:ptCount val="6"/>
                <c:pt idx="0">
                  <c:v>数据管理标准</c:v>
                </c:pt>
                <c:pt idx="1">
                  <c:v>数据安全与隐私标准</c:v>
                </c:pt>
                <c:pt idx="2">
                  <c:v>数据处理与存储标准</c:v>
                </c:pt>
                <c:pt idx="3">
                  <c:v>数据交换与接口标准</c:v>
                </c:pt>
                <c:pt idx="4">
                  <c:v>数据可视化与分析标准</c:v>
                </c:pt>
                <c:pt idx="5">
                  <c:v>数据治理标准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0.3</c:v>
                </c:pt>
                <c:pt idx="1">
                  <c:v>0.25</c:v>
                </c:pt>
                <c:pt idx="2">
                  <c:v>0.2</c:v>
                </c:pt>
                <c:pt idx="3">
                  <c:v>0.1</c:v>
                </c:pt>
                <c:pt idx="4">
                  <c:v>0.1</c:v>
                </c:pt>
                <c:pt idx="5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D1-4A00-A1CD-1AD892DF04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FFFFF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FFFFFF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gradFill>
          <a:gsLst>
            <a:gs pos="0">
              <a:srgbClr val="3091CC"/>
            </a:gs>
            <a:gs pos="100000">
              <a:srgbClr val="3091CC"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0"/>
            <a:ext cx="12191996" cy="6858000"/>
            <a:chOff x="-12700" y="0"/>
            <a:chExt cx="12191996" cy="6858000"/>
          </a:xfrm>
        </p:grpSpPr>
        <p:sp>
          <p:nvSpPr>
            <p:cNvPr id="3" name="Freeform 3"/>
            <p:cNvSpPr/>
            <p:nvPr/>
          </p:nvSpPr>
          <p:spPr>
            <a:xfrm>
              <a:off x="4800601" y="0"/>
              <a:ext cx="7391394" cy="6858000"/>
            </a:xfrm>
            <a:custGeom>
              <a:avLst/>
              <a:gdLst/>
              <a:ahLst/>
              <a:cxnLst/>
              <a:rect l="l" t="t" r="r" b="b"/>
              <a:pathLst>
                <a:path w="5614987" h="6858000">
                  <a:moveTo>
                    <a:pt x="1303337" y="0"/>
                  </a:moveTo>
                  <a:lnTo>
                    <a:pt x="2776537" y="0"/>
                  </a:lnTo>
                  <a:lnTo>
                    <a:pt x="5062537" y="0"/>
                  </a:lnTo>
                  <a:lnTo>
                    <a:pt x="5614987" y="0"/>
                  </a:lnTo>
                  <a:lnTo>
                    <a:pt x="5614987" y="6858000"/>
                  </a:lnTo>
                  <a:lnTo>
                    <a:pt x="5062537" y="6858000"/>
                  </a:lnTo>
                  <a:lnTo>
                    <a:pt x="2776537" y="6858000"/>
                  </a:lnTo>
                  <a:lnTo>
                    <a:pt x="2319337" y="6858000"/>
                  </a:lnTo>
                  <a:lnTo>
                    <a:pt x="0" y="2250033"/>
                  </a:lnTo>
                  <a:close/>
                </a:path>
              </a:pathLst>
            </a:custGeom>
            <a:gradFill>
              <a:gsLst>
                <a:gs pos="0">
                  <a:srgbClr val="3091CC"/>
                </a:gs>
                <a:gs pos="100000">
                  <a:srgbClr val="3091CC">
                    <a:alpha val="40000"/>
                    <a:lumMod val="60000"/>
                    <a:lumOff val="40000"/>
                  </a:srgbClr>
                </a:gs>
              </a:gsLst>
              <a:lin ang="5400000"/>
            </a:gra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5126600" y="3508338"/>
              <a:ext cx="3454332" cy="3349662"/>
            </a:xfrm>
            <a:custGeom>
              <a:avLst/>
              <a:gdLst/>
              <a:ahLst/>
              <a:cxnLst/>
              <a:rect l="l" t="t" r="r" b="b"/>
              <a:pathLst>
                <a:path w="1653" h="2111">
                  <a:moveTo>
                    <a:pt x="589" y="0"/>
                  </a:moveTo>
                  <a:lnTo>
                    <a:pt x="0" y="1023"/>
                  </a:lnTo>
                  <a:lnTo>
                    <a:pt x="548" y="2111"/>
                  </a:lnTo>
                  <a:lnTo>
                    <a:pt x="1653" y="2111"/>
                  </a:lnTo>
                  <a:lnTo>
                    <a:pt x="589" y="0"/>
                  </a:lnTo>
                  <a:close/>
                </a:path>
              </a:pathLst>
            </a:custGeom>
            <a:gradFill>
              <a:gsLst>
                <a:gs pos="0">
                  <a:srgbClr val="2F72A7">
                    <a:alpha val="40000"/>
                    <a:lumMod val="60000"/>
                    <a:lumOff val="40000"/>
                  </a:srgbClr>
                </a:gs>
                <a:gs pos="68000">
                  <a:srgbClr val="2F72A7"/>
                </a:gs>
              </a:gsLst>
              <a:lin ang="16200000"/>
            </a:gra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5118241" y="2250033"/>
              <a:ext cx="3462691" cy="4607967"/>
            </a:xfrm>
            <a:custGeom>
              <a:avLst/>
              <a:gdLst/>
              <a:ahLst/>
              <a:cxnLst/>
              <a:rect l="l" t="t" r="r" b="b"/>
              <a:pathLst>
                <a:path w="1657" h="2904">
                  <a:moveTo>
                    <a:pt x="196" y="0"/>
                  </a:moveTo>
                  <a:lnTo>
                    <a:pt x="0" y="326"/>
                  </a:lnTo>
                  <a:lnTo>
                    <a:pt x="1297" y="2904"/>
                  </a:lnTo>
                  <a:lnTo>
                    <a:pt x="1657" y="2904"/>
                  </a:lnTo>
                  <a:lnTo>
                    <a:pt x="196" y="0"/>
                  </a:lnTo>
                  <a:close/>
                </a:path>
              </a:pathLst>
            </a:custGeom>
            <a:gradFill>
              <a:gsLst>
                <a:gs pos="0">
                  <a:srgbClr val="3091CC"/>
                </a:gs>
                <a:gs pos="100000">
                  <a:srgbClr val="3091CC">
                    <a:alpha val="40000"/>
                    <a:lumMod val="60000"/>
                    <a:lumOff val="40000"/>
                  </a:srgbClr>
                </a:gs>
              </a:gsLst>
              <a:lin ang="5400000"/>
            </a:gra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5527829" y="0"/>
              <a:ext cx="6664166" cy="6858000"/>
            </a:xfrm>
            <a:custGeom>
              <a:avLst/>
              <a:gdLst/>
              <a:ahLst/>
              <a:cxnLst/>
              <a:rect l="l" t="t" r="r" b="b"/>
              <a:pathLst>
                <a:path w="3189" h="4322">
                  <a:moveTo>
                    <a:pt x="821" y="0"/>
                  </a:moveTo>
                  <a:lnTo>
                    <a:pt x="0" y="1418"/>
                  </a:lnTo>
                  <a:lnTo>
                    <a:pt x="1461" y="4322"/>
                  </a:lnTo>
                  <a:lnTo>
                    <a:pt x="3189" y="4322"/>
                  </a:lnTo>
                  <a:lnTo>
                    <a:pt x="3189" y="0"/>
                  </a:lnTo>
                  <a:lnTo>
                    <a:pt x="821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14317" r="-14317"/>
              </a:stretch>
            </a:blipFill>
            <a:ln cap="flat" cmpd="sng">
              <a:prstDash val="solid"/>
            </a:ln>
          </p:spPr>
          <p:txBody>
            <a:bodyPr rot="0"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277619"/>
              <a:ext cx="1227144" cy="580381"/>
            </a:xfrm>
            <a:custGeom>
              <a:avLst/>
              <a:gdLst/>
              <a:ahLst/>
              <a:cxnLst/>
              <a:rect l="l" t="t" r="r" b="b"/>
              <a:pathLst>
                <a:path w="3081338" h="1457326">
                  <a:moveTo>
                    <a:pt x="2990850" y="1276350"/>
                  </a:moveTo>
                  <a:cubicBezTo>
                    <a:pt x="3040825" y="1276350"/>
                    <a:pt x="3081338" y="1316863"/>
                    <a:pt x="3081338" y="1366838"/>
                  </a:cubicBezTo>
                  <a:cubicBezTo>
                    <a:pt x="3081338" y="1416813"/>
                    <a:pt x="3040825" y="1457326"/>
                    <a:pt x="2990850" y="1457326"/>
                  </a:cubicBezTo>
                  <a:cubicBezTo>
                    <a:pt x="2940875" y="1457326"/>
                    <a:pt x="2900362" y="1416813"/>
                    <a:pt x="2900362" y="1366838"/>
                  </a:cubicBezTo>
                  <a:cubicBezTo>
                    <a:pt x="2900362" y="1316863"/>
                    <a:pt x="2940875" y="1276350"/>
                    <a:pt x="2990850" y="1276350"/>
                  </a:cubicBezTo>
                  <a:close/>
                  <a:moveTo>
                    <a:pt x="2265363" y="1276350"/>
                  </a:moveTo>
                  <a:cubicBezTo>
                    <a:pt x="2315338" y="1276350"/>
                    <a:pt x="2355851" y="1316863"/>
                    <a:pt x="2355851" y="1366838"/>
                  </a:cubicBezTo>
                  <a:cubicBezTo>
                    <a:pt x="2355851" y="1416813"/>
                    <a:pt x="2315338" y="1457326"/>
                    <a:pt x="2265363" y="1457326"/>
                  </a:cubicBezTo>
                  <a:cubicBezTo>
                    <a:pt x="2215388" y="1457326"/>
                    <a:pt x="2174875" y="1416813"/>
                    <a:pt x="2174875" y="1366838"/>
                  </a:cubicBezTo>
                  <a:cubicBezTo>
                    <a:pt x="2174875" y="1316863"/>
                    <a:pt x="2215388" y="1276350"/>
                    <a:pt x="2265363" y="1276350"/>
                  </a:cubicBezTo>
                  <a:close/>
                  <a:moveTo>
                    <a:pt x="1540668" y="1276350"/>
                  </a:moveTo>
                  <a:cubicBezTo>
                    <a:pt x="1591081" y="1276350"/>
                    <a:pt x="1631949" y="1316863"/>
                    <a:pt x="1631949" y="1366838"/>
                  </a:cubicBezTo>
                  <a:cubicBezTo>
                    <a:pt x="1631949" y="1416813"/>
                    <a:pt x="1591081" y="1457326"/>
                    <a:pt x="1540668" y="1457326"/>
                  </a:cubicBezTo>
                  <a:cubicBezTo>
                    <a:pt x="1490255" y="1457326"/>
                    <a:pt x="1449387" y="1416813"/>
                    <a:pt x="1449387" y="1366838"/>
                  </a:cubicBezTo>
                  <a:cubicBezTo>
                    <a:pt x="1449387" y="1316863"/>
                    <a:pt x="1490255" y="1276350"/>
                    <a:pt x="1540668" y="1276350"/>
                  </a:cubicBezTo>
                  <a:close/>
                  <a:moveTo>
                    <a:pt x="815975" y="1276350"/>
                  </a:moveTo>
                  <a:cubicBezTo>
                    <a:pt x="865950" y="1276350"/>
                    <a:pt x="906463" y="1316863"/>
                    <a:pt x="906463" y="1366838"/>
                  </a:cubicBezTo>
                  <a:cubicBezTo>
                    <a:pt x="906463" y="1416813"/>
                    <a:pt x="865950" y="1457326"/>
                    <a:pt x="815975" y="1457326"/>
                  </a:cubicBezTo>
                  <a:cubicBezTo>
                    <a:pt x="766000" y="1457326"/>
                    <a:pt x="725487" y="1416813"/>
                    <a:pt x="725487" y="1366838"/>
                  </a:cubicBezTo>
                  <a:cubicBezTo>
                    <a:pt x="725487" y="1316863"/>
                    <a:pt x="766000" y="1276350"/>
                    <a:pt x="815975" y="1276350"/>
                  </a:cubicBezTo>
                  <a:close/>
                  <a:moveTo>
                    <a:pt x="90488" y="1276350"/>
                  </a:moveTo>
                  <a:cubicBezTo>
                    <a:pt x="140463" y="1276350"/>
                    <a:pt x="180976" y="1316863"/>
                    <a:pt x="180976" y="1366838"/>
                  </a:cubicBezTo>
                  <a:cubicBezTo>
                    <a:pt x="180976" y="1416813"/>
                    <a:pt x="140463" y="1457326"/>
                    <a:pt x="90488" y="1457326"/>
                  </a:cubicBezTo>
                  <a:cubicBezTo>
                    <a:pt x="40513" y="1457326"/>
                    <a:pt x="0" y="1416813"/>
                    <a:pt x="0" y="1366838"/>
                  </a:cubicBezTo>
                  <a:cubicBezTo>
                    <a:pt x="0" y="1316863"/>
                    <a:pt x="40513" y="1276350"/>
                    <a:pt x="90488" y="1276350"/>
                  </a:cubicBezTo>
                  <a:close/>
                  <a:moveTo>
                    <a:pt x="2990850" y="638175"/>
                  </a:moveTo>
                  <a:cubicBezTo>
                    <a:pt x="3040825" y="638175"/>
                    <a:pt x="3081338" y="679043"/>
                    <a:pt x="3081338" y="729457"/>
                  </a:cubicBezTo>
                  <a:cubicBezTo>
                    <a:pt x="3081338" y="779871"/>
                    <a:pt x="3040825" y="820739"/>
                    <a:pt x="2990850" y="820739"/>
                  </a:cubicBezTo>
                  <a:cubicBezTo>
                    <a:pt x="2940875" y="820739"/>
                    <a:pt x="2900362" y="779871"/>
                    <a:pt x="2900362" y="729457"/>
                  </a:cubicBezTo>
                  <a:cubicBezTo>
                    <a:pt x="2900362" y="679043"/>
                    <a:pt x="2940875" y="638175"/>
                    <a:pt x="2990850" y="638175"/>
                  </a:cubicBezTo>
                  <a:close/>
                  <a:moveTo>
                    <a:pt x="2265363" y="638175"/>
                  </a:moveTo>
                  <a:cubicBezTo>
                    <a:pt x="2315338" y="638175"/>
                    <a:pt x="2355851" y="679043"/>
                    <a:pt x="2355851" y="729457"/>
                  </a:cubicBezTo>
                  <a:cubicBezTo>
                    <a:pt x="2355851" y="779871"/>
                    <a:pt x="2315338" y="820739"/>
                    <a:pt x="2265363" y="820739"/>
                  </a:cubicBezTo>
                  <a:cubicBezTo>
                    <a:pt x="2215388" y="820739"/>
                    <a:pt x="2174875" y="779871"/>
                    <a:pt x="2174875" y="729457"/>
                  </a:cubicBezTo>
                  <a:cubicBezTo>
                    <a:pt x="2174875" y="679043"/>
                    <a:pt x="2215388" y="638175"/>
                    <a:pt x="2265363" y="638175"/>
                  </a:cubicBezTo>
                  <a:close/>
                  <a:moveTo>
                    <a:pt x="1540668" y="638175"/>
                  </a:moveTo>
                  <a:cubicBezTo>
                    <a:pt x="1591081" y="638175"/>
                    <a:pt x="1631949" y="679043"/>
                    <a:pt x="1631949" y="729457"/>
                  </a:cubicBezTo>
                  <a:cubicBezTo>
                    <a:pt x="1631949" y="779871"/>
                    <a:pt x="1591081" y="820739"/>
                    <a:pt x="1540668" y="820739"/>
                  </a:cubicBezTo>
                  <a:cubicBezTo>
                    <a:pt x="1490255" y="820739"/>
                    <a:pt x="1449387" y="779871"/>
                    <a:pt x="1449387" y="729457"/>
                  </a:cubicBezTo>
                  <a:cubicBezTo>
                    <a:pt x="1449387" y="679043"/>
                    <a:pt x="1490255" y="638175"/>
                    <a:pt x="1540668" y="638175"/>
                  </a:cubicBezTo>
                  <a:close/>
                  <a:moveTo>
                    <a:pt x="815975" y="638175"/>
                  </a:moveTo>
                  <a:cubicBezTo>
                    <a:pt x="865950" y="638175"/>
                    <a:pt x="906463" y="679043"/>
                    <a:pt x="906463" y="729457"/>
                  </a:cubicBezTo>
                  <a:cubicBezTo>
                    <a:pt x="906463" y="779871"/>
                    <a:pt x="865950" y="820739"/>
                    <a:pt x="815975" y="820739"/>
                  </a:cubicBezTo>
                  <a:cubicBezTo>
                    <a:pt x="766000" y="820739"/>
                    <a:pt x="725487" y="779871"/>
                    <a:pt x="725487" y="729457"/>
                  </a:cubicBezTo>
                  <a:cubicBezTo>
                    <a:pt x="725487" y="679043"/>
                    <a:pt x="766000" y="638175"/>
                    <a:pt x="815975" y="638175"/>
                  </a:cubicBezTo>
                  <a:close/>
                  <a:moveTo>
                    <a:pt x="90488" y="638175"/>
                  </a:moveTo>
                  <a:cubicBezTo>
                    <a:pt x="140463" y="638175"/>
                    <a:pt x="180976" y="679043"/>
                    <a:pt x="180976" y="729457"/>
                  </a:cubicBezTo>
                  <a:cubicBezTo>
                    <a:pt x="180976" y="779871"/>
                    <a:pt x="140463" y="820739"/>
                    <a:pt x="90488" y="820739"/>
                  </a:cubicBezTo>
                  <a:cubicBezTo>
                    <a:pt x="40513" y="820739"/>
                    <a:pt x="0" y="779871"/>
                    <a:pt x="0" y="729457"/>
                  </a:cubicBezTo>
                  <a:cubicBezTo>
                    <a:pt x="0" y="679043"/>
                    <a:pt x="40513" y="638175"/>
                    <a:pt x="90488" y="638175"/>
                  </a:cubicBezTo>
                  <a:close/>
                  <a:moveTo>
                    <a:pt x="2990850" y="0"/>
                  </a:moveTo>
                  <a:cubicBezTo>
                    <a:pt x="3040825" y="0"/>
                    <a:pt x="3081338" y="40868"/>
                    <a:pt x="3081338" y="91282"/>
                  </a:cubicBezTo>
                  <a:cubicBezTo>
                    <a:pt x="3081338" y="141696"/>
                    <a:pt x="3040825" y="182564"/>
                    <a:pt x="2990850" y="182564"/>
                  </a:cubicBezTo>
                  <a:cubicBezTo>
                    <a:pt x="2940875" y="182564"/>
                    <a:pt x="2900362" y="141696"/>
                    <a:pt x="2900362" y="91282"/>
                  </a:cubicBezTo>
                  <a:cubicBezTo>
                    <a:pt x="2900362" y="40868"/>
                    <a:pt x="2940875" y="0"/>
                    <a:pt x="2990850" y="0"/>
                  </a:cubicBezTo>
                  <a:close/>
                  <a:moveTo>
                    <a:pt x="2265363" y="0"/>
                  </a:moveTo>
                  <a:cubicBezTo>
                    <a:pt x="2315338" y="0"/>
                    <a:pt x="2355851" y="40868"/>
                    <a:pt x="2355851" y="91282"/>
                  </a:cubicBezTo>
                  <a:cubicBezTo>
                    <a:pt x="2355851" y="141696"/>
                    <a:pt x="2315338" y="182564"/>
                    <a:pt x="2265363" y="182564"/>
                  </a:cubicBezTo>
                  <a:cubicBezTo>
                    <a:pt x="2215388" y="182564"/>
                    <a:pt x="2174875" y="141696"/>
                    <a:pt x="2174875" y="91282"/>
                  </a:cubicBezTo>
                  <a:cubicBezTo>
                    <a:pt x="2174875" y="40868"/>
                    <a:pt x="2215388" y="0"/>
                    <a:pt x="2265363" y="0"/>
                  </a:cubicBezTo>
                  <a:close/>
                  <a:moveTo>
                    <a:pt x="1540668" y="0"/>
                  </a:moveTo>
                  <a:cubicBezTo>
                    <a:pt x="1591081" y="0"/>
                    <a:pt x="1631949" y="40868"/>
                    <a:pt x="1631949" y="91282"/>
                  </a:cubicBezTo>
                  <a:cubicBezTo>
                    <a:pt x="1631949" y="141696"/>
                    <a:pt x="1591081" y="182564"/>
                    <a:pt x="1540668" y="182564"/>
                  </a:cubicBezTo>
                  <a:cubicBezTo>
                    <a:pt x="1490255" y="182564"/>
                    <a:pt x="1449387" y="141696"/>
                    <a:pt x="1449387" y="91282"/>
                  </a:cubicBezTo>
                  <a:cubicBezTo>
                    <a:pt x="1449387" y="40868"/>
                    <a:pt x="1490255" y="0"/>
                    <a:pt x="1540668" y="0"/>
                  </a:cubicBezTo>
                  <a:close/>
                  <a:moveTo>
                    <a:pt x="815975" y="0"/>
                  </a:moveTo>
                  <a:cubicBezTo>
                    <a:pt x="865950" y="0"/>
                    <a:pt x="906463" y="40868"/>
                    <a:pt x="906463" y="91282"/>
                  </a:cubicBezTo>
                  <a:cubicBezTo>
                    <a:pt x="906463" y="141696"/>
                    <a:pt x="865950" y="182564"/>
                    <a:pt x="815975" y="182564"/>
                  </a:cubicBezTo>
                  <a:cubicBezTo>
                    <a:pt x="766000" y="182564"/>
                    <a:pt x="725487" y="141696"/>
                    <a:pt x="725487" y="91282"/>
                  </a:cubicBezTo>
                  <a:cubicBezTo>
                    <a:pt x="725487" y="40868"/>
                    <a:pt x="766000" y="0"/>
                    <a:pt x="815975" y="0"/>
                  </a:cubicBezTo>
                  <a:close/>
                  <a:moveTo>
                    <a:pt x="90488" y="0"/>
                  </a:moveTo>
                  <a:cubicBezTo>
                    <a:pt x="140463" y="0"/>
                    <a:pt x="180976" y="40868"/>
                    <a:pt x="180976" y="91282"/>
                  </a:cubicBezTo>
                  <a:cubicBezTo>
                    <a:pt x="180976" y="141696"/>
                    <a:pt x="140463" y="182564"/>
                    <a:pt x="90488" y="182564"/>
                  </a:cubicBezTo>
                  <a:cubicBezTo>
                    <a:pt x="40513" y="182564"/>
                    <a:pt x="0" y="141696"/>
                    <a:pt x="0" y="91282"/>
                  </a:cubicBezTo>
                  <a:cubicBezTo>
                    <a:pt x="0" y="40868"/>
                    <a:pt x="40513" y="0"/>
                    <a:pt x="90488" y="0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cxnSp>
          <p:nvCxnSpPr>
            <p:cNvPr id="8" name="Connector 8"/>
            <p:cNvCxnSpPr/>
            <p:nvPr/>
          </p:nvCxnSpPr>
          <p:spPr>
            <a:xfrm>
              <a:off x="660400" y="3275863"/>
              <a:ext cx="0" cy="1314450"/>
            </a:xfrm>
            <a:prstGeom prst="line">
              <a:avLst/>
            </a:prstGeom>
            <a:ln w="50800" cap="flat" cmpd="sng">
              <a:solidFill>
                <a:schemeClr val="accent1"/>
              </a:solidFill>
              <a:prstDash val="solid"/>
            </a:ln>
          </p:spPr>
        </p:cxnSp>
        <p:sp>
          <p:nvSpPr>
            <p:cNvPr id="9" name="Freeform 9"/>
            <p:cNvSpPr/>
            <p:nvPr/>
          </p:nvSpPr>
          <p:spPr>
            <a:xfrm flipH="1" flipV="1">
              <a:off x="-12700" y="0"/>
              <a:ext cx="3544527" cy="2800350"/>
            </a:xfrm>
            <a:custGeom>
              <a:avLst/>
              <a:gdLst/>
              <a:ahLst/>
              <a:cxnLst/>
              <a:rect l="l" t="t" r="r" b="b"/>
              <a:pathLst>
                <a:path w="2776124" h="2193274">
                  <a:moveTo>
                    <a:pt x="2776124" y="2193274"/>
                  </a:moveTo>
                  <a:lnTo>
                    <a:pt x="0" y="2193274"/>
                  </a:lnTo>
                  <a:lnTo>
                    <a:pt x="1672393" y="0"/>
                  </a:lnTo>
                  <a:lnTo>
                    <a:pt x="2776124" y="0"/>
                  </a:lnTo>
                  <a:close/>
                </a:path>
              </a:pathLst>
            </a:custGeom>
            <a:gradFill>
              <a:gsLst>
                <a:gs pos="0">
                  <a:srgbClr val="3091CC">
                    <a:alpha val="40000"/>
                    <a:lumMod val="60000"/>
                    <a:lumOff val="40000"/>
                  </a:srgbClr>
                </a:gs>
                <a:gs pos="100000">
                  <a:srgbClr val="3091CC">
                    <a:alpha val="76000"/>
                  </a:srgbClr>
                </a:gs>
              </a:gsLst>
            </a:gra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</p:grpSp>
      <p:sp>
        <p:nvSpPr>
          <p:cNvPr id="10" name="AutoShape 10"/>
          <p:cNvSpPr>
            <a:spLocks noGrp="1"/>
          </p:cNvSpPr>
          <p:nvPr>
            <p:ph type="ctrTitle"/>
          </p:nvPr>
        </p:nvSpPr>
        <p:spPr>
          <a:xfrm>
            <a:off x="838204" y="3275863"/>
            <a:ext cx="4363623" cy="1580339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4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idx="1"/>
          </p:nvPr>
        </p:nvSpPr>
        <p:spPr>
          <a:xfrm>
            <a:off x="660400" y="1130300"/>
            <a:ext cx="10858500" cy="5003800"/>
          </a:xfrm>
        </p:spPr>
        <p:txBody>
          <a:bodyPr vert="horz" lIns="91440" tIns="45720" rIns="91440" bIns="45720" anchor="t">
            <a:normAutofit/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FFFFFF"/>
                </a:solidFill>
                <a:latin typeface="Arial"/>
                <a:ea typeface="Arial"/>
              </a:rPr>
              <a:t>Click to add text</a:t>
            </a: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FFFFFF"/>
                </a:solidFill>
                <a:latin typeface="Arial"/>
                <a:ea typeface="Arial"/>
              </a:rPr>
              <a:t>Second level</a:t>
            </a: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FFFFFF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FFFFF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FFFFFF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47205"/>
            <a:chOff x="0" y="0"/>
            <a:chExt cx="12192000" cy="6847205"/>
          </a:xfrm>
        </p:grpSpPr>
        <p:grpSp>
          <p:nvGrpSpPr>
            <p:cNvPr id="3" name="Group 3"/>
            <p:cNvGrpSpPr/>
            <p:nvPr/>
          </p:nvGrpSpPr>
          <p:grpSpPr>
            <a:xfrm flipH="1">
              <a:off x="0" y="0"/>
              <a:ext cx="12192000" cy="6847205"/>
              <a:chOff x="-10633512" y="0"/>
              <a:chExt cx="22499120" cy="6847205"/>
            </a:xfrm>
          </p:grpSpPr>
        </p:grpSp>
      </p:grpSp>
      <p:sp>
        <p:nvSpPr>
          <p:cNvPr id="4" name="AutoShape 4"/>
          <p:cNvSpPr>
            <a:spLocks noGrp="1"/>
          </p:cNvSpPr>
          <p:nvPr>
            <p:ph type="title"/>
          </p:nvPr>
        </p:nvSpPr>
        <p:spPr>
          <a:xfrm>
            <a:off x="1328414" y="1500189"/>
            <a:ext cx="2061861" cy="864515"/>
          </a:xfrm>
          <a:prstGeom prst="rect">
            <a:avLst/>
          </a:prstGeom>
          <a:noFill/>
        </p:spPr>
        <p:txBody>
          <a:bodyPr vert="horz" lIns="91440" tIns="45720" rIns="91440" bIns="45720" anchor="t">
            <a:norm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FFFFFF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id="5" name="AutoShape 5"/>
          <p:cNvSpPr>
            <a:spLocks noGrp="1"/>
          </p:cNvSpPr>
          <p:nvPr>
            <p:ph sz="quarter" idx="1"/>
          </p:nvPr>
        </p:nvSpPr>
        <p:spPr>
          <a:xfrm>
            <a:off x="3638391" y="1500189"/>
            <a:ext cx="7880509" cy="4633912"/>
          </a:xfrm>
        </p:spPr>
        <p:txBody>
          <a:bodyPr vert="horz" lIns="91440" tIns="45720" rIns="91440" bIns="45720" anchor="t">
            <a:normAutofit/>
          </a:bodyPr>
          <a:lstStyle/>
          <a:p>
            <a:pPr marL="342900" indent="-342900"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FFFFFF"/>
                </a:solidFill>
                <a:latin typeface="Arial"/>
                <a:ea typeface="Arial"/>
              </a:rPr>
              <a:t>Click to add text</a:t>
            </a:r>
          </a:p>
          <a:p>
            <a:pPr marL="800100" lvl="1" indent="-342900" algn="l">
              <a:lnSpc>
                <a:spcPct val="10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FFFFFF"/>
                </a:solidFill>
                <a:latin typeface="Arial"/>
                <a:ea typeface="Arial"/>
              </a:rPr>
              <a:t>Second level</a:t>
            </a:r>
          </a:p>
          <a:p>
            <a:pPr marL="1257300" lvl="2" indent="-342900" algn="l">
              <a:lnSpc>
                <a:spcPct val="10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FFFFFF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0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0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6" name="AutoShape 6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FFFFF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FFFFFF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>
          <a:gsLst>
            <a:gs pos="0">
              <a:srgbClr val="3091CC"/>
            </a:gs>
            <a:gs pos="100000">
              <a:srgbClr val="3091CC"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flipH="1">
            <a:off x="0" y="0"/>
            <a:ext cx="12192001" cy="6858000"/>
            <a:chOff x="0" y="0"/>
            <a:chExt cx="12192001" cy="6858000"/>
          </a:xfrm>
        </p:grpSpPr>
        <p:sp>
          <p:nvSpPr>
            <p:cNvPr id="3" name="Freeform 3"/>
            <p:cNvSpPr/>
            <p:nvPr/>
          </p:nvSpPr>
          <p:spPr>
            <a:xfrm>
              <a:off x="6096001" y="0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5614987" h="6858000">
                  <a:moveTo>
                    <a:pt x="1303337" y="0"/>
                  </a:moveTo>
                  <a:lnTo>
                    <a:pt x="2776537" y="0"/>
                  </a:lnTo>
                  <a:lnTo>
                    <a:pt x="5062537" y="0"/>
                  </a:lnTo>
                  <a:lnTo>
                    <a:pt x="5614987" y="0"/>
                  </a:lnTo>
                  <a:lnTo>
                    <a:pt x="5614987" y="6858000"/>
                  </a:lnTo>
                  <a:lnTo>
                    <a:pt x="5062537" y="6858000"/>
                  </a:lnTo>
                  <a:lnTo>
                    <a:pt x="2776537" y="6858000"/>
                  </a:lnTo>
                  <a:lnTo>
                    <a:pt x="2319337" y="6858000"/>
                  </a:lnTo>
                  <a:lnTo>
                    <a:pt x="0" y="225003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cap="flat" cmpd="sng">
              <a:prstDash val="solid"/>
            </a:ln>
          </p:spPr>
          <p:txBody>
            <a:bodyPr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6364866" y="3508338"/>
              <a:ext cx="2848936" cy="3349662"/>
            </a:xfrm>
            <a:custGeom>
              <a:avLst/>
              <a:gdLst/>
              <a:ahLst/>
              <a:cxnLst/>
              <a:rect l="l" t="t" r="r" b="b"/>
              <a:pathLst>
                <a:path w="1653" h="2111">
                  <a:moveTo>
                    <a:pt x="589" y="0"/>
                  </a:moveTo>
                  <a:lnTo>
                    <a:pt x="0" y="1023"/>
                  </a:lnTo>
                  <a:lnTo>
                    <a:pt x="548" y="2111"/>
                  </a:lnTo>
                  <a:lnTo>
                    <a:pt x="1653" y="2111"/>
                  </a:lnTo>
                  <a:lnTo>
                    <a:pt x="589" y="0"/>
                  </a:lnTo>
                  <a:close/>
                </a:path>
              </a:pathLst>
            </a:custGeom>
            <a:gradFill>
              <a:gsLst>
                <a:gs pos="0">
                  <a:srgbClr val="2F72A7">
                    <a:alpha val="0"/>
                  </a:srgbClr>
                </a:gs>
                <a:gs pos="52000">
                  <a:srgbClr val="2F72A7"/>
                </a:gs>
              </a:gsLst>
              <a:lin ang="13500000"/>
            </a:gra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6357972" y="2250033"/>
              <a:ext cx="2855830" cy="4607967"/>
            </a:xfrm>
            <a:custGeom>
              <a:avLst/>
              <a:gdLst/>
              <a:ahLst/>
              <a:cxnLst/>
              <a:rect l="l" t="t" r="r" b="b"/>
              <a:pathLst>
                <a:path w="1657" h="2904">
                  <a:moveTo>
                    <a:pt x="196" y="0"/>
                  </a:moveTo>
                  <a:lnTo>
                    <a:pt x="0" y="326"/>
                  </a:lnTo>
                  <a:lnTo>
                    <a:pt x="1297" y="2904"/>
                  </a:lnTo>
                  <a:lnTo>
                    <a:pt x="1657" y="2904"/>
                  </a:lnTo>
                  <a:lnTo>
                    <a:pt x="196" y="0"/>
                  </a:lnTo>
                  <a:close/>
                </a:path>
              </a:pathLst>
            </a:custGeom>
            <a:gradFill>
              <a:gsLst>
                <a:gs pos="0">
                  <a:srgbClr val="3091CC">
                    <a:alpha val="40000"/>
                  </a:srgbClr>
                </a:gs>
                <a:gs pos="52000">
                  <a:srgbClr val="3091CC"/>
                </a:gs>
              </a:gsLst>
              <a:lin ang="16200000"/>
            </a:gra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6695777" y="0"/>
              <a:ext cx="5496224" cy="6858000"/>
            </a:xfrm>
            <a:custGeom>
              <a:avLst/>
              <a:gdLst/>
              <a:ahLst/>
              <a:cxnLst/>
              <a:rect l="l" t="t" r="r" b="b"/>
              <a:pathLst>
                <a:path w="3189" h="4322">
                  <a:moveTo>
                    <a:pt x="821" y="0"/>
                  </a:moveTo>
                  <a:lnTo>
                    <a:pt x="0" y="1418"/>
                  </a:lnTo>
                  <a:lnTo>
                    <a:pt x="1461" y="4322"/>
                  </a:lnTo>
                  <a:lnTo>
                    <a:pt x="3189" y="4322"/>
                  </a:lnTo>
                  <a:lnTo>
                    <a:pt x="3189" y="0"/>
                  </a:lnTo>
                  <a:lnTo>
                    <a:pt x="821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27985" r="-27985"/>
              </a:stretch>
            </a:blipFill>
            <a:ln cap="flat">
              <a:prstDash val="solid"/>
            </a:ln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277619"/>
              <a:ext cx="1227144" cy="580381"/>
            </a:xfrm>
            <a:custGeom>
              <a:avLst/>
              <a:gdLst/>
              <a:ahLst/>
              <a:cxnLst/>
              <a:rect l="l" t="t" r="r" b="b"/>
              <a:pathLst>
                <a:path w="3081338" h="1457326">
                  <a:moveTo>
                    <a:pt x="2990850" y="1276350"/>
                  </a:moveTo>
                  <a:cubicBezTo>
                    <a:pt x="3040825" y="1276350"/>
                    <a:pt x="3081338" y="1316863"/>
                    <a:pt x="3081338" y="1366838"/>
                  </a:cubicBezTo>
                  <a:cubicBezTo>
                    <a:pt x="3081338" y="1416813"/>
                    <a:pt x="3040825" y="1457326"/>
                    <a:pt x="2990850" y="1457326"/>
                  </a:cubicBezTo>
                  <a:cubicBezTo>
                    <a:pt x="2940875" y="1457326"/>
                    <a:pt x="2900362" y="1416813"/>
                    <a:pt x="2900362" y="1366838"/>
                  </a:cubicBezTo>
                  <a:cubicBezTo>
                    <a:pt x="2900362" y="1316863"/>
                    <a:pt x="2940875" y="1276350"/>
                    <a:pt x="2990850" y="1276350"/>
                  </a:cubicBezTo>
                  <a:close/>
                  <a:moveTo>
                    <a:pt x="2265363" y="1276350"/>
                  </a:moveTo>
                  <a:cubicBezTo>
                    <a:pt x="2315338" y="1276350"/>
                    <a:pt x="2355851" y="1316863"/>
                    <a:pt x="2355851" y="1366838"/>
                  </a:cubicBezTo>
                  <a:cubicBezTo>
                    <a:pt x="2355851" y="1416813"/>
                    <a:pt x="2315338" y="1457326"/>
                    <a:pt x="2265363" y="1457326"/>
                  </a:cubicBezTo>
                  <a:cubicBezTo>
                    <a:pt x="2215388" y="1457326"/>
                    <a:pt x="2174875" y="1416813"/>
                    <a:pt x="2174875" y="1366838"/>
                  </a:cubicBezTo>
                  <a:cubicBezTo>
                    <a:pt x="2174875" y="1316863"/>
                    <a:pt x="2215388" y="1276350"/>
                    <a:pt x="2265363" y="1276350"/>
                  </a:cubicBezTo>
                  <a:close/>
                  <a:moveTo>
                    <a:pt x="1540668" y="1276350"/>
                  </a:moveTo>
                  <a:cubicBezTo>
                    <a:pt x="1591081" y="1276350"/>
                    <a:pt x="1631949" y="1316863"/>
                    <a:pt x="1631949" y="1366838"/>
                  </a:cubicBezTo>
                  <a:cubicBezTo>
                    <a:pt x="1631949" y="1416813"/>
                    <a:pt x="1591081" y="1457326"/>
                    <a:pt x="1540668" y="1457326"/>
                  </a:cubicBezTo>
                  <a:cubicBezTo>
                    <a:pt x="1490255" y="1457326"/>
                    <a:pt x="1449387" y="1416813"/>
                    <a:pt x="1449387" y="1366838"/>
                  </a:cubicBezTo>
                  <a:cubicBezTo>
                    <a:pt x="1449387" y="1316863"/>
                    <a:pt x="1490255" y="1276350"/>
                    <a:pt x="1540668" y="1276350"/>
                  </a:cubicBezTo>
                  <a:close/>
                  <a:moveTo>
                    <a:pt x="815975" y="1276350"/>
                  </a:moveTo>
                  <a:cubicBezTo>
                    <a:pt x="865950" y="1276350"/>
                    <a:pt x="906463" y="1316863"/>
                    <a:pt x="906463" y="1366838"/>
                  </a:cubicBezTo>
                  <a:cubicBezTo>
                    <a:pt x="906463" y="1416813"/>
                    <a:pt x="865950" y="1457326"/>
                    <a:pt x="815975" y="1457326"/>
                  </a:cubicBezTo>
                  <a:cubicBezTo>
                    <a:pt x="766000" y="1457326"/>
                    <a:pt x="725487" y="1416813"/>
                    <a:pt x="725487" y="1366838"/>
                  </a:cubicBezTo>
                  <a:cubicBezTo>
                    <a:pt x="725487" y="1316863"/>
                    <a:pt x="766000" y="1276350"/>
                    <a:pt x="815975" y="1276350"/>
                  </a:cubicBezTo>
                  <a:close/>
                  <a:moveTo>
                    <a:pt x="90488" y="1276350"/>
                  </a:moveTo>
                  <a:cubicBezTo>
                    <a:pt x="140463" y="1276350"/>
                    <a:pt x="180976" y="1316863"/>
                    <a:pt x="180976" y="1366838"/>
                  </a:cubicBezTo>
                  <a:cubicBezTo>
                    <a:pt x="180976" y="1416813"/>
                    <a:pt x="140463" y="1457326"/>
                    <a:pt x="90488" y="1457326"/>
                  </a:cubicBezTo>
                  <a:cubicBezTo>
                    <a:pt x="40513" y="1457326"/>
                    <a:pt x="0" y="1416813"/>
                    <a:pt x="0" y="1366838"/>
                  </a:cubicBezTo>
                  <a:cubicBezTo>
                    <a:pt x="0" y="1316863"/>
                    <a:pt x="40513" y="1276350"/>
                    <a:pt x="90488" y="1276350"/>
                  </a:cubicBezTo>
                  <a:close/>
                  <a:moveTo>
                    <a:pt x="2990850" y="638175"/>
                  </a:moveTo>
                  <a:cubicBezTo>
                    <a:pt x="3040825" y="638175"/>
                    <a:pt x="3081338" y="679043"/>
                    <a:pt x="3081338" y="729457"/>
                  </a:cubicBezTo>
                  <a:cubicBezTo>
                    <a:pt x="3081338" y="779871"/>
                    <a:pt x="3040825" y="820739"/>
                    <a:pt x="2990850" y="820739"/>
                  </a:cubicBezTo>
                  <a:cubicBezTo>
                    <a:pt x="2940875" y="820739"/>
                    <a:pt x="2900362" y="779871"/>
                    <a:pt x="2900362" y="729457"/>
                  </a:cubicBezTo>
                  <a:cubicBezTo>
                    <a:pt x="2900362" y="679043"/>
                    <a:pt x="2940875" y="638175"/>
                    <a:pt x="2990850" y="638175"/>
                  </a:cubicBezTo>
                  <a:close/>
                  <a:moveTo>
                    <a:pt x="2265363" y="638175"/>
                  </a:moveTo>
                  <a:cubicBezTo>
                    <a:pt x="2315338" y="638175"/>
                    <a:pt x="2355851" y="679043"/>
                    <a:pt x="2355851" y="729457"/>
                  </a:cubicBezTo>
                  <a:cubicBezTo>
                    <a:pt x="2355851" y="779871"/>
                    <a:pt x="2315338" y="820739"/>
                    <a:pt x="2265363" y="820739"/>
                  </a:cubicBezTo>
                  <a:cubicBezTo>
                    <a:pt x="2215388" y="820739"/>
                    <a:pt x="2174875" y="779871"/>
                    <a:pt x="2174875" y="729457"/>
                  </a:cubicBezTo>
                  <a:cubicBezTo>
                    <a:pt x="2174875" y="679043"/>
                    <a:pt x="2215388" y="638175"/>
                    <a:pt x="2265363" y="638175"/>
                  </a:cubicBezTo>
                  <a:close/>
                  <a:moveTo>
                    <a:pt x="1540668" y="638175"/>
                  </a:moveTo>
                  <a:cubicBezTo>
                    <a:pt x="1591081" y="638175"/>
                    <a:pt x="1631949" y="679043"/>
                    <a:pt x="1631949" y="729457"/>
                  </a:cubicBezTo>
                  <a:cubicBezTo>
                    <a:pt x="1631949" y="779871"/>
                    <a:pt x="1591081" y="820739"/>
                    <a:pt x="1540668" y="820739"/>
                  </a:cubicBezTo>
                  <a:cubicBezTo>
                    <a:pt x="1490255" y="820739"/>
                    <a:pt x="1449387" y="779871"/>
                    <a:pt x="1449387" y="729457"/>
                  </a:cubicBezTo>
                  <a:cubicBezTo>
                    <a:pt x="1449387" y="679043"/>
                    <a:pt x="1490255" y="638175"/>
                    <a:pt x="1540668" y="638175"/>
                  </a:cubicBezTo>
                  <a:close/>
                  <a:moveTo>
                    <a:pt x="815975" y="638175"/>
                  </a:moveTo>
                  <a:cubicBezTo>
                    <a:pt x="865950" y="638175"/>
                    <a:pt x="906463" y="679043"/>
                    <a:pt x="906463" y="729457"/>
                  </a:cubicBezTo>
                  <a:cubicBezTo>
                    <a:pt x="906463" y="779871"/>
                    <a:pt x="865950" y="820739"/>
                    <a:pt x="815975" y="820739"/>
                  </a:cubicBezTo>
                  <a:cubicBezTo>
                    <a:pt x="766000" y="820739"/>
                    <a:pt x="725487" y="779871"/>
                    <a:pt x="725487" y="729457"/>
                  </a:cubicBezTo>
                  <a:cubicBezTo>
                    <a:pt x="725487" y="679043"/>
                    <a:pt x="766000" y="638175"/>
                    <a:pt x="815975" y="638175"/>
                  </a:cubicBezTo>
                  <a:close/>
                  <a:moveTo>
                    <a:pt x="90488" y="638175"/>
                  </a:moveTo>
                  <a:cubicBezTo>
                    <a:pt x="140463" y="638175"/>
                    <a:pt x="180976" y="679043"/>
                    <a:pt x="180976" y="729457"/>
                  </a:cubicBezTo>
                  <a:cubicBezTo>
                    <a:pt x="180976" y="779871"/>
                    <a:pt x="140463" y="820739"/>
                    <a:pt x="90488" y="820739"/>
                  </a:cubicBezTo>
                  <a:cubicBezTo>
                    <a:pt x="40513" y="820739"/>
                    <a:pt x="0" y="779871"/>
                    <a:pt x="0" y="729457"/>
                  </a:cubicBezTo>
                  <a:cubicBezTo>
                    <a:pt x="0" y="679043"/>
                    <a:pt x="40513" y="638175"/>
                    <a:pt x="90488" y="638175"/>
                  </a:cubicBezTo>
                  <a:close/>
                  <a:moveTo>
                    <a:pt x="2990850" y="0"/>
                  </a:moveTo>
                  <a:cubicBezTo>
                    <a:pt x="3040825" y="0"/>
                    <a:pt x="3081338" y="40868"/>
                    <a:pt x="3081338" y="91282"/>
                  </a:cubicBezTo>
                  <a:cubicBezTo>
                    <a:pt x="3081338" y="141696"/>
                    <a:pt x="3040825" y="182564"/>
                    <a:pt x="2990850" y="182564"/>
                  </a:cubicBezTo>
                  <a:cubicBezTo>
                    <a:pt x="2940875" y="182564"/>
                    <a:pt x="2900362" y="141696"/>
                    <a:pt x="2900362" y="91282"/>
                  </a:cubicBezTo>
                  <a:cubicBezTo>
                    <a:pt x="2900362" y="40868"/>
                    <a:pt x="2940875" y="0"/>
                    <a:pt x="2990850" y="0"/>
                  </a:cubicBezTo>
                  <a:close/>
                  <a:moveTo>
                    <a:pt x="2265363" y="0"/>
                  </a:moveTo>
                  <a:cubicBezTo>
                    <a:pt x="2315338" y="0"/>
                    <a:pt x="2355851" y="40868"/>
                    <a:pt x="2355851" y="91282"/>
                  </a:cubicBezTo>
                  <a:cubicBezTo>
                    <a:pt x="2355851" y="141696"/>
                    <a:pt x="2315338" y="182564"/>
                    <a:pt x="2265363" y="182564"/>
                  </a:cubicBezTo>
                  <a:cubicBezTo>
                    <a:pt x="2215388" y="182564"/>
                    <a:pt x="2174875" y="141696"/>
                    <a:pt x="2174875" y="91282"/>
                  </a:cubicBezTo>
                  <a:cubicBezTo>
                    <a:pt x="2174875" y="40868"/>
                    <a:pt x="2215388" y="0"/>
                    <a:pt x="2265363" y="0"/>
                  </a:cubicBezTo>
                  <a:close/>
                  <a:moveTo>
                    <a:pt x="1540668" y="0"/>
                  </a:moveTo>
                  <a:cubicBezTo>
                    <a:pt x="1591081" y="0"/>
                    <a:pt x="1631949" y="40868"/>
                    <a:pt x="1631949" y="91282"/>
                  </a:cubicBezTo>
                  <a:cubicBezTo>
                    <a:pt x="1631949" y="141696"/>
                    <a:pt x="1591081" y="182564"/>
                    <a:pt x="1540668" y="182564"/>
                  </a:cubicBezTo>
                  <a:cubicBezTo>
                    <a:pt x="1490255" y="182564"/>
                    <a:pt x="1449387" y="141696"/>
                    <a:pt x="1449387" y="91282"/>
                  </a:cubicBezTo>
                  <a:cubicBezTo>
                    <a:pt x="1449387" y="40868"/>
                    <a:pt x="1490255" y="0"/>
                    <a:pt x="1540668" y="0"/>
                  </a:cubicBezTo>
                  <a:close/>
                  <a:moveTo>
                    <a:pt x="815975" y="0"/>
                  </a:moveTo>
                  <a:cubicBezTo>
                    <a:pt x="865950" y="0"/>
                    <a:pt x="906463" y="40868"/>
                    <a:pt x="906463" y="91282"/>
                  </a:cubicBezTo>
                  <a:cubicBezTo>
                    <a:pt x="906463" y="141696"/>
                    <a:pt x="865950" y="182564"/>
                    <a:pt x="815975" y="182564"/>
                  </a:cubicBezTo>
                  <a:cubicBezTo>
                    <a:pt x="766000" y="182564"/>
                    <a:pt x="725487" y="141696"/>
                    <a:pt x="725487" y="91282"/>
                  </a:cubicBezTo>
                  <a:cubicBezTo>
                    <a:pt x="725487" y="40868"/>
                    <a:pt x="766000" y="0"/>
                    <a:pt x="815975" y="0"/>
                  </a:cubicBezTo>
                  <a:close/>
                  <a:moveTo>
                    <a:pt x="90488" y="0"/>
                  </a:moveTo>
                  <a:cubicBezTo>
                    <a:pt x="140463" y="0"/>
                    <a:pt x="180976" y="40868"/>
                    <a:pt x="180976" y="91282"/>
                  </a:cubicBezTo>
                  <a:cubicBezTo>
                    <a:pt x="180976" y="141696"/>
                    <a:pt x="140463" y="182564"/>
                    <a:pt x="90488" y="182564"/>
                  </a:cubicBezTo>
                  <a:cubicBezTo>
                    <a:pt x="40513" y="182564"/>
                    <a:pt x="0" y="141696"/>
                    <a:pt x="0" y="91282"/>
                  </a:cubicBezTo>
                  <a:cubicBezTo>
                    <a:pt x="0" y="40868"/>
                    <a:pt x="40513" y="0"/>
                    <a:pt x="90488" y="0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</p:grpSp>
      <p:sp>
        <p:nvSpPr>
          <p:cNvPr id="8" name="AutoShape 8"/>
          <p:cNvSpPr>
            <a:spLocks noGrp="1"/>
          </p:cNvSpPr>
          <p:nvPr>
            <p:ph type="title"/>
          </p:nvPr>
        </p:nvSpPr>
        <p:spPr>
          <a:xfrm>
            <a:off x="6487886" y="2324010"/>
            <a:ext cx="5031013" cy="1104990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1"/>
          </p:nvPr>
        </p:nvSpPr>
        <p:spPr>
          <a:xfrm>
            <a:off x="6487886" y="3440853"/>
            <a:ext cx="5031013" cy="134366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indent="0" algn="r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rgbClr val="FFFFFF"/>
                </a:solidFill>
                <a:latin typeface="Arial"/>
                <a:ea typeface="Arial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FFFFF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FFFFFF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gradFill>
          <a:gsLst>
            <a:gs pos="0">
              <a:srgbClr val="3091CC"/>
            </a:gs>
            <a:gs pos="100000">
              <a:srgbClr val="3091CC"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0"/>
            <a:ext cx="12191996" cy="6858000"/>
            <a:chOff x="-12700" y="0"/>
            <a:chExt cx="12191996" cy="6858000"/>
          </a:xfrm>
        </p:grpSpPr>
        <p:sp>
          <p:nvSpPr>
            <p:cNvPr id="3" name="Freeform 3"/>
            <p:cNvSpPr/>
            <p:nvPr/>
          </p:nvSpPr>
          <p:spPr>
            <a:xfrm>
              <a:off x="4800601" y="0"/>
              <a:ext cx="7391394" cy="6858000"/>
            </a:xfrm>
            <a:custGeom>
              <a:avLst/>
              <a:gdLst/>
              <a:ahLst/>
              <a:cxnLst/>
              <a:rect l="l" t="t" r="r" b="b"/>
              <a:pathLst>
                <a:path w="5614987" h="6858000">
                  <a:moveTo>
                    <a:pt x="1303337" y="0"/>
                  </a:moveTo>
                  <a:lnTo>
                    <a:pt x="2776537" y="0"/>
                  </a:lnTo>
                  <a:lnTo>
                    <a:pt x="5062537" y="0"/>
                  </a:lnTo>
                  <a:lnTo>
                    <a:pt x="5614987" y="0"/>
                  </a:lnTo>
                  <a:lnTo>
                    <a:pt x="5614987" y="6858000"/>
                  </a:lnTo>
                  <a:lnTo>
                    <a:pt x="5062537" y="6858000"/>
                  </a:lnTo>
                  <a:lnTo>
                    <a:pt x="2776537" y="6858000"/>
                  </a:lnTo>
                  <a:lnTo>
                    <a:pt x="2319337" y="6858000"/>
                  </a:lnTo>
                  <a:lnTo>
                    <a:pt x="0" y="2250033"/>
                  </a:lnTo>
                  <a:close/>
                </a:path>
              </a:pathLst>
            </a:custGeom>
            <a:gradFill>
              <a:gsLst>
                <a:gs pos="0">
                  <a:srgbClr val="3091CC"/>
                </a:gs>
                <a:gs pos="100000">
                  <a:srgbClr val="3091CC">
                    <a:alpha val="40000"/>
                    <a:lumMod val="60000"/>
                    <a:lumOff val="40000"/>
                  </a:srgbClr>
                </a:gs>
              </a:gsLst>
              <a:lin ang="5400000"/>
            </a:gra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5126600" y="3508338"/>
              <a:ext cx="3454332" cy="3349662"/>
            </a:xfrm>
            <a:custGeom>
              <a:avLst/>
              <a:gdLst/>
              <a:ahLst/>
              <a:cxnLst/>
              <a:rect l="l" t="t" r="r" b="b"/>
              <a:pathLst>
                <a:path w="1653" h="2111">
                  <a:moveTo>
                    <a:pt x="589" y="0"/>
                  </a:moveTo>
                  <a:lnTo>
                    <a:pt x="0" y="1023"/>
                  </a:lnTo>
                  <a:lnTo>
                    <a:pt x="548" y="2111"/>
                  </a:lnTo>
                  <a:lnTo>
                    <a:pt x="1653" y="2111"/>
                  </a:lnTo>
                  <a:lnTo>
                    <a:pt x="589" y="0"/>
                  </a:lnTo>
                  <a:close/>
                </a:path>
              </a:pathLst>
            </a:custGeom>
            <a:gradFill>
              <a:gsLst>
                <a:gs pos="0">
                  <a:srgbClr val="2F72A7">
                    <a:alpha val="40000"/>
                    <a:lumMod val="60000"/>
                    <a:lumOff val="40000"/>
                  </a:srgbClr>
                </a:gs>
                <a:gs pos="68000">
                  <a:srgbClr val="2F72A7"/>
                </a:gs>
              </a:gsLst>
              <a:lin ang="16200000"/>
            </a:gra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5118241" y="2250033"/>
              <a:ext cx="3462691" cy="4607967"/>
            </a:xfrm>
            <a:custGeom>
              <a:avLst/>
              <a:gdLst/>
              <a:ahLst/>
              <a:cxnLst/>
              <a:rect l="l" t="t" r="r" b="b"/>
              <a:pathLst>
                <a:path w="1657" h="2904">
                  <a:moveTo>
                    <a:pt x="196" y="0"/>
                  </a:moveTo>
                  <a:lnTo>
                    <a:pt x="0" y="326"/>
                  </a:lnTo>
                  <a:lnTo>
                    <a:pt x="1297" y="2904"/>
                  </a:lnTo>
                  <a:lnTo>
                    <a:pt x="1657" y="2904"/>
                  </a:lnTo>
                  <a:lnTo>
                    <a:pt x="196" y="0"/>
                  </a:lnTo>
                  <a:close/>
                </a:path>
              </a:pathLst>
            </a:custGeom>
            <a:gradFill>
              <a:gsLst>
                <a:gs pos="0">
                  <a:srgbClr val="3091CC"/>
                </a:gs>
                <a:gs pos="100000">
                  <a:srgbClr val="3091CC">
                    <a:alpha val="40000"/>
                    <a:lumMod val="60000"/>
                    <a:lumOff val="40000"/>
                  </a:srgbClr>
                </a:gs>
              </a:gsLst>
              <a:lin ang="5400000"/>
            </a:gra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5527829" y="0"/>
              <a:ext cx="6664166" cy="6858000"/>
            </a:xfrm>
            <a:custGeom>
              <a:avLst/>
              <a:gdLst/>
              <a:ahLst/>
              <a:cxnLst/>
              <a:rect l="l" t="t" r="r" b="b"/>
              <a:pathLst>
                <a:path w="3189" h="4322">
                  <a:moveTo>
                    <a:pt x="821" y="0"/>
                  </a:moveTo>
                  <a:lnTo>
                    <a:pt x="0" y="1418"/>
                  </a:lnTo>
                  <a:lnTo>
                    <a:pt x="1461" y="4322"/>
                  </a:lnTo>
                  <a:lnTo>
                    <a:pt x="3189" y="4322"/>
                  </a:lnTo>
                  <a:lnTo>
                    <a:pt x="3189" y="0"/>
                  </a:lnTo>
                  <a:lnTo>
                    <a:pt x="821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14317" r="-14317"/>
              </a:stretch>
            </a:blipFill>
            <a:ln cap="flat" cmpd="sng">
              <a:prstDash val="solid"/>
            </a:ln>
          </p:spPr>
          <p:txBody>
            <a:bodyPr rot="0"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277619"/>
              <a:ext cx="1227144" cy="580381"/>
            </a:xfrm>
            <a:custGeom>
              <a:avLst/>
              <a:gdLst/>
              <a:ahLst/>
              <a:cxnLst/>
              <a:rect l="l" t="t" r="r" b="b"/>
              <a:pathLst>
                <a:path w="3081338" h="1457326">
                  <a:moveTo>
                    <a:pt x="2990850" y="1276350"/>
                  </a:moveTo>
                  <a:cubicBezTo>
                    <a:pt x="3040825" y="1276350"/>
                    <a:pt x="3081338" y="1316863"/>
                    <a:pt x="3081338" y="1366838"/>
                  </a:cubicBezTo>
                  <a:cubicBezTo>
                    <a:pt x="3081338" y="1416813"/>
                    <a:pt x="3040825" y="1457326"/>
                    <a:pt x="2990850" y="1457326"/>
                  </a:cubicBezTo>
                  <a:cubicBezTo>
                    <a:pt x="2940875" y="1457326"/>
                    <a:pt x="2900362" y="1416813"/>
                    <a:pt x="2900362" y="1366838"/>
                  </a:cubicBezTo>
                  <a:cubicBezTo>
                    <a:pt x="2900362" y="1316863"/>
                    <a:pt x="2940875" y="1276350"/>
                    <a:pt x="2990850" y="1276350"/>
                  </a:cubicBezTo>
                  <a:close/>
                  <a:moveTo>
                    <a:pt x="2265363" y="1276350"/>
                  </a:moveTo>
                  <a:cubicBezTo>
                    <a:pt x="2315338" y="1276350"/>
                    <a:pt x="2355851" y="1316863"/>
                    <a:pt x="2355851" y="1366838"/>
                  </a:cubicBezTo>
                  <a:cubicBezTo>
                    <a:pt x="2355851" y="1416813"/>
                    <a:pt x="2315338" y="1457326"/>
                    <a:pt x="2265363" y="1457326"/>
                  </a:cubicBezTo>
                  <a:cubicBezTo>
                    <a:pt x="2215388" y="1457326"/>
                    <a:pt x="2174875" y="1416813"/>
                    <a:pt x="2174875" y="1366838"/>
                  </a:cubicBezTo>
                  <a:cubicBezTo>
                    <a:pt x="2174875" y="1316863"/>
                    <a:pt x="2215388" y="1276350"/>
                    <a:pt x="2265363" y="1276350"/>
                  </a:cubicBezTo>
                  <a:close/>
                  <a:moveTo>
                    <a:pt x="1540668" y="1276350"/>
                  </a:moveTo>
                  <a:cubicBezTo>
                    <a:pt x="1591081" y="1276350"/>
                    <a:pt x="1631949" y="1316863"/>
                    <a:pt x="1631949" y="1366838"/>
                  </a:cubicBezTo>
                  <a:cubicBezTo>
                    <a:pt x="1631949" y="1416813"/>
                    <a:pt x="1591081" y="1457326"/>
                    <a:pt x="1540668" y="1457326"/>
                  </a:cubicBezTo>
                  <a:cubicBezTo>
                    <a:pt x="1490255" y="1457326"/>
                    <a:pt x="1449387" y="1416813"/>
                    <a:pt x="1449387" y="1366838"/>
                  </a:cubicBezTo>
                  <a:cubicBezTo>
                    <a:pt x="1449387" y="1316863"/>
                    <a:pt x="1490255" y="1276350"/>
                    <a:pt x="1540668" y="1276350"/>
                  </a:cubicBezTo>
                  <a:close/>
                  <a:moveTo>
                    <a:pt x="815975" y="1276350"/>
                  </a:moveTo>
                  <a:cubicBezTo>
                    <a:pt x="865950" y="1276350"/>
                    <a:pt x="906463" y="1316863"/>
                    <a:pt x="906463" y="1366838"/>
                  </a:cubicBezTo>
                  <a:cubicBezTo>
                    <a:pt x="906463" y="1416813"/>
                    <a:pt x="865950" y="1457326"/>
                    <a:pt x="815975" y="1457326"/>
                  </a:cubicBezTo>
                  <a:cubicBezTo>
                    <a:pt x="766000" y="1457326"/>
                    <a:pt x="725487" y="1416813"/>
                    <a:pt x="725487" y="1366838"/>
                  </a:cubicBezTo>
                  <a:cubicBezTo>
                    <a:pt x="725487" y="1316863"/>
                    <a:pt x="766000" y="1276350"/>
                    <a:pt x="815975" y="1276350"/>
                  </a:cubicBezTo>
                  <a:close/>
                  <a:moveTo>
                    <a:pt x="90488" y="1276350"/>
                  </a:moveTo>
                  <a:cubicBezTo>
                    <a:pt x="140463" y="1276350"/>
                    <a:pt x="180976" y="1316863"/>
                    <a:pt x="180976" y="1366838"/>
                  </a:cubicBezTo>
                  <a:cubicBezTo>
                    <a:pt x="180976" y="1416813"/>
                    <a:pt x="140463" y="1457326"/>
                    <a:pt x="90488" y="1457326"/>
                  </a:cubicBezTo>
                  <a:cubicBezTo>
                    <a:pt x="40513" y="1457326"/>
                    <a:pt x="0" y="1416813"/>
                    <a:pt x="0" y="1366838"/>
                  </a:cubicBezTo>
                  <a:cubicBezTo>
                    <a:pt x="0" y="1316863"/>
                    <a:pt x="40513" y="1276350"/>
                    <a:pt x="90488" y="1276350"/>
                  </a:cubicBezTo>
                  <a:close/>
                  <a:moveTo>
                    <a:pt x="2990850" y="638175"/>
                  </a:moveTo>
                  <a:cubicBezTo>
                    <a:pt x="3040825" y="638175"/>
                    <a:pt x="3081338" y="679043"/>
                    <a:pt x="3081338" y="729457"/>
                  </a:cubicBezTo>
                  <a:cubicBezTo>
                    <a:pt x="3081338" y="779871"/>
                    <a:pt x="3040825" y="820739"/>
                    <a:pt x="2990850" y="820739"/>
                  </a:cubicBezTo>
                  <a:cubicBezTo>
                    <a:pt x="2940875" y="820739"/>
                    <a:pt x="2900362" y="779871"/>
                    <a:pt x="2900362" y="729457"/>
                  </a:cubicBezTo>
                  <a:cubicBezTo>
                    <a:pt x="2900362" y="679043"/>
                    <a:pt x="2940875" y="638175"/>
                    <a:pt x="2990850" y="638175"/>
                  </a:cubicBezTo>
                  <a:close/>
                  <a:moveTo>
                    <a:pt x="2265363" y="638175"/>
                  </a:moveTo>
                  <a:cubicBezTo>
                    <a:pt x="2315338" y="638175"/>
                    <a:pt x="2355851" y="679043"/>
                    <a:pt x="2355851" y="729457"/>
                  </a:cubicBezTo>
                  <a:cubicBezTo>
                    <a:pt x="2355851" y="779871"/>
                    <a:pt x="2315338" y="820739"/>
                    <a:pt x="2265363" y="820739"/>
                  </a:cubicBezTo>
                  <a:cubicBezTo>
                    <a:pt x="2215388" y="820739"/>
                    <a:pt x="2174875" y="779871"/>
                    <a:pt x="2174875" y="729457"/>
                  </a:cubicBezTo>
                  <a:cubicBezTo>
                    <a:pt x="2174875" y="679043"/>
                    <a:pt x="2215388" y="638175"/>
                    <a:pt x="2265363" y="638175"/>
                  </a:cubicBezTo>
                  <a:close/>
                  <a:moveTo>
                    <a:pt x="1540668" y="638175"/>
                  </a:moveTo>
                  <a:cubicBezTo>
                    <a:pt x="1591081" y="638175"/>
                    <a:pt x="1631949" y="679043"/>
                    <a:pt x="1631949" y="729457"/>
                  </a:cubicBezTo>
                  <a:cubicBezTo>
                    <a:pt x="1631949" y="779871"/>
                    <a:pt x="1591081" y="820739"/>
                    <a:pt x="1540668" y="820739"/>
                  </a:cubicBezTo>
                  <a:cubicBezTo>
                    <a:pt x="1490255" y="820739"/>
                    <a:pt x="1449387" y="779871"/>
                    <a:pt x="1449387" y="729457"/>
                  </a:cubicBezTo>
                  <a:cubicBezTo>
                    <a:pt x="1449387" y="679043"/>
                    <a:pt x="1490255" y="638175"/>
                    <a:pt x="1540668" y="638175"/>
                  </a:cubicBezTo>
                  <a:close/>
                  <a:moveTo>
                    <a:pt x="815975" y="638175"/>
                  </a:moveTo>
                  <a:cubicBezTo>
                    <a:pt x="865950" y="638175"/>
                    <a:pt x="906463" y="679043"/>
                    <a:pt x="906463" y="729457"/>
                  </a:cubicBezTo>
                  <a:cubicBezTo>
                    <a:pt x="906463" y="779871"/>
                    <a:pt x="865950" y="820739"/>
                    <a:pt x="815975" y="820739"/>
                  </a:cubicBezTo>
                  <a:cubicBezTo>
                    <a:pt x="766000" y="820739"/>
                    <a:pt x="725487" y="779871"/>
                    <a:pt x="725487" y="729457"/>
                  </a:cubicBezTo>
                  <a:cubicBezTo>
                    <a:pt x="725487" y="679043"/>
                    <a:pt x="766000" y="638175"/>
                    <a:pt x="815975" y="638175"/>
                  </a:cubicBezTo>
                  <a:close/>
                  <a:moveTo>
                    <a:pt x="90488" y="638175"/>
                  </a:moveTo>
                  <a:cubicBezTo>
                    <a:pt x="140463" y="638175"/>
                    <a:pt x="180976" y="679043"/>
                    <a:pt x="180976" y="729457"/>
                  </a:cubicBezTo>
                  <a:cubicBezTo>
                    <a:pt x="180976" y="779871"/>
                    <a:pt x="140463" y="820739"/>
                    <a:pt x="90488" y="820739"/>
                  </a:cubicBezTo>
                  <a:cubicBezTo>
                    <a:pt x="40513" y="820739"/>
                    <a:pt x="0" y="779871"/>
                    <a:pt x="0" y="729457"/>
                  </a:cubicBezTo>
                  <a:cubicBezTo>
                    <a:pt x="0" y="679043"/>
                    <a:pt x="40513" y="638175"/>
                    <a:pt x="90488" y="638175"/>
                  </a:cubicBezTo>
                  <a:close/>
                  <a:moveTo>
                    <a:pt x="2990850" y="0"/>
                  </a:moveTo>
                  <a:cubicBezTo>
                    <a:pt x="3040825" y="0"/>
                    <a:pt x="3081338" y="40868"/>
                    <a:pt x="3081338" y="91282"/>
                  </a:cubicBezTo>
                  <a:cubicBezTo>
                    <a:pt x="3081338" y="141696"/>
                    <a:pt x="3040825" y="182564"/>
                    <a:pt x="2990850" y="182564"/>
                  </a:cubicBezTo>
                  <a:cubicBezTo>
                    <a:pt x="2940875" y="182564"/>
                    <a:pt x="2900362" y="141696"/>
                    <a:pt x="2900362" y="91282"/>
                  </a:cubicBezTo>
                  <a:cubicBezTo>
                    <a:pt x="2900362" y="40868"/>
                    <a:pt x="2940875" y="0"/>
                    <a:pt x="2990850" y="0"/>
                  </a:cubicBezTo>
                  <a:close/>
                  <a:moveTo>
                    <a:pt x="2265363" y="0"/>
                  </a:moveTo>
                  <a:cubicBezTo>
                    <a:pt x="2315338" y="0"/>
                    <a:pt x="2355851" y="40868"/>
                    <a:pt x="2355851" y="91282"/>
                  </a:cubicBezTo>
                  <a:cubicBezTo>
                    <a:pt x="2355851" y="141696"/>
                    <a:pt x="2315338" y="182564"/>
                    <a:pt x="2265363" y="182564"/>
                  </a:cubicBezTo>
                  <a:cubicBezTo>
                    <a:pt x="2215388" y="182564"/>
                    <a:pt x="2174875" y="141696"/>
                    <a:pt x="2174875" y="91282"/>
                  </a:cubicBezTo>
                  <a:cubicBezTo>
                    <a:pt x="2174875" y="40868"/>
                    <a:pt x="2215388" y="0"/>
                    <a:pt x="2265363" y="0"/>
                  </a:cubicBezTo>
                  <a:close/>
                  <a:moveTo>
                    <a:pt x="1540668" y="0"/>
                  </a:moveTo>
                  <a:cubicBezTo>
                    <a:pt x="1591081" y="0"/>
                    <a:pt x="1631949" y="40868"/>
                    <a:pt x="1631949" y="91282"/>
                  </a:cubicBezTo>
                  <a:cubicBezTo>
                    <a:pt x="1631949" y="141696"/>
                    <a:pt x="1591081" y="182564"/>
                    <a:pt x="1540668" y="182564"/>
                  </a:cubicBezTo>
                  <a:cubicBezTo>
                    <a:pt x="1490255" y="182564"/>
                    <a:pt x="1449387" y="141696"/>
                    <a:pt x="1449387" y="91282"/>
                  </a:cubicBezTo>
                  <a:cubicBezTo>
                    <a:pt x="1449387" y="40868"/>
                    <a:pt x="1490255" y="0"/>
                    <a:pt x="1540668" y="0"/>
                  </a:cubicBezTo>
                  <a:close/>
                  <a:moveTo>
                    <a:pt x="815975" y="0"/>
                  </a:moveTo>
                  <a:cubicBezTo>
                    <a:pt x="865950" y="0"/>
                    <a:pt x="906463" y="40868"/>
                    <a:pt x="906463" y="91282"/>
                  </a:cubicBezTo>
                  <a:cubicBezTo>
                    <a:pt x="906463" y="141696"/>
                    <a:pt x="865950" y="182564"/>
                    <a:pt x="815975" y="182564"/>
                  </a:cubicBezTo>
                  <a:cubicBezTo>
                    <a:pt x="766000" y="182564"/>
                    <a:pt x="725487" y="141696"/>
                    <a:pt x="725487" y="91282"/>
                  </a:cubicBezTo>
                  <a:cubicBezTo>
                    <a:pt x="725487" y="40868"/>
                    <a:pt x="766000" y="0"/>
                    <a:pt x="815975" y="0"/>
                  </a:cubicBezTo>
                  <a:close/>
                  <a:moveTo>
                    <a:pt x="90488" y="0"/>
                  </a:moveTo>
                  <a:cubicBezTo>
                    <a:pt x="140463" y="0"/>
                    <a:pt x="180976" y="40868"/>
                    <a:pt x="180976" y="91282"/>
                  </a:cubicBezTo>
                  <a:cubicBezTo>
                    <a:pt x="180976" y="141696"/>
                    <a:pt x="140463" y="182564"/>
                    <a:pt x="90488" y="182564"/>
                  </a:cubicBezTo>
                  <a:cubicBezTo>
                    <a:pt x="40513" y="182564"/>
                    <a:pt x="0" y="141696"/>
                    <a:pt x="0" y="91282"/>
                  </a:cubicBezTo>
                  <a:cubicBezTo>
                    <a:pt x="0" y="40868"/>
                    <a:pt x="40513" y="0"/>
                    <a:pt x="90488" y="0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cxnSp>
          <p:nvCxnSpPr>
            <p:cNvPr id="8" name="Connector 8"/>
            <p:cNvCxnSpPr/>
            <p:nvPr/>
          </p:nvCxnSpPr>
          <p:spPr>
            <a:xfrm>
              <a:off x="660400" y="3275863"/>
              <a:ext cx="0" cy="1314450"/>
            </a:xfrm>
            <a:prstGeom prst="line">
              <a:avLst/>
            </a:prstGeom>
            <a:ln w="50800" cap="flat" cmpd="sng">
              <a:solidFill>
                <a:schemeClr val="accent1"/>
              </a:solidFill>
              <a:prstDash val="solid"/>
            </a:ln>
          </p:spPr>
        </p:cxnSp>
        <p:sp>
          <p:nvSpPr>
            <p:cNvPr id="9" name="Freeform 9"/>
            <p:cNvSpPr/>
            <p:nvPr/>
          </p:nvSpPr>
          <p:spPr>
            <a:xfrm flipH="1" flipV="1">
              <a:off x="-12700" y="0"/>
              <a:ext cx="3544527" cy="2800350"/>
            </a:xfrm>
            <a:custGeom>
              <a:avLst/>
              <a:gdLst/>
              <a:ahLst/>
              <a:cxnLst/>
              <a:rect l="l" t="t" r="r" b="b"/>
              <a:pathLst>
                <a:path w="2776124" h="2193274">
                  <a:moveTo>
                    <a:pt x="2776124" y="2193274"/>
                  </a:moveTo>
                  <a:lnTo>
                    <a:pt x="0" y="2193274"/>
                  </a:lnTo>
                  <a:lnTo>
                    <a:pt x="1672393" y="0"/>
                  </a:lnTo>
                  <a:lnTo>
                    <a:pt x="2776124" y="0"/>
                  </a:lnTo>
                  <a:close/>
                </a:path>
              </a:pathLst>
            </a:custGeom>
            <a:gradFill>
              <a:gsLst>
                <a:gs pos="0">
                  <a:srgbClr val="3091CC">
                    <a:alpha val="40000"/>
                    <a:lumMod val="60000"/>
                    <a:lumOff val="40000"/>
                  </a:srgbClr>
                </a:gs>
                <a:gs pos="100000">
                  <a:srgbClr val="3091CC">
                    <a:alpha val="76000"/>
                  </a:srgbClr>
                </a:gs>
              </a:gsLst>
            </a:gra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</p:grpSp>
      <p:sp>
        <p:nvSpPr>
          <p:cNvPr id="10" name="AutoShape 10"/>
          <p:cNvSpPr>
            <a:spLocks noGrp="1"/>
          </p:cNvSpPr>
          <p:nvPr>
            <p:ph type="title"/>
          </p:nvPr>
        </p:nvSpPr>
        <p:spPr>
          <a:xfrm>
            <a:off x="832061" y="2993411"/>
            <a:ext cx="5035338" cy="1580339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4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4621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315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7754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3819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3975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0216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9753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032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08607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1062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0256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35542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64708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86050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20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9277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8076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algn="l"/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5520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gradFill>
          <a:gsLst>
            <a:gs pos="0">
              <a:srgbClr val="3091CC"/>
            </a:gs>
            <a:gs pos="100000">
              <a:srgbClr val="3091CC"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0"/>
            <a:ext cx="12191996" cy="6858000"/>
            <a:chOff x="-12700" y="0"/>
            <a:chExt cx="12191996" cy="6858000"/>
          </a:xfrm>
        </p:grpSpPr>
        <p:sp>
          <p:nvSpPr>
            <p:cNvPr id="3" name="Freeform 3"/>
            <p:cNvSpPr/>
            <p:nvPr/>
          </p:nvSpPr>
          <p:spPr>
            <a:xfrm>
              <a:off x="4800601" y="0"/>
              <a:ext cx="7391394" cy="6858000"/>
            </a:xfrm>
            <a:custGeom>
              <a:avLst/>
              <a:gdLst/>
              <a:ahLst/>
              <a:cxnLst/>
              <a:rect l="l" t="t" r="r" b="b"/>
              <a:pathLst>
                <a:path w="5614987" h="6858000">
                  <a:moveTo>
                    <a:pt x="1303337" y="0"/>
                  </a:moveTo>
                  <a:lnTo>
                    <a:pt x="2776537" y="0"/>
                  </a:lnTo>
                  <a:lnTo>
                    <a:pt x="5062537" y="0"/>
                  </a:lnTo>
                  <a:lnTo>
                    <a:pt x="5614987" y="0"/>
                  </a:lnTo>
                  <a:lnTo>
                    <a:pt x="5614987" y="6858000"/>
                  </a:lnTo>
                  <a:lnTo>
                    <a:pt x="5062537" y="6858000"/>
                  </a:lnTo>
                  <a:lnTo>
                    <a:pt x="2776537" y="6858000"/>
                  </a:lnTo>
                  <a:lnTo>
                    <a:pt x="2319337" y="6858000"/>
                  </a:lnTo>
                  <a:lnTo>
                    <a:pt x="0" y="2250033"/>
                  </a:lnTo>
                  <a:close/>
                </a:path>
              </a:pathLst>
            </a:custGeom>
            <a:gradFill>
              <a:gsLst>
                <a:gs pos="0">
                  <a:srgbClr val="3091CC"/>
                </a:gs>
                <a:gs pos="100000">
                  <a:srgbClr val="3091CC">
                    <a:alpha val="40000"/>
                    <a:lumMod val="60000"/>
                    <a:lumOff val="40000"/>
                  </a:srgbClr>
                </a:gs>
              </a:gsLst>
              <a:lin ang="5400000"/>
            </a:gra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5126600" y="3508338"/>
              <a:ext cx="3454332" cy="3349662"/>
            </a:xfrm>
            <a:custGeom>
              <a:avLst/>
              <a:gdLst/>
              <a:ahLst/>
              <a:cxnLst/>
              <a:rect l="l" t="t" r="r" b="b"/>
              <a:pathLst>
                <a:path w="1653" h="2111">
                  <a:moveTo>
                    <a:pt x="589" y="0"/>
                  </a:moveTo>
                  <a:lnTo>
                    <a:pt x="0" y="1023"/>
                  </a:lnTo>
                  <a:lnTo>
                    <a:pt x="548" y="2111"/>
                  </a:lnTo>
                  <a:lnTo>
                    <a:pt x="1653" y="2111"/>
                  </a:lnTo>
                  <a:lnTo>
                    <a:pt x="589" y="0"/>
                  </a:lnTo>
                  <a:close/>
                </a:path>
              </a:pathLst>
            </a:custGeom>
            <a:gradFill>
              <a:gsLst>
                <a:gs pos="0">
                  <a:srgbClr val="2F72A7">
                    <a:alpha val="40000"/>
                    <a:lumMod val="60000"/>
                    <a:lumOff val="40000"/>
                  </a:srgbClr>
                </a:gs>
                <a:gs pos="68000">
                  <a:srgbClr val="2F72A7"/>
                </a:gs>
              </a:gsLst>
              <a:lin ang="16200000"/>
            </a:gra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5118241" y="2250033"/>
              <a:ext cx="3462691" cy="4607967"/>
            </a:xfrm>
            <a:custGeom>
              <a:avLst/>
              <a:gdLst/>
              <a:ahLst/>
              <a:cxnLst/>
              <a:rect l="l" t="t" r="r" b="b"/>
              <a:pathLst>
                <a:path w="1657" h="2904">
                  <a:moveTo>
                    <a:pt x="196" y="0"/>
                  </a:moveTo>
                  <a:lnTo>
                    <a:pt x="0" y="326"/>
                  </a:lnTo>
                  <a:lnTo>
                    <a:pt x="1297" y="2904"/>
                  </a:lnTo>
                  <a:lnTo>
                    <a:pt x="1657" y="2904"/>
                  </a:lnTo>
                  <a:lnTo>
                    <a:pt x="196" y="0"/>
                  </a:lnTo>
                  <a:close/>
                </a:path>
              </a:pathLst>
            </a:custGeom>
            <a:gradFill>
              <a:gsLst>
                <a:gs pos="0">
                  <a:srgbClr val="3091CC"/>
                </a:gs>
                <a:gs pos="100000">
                  <a:srgbClr val="3091CC">
                    <a:alpha val="40000"/>
                    <a:lumMod val="60000"/>
                    <a:lumOff val="40000"/>
                  </a:srgbClr>
                </a:gs>
              </a:gsLst>
              <a:lin ang="5400000"/>
            </a:gra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5527829" y="0"/>
              <a:ext cx="6664166" cy="6858000"/>
            </a:xfrm>
            <a:custGeom>
              <a:avLst/>
              <a:gdLst/>
              <a:ahLst/>
              <a:cxnLst/>
              <a:rect l="l" t="t" r="r" b="b"/>
              <a:pathLst>
                <a:path w="3189" h="4322">
                  <a:moveTo>
                    <a:pt x="821" y="0"/>
                  </a:moveTo>
                  <a:lnTo>
                    <a:pt x="0" y="1418"/>
                  </a:lnTo>
                  <a:lnTo>
                    <a:pt x="1461" y="4322"/>
                  </a:lnTo>
                  <a:lnTo>
                    <a:pt x="3189" y="4322"/>
                  </a:lnTo>
                  <a:lnTo>
                    <a:pt x="3189" y="0"/>
                  </a:lnTo>
                  <a:lnTo>
                    <a:pt x="821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14317" r="-14317"/>
              </a:stretch>
            </a:blipFill>
            <a:ln cap="flat" cmpd="sng">
              <a:prstDash val="solid"/>
            </a:ln>
          </p:spPr>
          <p:txBody>
            <a:bodyPr rot="0"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277619"/>
              <a:ext cx="1227144" cy="580381"/>
            </a:xfrm>
            <a:custGeom>
              <a:avLst/>
              <a:gdLst/>
              <a:ahLst/>
              <a:cxnLst/>
              <a:rect l="l" t="t" r="r" b="b"/>
              <a:pathLst>
                <a:path w="3081338" h="1457326">
                  <a:moveTo>
                    <a:pt x="2990850" y="1276350"/>
                  </a:moveTo>
                  <a:cubicBezTo>
                    <a:pt x="3040825" y="1276350"/>
                    <a:pt x="3081338" y="1316863"/>
                    <a:pt x="3081338" y="1366838"/>
                  </a:cubicBezTo>
                  <a:cubicBezTo>
                    <a:pt x="3081338" y="1416813"/>
                    <a:pt x="3040825" y="1457326"/>
                    <a:pt x="2990850" y="1457326"/>
                  </a:cubicBezTo>
                  <a:cubicBezTo>
                    <a:pt x="2940875" y="1457326"/>
                    <a:pt x="2900362" y="1416813"/>
                    <a:pt x="2900362" y="1366838"/>
                  </a:cubicBezTo>
                  <a:cubicBezTo>
                    <a:pt x="2900362" y="1316863"/>
                    <a:pt x="2940875" y="1276350"/>
                    <a:pt x="2990850" y="1276350"/>
                  </a:cubicBezTo>
                  <a:close/>
                  <a:moveTo>
                    <a:pt x="2265363" y="1276350"/>
                  </a:moveTo>
                  <a:cubicBezTo>
                    <a:pt x="2315338" y="1276350"/>
                    <a:pt x="2355851" y="1316863"/>
                    <a:pt x="2355851" y="1366838"/>
                  </a:cubicBezTo>
                  <a:cubicBezTo>
                    <a:pt x="2355851" y="1416813"/>
                    <a:pt x="2315338" y="1457326"/>
                    <a:pt x="2265363" y="1457326"/>
                  </a:cubicBezTo>
                  <a:cubicBezTo>
                    <a:pt x="2215388" y="1457326"/>
                    <a:pt x="2174875" y="1416813"/>
                    <a:pt x="2174875" y="1366838"/>
                  </a:cubicBezTo>
                  <a:cubicBezTo>
                    <a:pt x="2174875" y="1316863"/>
                    <a:pt x="2215388" y="1276350"/>
                    <a:pt x="2265363" y="1276350"/>
                  </a:cubicBezTo>
                  <a:close/>
                  <a:moveTo>
                    <a:pt x="1540668" y="1276350"/>
                  </a:moveTo>
                  <a:cubicBezTo>
                    <a:pt x="1591081" y="1276350"/>
                    <a:pt x="1631949" y="1316863"/>
                    <a:pt x="1631949" y="1366838"/>
                  </a:cubicBezTo>
                  <a:cubicBezTo>
                    <a:pt x="1631949" y="1416813"/>
                    <a:pt x="1591081" y="1457326"/>
                    <a:pt x="1540668" y="1457326"/>
                  </a:cubicBezTo>
                  <a:cubicBezTo>
                    <a:pt x="1490255" y="1457326"/>
                    <a:pt x="1449387" y="1416813"/>
                    <a:pt x="1449387" y="1366838"/>
                  </a:cubicBezTo>
                  <a:cubicBezTo>
                    <a:pt x="1449387" y="1316863"/>
                    <a:pt x="1490255" y="1276350"/>
                    <a:pt x="1540668" y="1276350"/>
                  </a:cubicBezTo>
                  <a:close/>
                  <a:moveTo>
                    <a:pt x="815975" y="1276350"/>
                  </a:moveTo>
                  <a:cubicBezTo>
                    <a:pt x="865950" y="1276350"/>
                    <a:pt x="906463" y="1316863"/>
                    <a:pt x="906463" y="1366838"/>
                  </a:cubicBezTo>
                  <a:cubicBezTo>
                    <a:pt x="906463" y="1416813"/>
                    <a:pt x="865950" y="1457326"/>
                    <a:pt x="815975" y="1457326"/>
                  </a:cubicBezTo>
                  <a:cubicBezTo>
                    <a:pt x="766000" y="1457326"/>
                    <a:pt x="725487" y="1416813"/>
                    <a:pt x="725487" y="1366838"/>
                  </a:cubicBezTo>
                  <a:cubicBezTo>
                    <a:pt x="725487" y="1316863"/>
                    <a:pt x="766000" y="1276350"/>
                    <a:pt x="815975" y="1276350"/>
                  </a:cubicBezTo>
                  <a:close/>
                  <a:moveTo>
                    <a:pt x="90488" y="1276350"/>
                  </a:moveTo>
                  <a:cubicBezTo>
                    <a:pt x="140463" y="1276350"/>
                    <a:pt x="180976" y="1316863"/>
                    <a:pt x="180976" y="1366838"/>
                  </a:cubicBezTo>
                  <a:cubicBezTo>
                    <a:pt x="180976" y="1416813"/>
                    <a:pt x="140463" y="1457326"/>
                    <a:pt x="90488" y="1457326"/>
                  </a:cubicBezTo>
                  <a:cubicBezTo>
                    <a:pt x="40513" y="1457326"/>
                    <a:pt x="0" y="1416813"/>
                    <a:pt x="0" y="1366838"/>
                  </a:cubicBezTo>
                  <a:cubicBezTo>
                    <a:pt x="0" y="1316863"/>
                    <a:pt x="40513" y="1276350"/>
                    <a:pt x="90488" y="1276350"/>
                  </a:cubicBezTo>
                  <a:close/>
                  <a:moveTo>
                    <a:pt x="2990850" y="638175"/>
                  </a:moveTo>
                  <a:cubicBezTo>
                    <a:pt x="3040825" y="638175"/>
                    <a:pt x="3081338" y="679043"/>
                    <a:pt x="3081338" y="729457"/>
                  </a:cubicBezTo>
                  <a:cubicBezTo>
                    <a:pt x="3081338" y="779871"/>
                    <a:pt x="3040825" y="820739"/>
                    <a:pt x="2990850" y="820739"/>
                  </a:cubicBezTo>
                  <a:cubicBezTo>
                    <a:pt x="2940875" y="820739"/>
                    <a:pt x="2900362" y="779871"/>
                    <a:pt x="2900362" y="729457"/>
                  </a:cubicBezTo>
                  <a:cubicBezTo>
                    <a:pt x="2900362" y="679043"/>
                    <a:pt x="2940875" y="638175"/>
                    <a:pt x="2990850" y="638175"/>
                  </a:cubicBezTo>
                  <a:close/>
                  <a:moveTo>
                    <a:pt x="2265363" y="638175"/>
                  </a:moveTo>
                  <a:cubicBezTo>
                    <a:pt x="2315338" y="638175"/>
                    <a:pt x="2355851" y="679043"/>
                    <a:pt x="2355851" y="729457"/>
                  </a:cubicBezTo>
                  <a:cubicBezTo>
                    <a:pt x="2355851" y="779871"/>
                    <a:pt x="2315338" y="820739"/>
                    <a:pt x="2265363" y="820739"/>
                  </a:cubicBezTo>
                  <a:cubicBezTo>
                    <a:pt x="2215388" y="820739"/>
                    <a:pt x="2174875" y="779871"/>
                    <a:pt x="2174875" y="729457"/>
                  </a:cubicBezTo>
                  <a:cubicBezTo>
                    <a:pt x="2174875" y="679043"/>
                    <a:pt x="2215388" y="638175"/>
                    <a:pt x="2265363" y="638175"/>
                  </a:cubicBezTo>
                  <a:close/>
                  <a:moveTo>
                    <a:pt x="1540668" y="638175"/>
                  </a:moveTo>
                  <a:cubicBezTo>
                    <a:pt x="1591081" y="638175"/>
                    <a:pt x="1631949" y="679043"/>
                    <a:pt x="1631949" y="729457"/>
                  </a:cubicBezTo>
                  <a:cubicBezTo>
                    <a:pt x="1631949" y="779871"/>
                    <a:pt x="1591081" y="820739"/>
                    <a:pt x="1540668" y="820739"/>
                  </a:cubicBezTo>
                  <a:cubicBezTo>
                    <a:pt x="1490255" y="820739"/>
                    <a:pt x="1449387" y="779871"/>
                    <a:pt x="1449387" y="729457"/>
                  </a:cubicBezTo>
                  <a:cubicBezTo>
                    <a:pt x="1449387" y="679043"/>
                    <a:pt x="1490255" y="638175"/>
                    <a:pt x="1540668" y="638175"/>
                  </a:cubicBezTo>
                  <a:close/>
                  <a:moveTo>
                    <a:pt x="815975" y="638175"/>
                  </a:moveTo>
                  <a:cubicBezTo>
                    <a:pt x="865950" y="638175"/>
                    <a:pt x="906463" y="679043"/>
                    <a:pt x="906463" y="729457"/>
                  </a:cubicBezTo>
                  <a:cubicBezTo>
                    <a:pt x="906463" y="779871"/>
                    <a:pt x="865950" y="820739"/>
                    <a:pt x="815975" y="820739"/>
                  </a:cubicBezTo>
                  <a:cubicBezTo>
                    <a:pt x="766000" y="820739"/>
                    <a:pt x="725487" y="779871"/>
                    <a:pt x="725487" y="729457"/>
                  </a:cubicBezTo>
                  <a:cubicBezTo>
                    <a:pt x="725487" y="679043"/>
                    <a:pt x="766000" y="638175"/>
                    <a:pt x="815975" y="638175"/>
                  </a:cubicBezTo>
                  <a:close/>
                  <a:moveTo>
                    <a:pt x="90488" y="638175"/>
                  </a:moveTo>
                  <a:cubicBezTo>
                    <a:pt x="140463" y="638175"/>
                    <a:pt x="180976" y="679043"/>
                    <a:pt x="180976" y="729457"/>
                  </a:cubicBezTo>
                  <a:cubicBezTo>
                    <a:pt x="180976" y="779871"/>
                    <a:pt x="140463" y="820739"/>
                    <a:pt x="90488" y="820739"/>
                  </a:cubicBezTo>
                  <a:cubicBezTo>
                    <a:pt x="40513" y="820739"/>
                    <a:pt x="0" y="779871"/>
                    <a:pt x="0" y="729457"/>
                  </a:cubicBezTo>
                  <a:cubicBezTo>
                    <a:pt x="0" y="679043"/>
                    <a:pt x="40513" y="638175"/>
                    <a:pt x="90488" y="638175"/>
                  </a:cubicBezTo>
                  <a:close/>
                  <a:moveTo>
                    <a:pt x="2990850" y="0"/>
                  </a:moveTo>
                  <a:cubicBezTo>
                    <a:pt x="3040825" y="0"/>
                    <a:pt x="3081338" y="40868"/>
                    <a:pt x="3081338" y="91282"/>
                  </a:cubicBezTo>
                  <a:cubicBezTo>
                    <a:pt x="3081338" y="141696"/>
                    <a:pt x="3040825" y="182564"/>
                    <a:pt x="2990850" y="182564"/>
                  </a:cubicBezTo>
                  <a:cubicBezTo>
                    <a:pt x="2940875" y="182564"/>
                    <a:pt x="2900362" y="141696"/>
                    <a:pt x="2900362" y="91282"/>
                  </a:cubicBezTo>
                  <a:cubicBezTo>
                    <a:pt x="2900362" y="40868"/>
                    <a:pt x="2940875" y="0"/>
                    <a:pt x="2990850" y="0"/>
                  </a:cubicBezTo>
                  <a:close/>
                  <a:moveTo>
                    <a:pt x="2265363" y="0"/>
                  </a:moveTo>
                  <a:cubicBezTo>
                    <a:pt x="2315338" y="0"/>
                    <a:pt x="2355851" y="40868"/>
                    <a:pt x="2355851" y="91282"/>
                  </a:cubicBezTo>
                  <a:cubicBezTo>
                    <a:pt x="2355851" y="141696"/>
                    <a:pt x="2315338" y="182564"/>
                    <a:pt x="2265363" y="182564"/>
                  </a:cubicBezTo>
                  <a:cubicBezTo>
                    <a:pt x="2215388" y="182564"/>
                    <a:pt x="2174875" y="141696"/>
                    <a:pt x="2174875" y="91282"/>
                  </a:cubicBezTo>
                  <a:cubicBezTo>
                    <a:pt x="2174875" y="40868"/>
                    <a:pt x="2215388" y="0"/>
                    <a:pt x="2265363" y="0"/>
                  </a:cubicBezTo>
                  <a:close/>
                  <a:moveTo>
                    <a:pt x="1540668" y="0"/>
                  </a:moveTo>
                  <a:cubicBezTo>
                    <a:pt x="1591081" y="0"/>
                    <a:pt x="1631949" y="40868"/>
                    <a:pt x="1631949" y="91282"/>
                  </a:cubicBezTo>
                  <a:cubicBezTo>
                    <a:pt x="1631949" y="141696"/>
                    <a:pt x="1591081" y="182564"/>
                    <a:pt x="1540668" y="182564"/>
                  </a:cubicBezTo>
                  <a:cubicBezTo>
                    <a:pt x="1490255" y="182564"/>
                    <a:pt x="1449387" y="141696"/>
                    <a:pt x="1449387" y="91282"/>
                  </a:cubicBezTo>
                  <a:cubicBezTo>
                    <a:pt x="1449387" y="40868"/>
                    <a:pt x="1490255" y="0"/>
                    <a:pt x="1540668" y="0"/>
                  </a:cubicBezTo>
                  <a:close/>
                  <a:moveTo>
                    <a:pt x="815975" y="0"/>
                  </a:moveTo>
                  <a:cubicBezTo>
                    <a:pt x="865950" y="0"/>
                    <a:pt x="906463" y="40868"/>
                    <a:pt x="906463" y="91282"/>
                  </a:cubicBezTo>
                  <a:cubicBezTo>
                    <a:pt x="906463" y="141696"/>
                    <a:pt x="865950" y="182564"/>
                    <a:pt x="815975" y="182564"/>
                  </a:cubicBezTo>
                  <a:cubicBezTo>
                    <a:pt x="766000" y="182564"/>
                    <a:pt x="725487" y="141696"/>
                    <a:pt x="725487" y="91282"/>
                  </a:cubicBezTo>
                  <a:cubicBezTo>
                    <a:pt x="725487" y="40868"/>
                    <a:pt x="766000" y="0"/>
                    <a:pt x="815975" y="0"/>
                  </a:cubicBezTo>
                  <a:close/>
                  <a:moveTo>
                    <a:pt x="90488" y="0"/>
                  </a:moveTo>
                  <a:cubicBezTo>
                    <a:pt x="140463" y="0"/>
                    <a:pt x="180976" y="40868"/>
                    <a:pt x="180976" y="91282"/>
                  </a:cubicBezTo>
                  <a:cubicBezTo>
                    <a:pt x="180976" y="141696"/>
                    <a:pt x="140463" y="182564"/>
                    <a:pt x="90488" y="182564"/>
                  </a:cubicBezTo>
                  <a:cubicBezTo>
                    <a:pt x="40513" y="182564"/>
                    <a:pt x="0" y="141696"/>
                    <a:pt x="0" y="91282"/>
                  </a:cubicBezTo>
                  <a:cubicBezTo>
                    <a:pt x="0" y="40868"/>
                    <a:pt x="40513" y="0"/>
                    <a:pt x="90488" y="0"/>
                  </a:cubicBezTo>
                  <a:close/>
                </a:path>
              </a:pathLst>
            </a:custGeom>
            <a:solidFill>
              <a:schemeClr val="accent1"/>
            </a:soli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cxnSp>
          <p:nvCxnSpPr>
            <p:cNvPr id="8" name="Connector 8"/>
            <p:cNvCxnSpPr/>
            <p:nvPr/>
          </p:nvCxnSpPr>
          <p:spPr>
            <a:xfrm>
              <a:off x="660400" y="3275863"/>
              <a:ext cx="0" cy="1314450"/>
            </a:xfrm>
            <a:prstGeom prst="line">
              <a:avLst/>
            </a:prstGeom>
            <a:ln w="50800" cap="flat" cmpd="sng">
              <a:solidFill>
                <a:schemeClr val="accent1"/>
              </a:solidFill>
              <a:prstDash val="solid"/>
            </a:ln>
          </p:spPr>
        </p:cxnSp>
        <p:sp>
          <p:nvSpPr>
            <p:cNvPr id="9" name="Freeform 9"/>
            <p:cNvSpPr/>
            <p:nvPr/>
          </p:nvSpPr>
          <p:spPr>
            <a:xfrm flipH="1" flipV="1">
              <a:off x="-12700" y="0"/>
              <a:ext cx="3544527" cy="2800350"/>
            </a:xfrm>
            <a:custGeom>
              <a:avLst/>
              <a:gdLst/>
              <a:ahLst/>
              <a:cxnLst/>
              <a:rect l="l" t="t" r="r" b="b"/>
              <a:pathLst>
                <a:path w="2776124" h="2193274">
                  <a:moveTo>
                    <a:pt x="2776124" y="2193274"/>
                  </a:moveTo>
                  <a:lnTo>
                    <a:pt x="0" y="2193274"/>
                  </a:lnTo>
                  <a:lnTo>
                    <a:pt x="1672393" y="0"/>
                  </a:lnTo>
                  <a:lnTo>
                    <a:pt x="2776124" y="0"/>
                  </a:lnTo>
                  <a:close/>
                </a:path>
              </a:pathLst>
            </a:custGeom>
            <a:gradFill>
              <a:gsLst>
                <a:gs pos="0">
                  <a:srgbClr val="3091CC">
                    <a:alpha val="40000"/>
                    <a:lumMod val="60000"/>
                    <a:lumOff val="40000"/>
                  </a:srgbClr>
                </a:gs>
                <a:gs pos="100000">
                  <a:srgbClr val="3091CC">
                    <a:alpha val="76000"/>
                  </a:srgbClr>
                </a:gs>
              </a:gsLst>
            </a:gradFill>
          </p:spPr>
          <p:txBody>
            <a:bodyPr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</p:grpSp>
      <p:sp>
        <p:nvSpPr>
          <p:cNvPr id="10" name="AutoShape 10"/>
          <p:cNvSpPr>
            <a:spLocks noGrp="1"/>
          </p:cNvSpPr>
          <p:nvPr>
            <p:ph type="ctrTitle"/>
          </p:nvPr>
        </p:nvSpPr>
        <p:spPr>
          <a:xfrm>
            <a:off x="838204" y="3275863"/>
            <a:ext cx="4363623" cy="1580339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4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61935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0"/>
            <a:ext cx="12192001" cy="6858000"/>
            <a:chOff x="-12700" y="0"/>
            <a:chExt cx="12192001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-12700" y="6128565"/>
              <a:ext cx="2019301" cy="729435"/>
              <a:chOff x="0" y="5311774"/>
              <a:chExt cx="4209143" cy="1520476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0" y="5311774"/>
                <a:ext cx="1524000" cy="1520473"/>
              </a:xfrm>
              <a:prstGeom prst="round2DiagRect">
                <a:avLst>
                  <a:gd name="adj1" fmla="val 0"/>
                  <a:gd name="adj2" fmla="val 35681"/>
                </a:avLst>
              </a:prstGeom>
              <a:gradFill>
                <a:gsLst>
                  <a:gs pos="0">
                    <a:srgbClr val="2F72A7">
                      <a:alpha val="0"/>
                    </a:srgbClr>
                  </a:gs>
                  <a:gs pos="100000">
                    <a:srgbClr val="3091CC"/>
                  </a:gs>
                </a:gsLst>
                <a:lin ang="8100000"/>
              </a:gradFill>
              <a:ln cap="flat">
                <a:prstDash val="solid"/>
              </a:ln>
            </p:spPr>
            <p:txBody>
              <a:bodyPr rot="0" vert="horz" wrap="square" lIns="91440" tIns="45720" rIns="91440" bIns="45720" anchor="ctr">
                <a:prstTxWarp prst="textNoShape">
                  <a:avLst/>
                </a:prstTxWarp>
                <a:no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5" name="AutoShape 5"/>
              <p:cNvSpPr/>
              <p:nvPr/>
            </p:nvSpPr>
            <p:spPr>
              <a:xfrm>
                <a:off x="0" y="5659153"/>
                <a:ext cx="4209143" cy="1173097"/>
              </a:xfrm>
              <a:prstGeom prst="round2DiagRect">
                <a:avLst>
                  <a:gd name="adj1" fmla="val 0"/>
                  <a:gd name="adj2" fmla="val 50000"/>
                </a:avLst>
              </a:prstGeom>
              <a:gradFill>
                <a:gsLst>
                  <a:gs pos="0">
                    <a:srgbClr val="2F72A7">
                      <a:alpha val="0"/>
                    </a:srgbClr>
                  </a:gs>
                  <a:gs pos="100000">
                    <a:srgbClr val="3091CC">
                      <a:alpha val="50000"/>
                    </a:srgbClr>
                  </a:gs>
                </a:gsLst>
                <a:lin ang="8100000"/>
              </a:gradFill>
              <a:ln cap="flat">
                <a:prstDash val="solid"/>
              </a:ln>
            </p:spPr>
            <p:txBody>
              <a:bodyPr rot="0" vert="horz" wrap="square" lIns="91440" tIns="45720" rIns="91440" bIns="45720" anchor="ctr">
                <a:prstTxWarp prst="textNoShape">
                  <a:avLst/>
                </a:prstTxWarp>
                <a:no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0" y="6030272"/>
                <a:ext cx="2866570" cy="801976"/>
              </a:xfrm>
              <a:custGeom>
                <a:avLst/>
                <a:gdLst/>
                <a:ahLst/>
                <a:cxnLst/>
                <a:rect l="l" t="t" r="r" b="b"/>
                <a:pathLst>
                  <a:path w="2866571" h="801975">
                    <a:moveTo>
                      <a:pt x="0" y="0"/>
                    </a:moveTo>
                    <a:lnTo>
                      <a:pt x="2280022" y="0"/>
                    </a:lnTo>
                    <a:cubicBezTo>
                      <a:pt x="2603964" y="0"/>
                      <a:pt x="2866571" y="262607"/>
                      <a:pt x="2866571" y="586549"/>
                    </a:cubicBezTo>
                    <a:lnTo>
                      <a:pt x="2866571" y="801975"/>
                    </a:lnTo>
                  </a:path>
                </a:pathLst>
              </a:custGeom>
              <a:noFill/>
              <a:ln w="12700" cap="flat">
                <a:gradFill>
                  <a:gsLst>
                    <a:gs pos="0">
                      <a:srgbClr val="3091CC"/>
                    </a:gs>
                    <a:gs pos="100000">
                      <a:srgbClr val="2F72A7"/>
                    </a:gs>
                  </a:gsLst>
                </a:gradFill>
                <a:prstDash val="solid"/>
              </a:ln>
            </p:spPr>
            <p:txBody>
              <a:bodyPr rot="0" vert="horz" wrap="square" lIns="91440" tIns="45720" rIns="91440" bIns="45720" anchor="ctr">
                <a:prstTxWarp prst="textNoShape">
                  <a:avLst/>
                </a:prstTxWarp>
                <a:noAutofit/>
              </a:bodyPr>
              <a:lstStyle/>
              <a:p>
                <a:pPr marL="0" algn="ctr"/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0096499" y="0"/>
              <a:ext cx="2095501" cy="1183640"/>
              <a:chOff x="10096499" y="0"/>
              <a:chExt cx="2095501" cy="1183640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10604499" y="0"/>
                <a:ext cx="1587501" cy="773431"/>
              </a:xfrm>
              <a:prstGeom prst="round2DiagRect">
                <a:avLst>
                  <a:gd name="adj1" fmla="val 0"/>
                  <a:gd name="adj2" fmla="val 50000"/>
                </a:avLst>
              </a:prstGeom>
              <a:gradFill>
                <a:gsLst>
                  <a:gs pos="0">
                    <a:srgbClr val="2F72A7">
                      <a:alpha val="0"/>
                    </a:srgbClr>
                  </a:gs>
                  <a:gs pos="100000">
                    <a:srgbClr val="3091CC">
                      <a:alpha val="50000"/>
                    </a:srgbClr>
                  </a:gs>
                </a:gsLst>
                <a:lin ang="16200000"/>
              </a:gradFill>
              <a:ln cap="flat">
                <a:prstDash val="solid"/>
              </a:ln>
            </p:spPr>
            <p:txBody>
              <a:bodyPr rot="0" vert="horz" wrap="square" lIns="91440" tIns="45720" rIns="91440" bIns="45720" anchor="ctr">
                <a:prstTxWarp prst="textNoShape">
                  <a:avLst/>
                </a:prstTxWarp>
                <a:no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9" name="AutoShape 9"/>
              <p:cNvSpPr/>
              <p:nvPr/>
            </p:nvSpPr>
            <p:spPr>
              <a:xfrm>
                <a:off x="10096499" y="283528"/>
                <a:ext cx="1587501" cy="489903"/>
              </a:xfrm>
              <a:prstGeom prst="round2DiagRect">
                <a:avLst>
                  <a:gd name="adj1" fmla="val 0"/>
                  <a:gd name="adj2" fmla="val 50000"/>
                </a:avLst>
              </a:prstGeom>
              <a:noFill/>
              <a:ln w="12700" cap="flat">
                <a:gradFill>
                  <a:gsLst>
                    <a:gs pos="0">
                      <a:srgbClr val="3091CC">
                        <a:alpha val="15000"/>
                      </a:srgbClr>
                    </a:gs>
                    <a:gs pos="100000">
                      <a:srgbClr val="2F72A7"/>
                    </a:gs>
                  </a:gsLst>
                </a:gradFill>
                <a:prstDash val="solid"/>
              </a:ln>
            </p:spPr>
            <p:txBody>
              <a:bodyPr rot="0" vert="horz" wrap="square" lIns="91440" tIns="45720" rIns="91440" bIns="45720" anchor="ctr">
                <a:prstTxWarp prst="textNoShape">
                  <a:avLst/>
                </a:prstTxWarp>
                <a:no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11518900" y="599918"/>
                <a:ext cx="508000" cy="583722"/>
              </a:xfrm>
              <a:prstGeom prst="round2DiagRect">
                <a:avLst>
                  <a:gd name="adj1" fmla="val 0"/>
                  <a:gd name="adj2" fmla="val 50000"/>
                </a:avLst>
              </a:prstGeom>
              <a:gradFill>
                <a:gsLst>
                  <a:gs pos="0">
                    <a:srgbClr val="2F72A7">
                      <a:alpha val="50000"/>
                    </a:srgbClr>
                  </a:gs>
                  <a:gs pos="100000">
                    <a:srgbClr val="3091CC">
                      <a:alpha val="50000"/>
                    </a:srgbClr>
                  </a:gs>
                </a:gsLst>
                <a:lin ang="16200000"/>
              </a:gradFill>
              <a:ln cap="flat">
                <a:prstDash val="solid"/>
              </a:ln>
            </p:spPr>
            <p:txBody>
              <a:bodyPr rot="0" vert="horz" wrap="square" lIns="91440" tIns="45720" rIns="91440" bIns="45720" anchor="ctr">
                <a:prstTxWarp prst="textNoShape">
                  <a:avLst/>
                </a:prstTxWarp>
                <a:noAutofit/>
              </a:bodyPr>
              <a:lstStyle/>
              <a:p>
                <a:pPr marL="0" algn="ctr"/>
                <a:endParaRPr/>
              </a:p>
            </p:txBody>
          </p:sp>
        </p:grpSp>
      </p:grpSp>
      <p:sp>
        <p:nvSpPr>
          <p:cNvPr id="11" name="AutoShape 1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12" name="AutoShape 1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FFFFFF"/>
                </a:solidFill>
                <a:latin typeface="Arial"/>
                <a:ea typeface="Arial"/>
              </a:rPr>
              <a:t>Click to add text</a:t>
            </a: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FFFFFF"/>
                </a:solidFill>
                <a:latin typeface="Arial"/>
                <a:ea typeface="Arial"/>
              </a:rPr>
              <a:t>Second level</a:t>
            </a: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FFFFFF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13" name="AutoShape 1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5" name="AutoShape 1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fld id="{3386411A-70EE-422D-B97C-F56BEE3FF077}" type="slidenum">
              <a:rPr lang="en-US" sz="1800" b="0" i="0" u="none" baseline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 marL="0" algn="l"/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 marL="0" algn="l"/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 marL="0" algn="l"/>
            <a:fld id="{3386411A-70EE-422D-B97C-F56BEE3FF077}" type="slidenum">
              <a:rPr lang="en-US" sz="1800" b="0" i="0" u="none" baseline="0" smtClean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27751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ctrTitle"/>
          </p:nvPr>
        </p:nvSpPr>
        <p:spPr>
          <a:xfrm>
            <a:off x="381000" y="152400"/>
            <a:ext cx="11658600" cy="2369371"/>
          </a:xfrm>
        </p:spPr>
        <p:txBody>
          <a:bodyPr vert="horz" lIns="91440" tIns="45720" rIns="91440" bIns="45720" anchor="t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6000" i="0" u="none" baseline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大数据领域的技术标准、知识产权、产业政策和法律法规</a:t>
            </a:r>
            <a:r>
              <a:rPr lang="zh-CN" altLang="en-US" sz="60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简介</a:t>
            </a:r>
            <a:endParaRPr lang="zh-CN" altLang="en-US" sz="6000" i="0" u="none" baseline="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subTitle" sz="quarter" idx="4294967295"/>
          </p:nvPr>
        </p:nvSpPr>
        <p:spPr>
          <a:xfrm>
            <a:off x="0" y="4335463"/>
            <a:ext cx="3962400" cy="671512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1000"/>
              </a:spcBef>
            </a:pPr>
            <a:r>
              <a:rPr lang="zh-CN" altLang="en-US" sz="1800" b="0" i="0" u="none" baseline="0" dirty="0">
                <a:solidFill>
                  <a:srgbClr val="FFFFFF"/>
                </a:solidFill>
                <a:latin typeface="微软雅黑"/>
                <a:ea typeface="微软雅黑"/>
              </a:rPr>
              <a:t>汇报人</a:t>
            </a:r>
            <a:r>
              <a:rPr lang="zh-CN" altLang="en-US" sz="1800" dirty="0">
                <a:solidFill>
                  <a:srgbClr val="FFFFFF"/>
                </a:solidFill>
                <a:latin typeface="微软雅黑"/>
                <a:ea typeface="微软雅黑"/>
              </a:rPr>
              <a:t>：</a:t>
            </a:r>
            <a:endParaRPr lang="zh-CN" altLang="en-US" sz="1800" b="0" i="0" u="none" baseline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1977"/>
            <a:ext cx="7372349" cy="1705531"/>
          </a:xfrm>
          <a:custGeom>
            <a:avLst/>
            <a:gdLst/>
            <a:ahLst/>
            <a:cxnLst/>
            <a:rect l="l" t="t" r="r" b="b"/>
            <a:pathLst>
              <a:path w="10616543" h="2456048">
                <a:moveTo>
                  <a:pt x="0" y="0"/>
                </a:moveTo>
                <a:lnTo>
                  <a:pt x="9345881" y="0"/>
                </a:lnTo>
                <a:lnTo>
                  <a:pt x="9345881" y="3910"/>
                </a:lnTo>
                <a:lnTo>
                  <a:pt x="9423310" y="0"/>
                </a:lnTo>
                <a:cubicBezTo>
                  <a:pt x="10082314" y="0"/>
                  <a:pt x="10616543" y="534229"/>
                  <a:pt x="10616543" y="1193233"/>
                </a:cubicBezTo>
                <a:lnTo>
                  <a:pt x="10616543" y="1262815"/>
                </a:lnTo>
                <a:cubicBezTo>
                  <a:pt x="10616543" y="1921819"/>
                  <a:pt x="10082314" y="2456048"/>
                  <a:pt x="9423310" y="2456048"/>
                </a:cubicBezTo>
                <a:lnTo>
                  <a:pt x="9345881" y="2452138"/>
                </a:lnTo>
                <a:lnTo>
                  <a:pt x="9345881" y="2456048"/>
                </a:lnTo>
                <a:lnTo>
                  <a:pt x="0" y="2456048"/>
                </a:lnTo>
                <a:close/>
              </a:path>
            </a:pathLst>
          </a:custGeom>
          <a:blipFill>
            <a:blip r:embed="rId2"/>
            <a:stretch>
              <a:fillRect t="-74050" b="-72956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title" idx="4294967295"/>
          </p:nvPr>
        </p:nvSpPr>
        <p:spPr>
          <a:xfrm>
            <a:off x="-12700" y="374519"/>
            <a:ext cx="5165725" cy="900113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44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80723" y="3892448"/>
            <a:ext cx="214986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大数据产业政策分析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6280723" y="3154517"/>
            <a:ext cx="2149864" cy="70788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1" u="none" baseline="0">
                <a:solidFill>
                  <a:srgbClr val="FFFFFF"/>
                </a:solidFill>
                <a:latin typeface="Arial"/>
                <a:ea typeface="Arial"/>
              </a:rPr>
              <a:t>03.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280721" y="4591606"/>
            <a:ext cx="2149865" cy="151240"/>
          </a:xfrm>
          <a:prstGeom prst="rect">
            <a:avLst/>
          </a:prstGeom>
          <a:solidFill>
            <a:schemeClr val="accent2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660400" y="2444003"/>
            <a:ext cx="214986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大数据技术标准概述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660400" y="1706072"/>
            <a:ext cx="2149864" cy="70788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1" u="none" baseline="0">
                <a:solidFill>
                  <a:srgbClr val="FFFFFF"/>
                </a:solidFill>
                <a:latin typeface="Arial"/>
                <a:ea typeface="Arial"/>
              </a:rPr>
              <a:t>01.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" y="3143161"/>
            <a:ext cx="2149865" cy="151240"/>
          </a:xfrm>
          <a:prstGeom prst="rect">
            <a:avLst/>
          </a:prstGeom>
          <a:solidFill>
            <a:schemeClr val="accent2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3445336" y="2444003"/>
            <a:ext cx="214986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大数据知识产权保护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3445336" y="1706072"/>
            <a:ext cx="2149864" cy="70788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1" u="none" baseline="0">
                <a:solidFill>
                  <a:srgbClr val="FFFFFF"/>
                </a:solidFill>
                <a:latin typeface="Arial"/>
                <a:ea typeface="Arial"/>
              </a:rPr>
              <a:t>02.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45335" y="3143161"/>
            <a:ext cx="2149865" cy="151240"/>
          </a:xfrm>
          <a:prstGeom prst="rect">
            <a:avLst/>
          </a:prstGeom>
          <a:solidFill>
            <a:schemeClr val="accent2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9065661" y="3892448"/>
            <a:ext cx="214986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大数据法律法规框架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9065661" y="3154517"/>
            <a:ext cx="2149864" cy="70788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1" u="none" baseline="0">
                <a:solidFill>
                  <a:srgbClr val="FFFFFF"/>
                </a:solidFill>
                <a:latin typeface="Arial"/>
                <a:ea typeface="Arial"/>
              </a:rPr>
              <a:t>04.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065658" y="4591606"/>
            <a:ext cx="2149865" cy="151240"/>
          </a:xfrm>
          <a:prstGeom prst="rect">
            <a:avLst/>
          </a:prstGeom>
          <a:solidFill>
            <a:schemeClr val="accent2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674063" y="5348433"/>
            <a:ext cx="214986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关于大数据的伦理问题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74063" y="4610502"/>
            <a:ext cx="2149864" cy="70788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1" u="none" baseline="0">
                <a:solidFill>
                  <a:srgbClr val="FFFFFF"/>
                </a:solidFill>
                <a:latin typeface="Arial"/>
                <a:ea typeface="Arial"/>
              </a:rPr>
              <a:t>05.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74063" y="6047591"/>
            <a:ext cx="2149865" cy="151240"/>
          </a:xfrm>
          <a:prstGeom prst="rect">
            <a:avLst/>
          </a:prstGeom>
          <a:solidFill>
            <a:schemeClr val="accent2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3458999" y="5348433"/>
            <a:ext cx="214986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大数据未来发展趋势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3458999" y="4610502"/>
            <a:ext cx="2149864" cy="70788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1" u="none" baseline="0">
                <a:solidFill>
                  <a:srgbClr val="FFFFFF"/>
                </a:solidFill>
                <a:latin typeface="Arial"/>
                <a:ea typeface="Arial"/>
              </a:rPr>
              <a:t>06.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458998" y="6047591"/>
            <a:ext cx="2149865" cy="151240"/>
          </a:xfrm>
          <a:prstGeom prst="rect">
            <a:avLst/>
          </a:prstGeom>
          <a:solidFill>
            <a:schemeClr val="accent2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 fontScale="25000" lnSpcReduction="20000"/>
          </a:bodyPr>
          <a:lstStyle/>
          <a:p>
            <a:pPr marL="0"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/>
            </a:gs>
            <a:gs pos="100000">
              <a:srgbClr val="3091CC"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781368" y="2844225"/>
            <a:ext cx="5737531" cy="58477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zh-CN" altLang="en-US" sz="3200" b="1" i="0" u="none" baseline="0" dirty="0">
                <a:solidFill>
                  <a:srgbClr val="FFFFFF"/>
                </a:solidFill>
                <a:latin typeface="微软雅黑"/>
                <a:ea typeface="微软雅黑"/>
              </a:rPr>
              <a:t>大数据技术标准概述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12000" y="1187698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0953420" y="1165347"/>
            <a:ext cx="498855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FFFFFF"/>
                </a:solidFill>
                <a:latin typeface="Arial"/>
                <a:ea typeface="Arial"/>
              </a:rPr>
              <a:t>.</a:t>
            </a:r>
            <a:endParaRPr lang="en-US" sz="1100"/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41FC4878-BB3C-1CB5-0C5A-13BC315543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0485490"/>
              </p:ext>
            </p:extLst>
          </p:nvPr>
        </p:nvGraphicFramePr>
        <p:xfrm>
          <a:off x="5771670" y="3352800"/>
          <a:ext cx="4978400" cy="3471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3583561" y="448010"/>
            <a:ext cx="2540000" cy="683095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 dirty="0">
                <a:solidFill>
                  <a:srgbClr val="FFFFFF"/>
                </a:solidFill>
                <a:latin typeface="微软雅黑"/>
                <a:ea typeface="微软雅黑"/>
              </a:rPr>
              <a:t>技术标准分类</a:t>
            </a:r>
          </a:p>
        </p:txBody>
      </p:sp>
      <p:sp>
        <p:nvSpPr>
          <p:cNvPr id="3" name="AutoShape 3"/>
          <p:cNvSpPr/>
          <p:nvPr/>
        </p:nvSpPr>
        <p:spPr>
          <a:xfrm>
            <a:off x="482345" y="1336599"/>
            <a:ext cx="3457354" cy="4797501"/>
          </a:xfrm>
          <a:prstGeom prst="roundRect">
            <a:avLst>
              <a:gd name="adj" fmla="val 50000"/>
            </a:avLst>
          </a:prstGeom>
          <a:solidFill>
            <a:srgbClr val="F0F0F0">
              <a:alpha val="15000"/>
            </a:srgb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592285" y="1649264"/>
            <a:ext cx="1257944" cy="1257944"/>
          </a:xfrm>
          <a:prstGeom prst="ellipse">
            <a:avLst/>
          </a:prstGeom>
          <a:gradFill>
            <a:gsLst>
              <a:gs pos="0">
                <a:srgbClr val="3091CC">
                  <a:lumMod val="60000"/>
                  <a:lumOff val="40000"/>
                </a:srgbClr>
              </a:gs>
              <a:gs pos="50000">
                <a:srgbClr val="3091CC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2005477" y="2116402"/>
            <a:ext cx="431562" cy="323668"/>
          </a:xfrm>
          <a:custGeom>
            <a:avLst/>
            <a:gdLst/>
            <a:ahLst/>
            <a:cxnLst/>
            <a:rect l="l" t="t" r="r" b="b"/>
            <a:pathLst>
              <a:path w="533400" h="400050">
                <a:moveTo>
                  <a:pt x="505433" y="621"/>
                </a:moveTo>
                <a:cubicBezTo>
                  <a:pt x="521245" y="621"/>
                  <a:pt x="534008" y="13385"/>
                  <a:pt x="534008" y="29196"/>
                </a:cubicBezTo>
                <a:lnTo>
                  <a:pt x="534008" y="372096"/>
                </a:lnTo>
                <a:cubicBezTo>
                  <a:pt x="534008" y="387907"/>
                  <a:pt x="521245" y="400671"/>
                  <a:pt x="505433" y="400671"/>
                </a:cubicBezTo>
                <a:lnTo>
                  <a:pt x="29183" y="400671"/>
                </a:lnTo>
                <a:cubicBezTo>
                  <a:pt x="13371" y="400671"/>
                  <a:pt x="608" y="387907"/>
                  <a:pt x="608" y="372096"/>
                </a:cubicBezTo>
                <a:lnTo>
                  <a:pt x="608" y="29196"/>
                </a:lnTo>
                <a:cubicBezTo>
                  <a:pt x="608" y="13385"/>
                  <a:pt x="13371" y="621"/>
                  <a:pt x="29183" y="621"/>
                </a:cubicBezTo>
                <a:lnTo>
                  <a:pt x="505433" y="621"/>
                </a:lnTo>
                <a:close/>
                <a:moveTo>
                  <a:pt x="391419" y="198646"/>
                </a:moveTo>
                <a:cubicBezTo>
                  <a:pt x="378846" y="189121"/>
                  <a:pt x="360939" y="191597"/>
                  <a:pt x="351414" y="204170"/>
                </a:cubicBezTo>
                <a:lnTo>
                  <a:pt x="351414" y="204170"/>
                </a:lnTo>
                <a:lnTo>
                  <a:pt x="267118" y="315613"/>
                </a:lnTo>
                <a:cubicBezTo>
                  <a:pt x="266355" y="316660"/>
                  <a:pt x="265498" y="317518"/>
                  <a:pt x="264641" y="318470"/>
                </a:cubicBezTo>
                <a:cubicBezTo>
                  <a:pt x="253592" y="329710"/>
                  <a:pt x="235495" y="329805"/>
                  <a:pt x="224255" y="318756"/>
                </a:cubicBezTo>
                <a:lnTo>
                  <a:pt x="224255" y="318756"/>
                </a:lnTo>
                <a:lnTo>
                  <a:pt x="162152" y="257415"/>
                </a:lnTo>
                <a:cubicBezTo>
                  <a:pt x="161485" y="256844"/>
                  <a:pt x="160914" y="256177"/>
                  <a:pt x="160247" y="255701"/>
                </a:cubicBezTo>
                <a:cubicBezTo>
                  <a:pt x="148055" y="245699"/>
                  <a:pt x="130053" y="247414"/>
                  <a:pt x="120052" y="259606"/>
                </a:cubicBezTo>
                <a:lnTo>
                  <a:pt x="120052" y="259606"/>
                </a:lnTo>
                <a:lnTo>
                  <a:pt x="32517" y="366095"/>
                </a:lnTo>
                <a:cubicBezTo>
                  <a:pt x="31088" y="367810"/>
                  <a:pt x="30326" y="369905"/>
                  <a:pt x="30326" y="372096"/>
                </a:cubicBezTo>
                <a:cubicBezTo>
                  <a:pt x="30326" y="377335"/>
                  <a:pt x="34612" y="381621"/>
                  <a:pt x="39851" y="381621"/>
                </a:cubicBezTo>
                <a:lnTo>
                  <a:pt x="39851" y="381621"/>
                </a:lnTo>
                <a:lnTo>
                  <a:pt x="497242" y="381621"/>
                </a:lnTo>
                <a:cubicBezTo>
                  <a:pt x="499146" y="381621"/>
                  <a:pt x="500956" y="381050"/>
                  <a:pt x="502480" y="380002"/>
                </a:cubicBezTo>
                <a:cubicBezTo>
                  <a:pt x="506862" y="377049"/>
                  <a:pt x="508005" y="371144"/>
                  <a:pt x="505147" y="366762"/>
                </a:cubicBezTo>
                <a:lnTo>
                  <a:pt x="505147" y="366762"/>
                </a:lnTo>
                <a:lnTo>
                  <a:pt x="397991" y="205504"/>
                </a:lnTo>
                <a:cubicBezTo>
                  <a:pt x="396181" y="202932"/>
                  <a:pt x="393990" y="200551"/>
                  <a:pt x="391419" y="198646"/>
                </a:cubicBezTo>
                <a:close/>
                <a:moveTo>
                  <a:pt x="95858" y="57771"/>
                </a:moveTo>
                <a:cubicBezTo>
                  <a:pt x="74808" y="57771"/>
                  <a:pt x="57758" y="74821"/>
                  <a:pt x="57758" y="95871"/>
                </a:cubicBezTo>
                <a:cubicBezTo>
                  <a:pt x="57758" y="116921"/>
                  <a:pt x="74808" y="133971"/>
                  <a:pt x="95858" y="133971"/>
                </a:cubicBezTo>
                <a:cubicBezTo>
                  <a:pt x="116908" y="133971"/>
                  <a:pt x="133958" y="116921"/>
                  <a:pt x="133958" y="95871"/>
                </a:cubicBezTo>
                <a:cubicBezTo>
                  <a:pt x="133958" y="74821"/>
                  <a:pt x="116908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 fontScale="92500" lnSpcReduction="20000"/>
          </a:bodyPr>
          <a:lstStyle/>
          <a:p>
            <a:pPr marL="0" algn="ctr"/>
            <a:endParaRPr dirty="0"/>
          </a:p>
        </p:txBody>
      </p:sp>
      <p:sp>
        <p:nvSpPr>
          <p:cNvPr id="6" name="TextBox 6"/>
          <p:cNvSpPr txBox="1"/>
          <p:nvPr/>
        </p:nvSpPr>
        <p:spPr>
          <a:xfrm>
            <a:off x="660400" y="3070575"/>
            <a:ext cx="3055566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数据存储标准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660400" y="3572496"/>
            <a:ext cx="3055565" cy="140038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数据存储标准主要包括数据格式、压缩算法等规范。如Hadoop的HDFS和Apache Parquet格式，旨在确保数据的高效存储与检索，从而支持海量数据的计算需求。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2438" y="1336599"/>
            <a:ext cx="3457354" cy="4797501"/>
          </a:xfrm>
          <a:prstGeom prst="roundRect">
            <a:avLst>
              <a:gd name="adj" fmla="val 50000"/>
            </a:avLst>
          </a:prstGeom>
          <a:solidFill>
            <a:srgbClr val="F0F0F0">
              <a:alpha val="15000"/>
            </a:srgb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500635" y="1649264"/>
            <a:ext cx="1257944" cy="1257944"/>
          </a:xfrm>
          <a:prstGeom prst="ellipse">
            <a:avLst/>
          </a:prstGeom>
          <a:gradFill>
            <a:gsLst>
              <a:gs pos="0">
                <a:srgbClr val="2F72A7">
                  <a:lumMod val="60000"/>
                  <a:lumOff val="40000"/>
                </a:srgbClr>
              </a:gs>
              <a:gs pos="50000">
                <a:srgbClr val="2F72A7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2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5932756" y="2062456"/>
            <a:ext cx="393702" cy="431562"/>
          </a:xfrm>
          <a:custGeom>
            <a:avLst/>
            <a:gdLst/>
            <a:ahLst/>
            <a:cxnLst/>
            <a:rect l="l" t="t" r="r" b="b"/>
            <a:pathLst>
              <a:path w="495300" h="542925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3605" y="452582"/>
                  <a:pt x="1120" y="358856"/>
                  <a:pt x="1120" y="248271"/>
                </a:cubicBez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192763" y="489539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close/>
                <a:moveTo>
                  <a:pt x="248770" y="143496"/>
                </a:moveTo>
                <a:cubicBezTo>
                  <a:pt x="190858" y="143496"/>
                  <a:pt x="143995" y="190359"/>
                  <a:pt x="143995" y="248271"/>
                </a:cubicBezTo>
                <a:cubicBezTo>
                  <a:pt x="143995" y="306183"/>
                  <a:pt x="190858" y="353046"/>
                  <a:pt x="248770" y="353046"/>
                </a:cubicBezTo>
                <a:cubicBezTo>
                  <a:pt x="306682" y="353046"/>
                  <a:pt x="353545" y="306183"/>
                  <a:pt x="353545" y="248271"/>
                </a:cubicBezTo>
                <a:cubicBezTo>
                  <a:pt x="353545" y="190359"/>
                  <a:pt x="306682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59927" y="114921"/>
                  <a:pt x="353545" y="121303"/>
                  <a:pt x="353545" y="129209"/>
                </a:cubicBezTo>
                <a:cubicBezTo>
                  <a:pt x="353545" y="137114"/>
                  <a:pt x="359927" y="143496"/>
                  <a:pt x="367833" y="143496"/>
                </a:cubicBezTo>
                <a:cubicBezTo>
                  <a:pt x="375738" y="143496"/>
                  <a:pt x="382120" y="137114"/>
                  <a:pt x="382120" y="129209"/>
                </a:cubicBezTo>
                <a:cubicBezTo>
                  <a:pt x="382120" y="121303"/>
                  <a:pt x="375738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4620638" y="3070575"/>
            <a:ext cx="300584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数据处理标准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620639" y="3572496"/>
            <a:ext cx="3005846" cy="140038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数据处理标准涵盖了数据分析与处理流程的规范，如Apache Spark和MapReduce的编程模型。这些标准有助于提高数据处理的效率和一致性，促进数据应用的广泛性。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222072" y="1336599"/>
            <a:ext cx="3457354" cy="4797501"/>
          </a:xfrm>
          <a:prstGeom prst="roundRect">
            <a:avLst>
              <a:gd name="adj" fmla="val 50000"/>
            </a:avLst>
          </a:prstGeom>
          <a:solidFill>
            <a:srgbClr val="F0F0F0">
              <a:alpha val="15000"/>
            </a:srgb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338801" y="1649264"/>
            <a:ext cx="1257944" cy="1257944"/>
          </a:xfrm>
          <a:prstGeom prst="ellipse">
            <a:avLst/>
          </a:prstGeom>
          <a:gradFill>
            <a:gsLst>
              <a:gs pos="0">
                <a:srgbClr val="3091CC">
                  <a:lumMod val="60000"/>
                  <a:lumOff val="40000"/>
                </a:srgbClr>
              </a:gs>
              <a:gs pos="50000">
                <a:srgbClr val="3091CC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9751993" y="2098597"/>
            <a:ext cx="431562" cy="359278"/>
          </a:xfrm>
          <a:custGeom>
            <a:avLst/>
            <a:gdLst/>
            <a:ahLst/>
            <a:cxnLst/>
            <a:rect l="l" t="t" r="r" b="b"/>
            <a:pathLst>
              <a:path w="526297" h="438150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8433882" y="3070575"/>
            <a:ext cx="3085018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数据交换标准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433882" y="3572496"/>
            <a:ext cx="3085017" cy="11772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数据交换标准规范不同系统之间的数据传输方式，例如使用RESTful API和SOAP协议。这些标准能够确保数据在跨平台运行时的互通性，减少误差与延迟。</a:t>
            </a:r>
            <a:endParaRPr lang="en-US" sz="1100"/>
          </a:p>
        </p:txBody>
      </p:sp>
      <p:pic>
        <p:nvPicPr>
          <p:cNvPr id="19" name="20 18">
            <a:extLst>
              <a:ext uri="{FF2B5EF4-FFF2-40B4-BE49-F238E27FC236}">
                <a16:creationId xmlns:a16="http://schemas.microsoft.com/office/drawing/2014/main" id="{B9BB28DA-78E2-B76B-A816-7E6AF8C7F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387" y="0"/>
            <a:ext cx="2345270" cy="13060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国内外技术标准现状</a:t>
            </a:r>
          </a:p>
        </p:txBody>
      </p:sp>
      <p:sp>
        <p:nvSpPr>
          <p:cNvPr id="3" name="AutoShape 3"/>
          <p:cNvSpPr/>
          <p:nvPr/>
        </p:nvSpPr>
        <p:spPr>
          <a:xfrm>
            <a:off x="5595675" y="1332277"/>
            <a:ext cx="60959" cy="4801823"/>
          </a:xfrm>
          <a:prstGeom prst="rect">
            <a:avLst/>
          </a:prstGeom>
          <a:solidFill>
            <a:srgbClr val="778495">
              <a:lumMod val="10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 rot="16200000">
            <a:off x="4143265" y="3622863"/>
            <a:ext cx="1189683" cy="1168717"/>
          </a:xfrm>
          <a:prstGeom prst="round2DiagRect">
            <a:avLst>
              <a:gd name="adj1" fmla="val 50000"/>
              <a:gd name="adj2" fmla="val 0"/>
            </a:avLst>
          </a:prstGeom>
          <a:noFill/>
          <a:ln w="28575" cap="flat" cmpd="sng">
            <a:solidFill>
              <a:srgbClr val="FFFFFF">
                <a:lumMod val="50000"/>
                <a:lumOff val="5000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 rot="16200000">
            <a:off x="4250461" y="3716353"/>
            <a:ext cx="997360" cy="979782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FFFFFF"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 rot="10800000" flipV="1">
            <a:off x="4482529" y="4010856"/>
            <a:ext cx="482637" cy="329342"/>
          </a:xfrm>
          <a:custGeom>
            <a:avLst/>
            <a:gdLst/>
            <a:ahLst/>
            <a:cxnLst/>
            <a:rect l="l" t="t" r="r" b="b"/>
            <a:pathLst>
              <a:path w="607639" h="414642">
                <a:moveTo>
                  <a:pt x="20293" y="364067"/>
                </a:moveTo>
                <a:lnTo>
                  <a:pt x="20293" y="384244"/>
                </a:lnTo>
                <a:cubicBezTo>
                  <a:pt x="20293" y="390377"/>
                  <a:pt x="24298" y="394377"/>
                  <a:pt x="30351" y="394377"/>
                </a:cubicBezTo>
                <a:lnTo>
                  <a:pt x="577199" y="394377"/>
                </a:lnTo>
                <a:cubicBezTo>
                  <a:pt x="583341" y="394377"/>
                  <a:pt x="587346" y="390377"/>
                  <a:pt x="587346" y="384244"/>
                </a:cubicBezTo>
                <a:lnTo>
                  <a:pt x="587346" y="364067"/>
                </a:lnTo>
                <a:lnTo>
                  <a:pt x="556995" y="364067"/>
                </a:lnTo>
                <a:lnTo>
                  <a:pt x="394916" y="364067"/>
                </a:lnTo>
                <a:lnTo>
                  <a:pt x="394916" y="374200"/>
                </a:lnTo>
                <a:cubicBezTo>
                  <a:pt x="394916" y="380244"/>
                  <a:pt x="390911" y="384244"/>
                  <a:pt x="384859" y="384244"/>
                </a:cubicBezTo>
                <a:lnTo>
                  <a:pt x="222780" y="384244"/>
                </a:lnTo>
                <a:cubicBezTo>
                  <a:pt x="216728" y="384244"/>
                  <a:pt x="212634" y="380244"/>
                  <a:pt x="212634" y="374200"/>
                </a:cubicBezTo>
                <a:lnTo>
                  <a:pt x="212634" y="364067"/>
                </a:lnTo>
                <a:lnTo>
                  <a:pt x="50644" y="364067"/>
                </a:lnTo>
                <a:close/>
                <a:moveTo>
                  <a:pt x="141754" y="232583"/>
                </a:moveTo>
                <a:lnTo>
                  <a:pt x="161961" y="232583"/>
                </a:lnTo>
                <a:cubicBezTo>
                  <a:pt x="168104" y="232583"/>
                  <a:pt x="172110" y="236584"/>
                  <a:pt x="172110" y="242719"/>
                </a:cubicBezTo>
                <a:cubicBezTo>
                  <a:pt x="172110" y="248764"/>
                  <a:pt x="168104" y="252765"/>
                  <a:pt x="161961" y="252765"/>
                </a:cubicBezTo>
                <a:lnTo>
                  <a:pt x="141754" y="252765"/>
                </a:lnTo>
                <a:cubicBezTo>
                  <a:pt x="135700" y="252765"/>
                  <a:pt x="131605" y="248764"/>
                  <a:pt x="131605" y="242719"/>
                </a:cubicBezTo>
                <a:cubicBezTo>
                  <a:pt x="131605" y="236584"/>
                  <a:pt x="135700" y="232583"/>
                  <a:pt x="141754" y="232583"/>
                </a:cubicBezTo>
                <a:close/>
                <a:moveTo>
                  <a:pt x="141758" y="192149"/>
                </a:moveTo>
                <a:lnTo>
                  <a:pt x="182279" y="192149"/>
                </a:lnTo>
                <a:cubicBezTo>
                  <a:pt x="188335" y="192149"/>
                  <a:pt x="192432" y="196150"/>
                  <a:pt x="192432" y="202196"/>
                </a:cubicBezTo>
                <a:cubicBezTo>
                  <a:pt x="192432" y="208330"/>
                  <a:pt x="188335" y="212331"/>
                  <a:pt x="182279" y="212331"/>
                </a:cubicBezTo>
                <a:lnTo>
                  <a:pt x="141758" y="212331"/>
                </a:lnTo>
                <a:cubicBezTo>
                  <a:pt x="135702" y="212331"/>
                  <a:pt x="131605" y="208330"/>
                  <a:pt x="131605" y="202196"/>
                </a:cubicBezTo>
                <a:cubicBezTo>
                  <a:pt x="131605" y="196150"/>
                  <a:pt x="135702" y="192149"/>
                  <a:pt x="141758" y="192149"/>
                </a:cubicBezTo>
                <a:close/>
                <a:moveTo>
                  <a:pt x="141754" y="151716"/>
                </a:moveTo>
                <a:lnTo>
                  <a:pt x="161961" y="151716"/>
                </a:lnTo>
                <a:cubicBezTo>
                  <a:pt x="168104" y="151716"/>
                  <a:pt x="172110" y="155717"/>
                  <a:pt x="172110" y="161763"/>
                </a:cubicBezTo>
                <a:cubicBezTo>
                  <a:pt x="172110" y="167897"/>
                  <a:pt x="168104" y="171898"/>
                  <a:pt x="161961" y="171898"/>
                </a:cubicBezTo>
                <a:lnTo>
                  <a:pt x="141754" y="171898"/>
                </a:lnTo>
                <a:cubicBezTo>
                  <a:pt x="135700" y="171898"/>
                  <a:pt x="131605" y="167897"/>
                  <a:pt x="131605" y="161763"/>
                </a:cubicBezTo>
                <a:cubicBezTo>
                  <a:pt x="131605" y="155717"/>
                  <a:pt x="135700" y="151716"/>
                  <a:pt x="141754" y="151716"/>
                </a:cubicBezTo>
                <a:close/>
                <a:moveTo>
                  <a:pt x="141758" y="111211"/>
                </a:moveTo>
                <a:lnTo>
                  <a:pt x="182279" y="111211"/>
                </a:lnTo>
                <a:cubicBezTo>
                  <a:pt x="188335" y="111211"/>
                  <a:pt x="192432" y="115297"/>
                  <a:pt x="192432" y="121337"/>
                </a:cubicBezTo>
                <a:cubicBezTo>
                  <a:pt x="192432" y="127377"/>
                  <a:pt x="188335" y="131463"/>
                  <a:pt x="182279" y="131463"/>
                </a:cubicBezTo>
                <a:lnTo>
                  <a:pt x="141758" y="131463"/>
                </a:lnTo>
                <a:cubicBezTo>
                  <a:pt x="135702" y="131463"/>
                  <a:pt x="131605" y="127377"/>
                  <a:pt x="131605" y="121337"/>
                </a:cubicBezTo>
                <a:cubicBezTo>
                  <a:pt x="131605" y="115297"/>
                  <a:pt x="135702" y="111211"/>
                  <a:pt x="141758" y="111211"/>
                </a:cubicBezTo>
                <a:close/>
                <a:moveTo>
                  <a:pt x="425367" y="101191"/>
                </a:moveTo>
                <a:lnTo>
                  <a:pt x="496228" y="101191"/>
                </a:lnTo>
                <a:cubicBezTo>
                  <a:pt x="502282" y="101191"/>
                  <a:pt x="506377" y="105189"/>
                  <a:pt x="506377" y="111231"/>
                </a:cubicBezTo>
                <a:lnTo>
                  <a:pt x="506377" y="182042"/>
                </a:lnTo>
                <a:cubicBezTo>
                  <a:pt x="506377" y="188084"/>
                  <a:pt x="502282" y="192171"/>
                  <a:pt x="496228" y="192171"/>
                </a:cubicBezTo>
                <a:cubicBezTo>
                  <a:pt x="490175" y="192171"/>
                  <a:pt x="486080" y="188084"/>
                  <a:pt x="486080" y="182042"/>
                </a:cubicBezTo>
                <a:lnTo>
                  <a:pt x="486080" y="135575"/>
                </a:lnTo>
                <a:lnTo>
                  <a:pt x="402043" y="219447"/>
                </a:lnTo>
                <a:cubicBezTo>
                  <a:pt x="399996" y="221491"/>
                  <a:pt x="397948" y="222468"/>
                  <a:pt x="394921" y="222468"/>
                </a:cubicBezTo>
                <a:cubicBezTo>
                  <a:pt x="391895" y="222468"/>
                  <a:pt x="389847" y="221491"/>
                  <a:pt x="387889" y="219447"/>
                </a:cubicBezTo>
                <a:lnTo>
                  <a:pt x="344268" y="176001"/>
                </a:lnTo>
                <a:lnTo>
                  <a:pt x="270380" y="249744"/>
                </a:lnTo>
                <a:cubicBezTo>
                  <a:pt x="268332" y="251788"/>
                  <a:pt x="266285" y="252765"/>
                  <a:pt x="263258" y="252765"/>
                </a:cubicBezTo>
                <a:cubicBezTo>
                  <a:pt x="260231" y="252765"/>
                  <a:pt x="258184" y="251788"/>
                  <a:pt x="256225" y="249744"/>
                </a:cubicBezTo>
                <a:cubicBezTo>
                  <a:pt x="252130" y="245746"/>
                  <a:pt x="252130" y="239616"/>
                  <a:pt x="256225" y="235617"/>
                </a:cubicBezTo>
                <a:lnTo>
                  <a:pt x="337235" y="154766"/>
                </a:lnTo>
                <a:cubicBezTo>
                  <a:pt x="337769" y="154233"/>
                  <a:pt x="338303" y="153789"/>
                  <a:pt x="338837" y="153433"/>
                </a:cubicBezTo>
                <a:cubicBezTo>
                  <a:pt x="339372" y="152989"/>
                  <a:pt x="339995" y="152723"/>
                  <a:pt x="340618" y="152456"/>
                </a:cubicBezTo>
                <a:cubicBezTo>
                  <a:pt x="340885" y="152367"/>
                  <a:pt x="341152" y="152190"/>
                  <a:pt x="341508" y="152101"/>
                </a:cubicBezTo>
                <a:cubicBezTo>
                  <a:pt x="342131" y="151923"/>
                  <a:pt x="342754" y="151834"/>
                  <a:pt x="343378" y="151745"/>
                </a:cubicBezTo>
                <a:cubicBezTo>
                  <a:pt x="343645" y="151745"/>
                  <a:pt x="344001" y="151745"/>
                  <a:pt x="344268" y="151745"/>
                </a:cubicBezTo>
                <a:cubicBezTo>
                  <a:pt x="344980" y="151745"/>
                  <a:pt x="345603" y="151745"/>
                  <a:pt x="346226" y="151923"/>
                </a:cubicBezTo>
                <a:cubicBezTo>
                  <a:pt x="348096" y="152278"/>
                  <a:pt x="349876" y="153256"/>
                  <a:pt x="351390" y="154766"/>
                </a:cubicBezTo>
                <a:lnTo>
                  <a:pt x="394921" y="198213"/>
                </a:lnTo>
                <a:lnTo>
                  <a:pt x="471925" y="121359"/>
                </a:lnTo>
                <a:lnTo>
                  <a:pt x="425367" y="121359"/>
                </a:lnTo>
                <a:cubicBezTo>
                  <a:pt x="419224" y="121359"/>
                  <a:pt x="415218" y="117361"/>
                  <a:pt x="415218" y="111231"/>
                </a:cubicBezTo>
                <a:cubicBezTo>
                  <a:pt x="415218" y="105189"/>
                  <a:pt x="419224" y="101191"/>
                  <a:pt x="425367" y="101191"/>
                </a:cubicBezTo>
                <a:close/>
                <a:moveTo>
                  <a:pt x="101297" y="91029"/>
                </a:moveTo>
                <a:cubicBezTo>
                  <a:pt x="107337" y="91029"/>
                  <a:pt x="111423" y="95028"/>
                  <a:pt x="111423" y="101159"/>
                </a:cubicBezTo>
                <a:lnTo>
                  <a:pt x="111423" y="262887"/>
                </a:lnTo>
                <a:cubicBezTo>
                  <a:pt x="111423" y="268929"/>
                  <a:pt x="107337" y="273017"/>
                  <a:pt x="101297" y="273017"/>
                </a:cubicBezTo>
                <a:cubicBezTo>
                  <a:pt x="95257" y="273017"/>
                  <a:pt x="91171" y="268929"/>
                  <a:pt x="91171" y="262887"/>
                </a:cubicBezTo>
                <a:lnTo>
                  <a:pt x="91171" y="101159"/>
                </a:lnTo>
                <a:cubicBezTo>
                  <a:pt x="91171" y="95028"/>
                  <a:pt x="95257" y="91029"/>
                  <a:pt x="101297" y="91029"/>
                </a:cubicBezTo>
                <a:close/>
                <a:moveTo>
                  <a:pt x="70848" y="20177"/>
                </a:moveTo>
                <a:cubicBezTo>
                  <a:pt x="64796" y="20177"/>
                  <a:pt x="60791" y="24265"/>
                  <a:pt x="60791" y="30309"/>
                </a:cubicBezTo>
                <a:lnTo>
                  <a:pt x="60791" y="343802"/>
                </a:lnTo>
                <a:lnTo>
                  <a:pt x="222780" y="343802"/>
                </a:lnTo>
                <a:cubicBezTo>
                  <a:pt x="228833" y="343802"/>
                  <a:pt x="232927" y="347890"/>
                  <a:pt x="232927" y="353935"/>
                </a:cubicBezTo>
                <a:lnTo>
                  <a:pt x="232927" y="364067"/>
                </a:lnTo>
                <a:lnTo>
                  <a:pt x="374712" y="364067"/>
                </a:lnTo>
                <a:lnTo>
                  <a:pt x="374712" y="353935"/>
                </a:lnTo>
                <a:cubicBezTo>
                  <a:pt x="374712" y="347890"/>
                  <a:pt x="378717" y="343802"/>
                  <a:pt x="384859" y="343802"/>
                </a:cubicBezTo>
                <a:lnTo>
                  <a:pt x="546848" y="343802"/>
                </a:lnTo>
                <a:lnTo>
                  <a:pt x="546848" y="30309"/>
                </a:lnTo>
                <a:cubicBezTo>
                  <a:pt x="546848" y="24265"/>
                  <a:pt x="542754" y="20177"/>
                  <a:pt x="536702" y="20177"/>
                </a:cubicBezTo>
                <a:close/>
                <a:moveTo>
                  <a:pt x="70848" y="0"/>
                </a:moveTo>
                <a:lnTo>
                  <a:pt x="536702" y="0"/>
                </a:lnTo>
                <a:cubicBezTo>
                  <a:pt x="553969" y="0"/>
                  <a:pt x="567142" y="13155"/>
                  <a:pt x="567142" y="30309"/>
                </a:cubicBezTo>
                <a:lnTo>
                  <a:pt x="567142" y="343802"/>
                </a:lnTo>
                <a:lnTo>
                  <a:pt x="597492" y="343802"/>
                </a:lnTo>
                <a:cubicBezTo>
                  <a:pt x="603545" y="343802"/>
                  <a:pt x="607639" y="347890"/>
                  <a:pt x="607639" y="353935"/>
                </a:cubicBezTo>
                <a:lnTo>
                  <a:pt x="607639" y="384244"/>
                </a:lnTo>
                <a:cubicBezTo>
                  <a:pt x="607639" y="401487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7"/>
                  <a:pt x="0" y="384244"/>
                </a:cubicBezTo>
                <a:lnTo>
                  <a:pt x="0" y="353935"/>
                </a:lnTo>
                <a:cubicBezTo>
                  <a:pt x="0" y="347890"/>
                  <a:pt x="4094" y="343802"/>
                  <a:pt x="10147" y="343802"/>
                </a:cubicBezTo>
                <a:lnTo>
                  <a:pt x="40497" y="343802"/>
                </a:lnTo>
                <a:lnTo>
                  <a:pt x="40497" y="30309"/>
                </a:lnTo>
                <a:cubicBezTo>
                  <a:pt x="40497" y="13155"/>
                  <a:pt x="53670" y="0"/>
                  <a:pt x="70848" y="0"/>
                </a:cubicBezTo>
                <a:close/>
              </a:path>
            </a:pathLst>
          </a:custGeom>
          <a:solidFill>
            <a:srgbClr val="2F2F2F"/>
          </a:solidFill>
        </p:spPr>
        <p:txBody>
          <a:bodyPr vert="horz" lIns="91440" tIns="45720" rIns="91440" bIns="45720" anchor="ctr">
            <a:normAutofit fontScale="92500" lnSpcReduction="10000"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 rot="16200000">
            <a:off x="4098859" y="1543857"/>
            <a:ext cx="1234483" cy="1212728"/>
          </a:xfrm>
          <a:prstGeom prst="round2DiagRect">
            <a:avLst>
              <a:gd name="adj1" fmla="val 50000"/>
              <a:gd name="adj2" fmla="val 0"/>
            </a:avLst>
          </a:prstGeom>
          <a:noFill/>
          <a:ln w="28575" cap="flat" cmpd="sng">
            <a:solidFill>
              <a:srgbClr val="FFFFFF">
                <a:lumMod val="50000"/>
                <a:lumOff val="50000"/>
              </a:srgb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 rot="16200000">
            <a:off x="4210091" y="1640867"/>
            <a:ext cx="1034918" cy="1016679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FFFFFF"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4451413" y="1869472"/>
            <a:ext cx="579957" cy="579195"/>
          </a:xfrm>
          <a:custGeom>
            <a:avLst/>
            <a:gdLst/>
            <a:ahLst/>
            <a:cxnLst/>
            <a:rect l="l" t="t" r="r" b="b"/>
            <a:pathLst>
              <a:path w="591547" h="590770">
                <a:moveTo>
                  <a:pt x="86413" y="515758"/>
                </a:moveTo>
                <a:lnTo>
                  <a:pt x="171919" y="515758"/>
                </a:lnTo>
                <a:lnTo>
                  <a:pt x="171919" y="537523"/>
                </a:lnTo>
                <a:lnTo>
                  <a:pt x="86413" y="537523"/>
                </a:lnTo>
                <a:close/>
                <a:moveTo>
                  <a:pt x="86413" y="461733"/>
                </a:moveTo>
                <a:lnTo>
                  <a:pt x="171919" y="461733"/>
                </a:lnTo>
                <a:lnTo>
                  <a:pt x="171919" y="483498"/>
                </a:lnTo>
                <a:lnTo>
                  <a:pt x="86413" y="483498"/>
                </a:lnTo>
                <a:close/>
                <a:moveTo>
                  <a:pt x="86413" y="408616"/>
                </a:moveTo>
                <a:lnTo>
                  <a:pt x="171919" y="408616"/>
                </a:lnTo>
                <a:lnTo>
                  <a:pt x="171919" y="429474"/>
                </a:lnTo>
                <a:lnTo>
                  <a:pt x="86413" y="429474"/>
                </a:lnTo>
                <a:close/>
                <a:moveTo>
                  <a:pt x="204177" y="357041"/>
                </a:moveTo>
                <a:lnTo>
                  <a:pt x="204177" y="569815"/>
                </a:lnTo>
                <a:lnTo>
                  <a:pt x="333300" y="569815"/>
                </a:lnTo>
                <a:lnTo>
                  <a:pt x="333300" y="382026"/>
                </a:lnTo>
                <a:close/>
                <a:moveTo>
                  <a:pt x="183194" y="357041"/>
                </a:moveTo>
                <a:lnTo>
                  <a:pt x="75053" y="382026"/>
                </a:lnTo>
                <a:lnTo>
                  <a:pt x="75053" y="569815"/>
                </a:lnTo>
                <a:lnTo>
                  <a:pt x="183194" y="569815"/>
                </a:lnTo>
                <a:close/>
                <a:moveTo>
                  <a:pt x="247709" y="311838"/>
                </a:moveTo>
                <a:lnTo>
                  <a:pt x="322851" y="311838"/>
                </a:lnTo>
                <a:lnTo>
                  <a:pt x="322851" y="332826"/>
                </a:lnTo>
                <a:lnTo>
                  <a:pt x="247709" y="332826"/>
                </a:lnTo>
                <a:close/>
                <a:moveTo>
                  <a:pt x="247709" y="257944"/>
                </a:moveTo>
                <a:lnTo>
                  <a:pt x="322851" y="257944"/>
                </a:lnTo>
                <a:lnTo>
                  <a:pt x="322851" y="279580"/>
                </a:lnTo>
                <a:lnTo>
                  <a:pt x="247709" y="279580"/>
                </a:lnTo>
                <a:close/>
                <a:moveTo>
                  <a:pt x="247709" y="203919"/>
                </a:moveTo>
                <a:lnTo>
                  <a:pt x="322851" y="203919"/>
                </a:lnTo>
                <a:lnTo>
                  <a:pt x="322851" y="225684"/>
                </a:lnTo>
                <a:lnTo>
                  <a:pt x="247709" y="225684"/>
                </a:lnTo>
                <a:close/>
                <a:moveTo>
                  <a:pt x="247709" y="150672"/>
                </a:moveTo>
                <a:lnTo>
                  <a:pt x="322851" y="150672"/>
                </a:lnTo>
                <a:lnTo>
                  <a:pt x="322851" y="171660"/>
                </a:lnTo>
                <a:lnTo>
                  <a:pt x="247709" y="171660"/>
                </a:lnTo>
                <a:close/>
                <a:moveTo>
                  <a:pt x="355090" y="102357"/>
                </a:moveTo>
                <a:lnTo>
                  <a:pt x="355090" y="373160"/>
                </a:lnTo>
                <a:lnTo>
                  <a:pt x="355090" y="376384"/>
                </a:lnTo>
                <a:lnTo>
                  <a:pt x="355090" y="569815"/>
                </a:lnTo>
                <a:lnTo>
                  <a:pt x="484213" y="569815"/>
                </a:lnTo>
                <a:lnTo>
                  <a:pt x="484213" y="154744"/>
                </a:lnTo>
                <a:close/>
                <a:moveTo>
                  <a:pt x="333300" y="99939"/>
                </a:moveTo>
                <a:lnTo>
                  <a:pt x="236458" y="125730"/>
                </a:lnTo>
                <a:lnTo>
                  <a:pt x="236458" y="341728"/>
                </a:lnTo>
                <a:lnTo>
                  <a:pt x="333300" y="360265"/>
                </a:lnTo>
                <a:close/>
                <a:moveTo>
                  <a:pt x="397862" y="21761"/>
                </a:moveTo>
                <a:cubicBezTo>
                  <a:pt x="392213" y="21761"/>
                  <a:pt x="387371" y="26596"/>
                  <a:pt x="387371" y="32238"/>
                </a:cubicBezTo>
                <a:cubicBezTo>
                  <a:pt x="387371" y="37880"/>
                  <a:pt x="392213" y="42716"/>
                  <a:pt x="397862" y="42716"/>
                </a:cubicBezTo>
                <a:cubicBezTo>
                  <a:pt x="404318" y="42716"/>
                  <a:pt x="409160" y="37880"/>
                  <a:pt x="409160" y="32238"/>
                </a:cubicBezTo>
                <a:cubicBezTo>
                  <a:pt x="409160" y="26596"/>
                  <a:pt x="404318" y="21761"/>
                  <a:pt x="397862" y="21761"/>
                </a:cubicBezTo>
                <a:close/>
                <a:moveTo>
                  <a:pt x="397862" y="0"/>
                </a:moveTo>
                <a:cubicBezTo>
                  <a:pt x="415616" y="0"/>
                  <a:pt x="430143" y="14507"/>
                  <a:pt x="430143" y="32238"/>
                </a:cubicBezTo>
                <a:cubicBezTo>
                  <a:pt x="430143" y="45940"/>
                  <a:pt x="421266" y="58029"/>
                  <a:pt x="409160" y="62865"/>
                </a:cubicBezTo>
                <a:lnTo>
                  <a:pt x="409160" y="100745"/>
                </a:lnTo>
                <a:lnTo>
                  <a:pt x="498740" y="137819"/>
                </a:lnTo>
                <a:cubicBezTo>
                  <a:pt x="502775" y="139431"/>
                  <a:pt x="506003" y="143461"/>
                  <a:pt x="506003" y="147491"/>
                </a:cubicBezTo>
                <a:lnTo>
                  <a:pt x="506003" y="569815"/>
                </a:lnTo>
                <a:lnTo>
                  <a:pt x="591547" y="569815"/>
                </a:lnTo>
                <a:lnTo>
                  <a:pt x="591547" y="590770"/>
                </a:lnTo>
                <a:lnTo>
                  <a:pt x="494705" y="590770"/>
                </a:lnTo>
                <a:lnTo>
                  <a:pt x="344598" y="590770"/>
                </a:lnTo>
                <a:lnTo>
                  <a:pt x="193685" y="590770"/>
                </a:lnTo>
                <a:lnTo>
                  <a:pt x="64562" y="590770"/>
                </a:lnTo>
                <a:lnTo>
                  <a:pt x="0" y="590770"/>
                </a:lnTo>
                <a:lnTo>
                  <a:pt x="0" y="569815"/>
                </a:lnTo>
                <a:lnTo>
                  <a:pt x="54070" y="569815"/>
                </a:lnTo>
                <a:lnTo>
                  <a:pt x="54070" y="373160"/>
                </a:lnTo>
                <a:cubicBezTo>
                  <a:pt x="54070" y="368324"/>
                  <a:pt x="57298" y="364294"/>
                  <a:pt x="62141" y="362683"/>
                </a:cubicBezTo>
                <a:lnTo>
                  <a:pt x="191264" y="333668"/>
                </a:lnTo>
                <a:cubicBezTo>
                  <a:pt x="192878" y="332862"/>
                  <a:pt x="194492" y="332862"/>
                  <a:pt x="195299" y="333668"/>
                </a:cubicBezTo>
                <a:cubicBezTo>
                  <a:pt x="196106" y="333668"/>
                  <a:pt x="196106" y="333668"/>
                  <a:pt x="196106" y="333668"/>
                </a:cubicBezTo>
                <a:lnTo>
                  <a:pt x="215475" y="336892"/>
                </a:lnTo>
                <a:lnTo>
                  <a:pt x="215475" y="116864"/>
                </a:lnTo>
                <a:cubicBezTo>
                  <a:pt x="215475" y="112028"/>
                  <a:pt x="218703" y="107999"/>
                  <a:pt x="223545" y="106387"/>
                </a:cubicBezTo>
                <a:lnTo>
                  <a:pt x="341370" y="75760"/>
                </a:lnTo>
                <a:cubicBezTo>
                  <a:pt x="342177" y="75760"/>
                  <a:pt x="342177" y="75760"/>
                  <a:pt x="342984" y="75760"/>
                </a:cubicBezTo>
                <a:cubicBezTo>
                  <a:pt x="343791" y="75760"/>
                  <a:pt x="344598" y="74954"/>
                  <a:pt x="345405" y="75760"/>
                </a:cubicBezTo>
                <a:cubicBezTo>
                  <a:pt x="346213" y="75760"/>
                  <a:pt x="347020" y="75760"/>
                  <a:pt x="347020" y="75760"/>
                </a:cubicBezTo>
                <a:cubicBezTo>
                  <a:pt x="347827" y="75760"/>
                  <a:pt x="347827" y="75760"/>
                  <a:pt x="348634" y="75760"/>
                </a:cubicBezTo>
                <a:lnTo>
                  <a:pt x="387371" y="91879"/>
                </a:lnTo>
                <a:lnTo>
                  <a:pt x="387371" y="62865"/>
                </a:lnTo>
                <a:cubicBezTo>
                  <a:pt x="375265" y="58029"/>
                  <a:pt x="365581" y="45940"/>
                  <a:pt x="365581" y="32238"/>
                </a:cubicBezTo>
                <a:cubicBezTo>
                  <a:pt x="365581" y="14507"/>
                  <a:pt x="380107" y="0"/>
                  <a:pt x="397862" y="0"/>
                </a:cubicBezTo>
                <a:close/>
              </a:path>
            </a:pathLst>
          </a:custGeom>
          <a:solidFill>
            <a:srgbClr val="2F2F2F"/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AutoShape 10"/>
          <p:cNvSpPr/>
          <p:nvPr/>
        </p:nvSpPr>
        <p:spPr>
          <a:xfrm rot="16200000">
            <a:off x="5865128" y="2561102"/>
            <a:ext cx="1753838" cy="1722930"/>
          </a:xfrm>
          <a:prstGeom prst="round2DiagRect">
            <a:avLst>
              <a:gd name="adj1" fmla="val 50000"/>
              <a:gd name="adj2" fmla="val 0"/>
            </a:avLst>
          </a:prstGeom>
          <a:noFill/>
          <a:ln w="28575" cap="flat" cmpd="sng">
            <a:solidFill>
              <a:schemeClr val="accent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1" name="AutoShape 11"/>
          <p:cNvSpPr/>
          <p:nvPr/>
        </p:nvSpPr>
        <p:spPr>
          <a:xfrm rot="16200000">
            <a:off x="6023156" y="2698924"/>
            <a:ext cx="1470315" cy="1444402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Freeform 12"/>
          <p:cNvSpPr/>
          <p:nvPr/>
        </p:nvSpPr>
        <p:spPr>
          <a:xfrm flipH="1">
            <a:off x="6312570" y="3100409"/>
            <a:ext cx="844608" cy="609499"/>
          </a:xfrm>
          <a:custGeom>
            <a:avLst/>
            <a:gdLst/>
            <a:ahLst/>
            <a:cxnLst/>
            <a:rect l="l" t="t" r="r" b="b"/>
            <a:pathLst>
              <a:path w="605879" h="437224">
                <a:moveTo>
                  <a:pt x="91000" y="173662"/>
                </a:moveTo>
                <a:lnTo>
                  <a:pt x="331193" y="173662"/>
                </a:lnTo>
                <a:cubicBezTo>
                  <a:pt x="337373" y="173662"/>
                  <a:pt x="342454" y="178725"/>
                  <a:pt x="342454" y="184882"/>
                </a:cubicBezTo>
                <a:cubicBezTo>
                  <a:pt x="342454" y="191040"/>
                  <a:pt x="337373" y="196102"/>
                  <a:pt x="331193" y="196102"/>
                </a:cubicBezTo>
                <a:lnTo>
                  <a:pt x="91000" y="196102"/>
                </a:lnTo>
                <a:cubicBezTo>
                  <a:pt x="84683" y="196102"/>
                  <a:pt x="79739" y="191040"/>
                  <a:pt x="79739" y="184882"/>
                </a:cubicBezTo>
                <a:cubicBezTo>
                  <a:pt x="79739" y="178725"/>
                  <a:pt x="84683" y="173662"/>
                  <a:pt x="91000" y="173662"/>
                </a:cubicBezTo>
                <a:close/>
                <a:moveTo>
                  <a:pt x="421630" y="131441"/>
                </a:moveTo>
                <a:cubicBezTo>
                  <a:pt x="423003" y="138294"/>
                  <a:pt x="423552" y="145284"/>
                  <a:pt x="423552" y="152274"/>
                </a:cubicBezTo>
                <a:cubicBezTo>
                  <a:pt x="423552" y="220668"/>
                  <a:pt x="362456" y="281249"/>
                  <a:pt x="275961" y="300986"/>
                </a:cubicBezTo>
                <a:cubicBezTo>
                  <a:pt x="302047" y="334017"/>
                  <a:pt x="350924" y="355536"/>
                  <a:pt x="408175" y="358277"/>
                </a:cubicBezTo>
                <a:cubicBezTo>
                  <a:pt x="412569" y="358551"/>
                  <a:pt x="416413" y="361293"/>
                  <a:pt x="418060" y="365267"/>
                </a:cubicBezTo>
                <a:cubicBezTo>
                  <a:pt x="427259" y="388019"/>
                  <a:pt x="463505" y="403370"/>
                  <a:pt x="488218" y="410360"/>
                </a:cubicBezTo>
                <a:cubicBezTo>
                  <a:pt x="483962" y="399944"/>
                  <a:pt x="479156" y="385004"/>
                  <a:pt x="474214" y="363348"/>
                </a:cubicBezTo>
                <a:cubicBezTo>
                  <a:pt x="472841" y="357455"/>
                  <a:pt x="476273" y="351698"/>
                  <a:pt x="482039" y="349916"/>
                </a:cubicBezTo>
                <a:cubicBezTo>
                  <a:pt x="543685" y="332236"/>
                  <a:pt x="583500" y="290980"/>
                  <a:pt x="583363" y="244928"/>
                </a:cubicBezTo>
                <a:cubicBezTo>
                  <a:pt x="583363" y="182839"/>
                  <a:pt x="511009" y="132126"/>
                  <a:pt x="421630" y="131441"/>
                </a:cubicBezTo>
                <a:close/>
                <a:moveTo>
                  <a:pt x="75898" y="120173"/>
                </a:moveTo>
                <a:lnTo>
                  <a:pt x="340509" y="120173"/>
                </a:lnTo>
                <a:cubicBezTo>
                  <a:pt x="346826" y="120173"/>
                  <a:pt x="351769" y="125114"/>
                  <a:pt x="351769" y="131428"/>
                </a:cubicBezTo>
                <a:cubicBezTo>
                  <a:pt x="351769" y="137604"/>
                  <a:pt x="346826" y="142683"/>
                  <a:pt x="340509" y="142683"/>
                </a:cubicBezTo>
                <a:lnTo>
                  <a:pt x="75898" y="142683"/>
                </a:lnTo>
                <a:cubicBezTo>
                  <a:pt x="69719" y="142683"/>
                  <a:pt x="64638" y="137604"/>
                  <a:pt x="64638" y="131428"/>
                </a:cubicBezTo>
                <a:cubicBezTo>
                  <a:pt x="64638" y="125114"/>
                  <a:pt x="69719" y="120173"/>
                  <a:pt x="75898" y="120173"/>
                </a:cubicBezTo>
                <a:close/>
                <a:moveTo>
                  <a:pt x="210609" y="22478"/>
                </a:moveTo>
                <a:cubicBezTo>
                  <a:pt x="106952" y="22478"/>
                  <a:pt x="22516" y="81277"/>
                  <a:pt x="22516" y="153508"/>
                </a:cubicBezTo>
                <a:cubicBezTo>
                  <a:pt x="22516" y="206688"/>
                  <a:pt x="68372" y="254385"/>
                  <a:pt x="139216" y="274807"/>
                </a:cubicBezTo>
                <a:cubicBezTo>
                  <a:pt x="144983" y="276452"/>
                  <a:pt x="148415" y="282208"/>
                  <a:pt x="147042" y="288102"/>
                </a:cubicBezTo>
                <a:cubicBezTo>
                  <a:pt x="140864" y="314966"/>
                  <a:pt x="135097" y="332647"/>
                  <a:pt x="130017" y="344297"/>
                </a:cubicBezTo>
                <a:cubicBezTo>
                  <a:pt x="158437" y="336622"/>
                  <a:pt x="203058" y="318667"/>
                  <a:pt x="214041" y="291254"/>
                </a:cubicBezTo>
                <a:cubicBezTo>
                  <a:pt x="215689" y="287280"/>
                  <a:pt x="219533" y="284538"/>
                  <a:pt x="223927" y="284264"/>
                </a:cubicBezTo>
                <a:cubicBezTo>
                  <a:pt x="320170" y="279604"/>
                  <a:pt x="395407" y="223135"/>
                  <a:pt x="398839" y="152960"/>
                </a:cubicBezTo>
                <a:cubicBezTo>
                  <a:pt x="400075" y="126918"/>
                  <a:pt x="389915" y="101836"/>
                  <a:pt x="369596" y="80592"/>
                </a:cubicBezTo>
                <a:cubicBezTo>
                  <a:pt x="334860" y="44133"/>
                  <a:pt x="275412" y="22478"/>
                  <a:pt x="210609" y="22478"/>
                </a:cubicBezTo>
                <a:close/>
                <a:moveTo>
                  <a:pt x="210609" y="0"/>
                </a:moveTo>
                <a:cubicBezTo>
                  <a:pt x="281453" y="0"/>
                  <a:pt x="346942" y="24260"/>
                  <a:pt x="385796" y="64967"/>
                </a:cubicBezTo>
                <a:cubicBezTo>
                  <a:pt x="398702" y="78536"/>
                  <a:pt x="408175" y="93338"/>
                  <a:pt x="414079" y="109100"/>
                </a:cubicBezTo>
                <a:cubicBezTo>
                  <a:pt x="416001" y="108963"/>
                  <a:pt x="417923" y="108963"/>
                  <a:pt x="419845" y="108963"/>
                </a:cubicBezTo>
                <a:cubicBezTo>
                  <a:pt x="522404" y="108963"/>
                  <a:pt x="606016" y="169955"/>
                  <a:pt x="605879" y="244928"/>
                </a:cubicBezTo>
                <a:cubicBezTo>
                  <a:pt x="605879" y="298519"/>
                  <a:pt x="564141" y="346079"/>
                  <a:pt x="498515" y="368420"/>
                </a:cubicBezTo>
                <a:cubicBezTo>
                  <a:pt x="506066" y="398025"/>
                  <a:pt x="512931" y="412279"/>
                  <a:pt x="516088" y="414609"/>
                </a:cubicBezTo>
                <a:cubicBezTo>
                  <a:pt x="524601" y="418858"/>
                  <a:pt x="523228" y="426671"/>
                  <a:pt x="522953" y="428178"/>
                </a:cubicBezTo>
                <a:cubicBezTo>
                  <a:pt x="522541" y="429686"/>
                  <a:pt x="520207" y="437224"/>
                  <a:pt x="510185" y="437224"/>
                </a:cubicBezTo>
                <a:cubicBezTo>
                  <a:pt x="497828" y="437224"/>
                  <a:pt x="423689" y="421325"/>
                  <a:pt x="400487" y="380344"/>
                </a:cubicBezTo>
                <a:cubicBezTo>
                  <a:pt x="333899" y="375410"/>
                  <a:pt x="277746" y="346764"/>
                  <a:pt x="250836" y="304275"/>
                </a:cubicBezTo>
                <a:cubicBezTo>
                  <a:pt x="244521" y="305098"/>
                  <a:pt x="238205" y="305783"/>
                  <a:pt x="231752" y="306331"/>
                </a:cubicBezTo>
                <a:cubicBezTo>
                  <a:pt x="206216" y="353069"/>
                  <a:pt x="121643" y="371161"/>
                  <a:pt x="107639" y="371161"/>
                </a:cubicBezTo>
                <a:cubicBezTo>
                  <a:pt x="97616" y="371161"/>
                  <a:pt x="95145" y="364171"/>
                  <a:pt x="94596" y="361978"/>
                </a:cubicBezTo>
                <a:cubicBezTo>
                  <a:pt x="94184" y="360470"/>
                  <a:pt x="92948" y="352658"/>
                  <a:pt x="102009" y="348135"/>
                </a:cubicBezTo>
                <a:cubicBezTo>
                  <a:pt x="105030" y="345942"/>
                  <a:pt x="113130" y="331550"/>
                  <a:pt x="122741" y="293173"/>
                </a:cubicBezTo>
                <a:cubicBezTo>
                  <a:pt x="47778" y="268228"/>
                  <a:pt x="0" y="214226"/>
                  <a:pt x="0" y="153508"/>
                </a:cubicBezTo>
                <a:cubicBezTo>
                  <a:pt x="0" y="68804"/>
                  <a:pt x="94458" y="0"/>
                  <a:pt x="210609" y="0"/>
                </a:cubicBezTo>
                <a:close/>
              </a:path>
            </a:pathLst>
          </a:custGeom>
          <a:solidFill>
            <a:srgbClr val="2F2F2F"/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827460" y="3484355"/>
            <a:ext cx="3691440" cy="1346522"/>
          </a:xfrm>
          <a:prstGeom prst="rect">
            <a:avLst/>
          </a:prstGeom>
          <a:noFill/>
        </p:spPr>
        <p:txBody>
          <a:bodyPr vert="horz" wrap="square" lIns="90000" tIns="45720" rIns="9000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在中国，国家标准化管理委员会等机构正推动大数据标准化工作，推出了《大数据术语》和《大数据信息处理规范》等标准方案，以提升国内大数据技术的自给自足能力。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27460" y="3058529"/>
            <a:ext cx="3691440" cy="338554"/>
          </a:xfrm>
          <a:prstGeom prst="rect">
            <a:avLst/>
          </a:prstGeom>
          <a:noFill/>
        </p:spPr>
        <p:txBody>
          <a:bodyPr vert="horz" wrap="square" lIns="90000" tIns="45720" rIns="90000" bIns="45720" rtlCol="0" anchor="ctr">
            <a:spAutoFit/>
          </a:bodyPr>
          <a:lstStyle/>
          <a:p>
            <a:pPr marL="0" marR="0" indent="0" algn="l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i="0" u="none" baseline="0">
                <a:ln/>
                <a:solidFill>
                  <a:schemeClr val="accent1"/>
                </a:solidFill>
                <a:latin typeface="微软雅黑"/>
                <a:ea typeface="微软雅黑"/>
              </a:rPr>
              <a:t>国内标准制定机构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07042" y="1758103"/>
            <a:ext cx="3564465" cy="1346522"/>
          </a:xfrm>
          <a:prstGeom prst="rect">
            <a:avLst/>
          </a:prstGeom>
          <a:noFill/>
        </p:spPr>
        <p:txBody>
          <a:bodyPr vert="horz" wrap="square" lIns="90000" tIns="45720" rIns="9000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国际标准组织（ISO）以及万维网联盟（W3C）等机构已制定多项大数据相关标准。这些组织为全球大数据技术的统一、互操作性提供了标准基础。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7042" y="1332277"/>
            <a:ext cx="3564465" cy="338554"/>
          </a:xfrm>
          <a:prstGeom prst="rect">
            <a:avLst/>
          </a:prstGeom>
          <a:noFill/>
        </p:spPr>
        <p:txBody>
          <a:bodyPr vert="horz" wrap="square" lIns="90000" tIns="45720" rIns="90000" bIns="45720" rtlCol="0" anchor="ctr">
            <a:spAutoFit/>
          </a:bodyPr>
          <a:lstStyle/>
          <a:p>
            <a:pPr marL="0" marR="0" indent="0" algn="l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国际标准组织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07042" y="4038205"/>
            <a:ext cx="3564465" cy="1346522"/>
          </a:xfrm>
          <a:prstGeom prst="rect">
            <a:avLst/>
          </a:prstGeom>
          <a:noFill/>
        </p:spPr>
        <p:txBody>
          <a:bodyPr vert="horz" wrap="square" lIns="90000" tIns="45720" rIns="9000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对标准实施效果的评估主要通过案例分析和市场反馈进行。例如，某大型企业通过应用数据处理标准，实现了数据处理效率的提升，得到业界认可。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07042" y="3612379"/>
            <a:ext cx="3564465" cy="338554"/>
          </a:xfrm>
          <a:prstGeom prst="rect">
            <a:avLst/>
          </a:prstGeom>
          <a:noFill/>
        </p:spPr>
        <p:txBody>
          <a:bodyPr vert="horz" wrap="square" lIns="90000" tIns="45720" rIns="90000" bIns="45720" rtlCol="0" anchor="ctr">
            <a:spAutoFit/>
          </a:bodyPr>
          <a:lstStyle/>
          <a:p>
            <a:pPr marL="0" marR="0" indent="0" algn="l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i="0" u="none" baseline="0">
                <a:ln/>
                <a:solidFill>
                  <a:srgbClr val="FFFFFF"/>
                </a:solidFill>
                <a:latin typeface="微软雅黑"/>
                <a:ea typeface="微软雅黑"/>
              </a:rPr>
              <a:t>标准实施效果评估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/>
            </a:gs>
            <a:gs pos="100000">
              <a:srgbClr val="3091CC"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781368" y="2844225"/>
            <a:ext cx="5737531" cy="58477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zh-CN" altLang="en-US" sz="32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大数据知识产权保护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12000" y="1187698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0953420" y="1165347"/>
            <a:ext cx="498855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FFFFFF"/>
                </a:solidFill>
                <a:latin typeface="Arial"/>
                <a:ea typeface="Arial"/>
              </a:rPr>
              <a:t>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知识产权类型</a:t>
            </a:r>
          </a:p>
        </p:txBody>
      </p:sp>
      <p:sp>
        <p:nvSpPr>
          <p:cNvPr id="3" name="AutoShape 3"/>
          <p:cNvSpPr/>
          <p:nvPr/>
        </p:nvSpPr>
        <p:spPr>
          <a:xfrm>
            <a:off x="874404" y="1382899"/>
            <a:ext cx="3143476" cy="1784081"/>
          </a:xfrm>
          <a:prstGeom prst="rect">
            <a:avLst/>
          </a:prstGeom>
          <a:solidFill>
            <a:srgbClr val="F0F0F0">
              <a:alpha val="50000"/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 flipV="1">
            <a:off x="874404" y="3166977"/>
            <a:ext cx="3143476" cy="2868563"/>
          </a:xfrm>
          <a:prstGeom prst="rect">
            <a:avLst/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194735" y="2896697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15843" y="3804238"/>
            <a:ext cx="2260599" cy="174547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3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专利保护涉及大数据技术的创新，如算法优化、数据存储机制等。拥有专利可保护企业的技术优势，同时也能促进技术的市场化运用。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626048" y="1382899"/>
            <a:ext cx="3143476" cy="1784081"/>
          </a:xfrm>
          <a:prstGeom prst="rect">
            <a:avLst/>
          </a:prstGeom>
          <a:solidFill>
            <a:srgbClr val="F0F0F0">
              <a:alpha val="50000"/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 flipV="1">
            <a:off x="4626048" y="3166977"/>
            <a:ext cx="3143476" cy="2868561"/>
          </a:xfrm>
          <a:prstGeom prst="rect">
            <a:avLst/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5938063" y="2896697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67487" y="3804238"/>
            <a:ext cx="2260599" cy="174547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3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著作权主要涉及大数据分析模型、软件代码等作品。注册著作权能够保护创作者的合法权益，避免他人未经许可使用。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74120" y="1382899"/>
            <a:ext cx="3143476" cy="1784081"/>
          </a:xfrm>
          <a:prstGeom prst="rect">
            <a:avLst/>
          </a:prstGeom>
          <a:solidFill>
            <a:srgbClr val="F0F0F0">
              <a:alpha val="50000"/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AutoShape 12"/>
          <p:cNvSpPr/>
          <p:nvPr/>
        </p:nvSpPr>
        <p:spPr>
          <a:xfrm flipV="1">
            <a:off x="8174120" y="3166977"/>
            <a:ext cx="3143476" cy="2868561"/>
          </a:xfrm>
          <a:prstGeom prst="rect">
            <a:avLst/>
          </a:prstGeom>
          <a:solidFill>
            <a:srgbClr val="F0F0F0">
              <a:alpha val="15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9486135" y="2882692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589656" y="3804238"/>
            <a:ext cx="2260599" cy="174547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3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商标在大数据产业中保护品牌形象，防止其他企业盗用或模仿。强有力的商标保护可增强消费者对品牌的信任。</a:t>
            </a:r>
          </a:p>
        </p:txBody>
      </p:sp>
      <p:sp>
        <p:nvSpPr>
          <p:cNvPr id="15" name="TextBox 15"/>
          <p:cNvSpPr txBox="1"/>
          <p:nvPr/>
        </p:nvSpPr>
        <p:spPr>
          <a:xfrm flipH="1">
            <a:off x="1315843" y="2105662"/>
            <a:ext cx="227300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专利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 flipH="1">
            <a:off x="5067487" y="2105662"/>
            <a:ext cx="227300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著作权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 flipH="1">
            <a:off x="8589656" y="2105662"/>
            <a:ext cx="227300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商标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3006" y="1"/>
            <a:ext cx="2682181" cy="2731532"/>
          </a:xfrm>
          <a:custGeom>
            <a:avLst/>
            <a:gdLst/>
            <a:ahLst/>
            <a:cxnLst/>
            <a:rect l="l" t="t" r="r" b="b"/>
            <a:pathLst>
              <a:path w="3257357" h="3317291">
                <a:moveTo>
                  <a:pt x="0" y="3317291"/>
                </a:moveTo>
                <a:lnTo>
                  <a:pt x="2563432" y="3317291"/>
                </a:lnTo>
                <a:lnTo>
                  <a:pt x="3257357" y="1938376"/>
                </a:lnTo>
                <a:lnTo>
                  <a:pt x="228189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flipV="1">
            <a:off x="8359643" y="5846617"/>
            <a:ext cx="2459315" cy="1011383"/>
          </a:xfrm>
          <a:custGeom>
            <a:avLst/>
            <a:gdLst/>
            <a:ahLst/>
            <a:cxnLst/>
            <a:rect l="l" t="t" r="r" b="b"/>
            <a:pathLst>
              <a:path w="2459315" h="1011383">
                <a:moveTo>
                  <a:pt x="508968" y="1011383"/>
                </a:moveTo>
                <a:lnTo>
                  <a:pt x="1950346" y="1011383"/>
                </a:lnTo>
                <a:lnTo>
                  <a:pt x="245931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 flipV="1">
            <a:off x="10416410" y="4475018"/>
            <a:ext cx="1775590" cy="2382981"/>
          </a:xfrm>
          <a:custGeom>
            <a:avLst/>
            <a:gdLst/>
            <a:ahLst/>
            <a:cxnLst/>
            <a:rect l="l" t="t" r="r" b="b"/>
            <a:pathLst>
              <a:path w="1775590" h="2382981">
                <a:moveTo>
                  <a:pt x="673304" y="2382981"/>
                </a:moveTo>
                <a:lnTo>
                  <a:pt x="1775590" y="2382981"/>
                </a:lnTo>
                <a:lnTo>
                  <a:pt x="1775590" y="0"/>
                </a:lnTo>
                <a:lnTo>
                  <a:pt x="525907" y="0"/>
                </a:lnTo>
                <a:lnTo>
                  <a:pt x="0" y="1045043"/>
                </a:lnTo>
                <a:close/>
              </a:path>
            </a:pathLst>
          </a:custGeom>
          <a:solidFill>
            <a:schemeClr val="accent4">
              <a:alpha val="10000"/>
            </a:scheme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知识产权保护挑战</a:t>
            </a:r>
          </a:p>
        </p:txBody>
      </p:sp>
      <p:sp>
        <p:nvSpPr>
          <p:cNvPr id="6" name="AutoShape 6"/>
          <p:cNvSpPr/>
          <p:nvPr/>
        </p:nvSpPr>
        <p:spPr>
          <a:xfrm>
            <a:off x="6235261" y="1604106"/>
            <a:ext cx="5556253" cy="700151"/>
          </a:xfrm>
          <a:prstGeom prst="rect">
            <a:avLst/>
          </a:prstGeom>
          <a:noFill/>
        </p:spPr>
        <p:txBody>
          <a:bodyPr vert="horz" wrap="square" lIns="91412" tIns="45700" rIns="91412" bIns="457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大数据领域的侵权行为频繁，尤其是在数据盗用和算法模仿方面，给持有者带来了严重的经济损失和法律风险。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45234" y="1235535"/>
            <a:ext cx="5553072" cy="338514"/>
          </a:xfrm>
          <a:prstGeom prst="rect">
            <a:avLst/>
          </a:prstGeom>
          <a:noFill/>
        </p:spPr>
        <p:txBody>
          <a:bodyPr vert="horz" wrap="square" lIns="91412" tIns="45700" rIns="91412" bIns="45700" anchor="ctr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侵权风险</a:t>
            </a:r>
          </a:p>
        </p:txBody>
      </p:sp>
      <p:sp>
        <p:nvSpPr>
          <p:cNvPr id="8" name="AutoShape 8"/>
          <p:cNvSpPr/>
          <p:nvPr/>
        </p:nvSpPr>
        <p:spPr>
          <a:xfrm>
            <a:off x="5625961" y="1408869"/>
            <a:ext cx="515816" cy="515816"/>
          </a:xfrm>
          <a:prstGeom prst="ellipse">
            <a:avLst/>
          </a:prstGeom>
          <a:solidFill>
            <a:srgbClr val="F0F0F0"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5776598" y="1564960"/>
            <a:ext cx="214542" cy="20363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ctr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35261" y="3307546"/>
            <a:ext cx="5556253" cy="700151"/>
          </a:xfrm>
          <a:prstGeom prst="rect">
            <a:avLst/>
          </a:prstGeom>
          <a:noFill/>
        </p:spPr>
        <p:txBody>
          <a:bodyPr vert="horz" wrap="square" lIns="91412" tIns="45700" rIns="91412" bIns="457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保护知识产权需要付出高昂的法律费用及时间成本，尤其是对初创企业而言，可能难以承受这样的经济负担。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45234" y="2938975"/>
            <a:ext cx="5553072" cy="338514"/>
          </a:xfrm>
          <a:prstGeom prst="rect">
            <a:avLst/>
          </a:prstGeom>
          <a:noFill/>
        </p:spPr>
        <p:txBody>
          <a:bodyPr vert="horz" wrap="square" lIns="91412" tIns="45700" rIns="91412" bIns="45700" anchor="ctr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保护成本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625961" y="3112309"/>
            <a:ext cx="515816" cy="515816"/>
          </a:xfrm>
          <a:prstGeom prst="ellipse">
            <a:avLst/>
          </a:prstGeom>
          <a:solidFill>
            <a:srgbClr val="F0F0F0"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5776598" y="3276232"/>
            <a:ext cx="214542" cy="18797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ctr"/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249190" y="5095898"/>
            <a:ext cx="5556253" cy="700151"/>
          </a:xfrm>
          <a:prstGeom prst="rect">
            <a:avLst/>
          </a:prstGeom>
          <a:noFill/>
        </p:spPr>
        <p:txBody>
          <a:bodyPr vert="horz" wrap="square" lIns="91412" tIns="45700" rIns="91412" bIns="457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维权途径主要包括法律诉讼及行政处罚等，企业需及时收集证据并选择适合的维权方式保护自身权益。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45237" y="4727327"/>
            <a:ext cx="5553072" cy="338514"/>
          </a:xfrm>
          <a:prstGeom prst="rect">
            <a:avLst/>
          </a:prstGeom>
          <a:noFill/>
        </p:spPr>
        <p:txBody>
          <a:bodyPr vert="horz" wrap="square" lIns="91412" tIns="45700" rIns="91412" bIns="45700" anchor="ctr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维权途径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635937" y="4900661"/>
            <a:ext cx="515816" cy="515816"/>
          </a:xfrm>
          <a:prstGeom prst="ellipse">
            <a:avLst/>
          </a:prstGeom>
          <a:solidFill>
            <a:srgbClr val="F0F0F0"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5806932" y="5052053"/>
            <a:ext cx="173826" cy="21303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ctr">
            <a:normAutofit fontScale="47500" lnSpcReduction="20000"/>
          </a:bodyPr>
          <a:lstStyle/>
          <a:p>
            <a:pPr marL="0" algn="ctr"/>
            <a:endParaRPr/>
          </a:p>
        </p:txBody>
      </p:sp>
      <p:cxnSp>
        <p:nvCxnSpPr>
          <p:cNvPr id="18" name="Connector 18"/>
          <p:cNvCxnSpPr/>
          <p:nvPr/>
        </p:nvCxnSpPr>
        <p:spPr>
          <a:xfrm>
            <a:off x="5257025" y="1120483"/>
            <a:ext cx="0" cy="4998732"/>
          </a:xfrm>
          <a:prstGeom prst="line">
            <a:avLst/>
          </a:prstGeom>
          <a:ln w="6350" cap="flat" cmpd="sng">
            <a:solidFill>
              <a:srgbClr val="2F2F2F">
                <a:lumMod val="75000"/>
              </a:srgbClr>
            </a:solidFill>
            <a:prstDash val="solid"/>
          </a:ln>
        </p:spPr>
      </p:cxnSp>
      <p:cxnSp>
        <p:nvCxnSpPr>
          <p:cNvPr id="19" name="Connector 19"/>
          <p:cNvCxnSpPr/>
          <p:nvPr/>
        </p:nvCxnSpPr>
        <p:spPr>
          <a:xfrm>
            <a:off x="6345961" y="2770191"/>
            <a:ext cx="3751723" cy="0"/>
          </a:xfrm>
          <a:prstGeom prst="line">
            <a:avLst/>
          </a:prstGeom>
          <a:ln w="3175" cap="rnd" cmpd="sng">
            <a:solidFill>
              <a:srgbClr val="2F2F2F">
                <a:lumMod val="75000"/>
              </a:srgbClr>
            </a:solidFill>
            <a:prstDash val="solid"/>
          </a:ln>
        </p:spPr>
      </p:cxnSp>
      <p:cxnSp>
        <p:nvCxnSpPr>
          <p:cNvPr id="20" name="Connector 20"/>
          <p:cNvCxnSpPr/>
          <p:nvPr/>
        </p:nvCxnSpPr>
        <p:spPr>
          <a:xfrm>
            <a:off x="6345961" y="4586198"/>
            <a:ext cx="3751723" cy="0"/>
          </a:xfrm>
          <a:prstGeom prst="line">
            <a:avLst/>
          </a:prstGeom>
          <a:ln w="3175" cap="rnd" cmpd="sng">
            <a:solidFill>
              <a:srgbClr val="2F2F2F">
                <a:lumMod val="75000"/>
              </a:srgbClr>
            </a:solidFill>
            <a:prstDash val="solid"/>
          </a:ln>
        </p:spPr>
      </p:cxnSp>
      <p:sp>
        <p:nvSpPr>
          <p:cNvPr id="21" name="Freeform 21"/>
          <p:cNvSpPr/>
          <p:nvPr/>
        </p:nvSpPr>
        <p:spPr>
          <a:xfrm rot="18900000">
            <a:off x="2182370" y="1401428"/>
            <a:ext cx="1309121" cy="1309120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0F0F0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2" name="Freeform 22"/>
          <p:cNvSpPr/>
          <p:nvPr/>
        </p:nvSpPr>
        <p:spPr>
          <a:xfrm rot="18900000">
            <a:off x="3509788" y="2726661"/>
            <a:ext cx="1309121" cy="1309120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0F0F0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3" name="Freeform 23"/>
          <p:cNvSpPr/>
          <p:nvPr/>
        </p:nvSpPr>
        <p:spPr>
          <a:xfrm rot="18900000">
            <a:off x="3036079" y="2245704"/>
            <a:ext cx="923985" cy="94911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cubicBezTo>
                  <a:pt x="2960" y="2851"/>
                  <a:pt x="4637" y="6730"/>
                  <a:pt x="4660" y="10784"/>
                </a:cubicBezTo>
                <a:cubicBezTo>
                  <a:pt x="4684" y="14829"/>
                  <a:pt x="3060" y="18718"/>
                  <a:pt x="144" y="21600"/>
                </a:cubicBezTo>
                <a:lnTo>
                  <a:pt x="21358" y="21288"/>
                </a:lnTo>
                <a:cubicBezTo>
                  <a:pt x="18644" y="18590"/>
                  <a:pt x="17078" y="14994"/>
                  <a:pt x="16974" y="11219"/>
                </a:cubicBezTo>
                <a:cubicBezTo>
                  <a:pt x="16858" y="7040"/>
                  <a:pt x="18534" y="3002"/>
                  <a:pt x="21600" y="75"/>
                </a:cubicBezTo>
                <a:lnTo>
                  <a:pt x="0" y="0"/>
                </a:lnTo>
                <a:close/>
              </a:path>
            </a:pathLst>
          </a:custGeom>
          <a:solidFill>
            <a:srgbClr val="F0F0F0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 rot="18900000">
            <a:off x="2088190" y="2814125"/>
            <a:ext cx="1309121" cy="1309121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5" name="Freeform 25"/>
          <p:cNvSpPr/>
          <p:nvPr/>
        </p:nvSpPr>
        <p:spPr>
          <a:xfrm rot="18900000">
            <a:off x="3415607" y="4139358"/>
            <a:ext cx="1309121" cy="1309121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6" name="Freeform 26"/>
          <p:cNvSpPr/>
          <p:nvPr/>
        </p:nvSpPr>
        <p:spPr>
          <a:xfrm rot="18900000">
            <a:off x="2941898" y="3658401"/>
            <a:ext cx="923984" cy="94911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cubicBezTo>
                  <a:pt x="2960" y="2851"/>
                  <a:pt x="4637" y="6730"/>
                  <a:pt x="4660" y="10784"/>
                </a:cubicBezTo>
                <a:cubicBezTo>
                  <a:pt x="4684" y="14829"/>
                  <a:pt x="3060" y="18718"/>
                  <a:pt x="144" y="21600"/>
                </a:cubicBezTo>
                <a:lnTo>
                  <a:pt x="21358" y="21288"/>
                </a:lnTo>
                <a:cubicBezTo>
                  <a:pt x="18644" y="18590"/>
                  <a:pt x="17078" y="14994"/>
                  <a:pt x="16974" y="11219"/>
                </a:cubicBezTo>
                <a:cubicBezTo>
                  <a:pt x="16858" y="7040"/>
                  <a:pt x="18534" y="3002"/>
                  <a:pt x="21600" y="7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7" name="Freeform 27"/>
          <p:cNvSpPr/>
          <p:nvPr/>
        </p:nvSpPr>
        <p:spPr>
          <a:xfrm rot="18900000">
            <a:off x="671613" y="2895863"/>
            <a:ext cx="1309121" cy="1309120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0F0F0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8" name="Freeform 28"/>
          <p:cNvSpPr/>
          <p:nvPr/>
        </p:nvSpPr>
        <p:spPr>
          <a:xfrm rot="18900000">
            <a:off x="1999031" y="4221097"/>
            <a:ext cx="1309121" cy="1309120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0F0F0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29" name="Freeform 29"/>
          <p:cNvSpPr/>
          <p:nvPr/>
        </p:nvSpPr>
        <p:spPr>
          <a:xfrm rot="18900000">
            <a:off x="1525322" y="3740140"/>
            <a:ext cx="923984" cy="94911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cubicBezTo>
                  <a:pt x="2960" y="2851"/>
                  <a:pt x="4637" y="6730"/>
                  <a:pt x="4660" y="10784"/>
                </a:cubicBezTo>
                <a:cubicBezTo>
                  <a:pt x="4684" y="14829"/>
                  <a:pt x="3060" y="18718"/>
                  <a:pt x="144" y="21600"/>
                </a:cubicBezTo>
                <a:lnTo>
                  <a:pt x="21358" y="21288"/>
                </a:lnTo>
                <a:cubicBezTo>
                  <a:pt x="18644" y="18590"/>
                  <a:pt x="17078" y="14994"/>
                  <a:pt x="16974" y="11219"/>
                </a:cubicBezTo>
                <a:cubicBezTo>
                  <a:pt x="16858" y="7040"/>
                  <a:pt x="18534" y="3002"/>
                  <a:pt x="21600" y="75"/>
                </a:cubicBezTo>
                <a:lnTo>
                  <a:pt x="0" y="0"/>
                </a:lnTo>
                <a:close/>
              </a:path>
            </a:pathLst>
          </a:custGeom>
          <a:solidFill>
            <a:srgbClr val="F0F0F0">
              <a:lumMod val="20000"/>
              <a:lumOff val="80000"/>
            </a:srgbClr>
          </a:solidFill>
          <a:ln w="12700"/>
        </p:spPr>
        <p:txBody>
          <a:bodyPr vert="horz" lIns="121919" tIns="121919" rIns="121919" bIns="121919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3912575" y="3132513"/>
            <a:ext cx="522451" cy="503142"/>
          </a:xfrm>
          <a:custGeom>
            <a:avLst/>
            <a:gdLst/>
            <a:ahLst/>
            <a:cxnLst/>
            <a:rect l="l" t="t" r="r" b="b"/>
            <a:pathLst>
              <a:path w="609050" h="586540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none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2600708" y="1831982"/>
            <a:ext cx="460986" cy="443948"/>
          </a:xfrm>
          <a:custGeom>
            <a:avLst/>
            <a:gdLst/>
            <a:ahLst/>
            <a:cxnLst/>
            <a:rect l="l" t="t" r="r" b="b"/>
            <a:pathLst>
              <a:path w="609050" h="586540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none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2491673" y="4681270"/>
            <a:ext cx="371729" cy="357990"/>
          </a:xfrm>
          <a:custGeom>
            <a:avLst/>
            <a:gdLst/>
            <a:ahLst/>
            <a:cxnLst/>
            <a:rect l="l" t="t" r="r" b="b"/>
            <a:pathLst>
              <a:path w="609050" h="586540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none" lIns="91440" tIns="45720" rIns="91440" bIns="45720" anchor="ctr">
            <a:normAutofit lnSpcReduction="10000"/>
          </a:bodyPr>
          <a:lstStyle/>
          <a:p>
            <a:pPr marL="0" algn="l"/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1149800" y="3388512"/>
            <a:ext cx="394553" cy="379970"/>
          </a:xfrm>
          <a:custGeom>
            <a:avLst/>
            <a:gdLst/>
            <a:ahLst/>
            <a:cxnLst/>
            <a:rect l="l" t="t" r="r" b="b"/>
            <a:pathLst>
              <a:path w="609050" h="586540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none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4" name="Freeform 34"/>
          <p:cNvSpPr/>
          <p:nvPr/>
        </p:nvSpPr>
        <p:spPr>
          <a:xfrm rot="16200000">
            <a:off x="2471635" y="3180922"/>
            <a:ext cx="587546" cy="601470"/>
          </a:xfrm>
          <a:custGeom>
            <a:avLst/>
            <a:gdLst/>
            <a:ahLst/>
            <a:cxnLst/>
            <a:rect l="l" t="t" r="r" b="b"/>
            <a:pathLst>
              <a:path w="452" h="462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rgbClr val="2F2F2F"/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/>
            </a:gs>
            <a:gs pos="100000">
              <a:srgbClr val="3091CC"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781368" y="2844225"/>
            <a:ext cx="5737531" cy="58477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zh-CN" altLang="en-US" sz="32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大数据产业政策分析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12000" y="1187698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0953420" y="1165347"/>
            <a:ext cx="498855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FFFFFF"/>
                </a:solidFill>
                <a:latin typeface="Arial"/>
                <a:ea typeface="Arial"/>
              </a:rPr>
              <a:t>.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政策发展背景</a:t>
            </a:r>
          </a:p>
        </p:txBody>
      </p:sp>
      <p:sp>
        <p:nvSpPr>
          <p:cNvPr id="3" name="Freeform 3"/>
          <p:cNvSpPr/>
          <p:nvPr/>
        </p:nvSpPr>
        <p:spPr>
          <a:xfrm>
            <a:off x="4260123" y="2030119"/>
            <a:ext cx="1875636" cy="4118268"/>
          </a:xfrm>
          <a:custGeom>
            <a:avLst/>
            <a:gdLst/>
            <a:ahLst/>
            <a:cxnLst/>
            <a:rect l="l" t="t" r="r" b="b"/>
            <a:pathLst>
              <a:path w="918" h="2015">
                <a:moveTo>
                  <a:pt x="697" y="2015"/>
                </a:moveTo>
                <a:lnTo>
                  <a:pt x="697" y="623"/>
                </a:lnTo>
                <a:lnTo>
                  <a:pt x="918" y="623"/>
                </a:lnTo>
                <a:lnTo>
                  <a:pt x="460" y="0"/>
                </a:lnTo>
                <a:lnTo>
                  <a:pt x="0" y="623"/>
                </a:lnTo>
                <a:lnTo>
                  <a:pt x="223" y="623"/>
                </a:lnTo>
                <a:lnTo>
                  <a:pt x="223" y="800"/>
                </a:lnTo>
              </a:path>
            </a:pathLst>
          </a:custGeom>
          <a:noFill/>
          <a:ln w="20638" cap="rnd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4436487" y="3638087"/>
            <a:ext cx="549546" cy="549542"/>
            <a:chOff x="2406923" y="2845390"/>
            <a:chExt cx="571222" cy="571221"/>
          </a:xfrm>
        </p:grpSpPr>
        <p:sp>
          <p:nvSpPr>
            <p:cNvPr id="5" name="AutoShape 5"/>
            <p:cNvSpPr/>
            <p:nvPr/>
          </p:nvSpPr>
          <p:spPr>
            <a:xfrm>
              <a:off x="2406923" y="2845390"/>
              <a:ext cx="571222" cy="571221"/>
            </a:xfrm>
            <a:prstGeom prst="ellipse">
              <a:avLst/>
            </a:prstGeom>
            <a:solidFill>
              <a:schemeClr val="accent1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2540113" y="3023891"/>
              <a:ext cx="304842" cy="214214"/>
            </a:xfrm>
            <a:custGeom>
              <a:avLst/>
              <a:gdLst/>
              <a:ahLst/>
              <a:cxnLst/>
              <a:rect l="l" t="t" r="r" b="b"/>
              <a:pathLst>
                <a:path w="607639" h="426991">
                  <a:moveTo>
                    <a:pt x="450100" y="313203"/>
                  </a:moveTo>
                  <a:lnTo>
                    <a:pt x="450100" y="403167"/>
                  </a:lnTo>
                  <a:lnTo>
                    <a:pt x="585744" y="403167"/>
                  </a:lnTo>
                  <a:lnTo>
                    <a:pt x="586100" y="313203"/>
                  </a:lnTo>
                  <a:lnTo>
                    <a:pt x="530294" y="313203"/>
                  </a:lnTo>
                  <a:cubicBezTo>
                    <a:pt x="530294" y="313203"/>
                    <a:pt x="530116" y="313203"/>
                    <a:pt x="530116" y="313203"/>
                  </a:cubicBezTo>
                  <a:cubicBezTo>
                    <a:pt x="530027" y="313203"/>
                    <a:pt x="529849" y="313203"/>
                    <a:pt x="529760" y="313203"/>
                  </a:cubicBezTo>
                  <a:lnTo>
                    <a:pt x="450901" y="313203"/>
                  </a:lnTo>
                  <a:close/>
                  <a:moveTo>
                    <a:pt x="236309" y="313203"/>
                  </a:moveTo>
                  <a:lnTo>
                    <a:pt x="236309" y="403167"/>
                  </a:lnTo>
                  <a:lnTo>
                    <a:pt x="371953" y="403167"/>
                  </a:lnTo>
                  <a:lnTo>
                    <a:pt x="372754" y="313203"/>
                  </a:lnTo>
                  <a:lnTo>
                    <a:pt x="237110" y="313203"/>
                  </a:lnTo>
                  <a:close/>
                  <a:moveTo>
                    <a:pt x="22519" y="313203"/>
                  </a:moveTo>
                  <a:lnTo>
                    <a:pt x="22519" y="403167"/>
                  </a:lnTo>
                  <a:lnTo>
                    <a:pt x="158163" y="403167"/>
                  </a:lnTo>
                  <a:lnTo>
                    <a:pt x="158964" y="313203"/>
                  </a:lnTo>
                  <a:lnTo>
                    <a:pt x="91498" y="313203"/>
                  </a:lnTo>
                  <a:cubicBezTo>
                    <a:pt x="91409" y="313203"/>
                    <a:pt x="91320" y="313203"/>
                    <a:pt x="91231" y="313203"/>
                  </a:cubicBezTo>
                  <a:cubicBezTo>
                    <a:pt x="91231" y="313203"/>
                    <a:pt x="90964" y="313203"/>
                    <a:pt x="90964" y="313203"/>
                  </a:cubicBezTo>
                  <a:lnTo>
                    <a:pt x="23320" y="313203"/>
                  </a:lnTo>
                  <a:close/>
                  <a:moveTo>
                    <a:pt x="91409" y="224751"/>
                  </a:moveTo>
                  <a:lnTo>
                    <a:pt x="530294" y="224751"/>
                  </a:lnTo>
                  <a:cubicBezTo>
                    <a:pt x="536435" y="224751"/>
                    <a:pt x="540084" y="228396"/>
                    <a:pt x="540084" y="234530"/>
                  </a:cubicBezTo>
                  <a:lnTo>
                    <a:pt x="540084" y="292135"/>
                  </a:lnTo>
                  <a:lnTo>
                    <a:pt x="586456" y="292135"/>
                  </a:lnTo>
                  <a:cubicBezTo>
                    <a:pt x="598917" y="292135"/>
                    <a:pt x="607639" y="300847"/>
                    <a:pt x="607639" y="313203"/>
                  </a:cubicBezTo>
                  <a:lnTo>
                    <a:pt x="607639" y="403167"/>
                  </a:lnTo>
                  <a:cubicBezTo>
                    <a:pt x="607639" y="415524"/>
                    <a:pt x="598917" y="426991"/>
                    <a:pt x="586456" y="426991"/>
                  </a:cubicBezTo>
                  <a:lnTo>
                    <a:pt x="451524" y="426991"/>
                  </a:lnTo>
                  <a:cubicBezTo>
                    <a:pt x="439152" y="426991"/>
                    <a:pt x="427582" y="415524"/>
                    <a:pt x="427582" y="403167"/>
                  </a:cubicBezTo>
                  <a:lnTo>
                    <a:pt x="427582" y="313203"/>
                  </a:lnTo>
                  <a:cubicBezTo>
                    <a:pt x="427582" y="300847"/>
                    <a:pt x="439152" y="292135"/>
                    <a:pt x="451524" y="292135"/>
                  </a:cubicBezTo>
                  <a:lnTo>
                    <a:pt x="517566" y="292135"/>
                  </a:lnTo>
                  <a:lnTo>
                    <a:pt x="517566" y="247242"/>
                  </a:lnTo>
                  <a:lnTo>
                    <a:pt x="315079" y="247242"/>
                  </a:lnTo>
                  <a:lnTo>
                    <a:pt x="315079" y="292135"/>
                  </a:lnTo>
                  <a:lnTo>
                    <a:pt x="372665" y="292135"/>
                  </a:lnTo>
                  <a:cubicBezTo>
                    <a:pt x="385126" y="292135"/>
                    <a:pt x="393849" y="300847"/>
                    <a:pt x="393849" y="313203"/>
                  </a:cubicBezTo>
                  <a:lnTo>
                    <a:pt x="393849" y="403167"/>
                  </a:lnTo>
                  <a:cubicBezTo>
                    <a:pt x="393849" y="415524"/>
                    <a:pt x="385126" y="426991"/>
                    <a:pt x="372665" y="426991"/>
                  </a:cubicBezTo>
                  <a:lnTo>
                    <a:pt x="237733" y="426991"/>
                  </a:lnTo>
                  <a:cubicBezTo>
                    <a:pt x="225362" y="426991"/>
                    <a:pt x="213791" y="415524"/>
                    <a:pt x="213791" y="403167"/>
                  </a:cubicBezTo>
                  <a:lnTo>
                    <a:pt x="213791" y="313203"/>
                  </a:lnTo>
                  <a:cubicBezTo>
                    <a:pt x="213791" y="300847"/>
                    <a:pt x="225362" y="292135"/>
                    <a:pt x="237733" y="292135"/>
                  </a:cubicBezTo>
                  <a:lnTo>
                    <a:pt x="292561" y="292135"/>
                  </a:lnTo>
                  <a:lnTo>
                    <a:pt x="292561" y="247242"/>
                  </a:lnTo>
                  <a:lnTo>
                    <a:pt x="101288" y="247242"/>
                  </a:lnTo>
                  <a:lnTo>
                    <a:pt x="101288" y="292135"/>
                  </a:lnTo>
                  <a:lnTo>
                    <a:pt x="158875" y="292135"/>
                  </a:lnTo>
                  <a:cubicBezTo>
                    <a:pt x="171335" y="292135"/>
                    <a:pt x="180058" y="300847"/>
                    <a:pt x="180058" y="313203"/>
                  </a:cubicBezTo>
                  <a:lnTo>
                    <a:pt x="180058" y="403167"/>
                  </a:lnTo>
                  <a:cubicBezTo>
                    <a:pt x="180058" y="415524"/>
                    <a:pt x="171335" y="426991"/>
                    <a:pt x="158875" y="426991"/>
                  </a:cubicBezTo>
                  <a:lnTo>
                    <a:pt x="24032" y="426991"/>
                  </a:lnTo>
                  <a:cubicBezTo>
                    <a:pt x="11571" y="426991"/>
                    <a:pt x="0" y="415524"/>
                    <a:pt x="0" y="403167"/>
                  </a:cubicBezTo>
                  <a:lnTo>
                    <a:pt x="0" y="313203"/>
                  </a:lnTo>
                  <a:cubicBezTo>
                    <a:pt x="0" y="300847"/>
                    <a:pt x="11571" y="292135"/>
                    <a:pt x="24032" y="292135"/>
                  </a:cubicBezTo>
                  <a:lnTo>
                    <a:pt x="78770" y="292135"/>
                  </a:lnTo>
                  <a:lnTo>
                    <a:pt x="78770" y="234530"/>
                  </a:lnTo>
                  <a:cubicBezTo>
                    <a:pt x="78770" y="228396"/>
                    <a:pt x="85178" y="224751"/>
                    <a:pt x="91409" y="224751"/>
                  </a:cubicBezTo>
                  <a:close/>
                  <a:moveTo>
                    <a:pt x="236326" y="21066"/>
                  </a:moveTo>
                  <a:lnTo>
                    <a:pt x="236326" y="111021"/>
                  </a:lnTo>
                  <a:lnTo>
                    <a:pt x="371758" y="111021"/>
                  </a:lnTo>
                  <a:lnTo>
                    <a:pt x="372380" y="21066"/>
                  </a:lnTo>
                  <a:lnTo>
                    <a:pt x="237127" y="21066"/>
                  </a:lnTo>
                  <a:close/>
                  <a:moveTo>
                    <a:pt x="237750" y="0"/>
                  </a:moveTo>
                  <a:lnTo>
                    <a:pt x="372647" y="0"/>
                  </a:lnTo>
                  <a:cubicBezTo>
                    <a:pt x="385105" y="0"/>
                    <a:pt x="393825" y="8711"/>
                    <a:pt x="393825" y="21066"/>
                  </a:cubicBezTo>
                  <a:lnTo>
                    <a:pt x="393825" y="111021"/>
                  </a:lnTo>
                  <a:cubicBezTo>
                    <a:pt x="393825" y="123376"/>
                    <a:pt x="385105" y="134843"/>
                    <a:pt x="372647" y="134843"/>
                  </a:cubicBezTo>
                  <a:lnTo>
                    <a:pt x="315076" y="134843"/>
                  </a:lnTo>
                  <a:lnTo>
                    <a:pt x="315076" y="191020"/>
                  </a:lnTo>
                  <a:lnTo>
                    <a:pt x="292563" y="191020"/>
                  </a:lnTo>
                  <a:lnTo>
                    <a:pt x="292563" y="134843"/>
                  </a:lnTo>
                  <a:lnTo>
                    <a:pt x="237750" y="134843"/>
                  </a:lnTo>
                  <a:cubicBezTo>
                    <a:pt x="225381" y="134843"/>
                    <a:pt x="213813" y="123376"/>
                    <a:pt x="213813" y="111021"/>
                  </a:cubicBezTo>
                  <a:lnTo>
                    <a:pt x="213813" y="21066"/>
                  </a:lnTo>
                  <a:cubicBezTo>
                    <a:pt x="213813" y="8711"/>
                    <a:pt x="225381" y="0"/>
                    <a:pt x="237750" y="0"/>
                  </a:cubicBezTo>
                  <a:close/>
                </a:path>
              </a:pathLst>
            </a:custGeom>
            <a:solidFill>
              <a:srgbClr val="2F2F2F"/>
            </a:solidFill>
          </p:spPr>
          <p:txBody>
            <a:bodyPr vert="horz" lIns="91440" tIns="45720" rIns="91440" bIns="45720" anchor="t">
              <a:normAutofit fontScale="47500" lnSpcReduction="20000"/>
            </a:bodyPr>
            <a:lstStyle/>
            <a:p>
              <a:pPr marL="0" algn="l"/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831752" y="4892240"/>
            <a:ext cx="3454485" cy="1348704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lstStyle/>
          <a:p>
            <a:pPr marL="0" algn="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随着数字化转型的加速，市场对大数据解决方案的需求上升，各类企业纷纷投入资源以期在这一领域占据市场优势。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1752" y="4461979"/>
            <a:ext cx="3454485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t">
            <a:spAutoFit/>
          </a:bodyPr>
          <a:lstStyle/>
          <a:p>
            <a:pPr marL="0" algn="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市场发展趋势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 flipH="1" flipV="1">
            <a:off x="5868675" y="1130300"/>
            <a:ext cx="1875636" cy="4118268"/>
          </a:xfrm>
          <a:custGeom>
            <a:avLst/>
            <a:gdLst/>
            <a:ahLst/>
            <a:cxnLst/>
            <a:rect l="l" t="t" r="r" b="b"/>
            <a:pathLst>
              <a:path w="918" h="2015">
                <a:moveTo>
                  <a:pt x="697" y="2015"/>
                </a:moveTo>
                <a:lnTo>
                  <a:pt x="697" y="623"/>
                </a:lnTo>
                <a:lnTo>
                  <a:pt x="918" y="623"/>
                </a:lnTo>
                <a:lnTo>
                  <a:pt x="460" y="0"/>
                </a:lnTo>
                <a:lnTo>
                  <a:pt x="0" y="623"/>
                </a:lnTo>
                <a:lnTo>
                  <a:pt x="223" y="623"/>
                </a:lnTo>
                <a:lnTo>
                  <a:pt x="223" y="800"/>
                </a:lnTo>
              </a:path>
            </a:pathLst>
          </a:custGeom>
          <a:noFill/>
          <a:ln w="20638" cap="rnd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grpSp>
        <p:nvGrpSpPr>
          <p:cNvPr id="10" name="Group 10"/>
          <p:cNvGrpSpPr/>
          <p:nvPr/>
        </p:nvGrpSpPr>
        <p:grpSpPr>
          <a:xfrm>
            <a:off x="7018132" y="3079020"/>
            <a:ext cx="549546" cy="549542"/>
            <a:chOff x="2406923" y="2845390"/>
            <a:chExt cx="571222" cy="571221"/>
          </a:xfrm>
        </p:grpSpPr>
        <p:sp>
          <p:nvSpPr>
            <p:cNvPr id="11" name="AutoShape 11"/>
            <p:cNvSpPr/>
            <p:nvPr/>
          </p:nvSpPr>
          <p:spPr>
            <a:xfrm>
              <a:off x="2406923" y="2845390"/>
              <a:ext cx="571222" cy="571221"/>
            </a:xfrm>
            <a:prstGeom prst="ellipse">
              <a:avLst/>
            </a:prstGeom>
            <a:solidFill>
              <a:schemeClr val="accent3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540113" y="2978777"/>
              <a:ext cx="304842" cy="304441"/>
            </a:xfrm>
            <a:custGeom>
              <a:avLst/>
              <a:gdLst/>
              <a:ahLst/>
              <a:cxnLst/>
              <a:rect l="l" t="t" r="r" b="b"/>
              <a:pathLst>
                <a:path w="591547" h="590770">
                  <a:moveTo>
                    <a:pt x="86413" y="515758"/>
                  </a:moveTo>
                  <a:lnTo>
                    <a:pt x="171919" y="515758"/>
                  </a:lnTo>
                  <a:lnTo>
                    <a:pt x="171919" y="537523"/>
                  </a:lnTo>
                  <a:lnTo>
                    <a:pt x="86413" y="537523"/>
                  </a:lnTo>
                  <a:close/>
                  <a:moveTo>
                    <a:pt x="86413" y="461733"/>
                  </a:moveTo>
                  <a:lnTo>
                    <a:pt x="171919" y="461733"/>
                  </a:lnTo>
                  <a:lnTo>
                    <a:pt x="171919" y="483498"/>
                  </a:lnTo>
                  <a:lnTo>
                    <a:pt x="86413" y="483498"/>
                  </a:lnTo>
                  <a:close/>
                  <a:moveTo>
                    <a:pt x="86413" y="408616"/>
                  </a:moveTo>
                  <a:lnTo>
                    <a:pt x="171919" y="408616"/>
                  </a:lnTo>
                  <a:lnTo>
                    <a:pt x="171919" y="429474"/>
                  </a:lnTo>
                  <a:lnTo>
                    <a:pt x="86413" y="429474"/>
                  </a:lnTo>
                  <a:close/>
                  <a:moveTo>
                    <a:pt x="204177" y="357041"/>
                  </a:moveTo>
                  <a:lnTo>
                    <a:pt x="204177" y="569815"/>
                  </a:lnTo>
                  <a:lnTo>
                    <a:pt x="333300" y="569815"/>
                  </a:lnTo>
                  <a:lnTo>
                    <a:pt x="333300" y="382026"/>
                  </a:lnTo>
                  <a:close/>
                  <a:moveTo>
                    <a:pt x="183194" y="357041"/>
                  </a:moveTo>
                  <a:lnTo>
                    <a:pt x="75053" y="382026"/>
                  </a:lnTo>
                  <a:lnTo>
                    <a:pt x="75053" y="569815"/>
                  </a:lnTo>
                  <a:lnTo>
                    <a:pt x="183194" y="569815"/>
                  </a:lnTo>
                  <a:close/>
                  <a:moveTo>
                    <a:pt x="247709" y="311838"/>
                  </a:moveTo>
                  <a:lnTo>
                    <a:pt x="322851" y="311838"/>
                  </a:lnTo>
                  <a:lnTo>
                    <a:pt x="322851" y="332826"/>
                  </a:lnTo>
                  <a:lnTo>
                    <a:pt x="247709" y="332826"/>
                  </a:lnTo>
                  <a:close/>
                  <a:moveTo>
                    <a:pt x="247709" y="257944"/>
                  </a:moveTo>
                  <a:lnTo>
                    <a:pt x="322851" y="257944"/>
                  </a:lnTo>
                  <a:lnTo>
                    <a:pt x="322851" y="279580"/>
                  </a:lnTo>
                  <a:lnTo>
                    <a:pt x="247709" y="279580"/>
                  </a:lnTo>
                  <a:close/>
                  <a:moveTo>
                    <a:pt x="247709" y="203919"/>
                  </a:moveTo>
                  <a:lnTo>
                    <a:pt x="322851" y="203919"/>
                  </a:lnTo>
                  <a:lnTo>
                    <a:pt x="322851" y="225684"/>
                  </a:lnTo>
                  <a:lnTo>
                    <a:pt x="247709" y="225684"/>
                  </a:lnTo>
                  <a:close/>
                  <a:moveTo>
                    <a:pt x="247709" y="150672"/>
                  </a:moveTo>
                  <a:lnTo>
                    <a:pt x="322851" y="150672"/>
                  </a:lnTo>
                  <a:lnTo>
                    <a:pt x="322851" y="171660"/>
                  </a:lnTo>
                  <a:lnTo>
                    <a:pt x="247709" y="171660"/>
                  </a:lnTo>
                  <a:close/>
                  <a:moveTo>
                    <a:pt x="355090" y="102357"/>
                  </a:moveTo>
                  <a:lnTo>
                    <a:pt x="355090" y="373160"/>
                  </a:lnTo>
                  <a:lnTo>
                    <a:pt x="355090" y="376384"/>
                  </a:lnTo>
                  <a:lnTo>
                    <a:pt x="355090" y="569815"/>
                  </a:lnTo>
                  <a:lnTo>
                    <a:pt x="484213" y="569815"/>
                  </a:lnTo>
                  <a:lnTo>
                    <a:pt x="484213" y="154744"/>
                  </a:lnTo>
                  <a:close/>
                  <a:moveTo>
                    <a:pt x="333300" y="99939"/>
                  </a:moveTo>
                  <a:lnTo>
                    <a:pt x="236458" y="125730"/>
                  </a:lnTo>
                  <a:lnTo>
                    <a:pt x="236458" y="341728"/>
                  </a:lnTo>
                  <a:lnTo>
                    <a:pt x="333300" y="360265"/>
                  </a:lnTo>
                  <a:close/>
                  <a:moveTo>
                    <a:pt x="397862" y="21761"/>
                  </a:moveTo>
                  <a:cubicBezTo>
                    <a:pt x="392213" y="21761"/>
                    <a:pt x="387371" y="26596"/>
                    <a:pt x="387371" y="32238"/>
                  </a:cubicBezTo>
                  <a:cubicBezTo>
                    <a:pt x="387371" y="37880"/>
                    <a:pt x="392213" y="42716"/>
                    <a:pt x="397862" y="42716"/>
                  </a:cubicBezTo>
                  <a:cubicBezTo>
                    <a:pt x="404318" y="42716"/>
                    <a:pt x="409160" y="37880"/>
                    <a:pt x="409160" y="32238"/>
                  </a:cubicBezTo>
                  <a:cubicBezTo>
                    <a:pt x="409160" y="26596"/>
                    <a:pt x="404318" y="21761"/>
                    <a:pt x="397862" y="21761"/>
                  </a:cubicBezTo>
                  <a:close/>
                  <a:moveTo>
                    <a:pt x="397862" y="0"/>
                  </a:moveTo>
                  <a:cubicBezTo>
                    <a:pt x="415616" y="0"/>
                    <a:pt x="430143" y="14507"/>
                    <a:pt x="430143" y="32238"/>
                  </a:cubicBezTo>
                  <a:cubicBezTo>
                    <a:pt x="430143" y="45940"/>
                    <a:pt x="421266" y="58029"/>
                    <a:pt x="409160" y="62865"/>
                  </a:cubicBezTo>
                  <a:lnTo>
                    <a:pt x="409160" y="100745"/>
                  </a:lnTo>
                  <a:lnTo>
                    <a:pt x="498740" y="137819"/>
                  </a:lnTo>
                  <a:cubicBezTo>
                    <a:pt x="502775" y="139431"/>
                    <a:pt x="506003" y="143461"/>
                    <a:pt x="506003" y="147491"/>
                  </a:cubicBezTo>
                  <a:lnTo>
                    <a:pt x="506003" y="569815"/>
                  </a:lnTo>
                  <a:lnTo>
                    <a:pt x="591547" y="569815"/>
                  </a:lnTo>
                  <a:lnTo>
                    <a:pt x="591547" y="590770"/>
                  </a:lnTo>
                  <a:lnTo>
                    <a:pt x="494705" y="590770"/>
                  </a:lnTo>
                  <a:lnTo>
                    <a:pt x="344598" y="590770"/>
                  </a:lnTo>
                  <a:lnTo>
                    <a:pt x="193685" y="590770"/>
                  </a:lnTo>
                  <a:lnTo>
                    <a:pt x="64562" y="590770"/>
                  </a:lnTo>
                  <a:lnTo>
                    <a:pt x="0" y="590770"/>
                  </a:lnTo>
                  <a:lnTo>
                    <a:pt x="0" y="569815"/>
                  </a:lnTo>
                  <a:lnTo>
                    <a:pt x="54070" y="569815"/>
                  </a:lnTo>
                  <a:lnTo>
                    <a:pt x="54070" y="373160"/>
                  </a:lnTo>
                  <a:cubicBezTo>
                    <a:pt x="54070" y="368324"/>
                    <a:pt x="57298" y="364294"/>
                    <a:pt x="62141" y="362683"/>
                  </a:cubicBezTo>
                  <a:lnTo>
                    <a:pt x="191264" y="333668"/>
                  </a:lnTo>
                  <a:cubicBezTo>
                    <a:pt x="192878" y="332862"/>
                    <a:pt x="194492" y="332862"/>
                    <a:pt x="195299" y="333668"/>
                  </a:cubicBezTo>
                  <a:cubicBezTo>
                    <a:pt x="196106" y="333668"/>
                    <a:pt x="196106" y="333668"/>
                    <a:pt x="196106" y="333668"/>
                  </a:cubicBezTo>
                  <a:lnTo>
                    <a:pt x="215475" y="336892"/>
                  </a:lnTo>
                  <a:lnTo>
                    <a:pt x="215475" y="116864"/>
                  </a:lnTo>
                  <a:cubicBezTo>
                    <a:pt x="215475" y="112028"/>
                    <a:pt x="218703" y="107999"/>
                    <a:pt x="223545" y="106387"/>
                  </a:cubicBezTo>
                  <a:lnTo>
                    <a:pt x="341370" y="75760"/>
                  </a:lnTo>
                  <a:cubicBezTo>
                    <a:pt x="342177" y="75760"/>
                    <a:pt x="342177" y="75760"/>
                    <a:pt x="342984" y="75760"/>
                  </a:cubicBezTo>
                  <a:cubicBezTo>
                    <a:pt x="343791" y="75760"/>
                    <a:pt x="344598" y="74954"/>
                    <a:pt x="345405" y="75760"/>
                  </a:cubicBezTo>
                  <a:cubicBezTo>
                    <a:pt x="346213" y="75760"/>
                    <a:pt x="347020" y="75760"/>
                    <a:pt x="347020" y="75760"/>
                  </a:cubicBezTo>
                  <a:cubicBezTo>
                    <a:pt x="347827" y="75760"/>
                    <a:pt x="347827" y="75760"/>
                    <a:pt x="348634" y="75760"/>
                  </a:cubicBezTo>
                  <a:lnTo>
                    <a:pt x="387371" y="91879"/>
                  </a:lnTo>
                  <a:lnTo>
                    <a:pt x="387371" y="62865"/>
                  </a:lnTo>
                  <a:cubicBezTo>
                    <a:pt x="375265" y="58029"/>
                    <a:pt x="365581" y="45940"/>
                    <a:pt x="365581" y="32238"/>
                  </a:cubicBezTo>
                  <a:cubicBezTo>
                    <a:pt x="365581" y="14507"/>
                    <a:pt x="380107" y="0"/>
                    <a:pt x="397862" y="0"/>
                  </a:cubicBezTo>
                  <a:close/>
                </a:path>
              </a:pathLst>
            </a:custGeom>
            <a:solidFill>
              <a:srgbClr val="2F2F2F"/>
            </a:solidFill>
          </p:spPr>
          <p:txBody>
            <a:bodyPr vert="horz" lIns="91440" tIns="45720" rIns="91440" bIns="45720" anchor="t">
              <a:normAutofit fontScale="85000" lnSpcReduction="20000"/>
            </a:bodyPr>
            <a:lstStyle/>
            <a:p>
              <a:pPr marL="0" algn="l"/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7727266" y="1600292"/>
            <a:ext cx="3456000" cy="1348704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国家层面在《国家中长期科学和技术发展规划纲要》和《大数据产业发展行动纲要》中明确将大数据作为战略性新兴产业，促进科技与经济深度融合。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27266" y="1187412"/>
            <a:ext cx="3456000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t">
            <a:sp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国家战略规划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现行政策解读</a:t>
            </a:r>
          </a:p>
        </p:txBody>
      </p:sp>
      <p:sp>
        <p:nvSpPr>
          <p:cNvPr id="3" name="AutoShape 3"/>
          <p:cNvSpPr/>
          <p:nvPr/>
        </p:nvSpPr>
        <p:spPr>
          <a:xfrm>
            <a:off x="660400" y="1655656"/>
            <a:ext cx="3310495" cy="3745019"/>
          </a:xfrm>
          <a:prstGeom prst="roundRect">
            <a:avLst>
              <a:gd name="adj" fmla="val 3000"/>
            </a:avLst>
          </a:prstGeom>
          <a:solidFill>
            <a:schemeClr val="accent2">
              <a:alpha val="40000"/>
              <a:lumMod val="20000"/>
              <a:lumOff val="80000"/>
            </a:scheme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890261" y="1941561"/>
            <a:ext cx="296320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促进政策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90752" y="2601379"/>
            <a:ext cx="2963210" cy="65710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0" i="0" u="none" baseline="0">
                <a:ln/>
                <a:solidFill>
                  <a:srgbClr val="FFFFFF"/>
                </a:solidFill>
                <a:latin typeface="微软雅黑"/>
                <a:ea typeface="微软雅黑"/>
              </a:rPr>
              <a:t>政府推出了一系列促进政策，鼓励大数据企业发展，提供资金支持、税收减免等，有效刺激大数据行业的快速建设和发展。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rot="5400000">
            <a:off x="560822" y="2094774"/>
            <a:ext cx="304158" cy="95759"/>
          </a:xfrm>
          <a:prstGeom prst="round2SameRect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410319" y="1655656"/>
            <a:ext cx="3310495" cy="3745019"/>
          </a:xfrm>
          <a:prstGeom prst="roundRect">
            <a:avLst>
              <a:gd name="adj" fmla="val 3000"/>
            </a:avLst>
          </a:prstGeom>
          <a:solidFill>
            <a:schemeClr val="accent4">
              <a:alpha val="40000"/>
              <a:lumMod val="20000"/>
              <a:lumOff val="80000"/>
            </a:scheme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4640180" y="1941561"/>
            <a:ext cx="296320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监管政策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4640671" y="2601379"/>
            <a:ext cx="2963210" cy="65710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0" i="0" u="none" baseline="0">
                <a:ln/>
                <a:solidFill>
                  <a:srgbClr val="FFFFFF"/>
                </a:solidFill>
                <a:latin typeface="微软雅黑"/>
                <a:ea typeface="微软雅黑"/>
              </a:rPr>
              <a:t>监管政策主要包括数据安全和隐私保护方面的法规。这些政策确保企业在处理用户数据时的合规性，防止数据滥用。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 rot="5400000">
            <a:off x="4310741" y="2094774"/>
            <a:ext cx="304158" cy="95759"/>
          </a:xfrm>
          <a:prstGeom prst="round2SameRect">
            <a:avLst/>
          </a:prstGeom>
          <a:solidFill>
            <a:schemeClr val="accent4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160238" y="1655656"/>
            <a:ext cx="3310495" cy="3745019"/>
          </a:xfrm>
          <a:prstGeom prst="roundRect">
            <a:avLst>
              <a:gd name="adj" fmla="val 3000"/>
            </a:avLst>
          </a:prstGeom>
          <a:solidFill>
            <a:schemeClr val="accent2">
              <a:alpha val="40000"/>
              <a:lumMod val="20000"/>
              <a:lumOff val="80000"/>
            </a:scheme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8390099" y="1988053"/>
            <a:ext cx="296320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财税政策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390590" y="2601379"/>
            <a:ext cx="2963210" cy="65710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0" i="0" u="none" baseline="0">
                <a:ln/>
                <a:solidFill>
                  <a:srgbClr val="FFFFFF"/>
                </a:solidFill>
                <a:latin typeface="微软雅黑"/>
                <a:ea typeface="微软雅黑"/>
              </a:rPr>
              <a:t>财税政策则通过减免税政策、加大财政投入等手段，鼓励企业在大数据技术研发与应用上进行投资，推动行业整体增长。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5400000">
            <a:off x="8060660" y="2094774"/>
            <a:ext cx="304158" cy="95759"/>
          </a:xfrm>
          <a:prstGeom prst="round2SameRect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政策实施效果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1211231" y="1366045"/>
            <a:ext cx="42352" cy="4627526"/>
          </a:xfrm>
          <a:prstGeom prst="line">
            <a:avLst/>
          </a:prstGeom>
          <a:ln w="6350" cap="flat" cmpd="sng">
            <a:solidFill>
              <a:srgbClr val="FFFFFF"/>
            </a:solidFill>
            <a:prstDash val="solid"/>
          </a:ln>
        </p:spPr>
      </p:cxnSp>
      <p:sp>
        <p:nvSpPr>
          <p:cNvPr id="4" name="AutoShape 4"/>
          <p:cNvSpPr/>
          <p:nvPr/>
        </p:nvSpPr>
        <p:spPr>
          <a:xfrm>
            <a:off x="8256196" y="1425100"/>
            <a:ext cx="2470692" cy="1061814"/>
          </a:xfrm>
          <a:prstGeom prst="round2SameRect">
            <a:avLst>
              <a:gd name="adj1" fmla="val 0"/>
              <a:gd name="adj2" fmla="val 0"/>
            </a:avLst>
          </a:prstGeom>
          <a:blipFill>
            <a:blip r:embed="rId2"/>
            <a:stretch>
              <a:fillRect t="-27952" b="-27292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22661" y="1430229"/>
            <a:ext cx="376146" cy="364203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r>
              <a:rPr lang="en-US" sz="1200" b="1" i="0" u="none" baseline="0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87377" y="1425100"/>
            <a:ext cx="579831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ln/>
                <a:solidFill>
                  <a:srgbClr val="FFFFFF"/>
                </a:solidFill>
                <a:latin typeface="微软雅黑"/>
                <a:ea typeface="微软雅黑"/>
              </a:rPr>
              <a:t>企业发展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587377" y="1794432"/>
            <a:ext cx="5798312" cy="625493"/>
          </a:xfrm>
          <a:prstGeom prst="rect">
            <a:avLst/>
          </a:prstGeom>
        </p:spPr>
        <p:txBody>
          <a:bodyPr vert="horz" wrap="square" lIns="90000" tIns="46800" rIns="90000" bIns="4680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政策的实施促进了大数据企业的快速发展，涌现出一大批具备核心技术的企业，提升了整个产业链的创新水平。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56196" y="3250598"/>
            <a:ext cx="2470692" cy="1061814"/>
          </a:xfrm>
          <a:prstGeom prst="round2SameRect">
            <a:avLst>
              <a:gd name="adj1" fmla="val 0"/>
              <a:gd name="adj2" fmla="val 0"/>
            </a:avLst>
          </a:prstGeom>
          <a:blipFill>
            <a:blip r:embed="rId3"/>
            <a:stretch>
              <a:fillRect t="-126003" b="-123026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22661" y="3255727"/>
            <a:ext cx="376146" cy="364203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r>
              <a:rPr lang="en-US" sz="1200" b="1" i="0" u="none" baseline="0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87377" y="3250598"/>
            <a:ext cx="579831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ln/>
                <a:solidFill>
                  <a:srgbClr val="FFFFFF"/>
                </a:solidFill>
                <a:latin typeface="微软雅黑"/>
                <a:ea typeface="微软雅黑"/>
              </a:rPr>
              <a:t>行业规范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587377" y="3619930"/>
            <a:ext cx="5798312" cy="625493"/>
          </a:xfrm>
          <a:prstGeom prst="rect">
            <a:avLst/>
          </a:prstGeom>
        </p:spPr>
        <p:txBody>
          <a:bodyPr vert="horz" wrap="square" lIns="90000" tIns="46800" rIns="90000" bIns="4680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行业规范逐渐形成，市场竞争更加理性，企业在数据处理、存储等方面的操作标准化程度明显提高。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56196" y="5076097"/>
            <a:ext cx="2470692" cy="1061814"/>
          </a:xfrm>
          <a:prstGeom prst="round2SameRect">
            <a:avLst>
              <a:gd name="adj1" fmla="val 0"/>
              <a:gd name="adj2" fmla="val 0"/>
            </a:avLst>
          </a:prstGeom>
          <a:blipFill>
            <a:blip r:embed="rId4"/>
            <a:stretch>
              <a:fillRect t="-126003" b="-123026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22661" y="5081226"/>
            <a:ext cx="376146" cy="364203"/>
          </a:xfrm>
          <a:prstGeom prst="rect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r>
              <a:rPr lang="en-US" sz="1200" b="1" i="0" u="none" baseline="0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87377" y="5076097"/>
            <a:ext cx="579831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ln/>
                <a:solidFill>
                  <a:srgbClr val="FFFFFF"/>
                </a:solidFill>
                <a:latin typeface="微软雅黑"/>
                <a:ea typeface="微软雅黑"/>
              </a:rPr>
              <a:t>创新能力提升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587377" y="5445429"/>
            <a:ext cx="5798312" cy="625493"/>
          </a:xfrm>
          <a:prstGeom prst="rect">
            <a:avLst/>
          </a:prstGeom>
        </p:spPr>
        <p:txBody>
          <a:bodyPr vert="horz" wrap="square" lIns="90000" tIns="46800" rIns="90000" bIns="4680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随着政策的引导和支持，企业的创新能力明显提升，尤其是在数据挖掘和机器学习等前沿技术领域。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/>
            </a:gs>
            <a:gs pos="100000">
              <a:srgbClr val="3091CC"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781368" y="2844225"/>
            <a:ext cx="5737531" cy="58477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zh-CN" altLang="en-US" sz="32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大数据法律法规框架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12000" y="1187698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0953420" y="1165347"/>
            <a:ext cx="498855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FFFFFF"/>
                </a:solidFill>
                <a:latin typeface="Arial"/>
                <a:ea typeface="Arial"/>
              </a:rPr>
              <a:t>.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相关法律法规概述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458839" y="2440455"/>
            <a:ext cx="685521" cy="2382659"/>
            <a:chOff x="7008007" y="3100954"/>
            <a:chExt cx="685521" cy="2382659"/>
          </a:xfrm>
        </p:grpSpPr>
        <p:sp>
          <p:nvSpPr>
            <p:cNvPr id="4" name="AutoShape 4"/>
            <p:cNvSpPr/>
            <p:nvPr/>
          </p:nvSpPr>
          <p:spPr>
            <a:xfrm>
              <a:off x="7008007" y="3100954"/>
              <a:ext cx="685521" cy="2382659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5" name="AutoShape 5"/>
            <p:cNvSpPr/>
            <p:nvPr/>
          </p:nvSpPr>
          <p:spPr>
            <a:xfrm>
              <a:off x="7138836" y="3262143"/>
              <a:ext cx="157123" cy="157123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6" name="AutoShape 6"/>
            <p:cNvSpPr/>
            <p:nvPr/>
          </p:nvSpPr>
          <p:spPr>
            <a:xfrm>
              <a:off x="7384593" y="3262143"/>
              <a:ext cx="157123" cy="157123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7" name="AutoShape 7"/>
            <p:cNvSpPr/>
            <p:nvPr/>
          </p:nvSpPr>
          <p:spPr>
            <a:xfrm>
              <a:off x="7138836" y="3495814"/>
              <a:ext cx="157123" cy="157123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8" name="AutoShape 8"/>
            <p:cNvSpPr/>
            <p:nvPr/>
          </p:nvSpPr>
          <p:spPr>
            <a:xfrm>
              <a:off x="7384593" y="3495814"/>
              <a:ext cx="157123" cy="157123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7138836" y="3749628"/>
              <a:ext cx="157123" cy="157123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7384593" y="3749628"/>
              <a:ext cx="157123" cy="157123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7138836" y="4023587"/>
              <a:ext cx="157123" cy="157123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7384593" y="4023587"/>
              <a:ext cx="157123" cy="157123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63118" y="2223736"/>
            <a:ext cx="685521" cy="2602715"/>
            <a:chOff x="5521436" y="2568271"/>
            <a:chExt cx="879038" cy="3337438"/>
          </a:xfrm>
        </p:grpSpPr>
        <p:grpSp>
          <p:nvGrpSpPr>
            <p:cNvPr id="14" name="Group 14"/>
            <p:cNvGrpSpPr/>
            <p:nvPr/>
          </p:nvGrpSpPr>
          <p:grpSpPr>
            <a:xfrm>
              <a:off x="5521436" y="2568271"/>
              <a:ext cx="879038" cy="3337438"/>
              <a:chOff x="5301628" y="2015067"/>
              <a:chExt cx="879038" cy="3626873"/>
            </a:xfrm>
            <a:solidFill>
              <a:schemeClr val="accent4"/>
            </a:solidFill>
          </p:grpSpPr>
          <p:sp>
            <p:nvSpPr>
              <p:cNvPr id="15" name="AutoShape 15"/>
              <p:cNvSpPr/>
              <p:nvPr/>
            </p:nvSpPr>
            <p:spPr>
              <a:xfrm>
                <a:off x="5301628" y="2015067"/>
                <a:ext cx="879038" cy="3626873"/>
              </a:xfrm>
              <a:prstGeom prst="rect">
                <a:avLst/>
              </a:prstGeom>
              <a:grpFill/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grpSp>
            <p:nvGrpSpPr>
              <p:cNvPr id="16" name="Group 16"/>
              <p:cNvGrpSpPr/>
              <p:nvPr/>
            </p:nvGrpSpPr>
            <p:grpSpPr>
              <a:xfrm>
                <a:off x="5415151" y="2368603"/>
                <a:ext cx="632048" cy="2561943"/>
                <a:chOff x="5415151" y="2690337"/>
                <a:chExt cx="632048" cy="2561943"/>
              </a:xfrm>
              <a:grpFill/>
            </p:grpSpPr>
            <p:sp>
              <p:nvSpPr>
                <p:cNvPr id="17" name="AutoShape 17"/>
                <p:cNvSpPr/>
                <p:nvPr/>
              </p:nvSpPr>
              <p:spPr>
                <a:xfrm>
                  <a:off x="5415151" y="5146427"/>
                  <a:ext cx="632048" cy="105853"/>
                </a:xfrm>
                <a:prstGeom prst="rect">
                  <a:avLst/>
                </a:prstGeom>
                <a:grpFill/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18" name="AutoShape 18"/>
                <p:cNvSpPr/>
                <p:nvPr/>
              </p:nvSpPr>
              <p:spPr>
                <a:xfrm>
                  <a:off x="5415151" y="2690337"/>
                  <a:ext cx="632048" cy="101250"/>
                </a:xfrm>
                <a:prstGeom prst="rect">
                  <a:avLst/>
                </a:prstGeom>
                <a:grpFill/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19" name="AutoShape 19"/>
                <p:cNvSpPr/>
                <p:nvPr/>
              </p:nvSpPr>
              <p:spPr>
                <a:xfrm>
                  <a:off x="5415151" y="3038577"/>
                  <a:ext cx="632048" cy="105853"/>
                </a:xfrm>
                <a:prstGeom prst="rect">
                  <a:avLst/>
                </a:prstGeom>
                <a:grpFill/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20" name="AutoShape 20"/>
                <p:cNvSpPr/>
                <p:nvPr/>
              </p:nvSpPr>
              <p:spPr>
                <a:xfrm>
                  <a:off x="5415151" y="3391420"/>
                  <a:ext cx="632048" cy="105853"/>
                </a:xfrm>
                <a:prstGeom prst="rect">
                  <a:avLst/>
                </a:prstGeom>
                <a:grpFill/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21" name="AutoShape 21"/>
                <p:cNvSpPr/>
                <p:nvPr/>
              </p:nvSpPr>
              <p:spPr>
                <a:xfrm>
                  <a:off x="5415151" y="3744262"/>
                  <a:ext cx="632048" cy="101250"/>
                </a:xfrm>
                <a:prstGeom prst="rect">
                  <a:avLst/>
                </a:prstGeom>
                <a:grpFill/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22" name="AutoShape 22"/>
                <p:cNvSpPr/>
                <p:nvPr/>
              </p:nvSpPr>
              <p:spPr>
                <a:xfrm>
                  <a:off x="5415151" y="4092502"/>
                  <a:ext cx="632048" cy="105853"/>
                </a:xfrm>
                <a:prstGeom prst="rect">
                  <a:avLst/>
                </a:prstGeom>
                <a:grpFill/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23" name="AutoShape 23"/>
                <p:cNvSpPr/>
                <p:nvPr/>
              </p:nvSpPr>
              <p:spPr>
                <a:xfrm>
                  <a:off x="5415151" y="4445344"/>
                  <a:ext cx="632048" cy="105853"/>
                </a:xfrm>
                <a:prstGeom prst="rect">
                  <a:avLst/>
                </a:prstGeom>
                <a:grpFill/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24" name="AutoShape 24"/>
                <p:cNvSpPr/>
                <p:nvPr/>
              </p:nvSpPr>
              <p:spPr>
                <a:xfrm>
                  <a:off x="5415151" y="4798186"/>
                  <a:ext cx="632048" cy="101250"/>
                </a:xfrm>
                <a:prstGeom prst="rect">
                  <a:avLst/>
                </a:prstGeom>
                <a:grpFill/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</p:grpSp>
        </p:grpSp>
        <p:sp>
          <p:nvSpPr>
            <p:cNvPr id="25" name="AutoShape 25"/>
            <p:cNvSpPr/>
            <p:nvPr/>
          </p:nvSpPr>
          <p:spPr>
            <a:xfrm>
              <a:off x="5704660" y="2802399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6019792" y="2802399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5704660" y="3102033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6019792" y="3102033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5704660" y="3427497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6019792" y="3427497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5704660" y="3778792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6019792" y="3778792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762843" y="1998020"/>
            <a:ext cx="685521" cy="2828431"/>
            <a:chOff x="8248734" y="2278836"/>
            <a:chExt cx="879038" cy="3626873"/>
          </a:xfrm>
        </p:grpSpPr>
        <p:grpSp>
          <p:nvGrpSpPr>
            <p:cNvPr id="34" name="Group 34"/>
            <p:cNvGrpSpPr/>
            <p:nvPr/>
          </p:nvGrpSpPr>
          <p:grpSpPr>
            <a:xfrm>
              <a:off x="8248734" y="2278836"/>
              <a:ext cx="879038" cy="3626873"/>
              <a:chOff x="5301628" y="2015067"/>
              <a:chExt cx="879038" cy="3626873"/>
            </a:xfrm>
            <a:solidFill>
              <a:schemeClr val="accent5"/>
            </a:solidFill>
          </p:grpSpPr>
          <p:sp>
            <p:nvSpPr>
              <p:cNvPr id="35" name="AutoShape 35"/>
              <p:cNvSpPr/>
              <p:nvPr/>
            </p:nvSpPr>
            <p:spPr>
              <a:xfrm>
                <a:off x="5301628" y="2015067"/>
                <a:ext cx="879038" cy="3626873"/>
              </a:xfrm>
              <a:prstGeom prst="rect">
                <a:avLst/>
              </a:prstGeom>
              <a:grpFill/>
            </p:spPr>
            <p:txBody>
              <a:bodyPr vert="horz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grpSp>
            <p:nvGrpSpPr>
              <p:cNvPr id="36" name="Group 36"/>
              <p:cNvGrpSpPr/>
              <p:nvPr/>
            </p:nvGrpSpPr>
            <p:grpSpPr>
              <a:xfrm>
                <a:off x="5415151" y="2368603"/>
                <a:ext cx="632048" cy="2561943"/>
                <a:chOff x="5415151" y="2690337"/>
                <a:chExt cx="632048" cy="2561943"/>
              </a:xfrm>
              <a:grpFill/>
            </p:grpSpPr>
            <p:sp>
              <p:nvSpPr>
                <p:cNvPr id="37" name="AutoShape 37"/>
                <p:cNvSpPr/>
                <p:nvPr/>
              </p:nvSpPr>
              <p:spPr>
                <a:xfrm>
                  <a:off x="5415151" y="5146427"/>
                  <a:ext cx="632048" cy="105853"/>
                </a:xfrm>
                <a:prstGeom prst="rect">
                  <a:avLst/>
                </a:prstGeom>
                <a:grpFill/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38" name="AutoShape 38"/>
                <p:cNvSpPr/>
                <p:nvPr/>
              </p:nvSpPr>
              <p:spPr>
                <a:xfrm>
                  <a:off x="5415151" y="2690337"/>
                  <a:ext cx="632048" cy="101250"/>
                </a:xfrm>
                <a:prstGeom prst="rect">
                  <a:avLst/>
                </a:prstGeom>
                <a:grpFill/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39" name="AutoShape 39"/>
                <p:cNvSpPr/>
                <p:nvPr/>
              </p:nvSpPr>
              <p:spPr>
                <a:xfrm>
                  <a:off x="5415151" y="3038577"/>
                  <a:ext cx="632048" cy="105853"/>
                </a:xfrm>
                <a:prstGeom prst="rect">
                  <a:avLst/>
                </a:prstGeom>
                <a:grpFill/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40" name="AutoShape 40"/>
                <p:cNvSpPr/>
                <p:nvPr/>
              </p:nvSpPr>
              <p:spPr>
                <a:xfrm>
                  <a:off x="5415151" y="3391420"/>
                  <a:ext cx="632048" cy="105853"/>
                </a:xfrm>
                <a:prstGeom prst="rect">
                  <a:avLst/>
                </a:prstGeom>
                <a:grpFill/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41" name="AutoShape 41"/>
                <p:cNvSpPr/>
                <p:nvPr/>
              </p:nvSpPr>
              <p:spPr>
                <a:xfrm>
                  <a:off x="5415151" y="3744262"/>
                  <a:ext cx="632048" cy="101250"/>
                </a:xfrm>
                <a:prstGeom prst="rect">
                  <a:avLst/>
                </a:prstGeom>
                <a:grpFill/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42" name="AutoShape 42"/>
                <p:cNvSpPr/>
                <p:nvPr/>
              </p:nvSpPr>
              <p:spPr>
                <a:xfrm>
                  <a:off x="5415151" y="4092502"/>
                  <a:ext cx="632048" cy="105853"/>
                </a:xfrm>
                <a:prstGeom prst="rect">
                  <a:avLst/>
                </a:prstGeom>
                <a:grpFill/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43" name="AutoShape 43"/>
                <p:cNvSpPr/>
                <p:nvPr/>
              </p:nvSpPr>
              <p:spPr>
                <a:xfrm>
                  <a:off x="5415151" y="4445344"/>
                  <a:ext cx="632048" cy="105853"/>
                </a:xfrm>
                <a:prstGeom prst="rect">
                  <a:avLst/>
                </a:prstGeom>
                <a:grpFill/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44" name="AutoShape 44"/>
                <p:cNvSpPr/>
                <p:nvPr/>
              </p:nvSpPr>
              <p:spPr>
                <a:xfrm>
                  <a:off x="5415151" y="4798186"/>
                  <a:ext cx="632048" cy="101250"/>
                </a:xfrm>
                <a:prstGeom prst="rect">
                  <a:avLst/>
                </a:prstGeom>
                <a:grpFill/>
              </p:spPr>
              <p:txBody>
                <a:bodyPr vert="horz" lIns="91440" tIns="45720" rIns="91440" bIns="45720" anchor="ctr">
                  <a:normAutofit fontScale="25000" lnSpcReduction="20000"/>
                </a:bodyPr>
                <a:lstStyle/>
                <a:p>
                  <a:pPr marL="0" algn="ctr"/>
                  <a:endParaRPr/>
                </a:p>
              </p:txBody>
            </p:sp>
          </p:grpSp>
        </p:grpSp>
        <p:sp>
          <p:nvSpPr>
            <p:cNvPr id="45" name="AutoShape 45"/>
            <p:cNvSpPr/>
            <p:nvPr/>
          </p:nvSpPr>
          <p:spPr>
            <a:xfrm>
              <a:off x="8431958" y="2524104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46" name="AutoShape 46"/>
            <p:cNvSpPr/>
            <p:nvPr/>
          </p:nvSpPr>
          <p:spPr>
            <a:xfrm>
              <a:off x="8747090" y="2524104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47" name="AutoShape 47"/>
            <p:cNvSpPr/>
            <p:nvPr/>
          </p:nvSpPr>
          <p:spPr>
            <a:xfrm>
              <a:off x="8431958" y="2823738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48" name="AutoShape 48"/>
            <p:cNvSpPr/>
            <p:nvPr/>
          </p:nvSpPr>
          <p:spPr>
            <a:xfrm>
              <a:off x="8747090" y="2823738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49" name="AutoShape 49"/>
            <p:cNvSpPr/>
            <p:nvPr/>
          </p:nvSpPr>
          <p:spPr>
            <a:xfrm>
              <a:off x="8431958" y="3149202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50" name="AutoShape 50"/>
            <p:cNvSpPr/>
            <p:nvPr/>
          </p:nvSpPr>
          <p:spPr>
            <a:xfrm>
              <a:off x="8747090" y="3149202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51" name="AutoShape 51"/>
            <p:cNvSpPr/>
            <p:nvPr/>
          </p:nvSpPr>
          <p:spPr>
            <a:xfrm>
              <a:off x="8431958" y="3500497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52" name="AutoShape 52"/>
            <p:cNvSpPr/>
            <p:nvPr/>
          </p:nvSpPr>
          <p:spPr>
            <a:xfrm>
              <a:off x="8747090" y="3500497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563393" y="2946062"/>
            <a:ext cx="685521" cy="1880389"/>
            <a:chOff x="1744954" y="3474720"/>
            <a:chExt cx="879038" cy="2411206"/>
          </a:xfrm>
        </p:grpSpPr>
        <p:sp>
          <p:nvSpPr>
            <p:cNvPr id="54" name="AutoShape 54"/>
            <p:cNvSpPr/>
            <p:nvPr/>
          </p:nvSpPr>
          <p:spPr>
            <a:xfrm>
              <a:off x="1744954" y="3474720"/>
              <a:ext cx="879038" cy="2411206"/>
            </a:xfrm>
            <a:prstGeom prst="rect">
              <a:avLst/>
            </a:prstGeom>
            <a:solidFill>
              <a:schemeClr val="accent2"/>
            </a:solidFill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55" name="AutoShape 55"/>
            <p:cNvSpPr/>
            <p:nvPr/>
          </p:nvSpPr>
          <p:spPr>
            <a:xfrm>
              <a:off x="1912715" y="3673458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56" name="AutoShape 56"/>
            <p:cNvSpPr/>
            <p:nvPr/>
          </p:nvSpPr>
          <p:spPr>
            <a:xfrm>
              <a:off x="2227847" y="3673458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57" name="AutoShape 57"/>
            <p:cNvSpPr/>
            <p:nvPr/>
          </p:nvSpPr>
          <p:spPr>
            <a:xfrm>
              <a:off x="1912715" y="3973092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58" name="AutoShape 58"/>
            <p:cNvSpPr/>
            <p:nvPr/>
          </p:nvSpPr>
          <p:spPr>
            <a:xfrm>
              <a:off x="2227847" y="3973092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59" name="AutoShape 59"/>
            <p:cNvSpPr/>
            <p:nvPr/>
          </p:nvSpPr>
          <p:spPr>
            <a:xfrm>
              <a:off x="1912715" y="4298556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60" name="AutoShape 60"/>
            <p:cNvSpPr/>
            <p:nvPr/>
          </p:nvSpPr>
          <p:spPr>
            <a:xfrm>
              <a:off x="2227847" y="4298556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61" name="AutoShape 61"/>
            <p:cNvSpPr/>
            <p:nvPr/>
          </p:nvSpPr>
          <p:spPr>
            <a:xfrm>
              <a:off x="1912715" y="4649851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62" name="AutoShape 62"/>
            <p:cNvSpPr/>
            <p:nvPr/>
          </p:nvSpPr>
          <p:spPr>
            <a:xfrm>
              <a:off x="2227847" y="4649851"/>
              <a:ext cx="201478" cy="201478"/>
            </a:xfrm>
            <a:prstGeom prst="rect">
              <a:avLst/>
            </a:prstGeom>
            <a:solidFill>
              <a:srgbClr val="2F2F2F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63" name="Freeform 63"/>
          <p:cNvSpPr/>
          <p:nvPr/>
        </p:nvSpPr>
        <p:spPr>
          <a:xfrm>
            <a:off x="651817" y="1468770"/>
            <a:ext cx="472408" cy="472408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cap="flat"/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4" name="Freeform 64"/>
          <p:cNvSpPr/>
          <p:nvPr/>
        </p:nvSpPr>
        <p:spPr>
          <a:xfrm>
            <a:off x="796160" y="1608619"/>
            <a:ext cx="183723" cy="192709"/>
          </a:xfrm>
          <a:custGeom>
            <a:avLst/>
            <a:gdLst/>
            <a:ahLst/>
            <a:cxnLst/>
            <a:rect l="l" t="t" r="r" b="b"/>
            <a:pathLst>
              <a:path w="21004" h="21302" extrusionOk="0">
                <a:moveTo>
                  <a:pt x="7816" y="21302"/>
                </a:moveTo>
                <a:cubicBezTo>
                  <a:pt x="7132" y="21302"/>
                  <a:pt x="6483" y="20993"/>
                  <a:pt x="6068" y="20461"/>
                </a:cubicBezTo>
                <a:lnTo>
                  <a:pt x="445" y="13277"/>
                </a:lnTo>
                <a:cubicBezTo>
                  <a:pt x="-287" y="12344"/>
                  <a:pt x="-97" y="11016"/>
                  <a:pt x="870" y="10308"/>
                </a:cubicBezTo>
                <a:cubicBezTo>
                  <a:pt x="1838" y="9597"/>
                  <a:pt x="3211" y="9785"/>
                  <a:pt x="3943" y="10719"/>
                </a:cubicBezTo>
                <a:lnTo>
                  <a:pt x="7643" y="15442"/>
                </a:lnTo>
                <a:lnTo>
                  <a:pt x="16946" y="999"/>
                </a:lnTo>
                <a:cubicBezTo>
                  <a:pt x="17586" y="6"/>
                  <a:pt x="18940" y="-298"/>
                  <a:pt x="19969" y="321"/>
                </a:cubicBezTo>
                <a:cubicBezTo>
                  <a:pt x="20997" y="939"/>
                  <a:pt x="21313" y="2248"/>
                  <a:pt x="20671" y="3243"/>
                </a:cubicBezTo>
                <a:lnTo>
                  <a:pt x="9680" y="20301"/>
                </a:lnTo>
                <a:cubicBezTo>
                  <a:pt x="9299" y="20896"/>
                  <a:pt x="8639" y="21267"/>
                  <a:pt x="7917" y="21299"/>
                </a:cubicBezTo>
                <a:cubicBezTo>
                  <a:pt x="7882" y="21302"/>
                  <a:pt x="7851" y="21302"/>
                  <a:pt x="7816" y="21302"/>
                </a:cubicBezTo>
                <a:close/>
              </a:path>
            </a:pathLst>
          </a:custGeom>
          <a:solidFill>
            <a:srgbClr val="FFFFFF"/>
          </a:solidFill>
          <a:ln cap="flat"/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ctr"/>
            <a:endParaRPr/>
          </a:p>
        </p:txBody>
      </p:sp>
      <p:sp>
        <p:nvSpPr>
          <p:cNvPr id="65" name="AutoShape 65"/>
          <p:cNvSpPr/>
          <p:nvPr/>
        </p:nvSpPr>
        <p:spPr>
          <a:xfrm>
            <a:off x="1386405" y="1289066"/>
            <a:ext cx="5537093" cy="340735"/>
          </a:xfrm>
          <a:prstGeom prst="rect">
            <a:avLst/>
          </a:prstGeom>
        </p:spPr>
        <p:txBody>
          <a:bodyPr vert="horz" wrap="square" lIns="90000" tIns="46800" rIns="90000" bIns="46800" anchor="t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数据保护法</a:t>
            </a:r>
          </a:p>
        </p:txBody>
      </p:sp>
      <p:sp>
        <p:nvSpPr>
          <p:cNvPr id="66" name="AutoShape 66"/>
          <p:cNvSpPr/>
          <p:nvPr/>
        </p:nvSpPr>
        <p:spPr>
          <a:xfrm>
            <a:off x="1386406" y="1704975"/>
            <a:ext cx="5538269" cy="702373"/>
          </a:xfrm>
          <a:prstGeom prst="rect">
            <a:avLst/>
          </a:prstGeom>
        </p:spPr>
        <p:txBody>
          <a:bodyPr vert="horz" wrap="square" lIns="90000" tIns="46800" rIns="90000" bIns="468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数据保护法旨在规范个人数据的收集、使用与传播，确保用户隐私得到有效保护，是大数据领域合规性的基石。</a:t>
            </a:r>
          </a:p>
        </p:txBody>
      </p:sp>
      <p:sp>
        <p:nvSpPr>
          <p:cNvPr id="67" name="Freeform 67"/>
          <p:cNvSpPr/>
          <p:nvPr/>
        </p:nvSpPr>
        <p:spPr>
          <a:xfrm>
            <a:off x="652657" y="3236100"/>
            <a:ext cx="472408" cy="472408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2"/>
          </a:solidFill>
          <a:ln cap="flat"/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8" name="Freeform 68"/>
          <p:cNvSpPr/>
          <p:nvPr/>
        </p:nvSpPr>
        <p:spPr>
          <a:xfrm>
            <a:off x="797000" y="3375949"/>
            <a:ext cx="183723" cy="192709"/>
          </a:xfrm>
          <a:custGeom>
            <a:avLst/>
            <a:gdLst/>
            <a:ahLst/>
            <a:cxnLst/>
            <a:rect l="l" t="t" r="r" b="b"/>
            <a:pathLst>
              <a:path w="21004" h="21302" extrusionOk="0">
                <a:moveTo>
                  <a:pt x="7816" y="21302"/>
                </a:moveTo>
                <a:cubicBezTo>
                  <a:pt x="7132" y="21302"/>
                  <a:pt x="6483" y="20993"/>
                  <a:pt x="6068" y="20461"/>
                </a:cubicBezTo>
                <a:lnTo>
                  <a:pt x="445" y="13277"/>
                </a:lnTo>
                <a:cubicBezTo>
                  <a:pt x="-287" y="12344"/>
                  <a:pt x="-97" y="11016"/>
                  <a:pt x="870" y="10308"/>
                </a:cubicBezTo>
                <a:cubicBezTo>
                  <a:pt x="1838" y="9597"/>
                  <a:pt x="3211" y="9785"/>
                  <a:pt x="3943" y="10719"/>
                </a:cubicBezTo>
                <a:lnTo>
                  <a:pt x="7643" y="15442"/>
                </a:lnTo>
                <a:lnTo>
                  <a:pt x="16946" y="999"/>
                </a:lnTo>
                <a:cubicBezTo>
                  <a:pt x="17586" y="6"/>
                  <a:pt x="18940" y="-298"/>
                  <a:pt x="19969" y="321"/>
                </a:cubicBezTo>
                <a:cubicBezTo>
                  <a:pt x="20997" y="939"/>
                  <a:pt x="21313" y="2248"/>
                  <a:pt x="20671" y="3243"/>
                </a:cubicBezTo>
                <a:lnTo>
                  <a:pt x="9680" y="20301"/>
                </a:lnTo>
                <a:cubicBezTo>
                  <a:pt x="9299" y="20896"/>
                  <a:pt x="8639" y="21267"/>
                  <a:pt x="7917" y="21299"/>
                </a:cubicBezTo>
                <a:cubicBezTo>
                  <a:pt x="7882" y="21302"/>
                  <a:pt x="7851" y="21302"/>
                  <a:pt x="7816" y="21302"/>
                </a:cubicBezTo>
                <a:close/>
              </a:path>
            </a:pathLst>
          </a:custGeom>
          <a:solidFill>
            <a:srgbClr val="FFFFFF"/>
          </a:solidFill>
          <a:ln cap="flat"/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ctr"/>
            <a:endParaRPr/>
          </a:p>
        </p:txBody>
      </p:sp>
      <p:sp>
        <p:nvSpPr>
          <p:cNvPr id="69" name="AutoShape 69"/>
          <p:cNvSpPr/>
          <p:nvPr/>
        </p:nvSpPr>
        <p:spPr>
          <a:xfrm>
            <a:off x="1398273" y="3056396"/>
            <a:ext cx="5537093" cy="340735"/>
          </a:xfrm>
          <a:prstGeom prst="rect">
            <a:avLst/>
          </a:prstGeom>
        </p:spPr>
        <p:txBody>
          <a:bodyPr vert="horz" wrap="square" lIns="90000" tIns="46800" rIns="90000" bIns="46800" anchor="t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网络安全法</a:t>
            </a:r>
          </a:p>
        </p:txBody>
      </p:sp>
      <p:sp>
        <p:nvSpPr>
          <p:cNvPr id="70" name="AutoShape 70"/>
          <p:cNvSpPr/>
          <p:nvPr/>
        </p:nvSpPr>
        <p:spPr>
          <a:xfrm>
            <a:off x="1398274" y="3472305"/>
            <a:ext cx="5538269" cy="702373"/>
          </a:xfrm>
          <a:prstGeom prst="rect">
            <a:avLst/>
          </a:prstGeom>
        </p:spPr>
        <p:txBody>
          <a:bodyPr vert="horz" wrap="square" lIns="90000" tIns="46800" rIns="90000" bIns="468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网络安全法针对企业在网络环境下的安全管理提出了要求，加强了对数据资产的保护，构建了更安全的网络环境。</a:t>
            </a:r>
          </a:p>
        </p:txBody>
      </p:sp>
      <p:sp>
        <p:nvSpPr>
          <p:cNvPr id="71" name="Freeform 71"/>
          <p:cNvSpPr/>
          <p:nvPr/>
        </p:nvSpPr>
        <p:spPr>
          <a:xfrm>
            <a:off x="651817" y="5053332"/>
            <a:ext cx="472408" cy="472408"/>
          </a:xfrm>
          <a:custGeom>
            <a:avLst/>
            <a:gdLst/>
            <a:ahLst/>
            <a:cxnLst/>
            <a:rect l="l" t="t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3"/>
          </a:solidFill>
          <a:ln cap="flat"/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2" name="Freeform 72"/>
          <p:cNvSpPr/>
          <p:nvPr/>
        </p:nvSpPr>
        <p:spPr>
          <a:xfrm>
            <a:off x="796160" y="5193181"/>
            <a:ext cx="183723" cy="192709"/>
          </a:xfrm>
          <a:custGeom>
            <a:avLst/>
            <a:gdLst/>
            <a:ahLst/>
            <a:cxnLst/>
            <a:rect l="l" t="t" r="r" b="b"/>
            <a:pathLst>
              <a:path w="21004" h="21302" extrusionOk="0">
                <a:moveTo>
                  <a:pt x="7816" y="21302"/>
                </a:moveTo>
                <a:cubicBezTo>
                  <a:pt x="7132" y="21302"/>
                  <a:pt x="6483" y="20993"/>
                  <a:pt x="6068" y="20461"/>
                </a:cubicBezTo>
                <a:lnTo>
                  <a:pt x="445" y="13277"/>
                </a:lnTo>
                <a:cubicBezTo>
                  <a:pt x="-287" y="12344"/>
                  <a:pt x="-97" y="11016"/>
                  <a:pt x="870" y="10308"/>
                </a:cubicBezTo>
                <a:cubicBezTo>
                  <a:pt x="1838" y="9597"/>
                  <a:pt x="3211" y="9785"/>
                  <a:pt x="3943" y="10719"/>
                </a:cubicBezTo>
                <a:lnTo>
                  <a:pt x="7643" y="15442"/>
                </a:lnTo>
                <a:lnTo>
                  <a:pt x="16946" y="999"/>
                </a:lnTo>
                <a:cubicBezTo>
                  <a:pt x="17586" y="6"/>
                  <a:pt x="18940" y="-298"/>
                  <a:pt x="19969" y="321"/>
                </a:cubicBezTo>
                <a:cubicBezTo>
                  <a:pt x="20997" y="939"/>
                  <a:pt x="21313" y="2248"/>
                  <a:pt x="20671" y="3243"/>
                </a:cubicBezTo>
                <a:lnTo>
                  <a:pt x="9680" y="20301"/>
                </a:lnTo>
                <a:cubicBezTo>
                  <a:pt x="9299" y="20896"/>
                  <a:pt x="8639" y="21267"/>
                  <a:pt x="7917" y="21299"/>
                </a:cubicBezTo>
                <a:cubicBezTo>
                  <a:pt x="7882" y="21302"/>
                  <a:pt x="7851" y="21302"/>
                  <a:pt x="7816" y="21302"/>
                </a:cubicBezTo>
                <a:close/>
              </a:path>
            </a:pathLst>
          </a:custGeom>
          <a:solidFill>
            <a:srgbClr val="FFFFFF"/>
          </a:solidFill>
          <a:ln cap="flat"/>
        </p:spPr>
        <p:txBody>
          <a:bodyPr vert="horz" lIns="91440" tIns="45720" rIns="91440" bIns="45720" anchor="ctr">
            <a:normAutofit fontScale="40000" lnSpcReduction="20000"/>
          </a:bodyPr>
          <a:lstStyle/>
          <a:p>
            <a:pPr marL="0" algn="ctr"/>
            <a:endParaRPr/>
          </a:p>
        </p:txBody>
      </p:sp>
      <p:sp>
        <p:nvSpPr>
          <p:cNvPr id="73" name="AutoShape 73"/>
          <p:cNvSpPr/>
          <p:nvPr/>
        </p:nvSpPr>
        <p:spPr>
          <a:xfrm>
            <a:off x="1386405" y="4873628"/>
            <a:ext cx="5537093" cy="340735"/>
          </a:xfrm>
          <a:prstGeom prst="rect">
            <a:avLst/>
          </a:prstGeom>
        </p:spPr>
        <p:txBody>
          <a:bodyPr vert="horz" wrap="square" lIns="90000" tIns="46800" rIns="90000" bIns="46800" anchor="t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反不正当竞争法</a:t>
            </a:r>
          </a:p>
        </p:txBody>
      </p:sp>
      <p:sp>
        <p:nvSpPr>
          <p:cNvPr id="74" name="AutoShape 74"/>
          <p:cNvSpPr/>
          <p:nvPr/>
        </p:nvSpPr>
        <p:spPr>
          <a:xfrm>
            <a:off x="1386406" y="5289537"/>
            <a:ext cx="5538269" cy="702373"/>
          </a:xfrm>
          <a:prstGeom prst="rect">
            <a:avLst/>
          </a:prstGeom>
        </p:spPr>
        <p:txBody>
          <a:bodyPr vert="horz" wrap="square" lIns="90000" tIns="46800" rIns="90000" bIns="468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反不正当竞争法在大数据领域适用，避免不正当手段获取数据、拥有不当竞争行为，维护公平的商业环境。</a:t>
            </a:r>
          </a:p>
        </p:txBody>
      </p:sp>
      <p:cxnSp>
        <p:nvCxnSpPr>
          <p:cNvPr id="75" name="Connector 75"/>
          <p:cNvCxnSpPr/>
          <p:nvPr/>
        </p:nvCxnSpPr>
        <p:spPr>
          <a:xfrm>
            <a:off x="1488387" y="3022639"/>
            <a:ext cx="4399140" cy="0"/>
          </a:xfrm>
          <a:prstGeom prst="line">
            <a:avLst/>
          </a:prstGeom>
          <a:ln w="3175" cap="rnd" cmpd="sng">
            <a:solidFill>
              <a:srgbClr val="2F2F2F">
                <a:lumMod val="75000"/>
              </a:srgbClr>
            </a:solidFill>
            <a:prstDash val="solid"/>
          </a:ln>
        </p:spPr>
      </p:cxnSp>
      <p:cxnSp>
        <p:nvCxnSpPr>
          <p:cNvPr id="76" name="Connector 76"/>
          <p:cNvCxnSpPr/>
          <p:nvPr/>
        </p:nvCxnSpPr>
        <p:spPr>
          <a:xfrm>
            <a:off x="1487547" y="4849165"/>
            <a:ext cx="4399140" cy="0"/>
          </a:xfrm>
          <a:prstGeom prst="line">
            <a:avLst/>
          </a:prstGeom>
          <a:ln w="3175" cap="rnd" cmpd="sng">
            <a:solidFill>
              <a:srgbClr val="2F2F2F">
                <a:lumMod val="75000"/>
              </a:srgbClr>
            </a:solidFill>
            <a:prstDash val="soli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法律法规影响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571714" y="1890164"/>
            <a:ext cx="0" cy="4287334"/>
          </a:xfrm>
          <a:prstGeom prst="line">
            <a:avLst/>
          </a:prstGeom>
          <a:ln w="6350" cap="flat" cmpd="sng">
            <a:solidFill>
              <a:srgbClr val="F0F0F0">
                <a:alpha val="50000"/>
              </a:srgbClr>
            </a:solidFill>
            <a:prstDash val="solid"/>
            <a:headEnd type="oval"/>
          </a:ln>
        </p:spPr>
      </p:cxnSp>
      <p:cxnSp>
        <p:nvCxnSpPr>
          <p:cNvPr id="4" name="Connector 4"/>
          <p:cNvCxnSpPr/>
          <p:nvPr/>
        </p:nvCxnSpPr>
        <p:spPr>
          <a:xfrm>
            <a:off x="4317053" y="1890164"/>
            <a:ext cx="0" cy="4287334"/>
          </a:xfrm>
          <a:prstGeom prst="line">
            <a:avLst/>
          </a:prstGeom>
          <a:ln w="6350" cap="flat" cmpd="sng">
            <a:solidFill>
              <a:srgbClr val="F0F0F0">
                <a:alpha val="50000"/>
              </a:srgbClr>
            </a:solidFill>
            <a:prstDash val="solid"/>
            <a:headEnd type="oval"/>
          </a:ln>
        </p:spPr>
      </p:cxnSp>
      <p:cxnSp>
        <p:nvCxnSpPr>
          <p:cNvPr id="5" name="Connector 5"/>
          <p:cNvCxnSpPr/>
          <p:nvPr/>
        </p:nvCxnSpPr>
        <p:spPr>
          <a:xfrm>
            <a:off x="8075093" y="1890164"/>
            <a:ext cx="0" cy="4287334"/>
          </a:xfrm>
          <a:prstGeom prst="line">
            <a:avLst/>
          </a:prstGeom>
          <a:ln w="6350" cap="flat" cmpd="sng">
            <a:solidFill>
              <a:srgbClr val="F0F0F0">
                <a:alpha val="50000"/>
              </a:srgbClr>
            </a:solidFill>
            <a:prstDash val="solid"/>
            <a:headEnd type="oval"/>
          </a:ln>
        </p:spPr>
      </p:cxnSp>
      <p:sp>
        <p:nvSpPr>
          <p:cNvPr id="6" name="AutoShape 6"/>
          <p:cNvSpPr/>
          <p:nvPr/>
        </p:nvSpPr>
        <p:spPr>
          <a:xfrm>
            <a:off x="774489" y="2536501"/>
            <a:ext cx="3139646" cy="2662801"/>
          </a:xfrm>
          <a:prstGeom prst="roundRect">
            <a:avLst>
              <a:gd name="adj" fmla="val 5931"/>
            </a:avLst>
          </a:prstGeom>
          <a:solidFill>
            <a:srgbClr val="F0F0F0">
              <a:alpha val="10000"/>
            </a:srgbClr>
          </a:solidFill>
          <a:ln cap="flat">
            <a:prstDash val="solid"/>
          </a:ln>
        </p:spPr>
        <p:txBody>
          <a:bodyPr vert="horz" wrap="square" lIns="108000" tIns="108000" rIns="108000" bIns="108000" anchor="t">
            <a:no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企业在开发和运营大数据项目时必须遵循相关法律法规，确保其业务操作的合法性，减少法律风险。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74487" y="1634846"/>
            <a:ext cx="3139646" cy="697046"/>
          </a:xfrm>
          <a:prstGeom prst="roundRect">
            <a:avLst>
              <a:gd name="adj" fmla="val 15900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108000" tIns="108000" rIns="108000" bIns="108000" anchor="ctr">
            <a:noAutofit/>
          </a:bodyPr>
          <a:lstStyle/>
          <a:p>
            <a:pPr marL="0" algn="ctr"/>
            <a:r>
              <a:rPr lang="zh-CN" altLang="en-US" sz="1600" b="1" i="0" u="none" baseline="0">
                <a:solidFill>
                  <a:schemeClr val="lt1"/>
                </a:solidFill>
                <a:latin typeface="微软雅黑"/>
                <a:ea typeface="微软雅黑"/>
              </a:rPr>
              <a:t>企业合规</a:t>
            </a:r>
          </a:p>
        </p:txBody>
      </p:sp>
      <p:sp>
        <p:nvSpPr>
          <p:cNvPr id="8" name="AutoShape 8"/>
          <p:cNvSpPr/>
          <p:nvPr/>
        </p:nvSpPr>
        <p:spPr>
          <a:xfrm>
            <a:off x="4519828" y="2560354"/>
            <a:ext cx="3139646" cy="2662801"/>
          </a:xfrm>
          <a:prstGeom prst="roundRect">
            <a:avLst>
              <a:gd name="adj" fmla="val 5931"/>
            </a:avLst>
          </a:prstGeom>
          <a:solidFill>
            <a:srgbClr val="F0F0F0">
              <a:alpha val="10000"/>
            </a:srgbClr>
          </a:solidFill>
          <a:ln cap="flat">
            <a:prstDash val="solid"/>
          </a:ln>
        </p:spPr>
        <p:txBody>
          <a:bodyPr vert="horz" wrap="square" lIns="108000" tIns="108000" rIns="108000" bIns="108000" anchor="t">
            <a:no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法律框架下，个人数据隐私得到有效保护，增强了公众对数据使用的信任，推动了数据经济的可持续发展。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519826" y="1658699"/>
            <a:ext cx="3139646" cy="697046"/>
          </a:xfrm>
          <a:prstGeom prst="roundRect">
            <a:avLst>
              <a:gd name="adj" fmla="val 15900"/>
            </a:avLst>
          </a:prstGeom>
          <a:solidFill>
            <a:schemeClr val="accent1">
              <a:alpha val="15000"/>
            </a:schemeClr>
          </a:solidFill>
          <a:ln cap="flat" cmpd="sng">
            <a:prstDash val="solid"/>
          </a:ln>
        </p:spPr>
        <p:txBody>
          <a:bodyPr vert="horz" wrap="square" lIns="108000" tIns="108000" rIns="108000" bIns="108000" anchor="ctr">
            <a:no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公民权益保护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277868" y="2560354"/>
            <a:ext cx="3139646" cy="2662801"/>
          </a:xfrm>
          <a:prstGeom prst="roundRect">
            <a:avLst>
              <a:gd name="adj" fmla="val 5931"/>
            </a:avLst>
          </a:prstGeom>
          <a:solidFill>
            <a:srgbClr val="F0F0F0">
              <a:alpha val="10000"/>
            </a:srgbClr>
          </a:solidFill>
          <a:ln cap="flat">
            <a:prstDash val="solid"/>
          </a:ln>
        </p:spPr>
        <p:txBody>
          <a:bodyPr vert="horz" wrap="square" lIns="108000" tIns="108000" rIns="108000" bIns="108000" anchor="t">
            <a:no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法律法规的实施提升了社会对数据处理行业的信任度，使得更多的用户愿意将数据分享给企业，促进了市场活跃度。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277866" y="1658699"/>
            <a:ext cx="3139646" cy="697046"/>
          </a:xfrm>
          <a:prstGeom prst="roundRect">
            <a:avLst>
              <a:gd name="adj" fmla="val 15900"/>
            </a:avLst>
          </a:prstGeom>
          <a:solidFill>
            <a:schemeClr val="accent3">
              <a:alpha val="15000"/>
            </a:schemeClr>
          </a:solidFill>
          <a:ln cap="flat" cmpd="sng">
            <a:prstDash val="solid"/>
          </a:ln>
        </p:spPr>
        <p:txBody>
          <a:bodyPr vert="horz" wrap="square" lIns="108000" tIns="108000" rIns="108000" bIns="108000" anchor="ctr">
            <a:no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社会信任提升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/>
            </a:gs>
            <a:gs pos="100000">
              <a:srgbClr val="3091CC"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781368" y="2844225"/>
            <a:ext cx="5737531" cy="58477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zh-CN" altLang="en-US" sz="32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关于大数据的伦理问题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12000" y="1187698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FFFFFF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0953420" y="1165347"/>
            <a:ext cx="498855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FFFFFF"/>
                </a:solidFill>
                <a:latin typeface="Arial"/>
                <a:ea typeface="Arial"/>
              </a:rPr>
              <a:t>.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数据隐私与安全</a:t>
            </a:r>
          </a:p>
        </p:txBody>
      </p:sp>
      <p:sp>
        <p:nvSpPr>
          <p:cNvPr id="3" name="AutoShape 3"/>
          <p:cNvSpPr/>
          <p:nvPr/>
        </p:nvSpPr>
        <p:spPr>
          <a:xfrm>
            <a:off x="479425" y="1665575"/>
            <a:ext cx="3730625" cy="3526849"/>
          </a:xfrm>
          <a:prstGeom prst="rect">
            <a:avLst/>
          </a:prstGeom>
          <a:blipFill>
            <a:blip r:embed="rId2"/>
            <a:srcRect/>
            <a:stretch>
              <a:fillRect l="-23526" r="-23390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592672" y="1718502"/>
            <a:ext cx="410200" cy="410198"/>
          </a:xfrm>
          <a:prstGeom prst="rect">
            <a:avLst/>
          </a:prstGeom>
          <a:solidFill>
            <a:schemeClr val="accent1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1550" b="1" i="0" u="none" baseline="0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76745" y="2372077"/>
            <a:ext cx="331912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+mn-ea"/>
                <a:ea typeface="+mn-ea"/>
              </a:rPr>
              <a:t>用户数据保护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flipH="1">
            <a:off x="4476742" y="2915417"/>
            <a:ext cx="3319124" cy="1669688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marR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企业必须采取措施保护用户数据隐私，包括数据匿名化、加密存储等，以降低数据泄露风险，维护用户信任。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8149065" y="1716509"/>
            <a:ext cx="410200" cy="410198"/>
          </a:xfrm>
          <a:prstGeom prst="rect">
            <a:avLst/>
          </a:prstGeom>
          <a:solidFill>
            <a:schemeClr val="accent4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1550" b="1" i="0" u="none" baseline="0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28329" y="2372077"/>
            <a:ext cx="331912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i="0" u="none" baseline="0">
                <a:ln/>
                <a:solidFill>
                  <a:srgbClr val="FFFFFF"/>
                </a:solidFill>
                <a:latin typeface="+mn-ea"/>
                <a:ea typeface="+mn-ea"/>
              </a:rPr>
              <a:t>数据安全技术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flipH="1">
            <a:off x="8028326" y="2915417"/>
            <a:ext cx="3319124" cy="1669688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marR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采用先进的数据安全技术，如区块链和多重认证，提升数据在存储和传输过程中的安全性，防止数据被不正当使用。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伦理风险评估</a:t>
            </a:r>
          </a:p>
        </p:txBody>
      </p:sp>
      <p:sp>
        <p:nvSpPr>
          <p:cNvPr id="3" name="AutoShape 3"/>
          <p:cNvSpPr/>
          <p:nvPr/>
        </p:nvSpPr>
        <p:spPr>
          <a:xfrm>
            <a:off x="911018" y="1668716"/>
            <a:ext cx="1490663" cy="1491456"/>
          </a:xfrm>
          <a:prstGeom prst="ellipse">
            <a:avLst/>
          </a:prstGeom>
          <a:blipFill>
            <a:blip r:embed="rId2"/>
            <a:srcRect/>
            <a:stretch>
              <a:fillRect l="-25039" r="-25039"/>
            </a:stretch>
          </a:blip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11018" y="4234912"/>
            <a:ext cx="1490663" cy="1491456"/>
          </a:xfrm>
          <a:prstGeom prst="ellipse">
            <a:avLst/>
          </a:prstGeom>
          <a:blipFill>
            <a:blip r:embed="rId3"/>
            <a:srcRect/>
            <a:stretch>
              <a:fillRect l="-16702" r="-16702"/>
            </a:stretch>
          </a:blip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938150" y="1552616"/>
            <a:ext cx="6161605" cy="49510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风险源分析</a:t>
            </a:r>
          </a:p>
        </p:txBody>
      </p:sp>
      <p:sp>
        <p:nvSpPr>
          <p:cNvPr id="6" name="AutoShape 6"/>
          <p:cNvSpPr/>
          <p:nvPr/>
        </p:nvSpPr>
        <p:spPr>
          <a:xfrm>
            <a:off x="2938151" y="2053398"/>
            <a:ext cx="6161606" cy="103064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400" b="0" i="0" u="none" baseline="0">
                <a:solidFill>
                  <a:schemeClr val="lt1"/>
                </a:solidFill>
                <a:latin typeface="微软雅黑"/>
                <a:ea typeface="微软雅黑"/>
              </a:rPr>
              <a:t>风险源主要包括技术滥用、数据歧视等，企业需定期评估可能的伦理风险，全力降低道德与法律冲突。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2938150" y="4187060"/>
            <a:ext cx="6161605" cy="49510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风险管理措施</a:t>
            </a:r>
          </a:p>
        </p:txBody>
      </p:sp>
      <p:sp>
        <p:nvSpPr>
          <p:cNvPr id="8" name="AutoShape 8"/>
          <p:cNvSpPr/>
          <p:nvPr/>
        </p:nvSpPr>
        <p:spPr>
          <a:xfrm>
            <a:off x="2938151" y="4687842"/>
            <a:ext cx="6161606" cy="103064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400" b="0" i="0" u="none" baseline="0">
                <a:solidFill>
                  <a:schemeClr val="lt1"/>
                </a:solidFill>
                <a:latin typeface="微软雅黑"/>
                <a:ea typeface="微软雅黑"/>
              </a:rPr>
              <a:t>风险管理措施包括实施道德审查机制、透明数据使用政策、建立用户反馈渠道等，以确保企业在使用数据过程中的道德合规性。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/>
            </a:gs>
            <a:gs pos="100000">
              <a:srgbClr val="3091CC"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5781368" y="2844225"/>
            <a:ext cx="5737531" cy="584775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zh-CN" altLang="en-US" sz="32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大数据未来发展趋势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12000" y="1187698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FFFFFF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0953420" y="1165347"/>
            <a:ext cx="498855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FFFFFF"/>
                </a:solidFill>
                <a:latin typeface="Arial"/>
                <a:ea typeface="Arial"/>
              </a:rPr>
              <a:t>.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技术演进方向</a:t>
            </a:r>
          </a:p>
        </p:txBody>
      </p:sp>
      <p:cxnSp>
        <p:nvCxnSpPr>
          <p:cNvPr id="3" name="Connector 3"/>
          <p:cNvCxnSpPr/>
          <p:nvPr/>
        </p:nvCxnSpPr>
        <p:spPr>
          <a:xfrm flipV="1">
            <a:off x="1360102" y="1026564"/>
            <a:ext cx="3903168" cy="4824536"/>
          </a:xfrm>
          <a:prstGeom prst="straightConnector1">
            <a:avLst/>
          </a:prstGeom>
          <a:ln w="76200" cap="flat" cmpd="sng">
            <a:gradFill>
              <a:gsLst>
                <a:gs pos="0">
                  <a:srgbClr val="3091CC">
                    <a:lumMod val="5000"/>
                    <a:lumOff val="95000"/>
                  </a:srgbClr>
                </a:gs>
                <a:gs pos="100000">
                  <a:srgbClr val="FFFFFF">
                    <a:lumMod val="60000"/>
                    <a:lumOff val="40000"/>
                  </a:srgbClr>
                </a:gs>
              </a:gsLst>
              <a:lin ang="5400000"/>
            </a:gradFill>
            <a:prstDash val="solid"/>
            <a:tailEnd type="arrow"/>
          </a:ln>
        </p:spPr>
      </p:cxnSp>
      <p:sp>
        <p:nvSpPr>
          <p:cNvPr id="4" name="AutoShape 4"/>
          <p:cNvSpPr/>
          <p:nvPr/>
        </p:nvSpPr>
        <p:spPr>
          <a:xfrm rot="2165686">
            <a:off x="504230" y="4020264"/>
            <a:ext cx="3838111" cy="1535245"/>
          </a:xfrm>
          <a:prstGeom prst="ellipse">
            <a:avLst/>
          </a:prstGeom>
          <a:noFill/>
          <a:ln w="76200" cap="flat" cmpd="sng">
            <a:solidFill>
              <a:schemeClr val="accent3">
                <a:alpha val="40000"/>
              </a:scheme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 rot="2165686">
            <a:off x="1664392" y="3123036"/>
            <a:ext cx="3054580" cy="1221834"/>
          </a:xfrm>
          <a:prstGeom prst="ellipse">
            <a:avLst/>
          </a:prstGeom>
          <a:noFill/>
          <a:ln w="76200" cap="flat" cmpd="sng">
            <a:solidFill>
              <a:schemeClr val="accent1">
                <a:alpha val="70000"/>
              </a:scheme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 rot="2165686">
            <a:off x="2692455" y="2430580"/>
            <a:ext cx="2394960" cy="957985"/>
          </a:xfrm>
          <a:prstGeom prst="ellipse">
            <a:avLst/>
          </a:prstGeom>
          <a:noFill/>
          <a:ln w="76200" cap="flat" cmpd="sng">
            <a:solidFill>
              <a:schemeClr val="accent3">
                <a:alpha val="85000"/>
              </a:scheme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 rot="2165686">
            <a:off x="3331241" y="1743928"/>
            <a:ext cx="1970722" cy="788288"/>
          </a:xfrm>
          <a:prstGeom prst="ellipse">
            <a:avLst/>
          </a:prstGeom>
          <a:noFill/>
          <a:ln w="76200" cap="flat" cmpd="sng">
            <a:solidFill>
              <a:schemeClr val="accent1">
                <a:alpha val="85000"/>
              </a:schemeClr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5802660" y="4322435"/>
            <a:ext cx="686484" cy="468444"/>
          </a:xfrm>
          <a:custGeom>
            <a:avLst/>
            <a:gdLst/>
            <a:ahLst/>
            <a:cxnLst/>
            <a:rect l="l" t="t" r="r" b="b"/>
            <a:pathLst>
              <a:path w="607639" h="414642">
                <a:moveTo>
                  <a:pt x="20293" y="364067"/>
                </a:moveTo>
                <a:lnTo>
                  <a:pt x="20293" y="384244"/>
                </a:lnTo>
                <a:cubicBezTo>
                  <a:pt x="20293" y="390377"/>
                  <a:pt x="24298" y="394377"/>
                  <a:pt x="30351" y="394377"/>
                </a:cubicBezTo>
                <a:lnTo>
                  <a:pt x="577199" y="394377"/>
                </a:lnTo>
                <a:cubicBezTo>
                  <a:pt x="583341" y="394377"/>
                  <a:pt x="587346" y="390377"/>
                  <a:pt x="587346" y="384244"/>
                </a:cubicBezTo>
                <a:lnTo>
                  <a:pt x="587346" y="364067"/>
                </a:lnTo>
                <a:lnTo>
                  <a:pt x="556995" y="364067"/>
                </a:lnTo>
                <a:lnTo>
                  <a:pt x="394916" y="364067"/>
                </a:lnTo>
                <a:lnTo>
                  <a:pt x="394916" y="374200"/>
                </a:lnTo>
                <a:cubicBezTo>
                  <a:pt x="394916" y="380244"/>
                  <a:pt x="390911" y="384244"/>
                  <a:pt x="384859" y="384244"/>
                </a:cubicBezTo>
                <a:lnTo>
                  <a:pt x="222780" y="384244"/>
                </a:lnTo>
                <a:cubicBezTo>
                  <a:pt x="216728" y="384244"/>
                  <a:pt x="212634" y="380244"/>
                  <a:pt x="212634" y="374200"/>
                </a:cubicBezTo>
                <a:lnTo>
                  <a:pt x="212634" y="364067"/>
                </a:lnTo>
                <a:lnTo>
                  <a:pt x="50644" y="364067"/>
                </a:lnTo>
                <a:close/>
                <a:moveTo>
                  <a:pt x="141754" y="232583"/>
                </a:moveTo>
                <a:lnTo>
                  <a:pt x="161961" y="232583"/>
                </a:lnTo>
                <a:cubicBezTo>
                  <a:pt x="168104" y="232583"/>
                  <a:pt x="172110" y="236584"/>
                  <a:pt x="172110" y="242719"/>
                </a:cubicBezTo>
                <a:cubicBezTo>
                  <a:pt x="172110" y="248764"/>
                  <a:pt x="168104" y="252765"/>
                  <a:pt x="161961" y="252765"/>
                </a:cubicBezTo>
                <a:lnTo>
                  <a:pt x="141754" y="252765"/>
                </a:lnTo>
                <a:cubicBezTo>
                  <a:pt x="135700" y="252765"/>
                  <a:pt x="131605" y="248764"/>
                  <a:pt x="131605" y="242719"/>
                </a:cubicBezTo>
                <a:cubicBezTo>
                  <a:pt x="131605" y="236584"/>
                  <a:pt x="135700" y="232583"/>
                  <a:pt x="141754" y="232583"/>
                </a:cubicBezTo>
                <a:close/>
                <a:moveTo>
                  <a:pt x="141758" y="192149"/>
                </a:moveTo>
                <a:lnTo>
                  <a:pt x="182279" y="192149"/>
                </a:lnTo>
                <a:cubicBezTo>
                  <a:pt x="188335" y="192149"/>
                  <a:pt x="192432" y="196150"/>
                  <a:pt x="192432" y="202196"/>
                </a:cubicBezTo>
                <a:cubicBezTo>
                  <a:pt x="192432" y="208330"/>
                  <a:pt x="188335" y="212331"/>
                  <a:pt x="182279" y="212331"/>
                </a:cubicBezTo>
                <a:lnTo>
                  <a:pt x="141758" y="212331"/>
                </a:lnTo>
                <a:cubicBezTo>
                  <a:pt x="135702" y="212331"/>
                  <a:pt x="131605" y="208330"/>
                  <a:pt x="131605" y="202196"/>
                </a:cubicBezTo>
                <a:cubicBezTo>
                  <a:pt x="131605" y="196150"/>
                  <a:pt x="135702" y="192149"/>
                  <a:pt x="141758" y="192149"/>
                </a:cubicBezTo>
                <a:close/>
                <a:moveTo>
                  <a:pt x="141754" y="151716"/>
                </a:moveTo>
                <a:lnTo>
                  <a:pt x="161961" y="151716"/>
                </a:lnTo>
                <a:cubicBezTo>
                  <a:pt x="168104" y="151716"/>
                  <a:pt x="172110" y="155717"/>
                  <a:pt x="172110" y="161763"/>
                </a:cubicBezTo>
                <a:cubicBezTo>
                  <a:pt x="172110" y="167897"/>
                  <a:pt x="168104" y="171898"/>
                  <a:pt x="161961" y="171898"/>
                </a:cubicBezTo>
                <a:lnTo>
                  <a:pt x="141754" y="171898"/>
                </a:lnTo>
                <a:cubicBezTo>
                  <a:pt x="135700" y="171898"/>
                  <a:pt x="131605" y="167897"/>
                  <a:pt x="131605" y="161763"/>
                </a:cubicBezTo>
                <a:cubicBezTo>
                  <a:pt x="131605" y="155717"/>
                  <a:pt x="135700" y="151716"/>
                  <a:pt x="141754" y="151716"/>
                </a:cubicBezTo>
                <a:close/>
                <a:moveTo>
                  <a:pt x="141758" y="111211"/>
                </a:moveTo>
                <a:lnTo>
                  <a:pt x="182279" y="111211"/>
                </a:lnTo>
                <a:cubicBezTo>
                  <a:pt x="188335" y="111211"/>
                  <a:pt x="192432" y="115297"/>
                  <a:pt x="192432" y="121337"/>
                </a:cubicBezTo>
                <a:cubicBezTo>
                  <a:pt x="192432" y="127377"/>
                  <a:pt x="188335" y="131463"/>
                  <a:pt x="182279" y="131463"/>
                </a:cubicBezTo>
                <a:lnTo>
                  <a:pt x="141758" y="131463"/>
                </a:lnTo>
                <a:cubicBezTo>
                  <a:pt x="135702" y="131463"/>
                  <a:pt x="131605" y="127377"/>
                  <a:pt x="131605" y="121337"/>
                </a:cubicBezTo>
                <a:cubicBezTo>
                  <a:pt x="131605" y="115297"/>
                  <a:pt x="135702" y="111211"/>
                  <a:pt x="141758" y="111211"/>
                </a:cubicBezTo>
                <a:close/>
                <a:moveTo>
                  <a:pt x="425367" y="101191"/>
                </a:moveTo>
                <a:lnTo>
                  <a:pt x="496228" y="101191"/>
                </a:lnTo>
                <a:cubicBezTo>
                  <a:pt x="502282" y="101191"/>
                  <a:pt x="506377" y="105189"/>
                  <a:pt x="506377" y="111231"/>
                </a:cubicBezTo>
                <a:lnTo>
                  <a:pt x="506377" y="182042"/>
                </a:lnTo>
                <a:cubicBezTo>
                  <a:pt x="506377" y="188084"/>
                  <a:pt x="502282" y="192171"/>
                  <a:pt x="496228" y="192171"/>
                </a:cubicBezTo>
                <a:cubicBezTo>
                  <a:pt x="490175" y="192171"/>
                  <a:pt x="486080" y="188084"/>
                  <a:pt x="486080" y="182042"/>
                </a:cubicBezTo>
                <a:lnTo>
                  <a:pt x="486080" y="135575"/>
                </a:lnTo>
                <a:lnTo>
                  <a:pt x="402043" y="219447"/>
                </a:lnTo>
                <a:cubicBezTo>
                  <a:pt x="399996" y="221491"/>
                  <a:pt x="397948" y="222468"/>
                  <a:pt x="394921" y="222468"/>
                </a:cubicBezTo>
                <a:cubicBezTo>
                  <a:pt x="391895" y="222468"/>
                  <a:pt x="389847" y="221491"/>
                  <a:pt x="387889" y="219447"/>
                </a:cubicBezTo>
                <a:lnTo>
                  <a:pt x="344268" y="176001"/>
                </a:lnTo>
                <a:lnTo>
                  <a:pt x="270380" y="249744"/>
                </a:lnTo>
                <a:cubicBezTo>
                  <a:pt x="268332" y="251788"/>
                  <a:pt x="266285" y="252765"/>
                  <a:pt x="263258" y="252765"/>
                </a:cubicBezTo>
                <a:cubicBezTo>
                  <a:pt x="260231" y="252765"/>
                  <a:pt x="258184" y="251788"/>
                  <a:pt x="256225" y="249744"/>
                </a:cubicBezTo>
                <a:cubicBezTo>
                  <a:pt x="252130" y="245746"/>
                  <a:pt x="252130" y="239616"/>
                  <a:pt x="256225" y="235617"/>
                </a:cubicBezTo>
                <a:lnTo>
                  <a:pt x="337235" y="154766"/>
                </a:lnTo>
                <a:cubicBezTo>
                  <a:pt x="337769" y="154233"/>
                  <a:pt x="338303" y="153789"/>
                  <a:pt x="338837" y="153433"/>
                </a:cubicBezTo>
                <a:cubicBezTo>
                  <a:pt x="339372" y="152989"/>
                  <a:pt x="339995" y="152723"/>
                  <a:pt x="340618" y="152456"/>
                </a:cubicBezTo>
                <a:cubicBezTo>
                  <a:pt x="340885" y="152367"/>
                  <a:pt x="341152" y="152190"/>
                  <a:pt x="341508" y="152101"/>
                </a:cubicBezTo>
                <a:cubicBezTo>
                  <a:pt x="342131" y="151923"/>
                  <a:pt x="342754" y="151834"/>
                  <a:pt x="343378" y="151745"/>
                </a:cubicBezTo>
                <a:cubicBezTo>
                  <a:pt x="343645" y="151745"/>
                  <a:pt x="344001" y="151745"/>
                  <a:pt x="344268" y="151745"/>
                </a:cubicBezTo>
                <a:cubicBezTo>
                  <a:pt x="344980" y="151745"/>
                  <a:pt x="345603" y="151745"/>
                  <a:pt x="346226" y="151923"/>
                </a:cubicBezTo>
                <a:cubicBezTo>
                  <a:pt x="348096" y="152278"/>
                  <a:pt x="349876" y="153256"/>
                  <a:pt x="351390" y="154766"/>
                </a:cubicBezTo>
                <a:lnTo>
                  <a:pt x="394921" y="198213"/>
                </a:lnTo>
                <a:lnTo>
                  <a:pt x="471925" y="121359"/>
                </a:lnTo>
                <a:lnTo>
                  <a:pt x="425367" y="121359"/>
                </a:lnTo>
                <a:cubicBezTo>
                  <a:pt x="419224" y="121359"/>
                  <a:pt x="415218" y="117361"/>
                  <a:pt x="415218" y="111231"/>
                </a:cubicBezTo>
                <a:cubicBezTo>
                  <a:pt x="415218" y="105189"/>
                  <a:pt x="419224" y="101191"/>
                  <a:pt x="425367" y="101191"/>
                </a:cubicBezTo>
                <a:close/>
                <a:moveTo>
                  <a:pt x="101297" y="91029"/>
                </a:moveTo>
                <a:cubicBezTo>
                  <a:pt x="107337" y="91029"/>
                  <a:pt x="111423" y="95028"/>
                  <a:pt x="111423" y="101159"/>
                </a:cubicBezTo>
                <a:lnTo>
                  <a:pt x="111423" y="262887"/>
                </a:lnTo>
                <a:cubicBezTo>
                  <a:pt x="111423" y="268929"/>
                  <a:pt x="107337" y="273017"/>
                  <a:pt x="101297" y="273017"/>
                </a:cubicBezTo>
                <a:cubicBezTo>
                  <a:pt x="95257" y="273017"/>
                  <a:pt x="91171" y="268929"/>
                  <a:pt x="91171" y="262887"/>
                </a:cubicBezTo>
                <a:lnTo>
                  <a:pt x="91171" y="101159"/>
                </a:lnTo>
                <a:cubicBezTo>
                  <a:pt x="91171" y="95028"/>
                  <a:pt x="95257" y="91029"/>
                  <a:pt x="101297" y="91029"/>
                </a:cubicBezTo>
                <a:close/>
                <a:moveTo>
                  <a:pt x="70848" y="20177"/>
                </a:moveTo>
                <a:cubicBezTo>
                  <a:pt x="64796" y="20177"/>
                  <a:pt x="60791" y="24265"/>
                  <a:pt x="60791" y="30309"/>
                </a:cubicBezTo>
                <a:lnTo>
                  <a:pt x="60791" y="343802"/>
                </a:lnTo>
                <a:lnTo>
                  <a:pt x="222780" y="343802"/>
                </a:lnTo>
                <a:cubicBezTo>
                  <a:pt x="228833" y="343802"/>
                  <a:pt x="232927" y="347890"/>
                  <a:pt x="232927" y="353935"/>
                </a:cubicBezTo>
                <a:lnTo>
                  <a:pt x="232927" y="364067"/>
                </a:lnTo>
                <a:lnTo>
                  <a:pt x="374712" y="364067"/>
                </a:lnTo>
                <a:lnTo>
                  <a:pt x="374712" y="353935"/>
                </a:lnTo>
                <a:cubicBezTo>
                  <a:pt x="374712" y="347890"/>
                  <a:pt x="378717" y="343802"/>
                  <a:pt x="384859" y="343802"/>
                </a:cubicBezTo>
                <a:lnTo>
                  <a:pt x="546848" y="343802"/>
                </a:lnTo>
                <a:lnTo>
                  <a:pt x="546848" y="30309"/>
                </a:lnTo>
                <a:cubicBezTo>
                  <a:pt x="546848" y="24265"/>
                  <a:pt x="542754" y="20177"/>
                  <a:pt x="536702" y="20177"/>
                </a:cubicBezTo>
                <a:close/>
                <a:moveTo>
                  <a:pt x="70848" y="0"/>
                </a:moveTo>
                <a:lnTo>
                  <a:pt x="536702" y="0"/>
                </a:lnTo>
                <a:cubicBezTo>
                  <a:pt x="553969" y="0"/>
                  <a:pt x="567142" y="13155"/>
                  <a:pt x="567142" y="30309"/>
                </a:cubicBezTo>
                <a:lnTo>
                  <a:pt x="567142" y="343802"/>
                </a:lnTo>
                <a:lnTo>
                  <a:pt x="597492" y="343802"/>
                </a:lnTo>
                <a:cubicBezTo>
                  <a:pt x="603545" y="343802"/>
                  <a:pt x="607639" y="347890"/>
                  <a:pt x="607639" y="353935"/>
                </a:cubicBezTo>
                <a:lnTo>
                  <a:pt x="607639" y="384244"/>
                </a:lnTo>
                <a:cubicBezTo>
                  <a:pt x="607639" y="401487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7"/>
                  <a:pt x="0" y="384244"/>
                </a:cubicBezTo>
                <a:lnTo>
                  <a:pt x="0" y="353935"/>
                </a:lnTo>
                <a:cubicBezTo>
                  <a:pt x="0" y="347890"/>
                  <a:pt x="4094" y="343802"/>
                  <a:pt x="10147" y="343802"/>
                </a:cubicBezTo>
                <a:lnTo>
                  <a:pt x="40497" y="343802"/>
                </a:lnTo>
                <a:lnTo>
                  <a:pt x="40497" y="30309"/>
                </a:lnTo>
                <a:cubicBezTo>
                  <a:pt x="40497" y="13155"/>
                  <a:pt x="53670" y="0"/>
                  <a:pt x="70848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5802660" y="3820076"/>
            <a:ext cx="5796386" cy="0"/>
          </a:xfrm>
          <a:prstGeom prst="line">
            <a:avLst/>
          </a:prstGeom>
          <a:ln w="3175" cap="rnd" cmpd="sng">
            <a:solidFill>
              <a:srgbClr val="2F2F2F">
                <a:lumMod val="85000"/>
              </a:srgbClr>
            </a:solidFill>
            <a:prstDash val="solid"/>
          </a:ln>
        </p:spPr>
      </p:cxnSp>
      <p:sp>
        <p:nvSpPr>
          <p:cNvPr id="10" name="TextBox 10"/>
          <p:cNvSpPr txBox="1"/>
          <p:nvPr/>
        </p:nvSpPr>
        <p:spPr>
          <a:xfrm>
            <a:off x="6581030" y="4582681"/>
            <a:ext cx="5106740" cy="847797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边缘计算的发展使数据处理更接近数据源，降低延迟，提升实时数据处理能力，推动工业互联网和智慧城市的建设。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581030" y="4195394"/>
            <a:ext cx="510674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边缘计算兴起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5787792" y="1668564"/>
            <a:ext cx="686484" cy="468444"/>
          </a:xfrm>
          <a:custGeom>
            <a:avLst/>
            <a:gdLst/>
            <a:ahLst/>
            <a:cxnLst/>
            <a:rect l="l" t="t" r="r" b="b"/>
            <a:pathLst>
              <a:path w="607639" h="414642">
                <a:moveTo>
                  <a:pt x="20293" y="364067"/>
                </a:moveTo>
                <a:lnTo>
                  <a:pt x="20293" y="384244"/>
                </a:lnTo>
                <a:cubicBezTo>
                  <a:pt x="20293" y="390377"/>
                  <a:pt x="24298" y="394377"/>
                  <a:pt x="30351" y="394377"/>
                </a:cubicBezTo>
                <a:lnTo>
                  <a:pt x="577199" y="394377"/>
                </a:lnTo>
                <a:cubicBezTo>
                  <a:pt x="583341" y="394377"/>
                  <a:pt x="587346" y="390377"/>
                  <a:pt x="587346" y="384244"/>
                </a:cubicBezTo>
                <a:lnTo>
                  <a:pt x="587346" y="364067"/>
                </a:lnTo>
                <a:lnTo>
                  <a:pt x="556995" y="364067"/>
                </a:lnTo>
                <a:lnTo>
                  <a:pt x="394916" y="364067"/>
                </a:lnTo>
                <a:lnTo>
                  <a:pt x="394916" y="374200"/>
                </a:lnTo>
                <a:cubicBezTo>
                  <a:pt x="394916" y="380244"/>
                  <a:pt x="390911" y="384244"/>
                  <a:pt x="384859" y="384244"/>
                </a:cubicBezTo>
                <a:lnTo>
                  <a:pt x="222780" y="384244"/>
                </a:lnTo>
                <a:cubicBezTo>
                  <a:pt x="216728" y="384244"/>
                  <a:pt x="212634" y="380244"/>
                  <a:pt x="212634" y="374200"/>
                </a:cubicBezTo>
                <a:lnTo>
                  <a:pt x="212634" y="364067"/>
                </a:lnTo>
                <a:lnTo>
                  <a:pt x="50644" y="364067"/>
                </a:lnTo>
                <a:close/>
                <a:moveTo>
                  <a:pt x="141754" y="232583"/>
                </a:moveTo>
                <a:lnTo>
                  <a:pt x="161961" y="232583"/>
                </a:lnTo>
                <a:cubicBezTo>
                  <a:pt x="168104" y="232583"/>
                  <a:pt x="172110" y="236584"/>
                  <a:pt x="172110" y="242719"/>
                </a:cubicBezTo>
                <a:cubicBezTo>
                  <a:pt x="172110" y="248764"/>
                  <a:pt x="168104" y="252765"/>
                  <a:pt x="161961" y="252765"/>
                </a:cubicBezTo>
                <a:lnTo>
                  <a:pt x="141754" y="252765"/>
                </a:lnTo>
                <a:cubicBezTo>
                  <a:pt x="135700" y="252765"/>
                  <a:pt x="131605" y="248764"/>
                  <a:pt x="131605" y="242719"/>
                </a:cubicBezTo>
                <a:cubicBezTo>
                  <a:pt x="131605" y="236584"/>
                  <a:pt x="135700" y="232583"/>
                  <a:pt x="141754" y="232583"/>
                </a:cubicBezTo>
                <a:close/>
                <a:moveTo>
                  <a:pt x="141758" y="192149"/>
                </a:moveTo>
                <a:lnTo>
                  <a:pt x="182279" y="192149"/>
                </a:lnTo>
                <a:cubicBezTo>
                  <a:pt x="188335" y="192149"/>
                  <a:pt x="192432" y="196150"/>
                  <a:pt x="192432" y="202196"/>
                </a:cubicBezTo>
                <a:cubicBezTo>
                  <a:pt x="192432" y="208330"/>
                  <a:pt x="188335" y="212331"/>
                  <a:pt x="182279" y="212331"/>
                </a:cubicBezTo>
                <a:lnTo>
                  <a:pt x="141758" y="212331"/>
                </a:lnTo>
                <a:cubicBezTo>
                  <a:pt x="135702" y="212331"/>
                  <a:pt x="131605" y="208330"/>
                  <a:pt x="131605" y="202196"/>
                </a:cubicBezTo>
                <a:cubicBezTo>
                  <a:pt x="131605" y="196150"/>
                  <a:pt x="135702" y="192149"/>
                  <a:pt x="141758" y="192149"/>
                </a:cubicBezTo>
                <a:close/>
                <a:moveTo>
                  <a:pt x="141754" y="151716"/>
                </a:moveTo>
                <a:lnTo>
                  <a:pt x="161961" y="151716"/>
                </a:lnTo>
                <a:cubicBezTo>
                  <a:pt x="168104" y="151716"/>
                  <a:pt x="172110" y="155717"/>
                  <a:pt x="172110" y="161763"/>
                </a:cubicBezTo>
                <a:cubicBezTo>
                  <a:pt x="172110" y="167897"/>
                  <a:pt x="168104" y="171898"/>
                  <a:pt x="161961" y="171898"/>
                </a:cubicBezTo>
                <a:lnTo>
                  <a:pt x="141754" y="171898"/>
                </a:lnTo>
                <a:cubicBezTo>
                  <a:pt x="135700" y="171898"/>
                  <a:pt x="131605" y="167897"/>
                  <a:pt x="131605" y="161763"/>
                </a:cubicBezTo>
                <a:cubicBezTo>
                  <a:pt x="131605" y="155717"/>
                  <a:pt x="135700" y="151716"/>
                  <a:pt x="141754" y="151716"/>
                </a:cubicBezTo>
                <a:close/>
                <a:moveTo>
                  <a:pt x="141758" y="111211"/>
                </a:moveTo>
                <a:lnTo>
                  <a:pt x="182279" y="111211"/>
                </a:lnTo>
                <a:cubicBezTo>
                  <a:pt x="188335" y="111211"/>
                  <a:pt x="192432" y="115297"/>
                  <a:pt x="192432" y="121337"/>
                </a:cubicBezTo>
                <a:cubicBezTo>
                  <a:pt x="192432" y="127377"/>
                  <a:pt x="188335" y="131463"/>
                  <a:pt x="182279" y="131463"/>
                </a:cubicBezTo>
                <a:lnTo>
                  <a:pt x="141758" y="131463"/>
                </a:lnTo>
                <a:cubicBezTo>
                  <a:pt x="135702" y="131463"/>
                  <a:pt x="131605" y="127377"/>
                  <a:pt x="131605" y="121337"/>
                </a:cubicBezTo>
                <a:cubicBezTo>
                  <a:pt x="131605" y="115297"/>
                  <a:pt x="135702" y="111211"/>
                  <a:pt x="141758" y="111211"/>
                </a:cubicBezTo>
                <a:close/>
                <a:moveTo>
                  <a:pt x="425367" y="101191"/>
                </a:moveTo>
                <a:lnTo>
                  <a:pt x="496228" y="101191"/>
                </a:lnTo>
                <a:cubicBezTo>
                  <a:pt x="502282" y="101191"/>
                  <a:pt x="506377" y="105189"/>
                  <a:pt x="506377" y="111231"/>
                </a:cubicBezTo>
                <a:lnTo>
                  <a:pt x="506377" y="182042"/>
                </a:lnTo>
                <a:cubicBezTo>
                  <a:pt x="506377" y="188084"/>
                  <a:pt x="502282" y="192171"/>
                  <a:pt x="496228" y="192171"/>
                </a:cubicBezTo>
                <a:cubicBezTo>
                  <a:pt x="490175" y="192171"/>
                  <a:pt x="486080" y="188084"/>
                  <a:pt x="486080" y="182042"/>
                </a:cubicBezTo>
                <a:lnTo>
                  <a:pt x="486080" y="135575"/>
                </a:lnTo>
                <a:lnTo>
                  <a:pt x="402043" y="219447"/>
                </a:lnTo>
                <a:cubicBezTo>
                  <a:pt x="399996" y="221491"/>
                  <a:pt x="397948" y="222468"/>
                  <a:pt x="394921" y="222468"/>
                </a:cubicBezTo>
                <a:cubicBezTo>
                  <a:pt x="391895" y="222468"/>
                  <a:pt x="389847" y="221491"/>
                  <a:pt x="387889" y="219447"/>
                </a:cubicBezTo>
                <a:lnTo>
                  <a:pt x="344268" y="176001"/>
                </a:lnTo>
                <a:lnTo>
                  <a:pt x="270380" y="249744"/>
                </a:lnTo>
                <a:cubicBezTo>
                  <a:pt x="268332" y="251788"/>
                  <a:pt x="266285" y="252765"/>
                  <a:pt x="263258" y="252765"/>
                </a:cubicBezTo>
                <a:cubicBezTo>
                  <a:pt x="260231" y="252765"/>
                  <a:pt x="258184" y="251788"/>
                  <a:pt x="256225" y="249744"/>
                </a:cubicBezTo>
                <a:cubicBezTo>
                  <a:pt x="252130" y="245746"/>
                  <a:pt x="252130" y="239616"/>
                  <a:pt x="256225" y="235617"/>
                </a:cubicBezTo>
                <a:lnTo>
                  <a:pt x="337235" y="154766"/>
                </a:lnTo>
                <a:cubicBezTo>
                  <a:pt x="337769" y="154233"/>
                  <a:pt x="338303" y="153789"/>
                  <a:pt x="338837" y="153433"/>
                </a:cubicBezTo>
                <a:cubicBezTo>
                  <a:pt x="339372" y="152989"/>
                  <a:pt x="339995" y="152723"/>
                  <a:pt x="340618" y="152456"/>
                </a:cubicBezTo>
                <a:cubicBezTo>
                  <a:pt x="340885" y="152367"/>
                  <a:pt x="341152" y="152190"/>
                  <a:pt x="341508" y="152101"/>
                </a:cubicBezTo>
                <a:cubicBezTo>
                  <a:pt x="342131" y="151923"/>
                  <a:pt x="342754" y="151834"/>
                  <a:pt x="343378" y="151745"/>
                </a:cubicBezTo>
                <a:cubicBezTo>
                  <a:pt x="343645" y="151745"/>
                  <a:pt x="344001" y="151745"/>
                  <a:pt x="344268" y="151745"/>
                </a:cubicBezTo>
                <a:cubicBezTo>
                  <a:pt x="344980" y="151745"/>
                  <a:pt x="345603" y="151745"/>
                  <a:pt x="346226" y="151923"/>
                </a:cubicBezTo>
                <a:cubicBezTo>
                  <a:pt x="348096" y="152278"/>
                  <a:pt x="349876" y="153256"/>
                  <a:pt x="351390" y="154766"/>
                </a:cubicBezTo>
                <a:lnTo>
                  <a:pt x="394921" y="198213"/>
                </a:lnTo>
                <a:lnTo>
                  <a:pt x="471925" y="121359"/>
                </a:lnTo>
                <a:lnTo>
                  <a:pt x="425367" y="121359"/>
                </a:lnTo>
                <a:cubicBezTo>
                  <a:pt x="419224" y="121359"/>
                  <a:pt x="415218" y="117361"/>
                  <a:pt x="415218" y="111231"/>
                </a:cubicBezTo>
                <a:cubicBezTo>
                  <a:pt x="415218" y="105189"/>
                  <a:pt x="419224" y="101191"/>
                  <a:pt x="425367" y="101191"/>
                </a:cubicBezTo>
                <a:close/>
                <a:moveTo>
                  <a:pt x="101297" y="91029"/>
                </a:moveTo>
                <a:cubicBezTo>
                  <a:pt x="107337" y="91029"/>
                  <a:pt x="111423" y="95028"/>
                  <a:pt x="111423" y="101159"/>
                </a:cubicBezTo>
                <a:lnTo>
                  <a:pt x="111423" y="262887"/>
                </a:lnTo>
                <a:cubicBezTo>
                  <a:pt x="111423" y="268929"/>
                  <a:pt x="107337" y="273017"/>
                  <a:pt x="101297" y="273017"/>
                </a:cubicBezTo>
                <a:cubicBezTo>
                  <a:pt x="95257" y="273017"/>
                  <a:pt x="91171" y="268929"/>
                  <a:pt x="91171" y="262887"/>
                </a:cubicBezTo>
                <a:lnTo>
                  <a:pt x="91171" y="101159"/>
                </a:lnTo>
                <a:cubicBezTo>
                  <a:pt x="91171" y="95028"/>
                  <a:pt x="95257" y="91029"/>
                  <a:pt x="101297" y="91029"/>
                </a:cubicBezTo>
                <a:close/>
                <a:moveTo>
                  <a:pt x="70848" y="20177"/>
                </a:moveTo>
                <a:cubicBezTo>
                  <a:pt x="64796" y="20177"/>
                  <a:pt x="60791" y="24265"/>
                  <a:pt x="60791" y="30309"/>
                </a:cubicBezTo>
                <a:lnTo>
                  <a:pt x="60791" y="343802"/>
                </a:lnTo>
                <a:lnTo>
                  <a:pt x="222780" y="343802"/>
                </a:lnTo>
                <a:cubicBezTo>
                  <a:pt x="228833" y="343802"/>
                  <a:pt x="232927" y="347890"/>
                  <a:pt x="232927" y="353935"/>
                </a:cubicBezTo>
                <a:lnTo>
                  <a:pt x="232927" y="364067"/>
                </a:lnTo>
                <a:lnTo>
                  <a:pt x="374712" y="364067"/>
                </a:lnTo>
                <a:lnTo>
                  <a:pt x="374712" y="353935"/>
                </a:lnTo>
                <a:cubicBezTo>
                  <a:pt x="374712" y="347890"/>
                  <a:pt x="378717" y="343802"/>
                  <a:pt x="384859" y="343802"/>
                </a:cubicBezTo>
                <a:lnTo>
                  <a:pt x="546848" y="343802"/>
                </a:lnTo>
                <a:lnTo>
                  <a:pt x="546848" y="30309"/>
                </a:lnTo>
                <a:cubicBezTo>
                  <a:pt x="546848" y="24265"/>
                  <a:pt x="542754" y="20177"/>
                  <a:pt x="536702" y="20177"/>
                </a:cubicBezTo>
                <a:close/>
                <a:moveTo>
                  <a:pt x="70848" y="0"/>
                </a:moveTo>
                <a:lnTo>
                  <a:pt x="536702" y="0"/>
                </a:lnTo>
                <a:cubicBezTo>
                  <a:pt x="553969" y="0"/>
                  <a:pt x="567142" y="13155"/>
                  <a:pt x="567142" y="30309"/>
                </a:cubicBezTo>
                <a:lnTo>
                  <a:pt x="567142" y="343802"/>
                </a:lnTo>
                <a:lnTo>
                  <a:pt x="597492" y="343802"/>
                </a:lnTo>
                <a:cubicBezTo>
                  <a:pt x="603545" y="343802"/>
                  <a:pt x="607639" y="347890"/>
                  <a:pt x="607639" y="353935"/>
                </a:cubicBezTo>
                <a:lnTo>
                  <a:pt x="607639" y="384244"/>
                </a:lnTo>
                <a:cubicBezTo>
                  <a:pt x="607639" y="401487"/>
                  <a:pt x="594466" y="414642"/>
                  <a:pt x="577199" y="414642"/>
                </a:cubicBezTo>
                <a:lnTo>
                  <a:pt x="30351" y="414642"/>
                </a:lnTo>
                <a:cubicBezTo>
                  <a:pt x="13173" y="414642"/>
                  <a:pt x="0" y="401487"/>
                  <a:pt x="0" y="384244"/>
                </a:cubicBezTo>
                <a:lnTo>
                  <a:pt x="0" y="353935"/>
                </a:lnTo>
                <a:cubicBezTo>
                  <a:pt x="0" y="347890"/>
                  <a:pt x="4094" y="343802"/>
                  <a:pt x="10147" y="343802"/>
                </a:cubicBezTo>
                <a:lnTo>
                  <a:pt x="40497" y="343802"/>
                </a:lnTo>
                <a:lnTo>
                  <a:pt x="40497" y="30309"/>
                </a:lnTo>
                <a:cubicBezTo>
                  <a:pt x="40497" y="13155"/>
                  <a:pt x="53670" y="0"/>
                  <a:pt x="70848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6566162" y="1928810"/>
            <a:ext cx="5106740" cy="847797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人工智能技术与大数据的结合将实现更加智能化的数据分析，推动个性化服务和决策科学化，从而提升企业竞争力。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6566162" y="1541523"/>
            <a:ext cx="510674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人工智能与大数据结合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>
                <a:lumMod val="75000"/>
              </a:srgbClr>
            </a:gs>
            <a:gs pos="72000">
              <a:srgbClr val="3091CC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4186533" y="1909916"/>
            <a:ext cx="0" cy="2551471"/>
          </a:xfrm>
          <a:prstGeom prst="line">
            <a:avLst/>
          </a:prstGeom>
          <a:ln w="3175" cap="rnd" cmpd="sng">
            <a:solidFill>
              <a:srgbClr val="F0F0F0">
                <a:alpha val="50000"/>
              </a:srgbClr>
            </a:solidFill>
            <a:prstDash val="solid"/>
          </a:ln>
        </p:spPr>
      </p:cxnSp>
      <p:cxnSp>
        <p:nvCxnSpPr>
          <p:cNvPr id="3" name="Connector 3"/>
          <p:cNvCxnSpPr/>
          <p:nvPr/>
        </p:nvCxnSpPr>
        <p:spPr>
          <a:xfrm>
            <a:off x="8005469" y="1909916"/>
            <a:ext cx="0" cy="2551471"/>
          </a:xfrm>
          <a:prstGeom prst="line">
            <a:avLst/>
          </a:prstGeom>
          <a:ln w="3175" cap="rnd" cmpd="sng">
            <a:solidFill>
              <a:srgbClr val="F0F0F0">
                <a:alpha val="50000"/>
              </a:srgbClr>
            </a:solidFill>
            <a:prstDash val="solid"/>
          </a:ln>
        </p:spPr>
      </p:cxnSp>
      <p:sp>
        <p:nvSpPr>
          <p:cNvPr id="4" name="AutoShape 4"/>
          <p:cNvSpPr/>
          <p:nvPr/>
        </p:nvSpPr>
        <p:spPr>
          <a:xfrm>
            <a:off x="1829979" y="1801944"/>
            <a:ext cx="894172" cy="894170"/>
          </a:xfrm>
          <a:prstGeom prst="ellipse">
            <a:avLst/>
          </a:pr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en-US" sz="1800" b="1" i="0" u="none" baseline="0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5641" y="3032372"/>
            <a:ext cx="2902848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金融行业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5640" y="3488912"/>
            <a:ext cx="2902848" cy="96012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在金融行业，大数据技术被广泛应用于风险管理与信贷评估中，为金融决策提供更精准的数据支持，提升服务效率。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5648915" y="1801944"/>
            <a:ext cx="894172" cy="894170"/>
          </a:xfrm>
          <a:prstGeom prst="ellipse">
            <a:avLst/>
          </a:prstGeom>
          <a:solidFill>
            <a:schemeClr val="accent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en-US" sz="1800" b="1" i="0" u="none" baseline="0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44577" y="3032372"/>
            <a:ext cx="2902848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F0F0F0"/>
                </a:solidFill>
                <a:latin typeface="微软雅黑"/>
                <a:ea typeface="微软雅黑"/>
              </a:rPr>
              <a:t>医疗行业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44576" y="3488912"/>
            <a:ext cx="2902848" cy="67056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医疗行业利用大数据技术在患者预测、疾病风险评估等方面取得显著成果，通过精准医疗改善患者健康管理。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467850" y="1801944"/>
            <a:ext cx="894172" cy="894170"/>
          </a:xfrm>
          <a:prstGeom prst="ellipse">
            <a:avLst/>
          </a:pr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en-US" sz="1800" b="1" i="0" u="none" baseline="0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63512" y="3032372"/>
            <a:ext cx="2902848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交通运输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463511" y="3488912"/>
            <a:ext cx="2902848" cy="96012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交通运输行业通过大数据分析优化交通管理、实施智能调度，提升出行安全和效率，在智慧交通方面前景广阔。</a:t>
            </a:r>
          </a:p>
        </p:txBody>
      </p:sp>
      <p:sp>
        <p:nvSpPr>
          <p:cNvPr id="13" name="AutoShape 13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行业应用前景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091CC"/>
            </a:gs>
            <a:gs pos="100000">
              <a:srgbClr val="3091CC"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832061" y="2993411"/>
            <a:ext cx="5035338" cy="1580339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44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谢谢观看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32061" y="4336229"/>
            <a:ext cx="3962395" cy="6699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zh-CN" altLang="en-US" sz="1800" b="0" i="0" u="none" baseline="0" dirty="0">
                <a:solidFill>
                  <a:srgbClr val="FFFFFF"/>
                </a:solidFill>
                <a:latin typeface="微软雅黑"/>
                <a:ea typeface="微软雅黑"/>
              </a:rPr>
              <a:t>汇报</a:t>
            </a:r>
            <a:r>
              <a:rPr lang="zh-CN" altLang="en-US" sz="18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人：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3091CC"/>
      </a:accent1>
      <a:accent2>
        <a:srgbClr val="2F72A7"/>
      </a:accent2>
      <a:accent3>
        <a:srgbClr val="1A3444"/>
      </a:accent3>
      <a:accent4>
        <a:srgbClr val="5998B2"/>
      </a:accent4>
      <a:accent5>
        <a:srgbClr val="B28C59"/>
      </a:accent5>
      <a:accent6>
        <a:srgbClr val="662C1F"/>
      </a:accent6>
      <a:hlink>
        <a:srgbClr val="F84D4D"/>
      </a:hlink>
      <a:folHlink>
        <a:srgbClr val="97979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深度">
  <a:themeElements>
    <a:clrScheme name="深度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深度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深度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31</TotalTime>
  <Words>1314</Words>
  <Application>Microsoft Office PowerPoint</Application>
  <PresentationFormat>宽屏</PresentationFormat>
  <Paragraphs>130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微软雅黑</vt:lpstr>
      <vt:lpstr>幼圆</vt:lpstr>
      <vt:lpstr>Arial</vt:lpstr>
      <vt:lpstr>Calibri</vt:lpstr>
      <vt:lpstr>Corbel</vt:lpstr>
      <vt:lpstr>Office Theme</vt:lpstr>
      <vt:lpstr>深度</vt:lpstr>
      <vt:lpstr>大数据领域的技术标准、知识产权、产业政策和法律法规简介</vt:lpstr>
      <vt:lpstr>目录</vt:lpstr>
      <vt:lpstr>大数据技术标准概述</vt:lpstr>
      <vt:lpstr>技术标准分类</vt:lpstr>
      <vt:lpstr>国内外技术标准现状</vt:lpstr>
      <vt:lpstr>大数据知识产权保护</vt:lpstr>
      <vt:lpstr>知识产权类型</vt:lpstr>
      <vt:lpstr>知识产权保护挑战</vt:lpstr>
      <vt:lpstr>大数据产业政策分析</vt:lpstr>
      <vt:lpstr>政策发展背景</vt:lpstr>
      <vt:lpstr>现行政策解读</vt:lpstr>
      <vt:lpstr>政策实施效果</vt:lpstr>
      <vt:lpstr>大数据法律法规框架</vt:lpstr>
      <vt:lpstr>相关法律法规概述</vt:lpstr>
      <vt:lpstr>法律法规影响</vt:lpstr>
      <vt:lpstr>关于大数据的伦理问题</vt:lpstr>
      <vt:lpstr>数据隐私与安全</vt:lpstr>
      <vt:lpstr>伦理风险评估</vt:lpstr>
      <vt:lpstr>大数据未来发展趋势</vt:lpstr>
      <vt:lpstr>技术演进方向</vt:lpstr>
      <vt:lpstr>行业应用前景</vt:lpstr>
      <vt:lpstr>谢谢观看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 XUN</cp:lastModifiedBy>
  <cp:revision>10</cp:revision>
  <dcterms:created xsi:type="dcterms:W3CDTF">2006-08-16T00:00:00Z</dcterms:created>
  <dcterms:modified xsi:type="dcterms:W3CDTF">2026-05-31T14:53:00Z</dcterms:modified>
</cp:coreProperties>
</file>